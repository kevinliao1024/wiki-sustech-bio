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3"/>
    <p:sldId id="292" r:id="rId5"/>
    <p:sldId id="293" r:id="rId6"/>
    <p:sldId id="336" r:id="rId7"/>
    <p:sldId id="315" r:id="rId8"/>
    <p:sldId id="322" r:id="rId9"/>
    <p:sldId id="316" r:id="rId10"/>
    <p:sldId id="339" r:id="rId11"/>
    <p:sldId id="340" r:id="rId12"/>
    <p:sldId id="341" r:id="rId13"/>
    <p:sldId id="342" r:id="rId14"/>
    <p:sldId id="343" r:id="rId15"/>
    <p:sldId id="317" r:id="rId16"/>
    <p:sldId id="344" r:id="rId17"/>
    <p:sldId id="345" r:id="rId18"/>
    <p:sldId id="335" r:id="rId19"/>
    <p:sldId id="346" r:id="rId20"/>
    <p:sldId id="347" r:id="rId21"/>
    <p:sldId id="348" r:id="rId22"/>
  </p:sldIdLst>
  <p:sldSz cx="12192000" cy="6858000"/>
  <p:notesSz cx="6858000" cy="9144000"/>
  <p:embeddedFontLst>
    <p:embeddedFont>
      <p:font typeface="Eras Bold ITC" panose="020B0907030504020204" pitchFamily="34" charset="0"/>
      <p:regular r:id="rId26"/>
    </p:embeddedFont>
    <p:embeddedFont>
      <p:font typeface="Cambria" panose="02040503050406030204" pitchFamily="18" charset="0"/>
      <p:regular r:id="rId27"/>
      <p:bold r:id="rId28"/>
      <p:italic r:id="rId29"/>
      <p:boldItalic r:id="rId30"/>
    </p:embeddedFont>
    <p:embeddedFont>
      <p:font typeface="华文中宋" panose="02010600040101010101" charset="-122"/>
      <p:regular r:id="rId31"/>
    </p:embeddedFont>
    <p:embeddedFont>
      <p:font typeface="等线" panose="02010600030101010101" charset="-122"/>
      <p:regular r:id="rId32"/>
    </p:embeddedFont>
  </p:embeddedFontLst>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B5ABAE4-DFC4-4A50-AF79-0BD53D23BDC0}">
          <p14:sldIdLst>
            <p14:sldId id="256"/>
            <p14:sldId id="292"/>
          </p14:sldIdLst>
        </p14:section>
        <p14:section name="科学问题" id="{54AD71F3-046B-4AA2-9CC9-3D6E302ED0FA}">
          <p14:sldIdLst>
            <p14:sldId id="293"/>
            <p14:sldId id="336"/>
          </p14:sldIdLst>
        </p14:section>
        <p14:section name="核心创新点" id="{0525A52E-7798-43E4-9558-736B4CCEEAAC}">
          <p14:sldIdLst>
            <p14:sldId id="315"/>
            <p14:sldId id="322"/>
          </p14:sldIdLst>
        </p14:section>
        <p14:section name="系统设计与机制解析" id="{EB25A6D4-0C29-4681-9616-D4EAD3F49778}">
          <p14:sldIdLst>
            <p14:sldId id="316"/>
            <p14:sldId id="339"/>
            <p14:sldId id="340"/>
            <p14:sldId id="341"/>
            <p14:sldId id="342"/>
            <p14:sldId id="343"/>
          </p14:sldIdLst>
        </p14:section>
        <p14:section name="预期结果分析" id="{989C5CE2-9BB5-4CB6-854F-92E7D453065F}">
          <p14:sldIdLst>
            <p14:sldId id="317"/>
            <p14:sldId id="344"/>
            <p14:sldId id="345"/>
          </p14:sldIdLst>
        </p14:section>
        <p14:section name="意义与展望" id="{7024D550-3EEE-4D97-8D41-B7D54241CE19}">
          <p14:sldIdLst>
            <p14:sldId id="335"/>
            <p14:sldId id="346"/>
          </p14:sldIdLst>
        </p14:section>
        <p14:section name="end" id="{05AF3D2C-AD7B-4551-98C4-7814798175ED}">
          <p14:sldIdLst>
            <p14:sldId id="347"/>
            <p14:sldId id="34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6D00"/>
    <a:srgbClr val="4965AA"/>
    <a:srgbClr val="FFFFFF"/>
    <a:srgbClr val="A5B3D6"/>
    <a:srgbClr val="EFA7A7"/>
    <a:srgbClr val="FBE9E9"/>
    <a:srgbClr val="FD0000"/>
    <a:srgbClr val="EE9640"/>
    <a:srgbClr val="C6CFD7"/>
    <a:srgbClr val="2C21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94" autoAdjust="0"/>
    <p:restoredTop sz="76892" autoAdjust="0"/>
  </p:normalViewPr>
  <p:slideViewPr>
    <p:cSldViewPr snapToGrid="0">
      <p:cViewPr varScale="1">
        <p:scale>
          <a:sx n="78" d="100"/>
          <a:sy n="78" d="100"/>
        </p:scale>
        <p:origin x="1182"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gs" Target="tags/tag1.xml"/><Relationship Id="rId32" Type="http://schemas.openxmlformats.org/officeDocument/2006/relationships/font" Target="fonts/font7.fntdata"/><Relationship Id="rId31" Type="http://schemas.openxmlformats.org/officeDocument/2006/relationships/font" Target="fonts/font6.fntdata"/><Relationship Id="rId30" Type="http://schemas.openxmlformats.org/officeDocument/2006/relationships/font" Target="fonts/font5.fntdata"/><Relationship Id="rId3" Type="http://schemas.openxmlformats.org/officeDocument/2006/relationships/slide" Target="slides/slide1.xml"/><Relationship Id="rId29" Type="http://schemas.openxmlformats.org/officeDocument/2006/relationships/font" Target="fonts/font4.fntdata"/><Relationship Id="rId28" Type="http://schemas.openxmlformats.org/officeDocument/2006/relationships/font" Target="fonts/font3.fntdata"/><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AE234C-FFD0-49EE-94B5-03A0A9DE4BB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7F61C4-64DE-4C29-BE11-1BFA9C069B8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答辩演示文稿（</a:t>
            </a:r>
            <a:r>
              <a:rPr lang="en-US" altLang="zh-CN" sz="1200" b="1" kern="1200" dirty="0">
                <a:solidFill>
                  <a:schemeClr val="tx1"/>
                </a:solidFill>
                <a:effectLst/>
                <a:latin typeface="+mn-lt"/>
                <a:ea typeface="+mn-ea"/>
                <a:cs typeface="+mn-cs"/>
              </a:rPr>
              <a:t>PPT</a:t>
            </a:r>
            <a:r>
              <a:rPr lang="zh-CN" altLang="zh-CN" sz="1200" b="1" kern="1200" dirty="0">
                <a:solidFill>
                  <a:schemeClr val="tx1"/>
                </a:solidFill>
                <a:effectLst/>
                <a:latin typeface="+mn-lt"/>
                <a:ea typeface="+mn-ea"/>
                <a:cs typeface="+mn-cs"/>
              </a:rPr>
              <a:t>）要求 </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格式与篇幅：答辩文稿总页数应设定在</a:t>
            </a:r>
            <a:r>
              <a:rPr lang="en-US" altLang="zh-CN" sz="1200" kern="1200" dirty="0">
                <a:solidFill>
                  <a:schemeClr val="tx1"/>
                </a:solidFill>
                <a:effectLst/>
                <a:latin typeface="+mn-lt"/>
                <a:ea typeface="+mn-ea"/>
                <a:cs typeface="+mn-cs"/>
              </a:rPr>
              <a:t>15</a:t>
            </a:r>
            <a:r>
              <a:rPr lang="zh-CN" altLang="zh-CN" sz="1200" kern="1200" dirty="0">
                <a:solidFill>
                  <a:schemeClr val="tx1"/>
                </a:solidFill>
                <a:effectLst/>
                <a:latin typeface="+mn-lt"/>
                <a:ea typeface="+mn-ea"/>
                <a:cs typeface="+mn-cs"/>
              </a:rPr>
              <a:t>至</a:t>
            </a:r>
            <a:r>
              <a:rPr lang="en-US" altLang="zh-CN" sz="1200" kern="1200" dirty="0">
                <a:solidFill>
                  <a:schemeClr val="tx1"/>
                </a:solidFill>
                <a:effectLst/>
                <a:latin typeface="+mn-lt"/>
                <a:ea typeface="+mn-ea"/>
                <a:cs typeface="+mn-cs"/>
              </a:rPr>
              <a:t>20</a:t>
            </a:r>
            <a:r>
              <a:rPr lang="zh-CN" altLang="zh-CN" sz="1200" kern="1200" dirty="0">
                <a:solidFill>
                  <a:schemeClr val="tx1"/>
                </a:solidFill>
                <a:effectLst/>
                <a:latin typeface="+mn-lt"/>
                <a:ea typeface="+mn-ea"/>
                <a:cs typeface="+mn-cs"/>
              </a:rPr>
              <a:t>页之间，且正文字体高度不得小于</a:t>
            </a:r>
            <a:r>
              <a:rPr lang="en-US" altLang="zh-CN" sz="1200" kern="1200" dirty="0">
                <a:solidFill>
                  <a:schemeClr val="tx1"/>
                </a:solidFill>
                <a:effectLst/>
                <a:latin typeface="+mn-lt"/>
                <a:ea typeface="+mn-ea"/>
                <a:cs typeface="+mn-cs"/>
              </a:rPr>
              <a:t>20</a:t>
            </a:r>
            <a:r>
              <a:rPr lang="zh-CN" altLang="zh-CN" sz="1200" kern="1200" dirty="0">
                <a:solidFill>
                  <a:schemeClr val="tx1"/>
                </a:solidFill>
                <a:effectLst/>
                <a:latin typeface="+mn-lt"/>
                <a:ea typeface="+mn-ea"/>
                <a:cs typeface="+mn-cs"/>
              </a:rPr>
              <a:t>号，以确保不同展示环境下的清晰度。设计风格应强调视觉化呈现，减少冗长文字，利用图表与示意图增强信息的传达效率。</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章节架构：内容布局应遵循 </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前</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页明确科学问题与核心创新点，中间部分精简基础理论、强化系统设计与技术路线，最后</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页聚焦社会价值与应用展望</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的原则。通过合理的权重分配，确保核心竞争力 得到充分展示。</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学术要求：文稿需专门适配</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分钟高节奏展示需求，要求团队能够在极短时间内通过高密度的亮点输出，引导评委快速捕捉项目的颠 覆性特征与技术先进性。</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DA7F61C4-64DE-4C29-BE11-1BFA9C069B8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A7F61C4-64DE-4C29-BE11-1BFA9C069B8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RNA </a:t>
            </a:r>
            <a:r>
              <a:rPr lang="zh-CN" altLang="zh-CN" sz="1200" b="1" kern="1200" dirty="0">
                <a:solidFill>
                  <a:schemeClr val="tx1"/>
                </a:solidFill>
                <a:effectLst/>
                <a:latin typeface="+mn-lt"/>
                <a:ea typeface="+mn-ea"/>
                <a:cs typeface="+mn-cs"/>
              </a:rPr>
              <a:t>编辑技术瓶颈：</a:t>
            </a:r>
            <a:r>
              <a:rPr lang="en-US" altLang="zh-CN" sz="1200" b="1" kern="1200" dirty="0">
                <a:solidFill>
                  <a:schemeClr val="tx1"/>
                </a:solidFill>
                <a:effectLst/>
                <a:latin typeface="+mn-lt"/>
                <a:ea typeface="+mn-ea"/>
                <a:cs typeface="+mn-cs"/>
              </a:rPr>
              <a:t>Linker </a:t>
            </a:r>
            <a:r>
              <a:rPr lang="zh-CN" altLang="zh-CN" sz="1200" b="1" kern="1200" dirty="0">
                <a:solidFill>
                  <a:schemeClr val="tx1"/>
                </a:solidFill>
                <a:effectLst/>
                <a:latin typeface="+mn-lt"/>
                <a:ea typeface="+mn-ea"/>
                <a:cs typeface="+mn-cs"/>
              </a:rPr>
              <a:t>黑盒设计与严重脱靶效应</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基于</a:t>
            </a:r>
            <a:r>
              <a:rPr lang="en-US" altLang="zh-CN" sz="1200" kern="1200" dirty="0">
                <a:solidFill>
                  <a:schemeClr val="tx1"/>
                </a:solidFill>
                <a:effectLst/>
                <a:latin typeface="+mn-lt"/>
                <a:ea typeface="+mn-ea"/>
                <a:cs typeface="+mn-cs"/>
              </a:rPr>
              <a:t>ADAR/APOBEC</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单碱基编辑与</a:t>
            </a:r>
            <a:r>
              <a:rPr lang="en-US" altLang="zh-CN" sz="1200" kern="1200" dirty="0">
                <a:solidFill>
                  <a:schemeClr val="tx1"/>
                </a:solidFill>
                <a:effectLst/>
                <a:latin typeface="+mn-lt"/>
                <a:ea typeface="+mn-ea"/>
                <a:cs typeface="+mn-cs"/>
              </a:rPr>
              <a:t>PUF</a:t>
            </a:r>
            <a:r>
              <a:rPr lang="zh-CN" altLang="zh-CN" sz="1200" kern="1200" dirty="0">
                <a:solidFill>
                  <a:schemeClr val="tx1"/>
                </a:solidFill>
                <a:effectLst/>
                <a:latin typeface="+mn-lt"/>
                <a:ea typeface="+mn-ea"/>
                <a:cs typeface="+mn-cs"/>
              </a:rPr>
              <a:t>融合系统虽可实现靶向编辑，但旁观者效应与脱靶问题</a:t>
            </a:r>
            <a:r>
              <a:rPr lang="en-US" altLang="zh-CN" sz="1200" kern="1200" baseline="300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严重，成药性受限。核心瓶颈在于</a:t>
            </a:r>
            <a:r>
              <a:rPr lang="en-US" altLang="zh-CN" sz="1200" kern="1200" dirty="0">
                <a:solidFill>
                  <a:schemeClr val="tx1"/>
                </a:solidFill>
                <a:effectLst/>
                <a:latin typeface="+mn-lt"/>
                <a:ea typeface="+mn-ea"/>
                <a:cs typeface="+mn-cs"/>
              </a:rPr>
              <a:t>Linker</a:t>
            </a:r>
            <a:r>
              <a:rPr lang="zh-CN" altLang="zh-CN" sz="1200" kern="1200" dirty="0">
                <a:solidFill>
                  <a:schemeClr val="tx1"/>
                </a:solidFill>
                <a:effectLst/>
                <a:latin typeface="+mn-lt"/>
                <a:ea typeface="+mn-ea"/>
                <a:cs typeface="+mn-cs"/>
              </a:rPr>
              <a:t>元件依赖试错与静态不可控，导致效应蛋白自由度与催化窗口过大，引发大量非特异性编辑。</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：基于</a:t>
            </a:r>
            <a:r>
              <a:rPr lang="en-US" altLang="zh-CN" sz="1200" kern="1200" dirty="0">
                <a:solidFill>
                  <a:schemeClr val="tx1"/>
                </a:solidFill>
                <a:effectLst/>
                <a:latin typeface="+mn-lt"/>
                <a:ea typeface="+mn-ea"/>
                <a:cs typeface="+mn-cs"/>
              </a:rPr>
              <a:t>PUF-APOBEC</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编辑系统及其脱靶效应示意图</a:t>
            </a:r>
            <a:r>
              <a:rPr lang="en-US" altLang="zh-CN" sz="1200" kern="1200" baseline="30000" dirty="0">
                <a:solidFill>
                  <a:schemeClr val="tx1"/>
                </a:solidFill>
                <a:effectLst/>
                <a:latin typeface="+mn-lt"/>
                <a:ea typeface="+mn-ea"/>
                <a:cs typeface="+mn-cs"/>
              </a:rPr>
              <a:t>[2]</a:t>
            </a:r>
            <a:endParaRPr lang="zh-CN" altLang="zh-CN" sz="1200" kern="1200" dirty="0">
              <a:solidFill>
                <a:schemeClr val="tx1"/>
              </a:solidFill>
              <a:effectLst/>
              <a:latin typeface="+mn-lt"/>
              <a:ea typeface="+mn-ea"/>
              <a:cs typeface="+mn-cs"/>
            </a:endParaRPr>
          </a:p>
          <a:p>
            <a:endParaRPr lang="en-US" altLang="zh-CN" dirty="0"/>
          </a:p>
          <a:p>
            <a:endParaRPr lang="en-US" altLang="zh-CN" dirty="0"/>
          </a:p>
          <a:p>
            <a:r>
              <a:rPr lang="en-US" altLang="zh-CN" sz="1200" b="1" kern="1200" dirty="0">
                <a:solidFill>
                  <a:schemeClr val="tx1"/>
                </a:solidFill>
                <a:effectLst/>
                <a:latin typeface="+mn-lt"/>
                <a:ea typeface="+mn-ea"/>
                <a:cs typeface="+mn-cs"/>
              </a:rPr>
              <a:t>2</a:t>
            </a:r>
            <a:r>
              <a:rPr lang="zh-CN" altLang="zh-CN" sz="1200" b="1" kern="1200" dirty="0">
                <a:solidFill>
                  <a:schemeClr val="tx1"/>
                </a:solidFill>
                <a:effectLst/>
                <a:latin typeface="+mn-lt"/>
                <a:ea typeface="+mn-ea"/>
                <a:cs typeface="+mn-cs"/>
              </a:rPr>
              <a:t>、同源</a:t>
            </a:r>
            <a:r>
              <a:rPr lang="en-US" altLang="zh-CN" sz="1200" b="1" kern="1200" dirty="0">
                <a:solidFill>
                  <a:schemeClr val="tx1"/>
                </a:solidFill>
                <a:effectLst/>
                <a:latin typeface="+mn-lt"/>
                <a:ea typeface="+mn-ea"/>
                <a:cs typeface="+mn-cs"/>
              </a:rPr>
              <a:t> RNA </a:t>
            </a:r>
            <a:r>
              <a:rPr lang="zh-CN" altLang="zh-CN" sz="1200" b="1" kern="1200" dirty="0">
                <a:solidFill>
                  <a:schemeClr val="tx1"/>
                </a:solidFill>
                <a:effectLst/>
                <a:latin typeface="+mn-lt"/>
                <a:ea typeface="+mn-ea"/>
                <a:cs typeface="+mn-cs"/>
              </a:rPr>
              <a:t>区分困境</a:t>
            </a:r>
            <a:r>
              <a:rPr lang="zh-CN" altLang="zh-CN" sz="1200" kern="1200" dirty="0">
                <a:solidFill>
                  <a:schemeClr val="tx1"/>
                </a:solidFill>
                <a:effectLst/>
                <a:latin typeface="+mn-lt"/>
                <a:ea typeface="+mn-ea"/>
                <a:cs typeface="+mn-cs"/>
              </a:rPr>
              <a:t>与</a:t>
            </a:r>
            <a:r>
              <a:rPr lang="en-US" altLang="zh-CN" sz="1200" b="1" kern="1200" dirty="0">
                <a:solidFill>
                  <a:schemeClr val="tx1"/>
                </a:solidFill>
                <a:effectLst/>
                <a:latin typeface="+mn-lt"/>
                <a:ea typeface="+mn-ea"/>
                <a:cs typeface="+mn-cs"/>
              </a:rPr>
              <a:t>RNA</a:t>
            </a:r>
            <a:r>
              <a:rPr lang="zh-CN" altLang="zh-CN" sz="1200" b="1" kern="1200" dirty="0">
                <a:solidFill>
                  <a:schemeClr val="tx1"/>
                </a:solidFill>
                <a:effectLst/>
                <a:latin typeface="+mn-lt"/>
                <a:ea typeface="+mn-ea"/>
                <a:cs typeface="+mn-cs"/>
              </a:rPr>
              <a:t>毒性</a:t>
            </a:r>
            <a:r>
              <a:rPr lang="en-US" altLang="zh-CN" sz="1200" b="1" kern="1200" baseline="30000" dirty="0">
                <a:solidFill>
                  <a:schemeClr val="tx1"/>
                </a:solidFill>
                <a:effectLst/>
                <a:latin typeface="+mn-lt"/>
                <a:ea typeface="+mn-ea"/>
                <a:cs typeface="+mn-cs"/>
              </a:rPr>
              <a:t>[3]</a:t>
            </a:r>
            <a:r>
              <a:rPr lang="zh-CN" altLang="zh-CN" sz="1200" b="1" kern="1200" dirty="0">
                <a:solidFill>
                  <a:schemeClr val="tx1"/>
                </a:solidFill>
                <a:effectLst/>
                <a:latin typeface="+mn-lt"/>
                <a:ea typeface="+mn-ea"/>
                <a:cs typeface="+mn-cs"/>
              </a:rPr>
              <a:t>高级结构的发现</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亨廷顿病致病与野生</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序列高度同源，传统靶向难以区分</a:t>
            </a:r>
            <a:r>
              <a:rPr lang="en-US" altLang="zh-CN" sz="1200" kern="1200" baseline="300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，易误伤正常</a:t>
            </a:r>
            <a:r>
              <a:rPr lang="en-US" altLang="zh-CN" sz="1200" kern="1200" dirty="0">
                <a:solidFill>
                  <a:schemeClr val="tx1"/>
                </a:solidFill>
                <a:effectLst/>
                <a:latin typeface="+mn-lt"/>
                <a:ea typeface="+mn-ea"/>
                <a:cs typeface="+mn-cs"/>
              </a:rPr>
              <a:t> HTT </a:t>
            </a:r>
            <a:r>
              <a:rPr lang="zh-CN" altLang="zh-CN" sz="1200" kern="1200" dirty="0">
                <a:solidFill>
                  <a:schemeClr val="tx1"/>
                </a:solidFill>
                <a:effectLst/>
                <a:latin typeface="+mn-lt"/>
                <a:ea typeface="+mn-ea"/>
                <a:cs typeface="+mn-cs"/>
              </a:rPr>
              <a:t>转录本。研究表明，突变</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可形成特异性异常发夹二级结构，构象差异显著，可作为精准靶点。据此设计结构响应型变构</a:t>
            </a:r>
            <a:r>
              <a:rPr lang="en-US" altLang="zh-CN" sz="1200" kern="1200" dirty="0">
                <a:solidFill>
                  <a:schemeClr val="tx1"/>
                </a:solidFill>
                <a:effectLst/>
                <a:latin typeface="+mn-lt"/>
                <a:ea typeface="+mn-ea"/>
                <a:cs typeface="+mn-cs"/>
              </a:rPr>
              <a:t>Linker</a:t>
            </a:r>
            <a:r>
              <a:rPr lang="zh-CN" altLang="zh-CN" sz="1200" kern="1200" dirty="0">
                <a:solidFill>
                  <a:schemeClr val="tx1"/>
                </a:solidFill>
                <a:effectLst/>
                <a:latin typeface="+mn-lt"/>
                <a:ea typeface="+mn-ea"/>
                <a:cs typeface="+mn-cs"/>
              </a:rPr>
              <a:t>，仅识别致病</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后激活，实现同源</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精准区分。</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：正常</a:t>
            </a:r>
            <a:r>
              <a:rPr lang="en-US" altLang="zh-CN" sz="1200" kern="1200" dirty="0">
                <a:solidFill>
                  <a:schemeClr val="tx1"/>
                </a:solidFill>
                <a:effectLst/>
                <a:latin typeface="+mn-lt"/>
                <a:ea typeface="+mn-ea"/>
                <a:cs typeface="+mn-cs"/>
              </a:rPr>
              <a:t>HTT</a:t>
            </a:r>
            <a:r>
              <a:rPr lang="zh-CN" altLang="zh-CN" sz="1200" kern="1200" dirty="0">
                <a:solidFill>
                  <a:schemeClr val="tx1"/>
                </a:solidFill>
                <a:effectLst/>
                <a:latin typeface="+mn-lt"/>
                <a:ea typeface="+mn-ea"/>
                <a:cs typeface="+mn-cs"/>
              </a:rPr>
              <a:t>转录与致病性超长</a:t>
            </a:r>
            <a:r>
              <a:rPr lang="en-US" altLang="zh-CN" sz="1200" kern="1200" dirty="0">
                <a:solidFill>
                  <a:schemeClr val="tx1"/>
                </a:solidFill>
                <a:effectLst/>
                <a:latin typeface="+mn-lt"/>
                <a:ea typeface="+mn-ea"/>
                <a:cs typeface="+mn-cs"/>
              </a:rPr>
              <a:t>CAG</a:t>
            </a:r>
            <a:r>
              <a:rPr lang="zh-CN" altLang="zh-CN" sz="1200" kern="1200" dirty="0">
                <a:solidFill>
                  <a:schemeClr val="tx1"/>
                </a:solidFill>
                <a:effectLst/>
                <a:latin typeface="+mn-lt"/>
                <a:ea typeface="+mn-ea"/>
                <a:cs typeface="+mn-cs"/>
              </a:rPr>
              <a:t>重复引发的异常发夹二级结构对比</a:t>
            </a:r>
            <a:r>
              <a:rPr lang="en-US" altLang="zh-CN" sz="1200" kern="1200" baseline="30000" dirty="0">
                <a:solidFill>
                  <a:schemeClr val="tx1"/>
                </a:solidFill>
                <a:effectLst/>
                <a:latin typeface="+mn-lt"/>
                <a:ea typeface="+mn-ea"/>
                <a:cs typeface="+mn-cs"/>
              </a:rPr>
              <a:t>[3]</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注：</a:t>
            </a:r>
            <a:r>
              <a:rPr lang="en-US" altLang="zh-CN" sz="1200" kern="1200" dirty="0">
                <a:solidFill>
                  <a:schemeClr val="tx1"/>
                </a:solidFill>
                <a:effectLst/>
                <a:latin typeface="+mn-lt"/>
                <a:ea typeface="+mn-ea"/>
                <a:cs typeface="+mn-cs"/>
              </a:rPr>
              <a:t>mRNA</a:t>
            </a:r>
            <a:r>
              <a:rPr lang="zh-CN" altLang="zh-CN" sz="1200" kern="1200" dirty="0">
                <a:solidFill>
                  <a:schemeClr val="tx1"/>
                </a:solidFill>
                <a:effectLst/>
                <a:latin typeface="+mn-lt"/>
                <a:ea typeface="+mn-ea"/>
                <a:cs typeface="+mn-cs"/>
              </a:rPr>
              <a:t>的折叠高度依赖</a:t>
            </a:r>
            <a:r>
              <a:rPr lang="en-US" altLang="zh-CN" sz="1200" kern="1200" dirty="0">
                <a:solidFill>
                  <a:schemeClr val="tx1"/>
                </a:solidFill>
                <a:effectLst/>
                <a:latin typeface="+mn-lt"/>
                <a:ea typeface="+mn-ea"/>
                <a:cs typeface="+mn-cs"/>
              </a:rPr>
              <a:t>CAG</a:t>
            </a:r>
            <a:r>
              <a:rPr lang="zh-CN" altLang="zh-CN" sz="1200" kern="1200" dirty="0">
                <a:solidFill>
                  <a:schemeClr val="tx1"/>
                </a:solidFill>
                <a:effectLst/>
                <a:latin typeface="+mn-lt"/>
                <a:ea typeface="+mn-ea"/>
                <a:cs typeface="+mn-cs"/>
              </a:rPr>
              <a:t>重复长度。相比正常</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（左），突变型</a:t>
            </a:r>
            <a:r>
              <a:rPr lang="en-US" altLang="zh-CN" sz="1200" kern="1200" dirty="0">
                <a:solidFill>
                  <a:schemeClr val="tx1"/>
                </a:solidFill>
                <a:effectLst/>
                <a:latin typeface="+mn-lt"/>
                <a:ea typeface="+mn-ea"/>
                <a:cs typeface="+mn-cs"/>
              </a:rPr>
              <a:t>mRNA</a:t>
            </a:r>
            <a:r>
              <a:rPr lang="zh-CN" altLang="zh-CN" sz="1200" kern="1200" dirty="0">
                <a:solidFill>
                  <a:schemeClr val="tx1"/>
                </a:solidFill>
                <a:effectLst/>
                <a:latin typeface="+mn-lt"/>
                <a:ea typeface="+mn-ea"/>
                <a:cs typeface="+mn-cs"/>
              </a:rPr>
              <a:t>（右）的超长</a:t>
            </a:r>
            <a:r>
              <a:rPr lang="en-US" altLang="zh-CN" sz="1200" kern="1200" dirty="0">
                <a:solidFill>
                  <a:schemeClr val="tx1"/>
                </a:solidFill>
                <a:effectLst/>
                <a:latin typeface="+mn-lt"/>
                <a:ea typeface="+mn-ea"/>
                <a:cs typeface="+mn-cs"/>
              </a:rPr>
              <a:t>CAG</a:t>
            </a:r>
            <a:r>
              <a:rPr lang="zh-CN" altLang="zh-CN" sz="1200" kern="1200" dirty="0">
                <a:solidFill>
                  <a:schemeClr val="tx1"/>
                </a:solidFill>
                <a:effectLst/>
                <a:latin typeface="+mn-lt"/>
                <a:ea typeface="+mn-ea"/>
                <a:cs typeface="+mn-cs"/>
              </a:rPr>
              <a:t>序列折叠成了侧向突出的特征性巨大发夹结构（红色）。</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DA7F61C4-64DE-4C29-BE11-1BFA9C069B8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zh-CN" altLang="zh-CN" sz="1200" b="1" kern="1200" dirty="0">
                <a:solidFill>
                  <a:schemeClr val="tx1"/>
                </a:solidFill>
                <a:effectLst/>
                <a:latin typeface="+mn-lt"/>
                <a:ea typeface="+mn-ea"/>
                <a:cs typeface="+mn-cs"/>
              </a:rPr>
              <a:t>靶向创新：从一维序列识别</a:t>
            </a:r>
            <a:r>
              <a:rPr lang="en-US" altLang="zh-CN" sz="1200" b="1" kern="1200" dirty="0">
                <a:solidFill>
                  <a:schemeClr val="tx1"/>
                </a:solidFill>
                <a:effectLst/>
                <a:latin typeface="+mn-lt"/>
                <a:ea typeface="+mn-ea"/>
                <a:cs typeface="+mn-cs"/>
              </a:rPr>
              <a:t> → </a:t>
            </a:r>
            <a:r>
              <a:rPr lang="zh-CN" altLang="zh-CN" sz="1200" b="1" kern="1200" dirty="0">
                <a:solidFill>
                  <a:schemeClr val="tx1"/>
                </a:solidFill>
                <a:effectLst/>
                <a:latin typeface="+mn-lt"/>
                <a:ea typeface="+mn-ea"/>
                <a:cs typeface="+mn-cs"/>
              </a:rPr>
              <a:t>三维结构识别</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直接识别致病</a:t>
            </a:r>
            <a:r>
              <a:rPr lang="en-US" altLang="zh-CN" sz="1200" kern="1200" dirty="0">
                <a:solidFill>
                  <a:schemeClr val="tx1"/>
                </a:solidFill>
                <a:effectLst/>
                <a:latin typeface="+mn-lt"/>
                <a:ea typeface="+mn-ea"/>
                <a:cs typeface="+mn-cs"/>
              </a:rPr>
              <a:t> RNA </a:t>
            </a:r>
            <a:r>
              <a:rPr lang="zh-CN" altLang="zh-CN" sz="1200" kern="1200" dirty="0">
                <a:solidFill>
                  <a:schemeClr val="tx1"/>
                </a:solidFill>
                <a:effectLst/>
                <a:latin typeface="+mn-lt"/>
                <a:ea typeface="+mn-ea"/>
                <a:cs typeface="+mn-cs"/>
              </a:rPr>
              <a:t>特有异常发夹结构，实现高度同源转录本精准区分。</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突破传统仅依赖碱基互补的靶向模式，实现高度同源转录本的精准区分，从根源解决</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误伤正常</a:t>
            </a:r>
            <a:r>
              <a:rPr lang="en-US" altLang="zh-CN" sz="1200" kern="1200" dirty="0">
                <a:solidFill>
                  <a:schemeClr val="tx1"/>
                </a:solidFill>
                <a:effectLst/>
                <a:latin typeface="+mn-lt"/>
                <a:ea typeface="+mn-ea"/>
                <a:cs typeface="+mn-cs"/>
              </a:rPr>
              <a:t> RNA” </a:t>
            </a:r>
            <a:r>
              <a:rPr lang="zh-CN" altLang="zh-CN" sz="1200" kern="1200" dirty="0">
                <a:solidFill>
                  <a:schemeClr val="tx1"/>
                </a:solidFill>
                <a:effectLst/>
                <a:latin typeface="+mn-lt"/>
                <a:ea typeface="+mn-ea"/>
                <a:cs typeface="+mn-cs"/>
              </a:rPr>
              <a:t>的临床痛点。</a:t>
            </a:r>
            <a:endParaRPr lang="zh-CN" altLang="zh-CN" sz="120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机制创新：变构智能开关，条件激活切割</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仅识别致病</a:t>
            </a:r>
            <a:r>
              <a:rPr lang="en-US" altLang="zh-CN" sz="1200" kern="1200" dirty="0">
                <a:solidFill>
                  <a:schemeClr val="tx1"/>
                </a:solidFill>
                <a:effectLst/>
                <a:latin typeface="+mn-lt"/>
                <a:ea typeface="+mn-ea"/>
                <a:cs typeface="+mn-cs"/>
              </a:rPr>
              <a:t> RNA </a:t>
            </a:r>
            <a:r>
              <a:rPr lang="zh-CN" altLang="zh-CN" sz="1200" kern="1200" dirty="0">
                <a:solidFill>
                  <a:schemeClr val="tx1"/>
                </a:solidFill>
                <a:effectLst/>
                <a:latin typeface="+mn-lt"/>
                <a:ea typeface="+mn-ea"/>
                <a:cs typeface="+mn-cs"/>
              </a:rPr>
              <a:t>才启动编辑，不影响野生型</a:t>
            </a:r>
            <a:r>
              <a:rPr lang="en-US" altLang="zh-CN" sz="1200" kern="1200" dirty="0">
                <a:solidFill>
                  <a:schemeClr val="tx1"/>
                </a:solidFill>
                <a:effectLst/>
                <a:latin typeface="+mn-lt"/>
                <a:ea typeface="+mn-ea"/>
                <a:cs typeface="+mn-cs"/>
              </a:rPr>
              <a:t> RNA</a:t>
            </a:r>
            <a:r>
              <a:rPr lang="zh-CN" altLang="zh-CN" sz="1200" kern="1200" dirty="0">
                <a:solidFill>
                  <a:schemeClr val="tx1"/>
                </a:solidFill>
                <a:effectLst/>
                <a:latin typeface="+mn-lt"/>
                <a:ea typeface="+mn-ea"/>
                <a:cs typeface="+mn-cs"/>
              </a:rPr>
              <a:t>，从源头降低脱靶。</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未结合致病</a:t>
            </a:r>
            <a:r>
              <a:rPr lang="en-US" altLang="zh-CN" sz="1200" kern="1200" dirty="0">
                <a:solidFill>
                  <a:schemeClr val="tx1"/>
                </a:solidFill>
                <a:effectLst/>
                <a:latin typeface="+mn-lt"/>
                <a:ea typeface="+mn-ea"/>
                <a:cs typeface="+mn-cs"/>
              </a:rPr>
              <a:t> RNA</a:t>
            </a:r>
            <a:r>
              <a:rPr lang="zh-CN" altLang="zh-CN" sz="1200" kern="1200" dirty="0">
                <a:solidFill>
                  <a:schemeClr val="tx1"/>
                </a:solidFill>
                <a:effectLst/>
                <a:latin typeface="+mn-lt"/>
                <a:ea typeface="+mn-ea"/>
                <a:cs typeface="+mn-cs"/>
              </a:rPr>
              <a:t>时，</a:t>
            </a:r>
            <a:r>
              <a:rPr lang="en-US" altLang="zh-CN" sz="1200" kern="1200" dirty="0">
                <a:solidFill>
                  <a:schemeClr val="tx1"/>
                </a:solidFill>
                <a:effectLst/>
                <a:latin typeface="+mn-lt"/>
                <a:ea typeface="+mn-ea"/>
                <a:cs typeface="+mn-cs"/>
              </a:rPr>
              <a:t>Linker </a:t>
            </a:r>
            <a:r>
              <a:rPr lang="zh-CN" altLang="zh-CN" sz="1200" kern="1200" dirty="0">
                <a:solidFill>
                  <a:schemeClr val="tx1"/>
                </a:solidFill>
                <a:effectLst/>
                <a:latin typeface="+mn-lt"/>
                <a:ea typeface="+mn-ea"/>
                <a:cs typeface="+mn-cs"/>
              </a:rPr>
              <a:t>自折叠，关闭功能；识别异常结构时才会发生构象重排，解除抑制并启动编辑，实现 “仅在需要时工作”，从源头降低脱靶，建立可关断、可调控的</a:t>
            </a:r>
            <a:r>
              <a:rPr lang="en-US" altLang="zh-CN" sz="1200" kern="1200" dirty="0">
                <a:solidFill>
                  <a:schemeClr val="tx1"/>
                </a:solidFill>
                <a:effectLst/>
                <a:latin typeface="+mn-lt"/>
                <a:ea typeface="+mn-ea"/>
                <a:cs typeface="+mn-cs"/>
              </a:rPr>
              <a:t> RNA </a:t>
            </a:r>
            <a:r>
              <a:rPr lang="zh-CN" altLang="zh-CN" sz="1200" kern="1200" dirty="0">
                <a:solidFill>
                  <a:schemeClr val="tx1"/>
                </a:solidFill>
                <a:effectLst/>
                <a:latin typeface="+mn-lt"/>
                <a:ea typeface="+mn-ea"/>
                <a:cs typeface="+mn-cs"/>
              </a:rPr>
              <a:t>操控新范式。</a:t>
            </a:r>
            <a:endParaRPr lang="zh-CN" altLang="zh-CN" sz="120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方法创新：</a:t>
            </a:r>
            <a:r>
              <a:rPr lang="en-US" altLang="zh-CN" sz="1200" b="1" kern="1200" dirty="0">
                <a:solidFill>
                  <a:schemeClr val="tx1"/>
                </a:solidFill>
                <a:effectLst/>
                <a:latin typeface="+mn-lt"/>
                <a:ea typeface="+mn-ea"/>
                <a:cs typeface="+mn-cs"/>
              </a:rPr>
              <a:t>AI </a:t>
            </a:r>
            <a:r>
              <a:rPr lang="zh-CN" altLang="zh-CN" sz="1200" b="1" kern="1200" dirty="0">
                <a:solidFill>
                  <a:schemeClr val="tx1"/>
                </a:solidFill>
                <a:effectLst/>
                <a:latin typeface="+mn-lt"/>
                <a:ea typeface="+mn-ea"/>
                <a:cs typeface="+mn-cs"/>
              </a:rPr>
              <a:t>理性设计替代随机试错</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采用</a:t>
            </a:r>
            <a:r>
              <a:rPr lang="en-US" altLang="zh-CN" sz="1200" kern="1200" dirty="0">
                <a:solidFill>
                  <a:schemeClr val="tx1"/>
                </a:solidFill>
                <a:effectLst/>
                <a:latin typeface="+mn-lt"/>
                <a:ea typeface="+mn-ea"/>
                <a:cs typeface="+mn-cs"/>
              </a:rPr>
              <a:t> AlphaFold3</a:t>
            </a:r>
            <a:r>
              <a:rPr lang="zh-CN" altLang="zh-CN" sz="1200" kern="1200" dirty="0">
                <a:solidFill>
                  <a:schemeClr val="tx1"/>
                </a:solidFill>
                <a:effectLst/>
                <a:latin typeface="+mn-lt"/>
                <a:ea typeface="+mn-ea"/>
                <a:cs typeface="+mn-cs"/>
              </a:rPr>
              <a:t>、分子动力学模拟进行结构预测，使用</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RFdiffusion</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ProteinMPNN</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进行蛋白从头设计。使变构</a:t>
            </a:r>
            <a:r>
              <a:rPr lang="en-US" altLang="zh-CN" sz="1200" kern="1200" dirty="0">
                <a:solidFill>
                  <a:schemeClr val="tx1"/>
                </a:solidFill>
                <a:effectLst/>
                <a:latin typeface="+mn-lt"/>
                <a:ea typeface="+mn-ea"/>
                <a:cs typeface="+mn-cs"/>
              </a:rPr>
              <a:t> Linker </a:t>
            </a:r>
            <a:r>
              <a:rPr lang="zh-CN" altLang="zh-CN" sz="1200" kern="1200" dirty="0">
                <a:solidFill>
                  <a:schemeClr val="tx1"/>
                </a:solidFill>
                <a:effectLst/>
                <a:latin typeface="+mn-lt"/>
                <a:ea typeface="+mn-ea"/>
                <a:cs typeface="+mn-cs"/>
              </a:rPr>
              <a:t>从 “试错筛选” 升级为理性设计、可预测、可迭代，大幅提升元件可靠性与研发效率。</a:t>
            </a:r>
            <a:r>
              <a:rPr lang="en-US" altLang="zh-CN" sz="1200" kern="1200" baseline="30000" dirty="0">
                <a:solidFill>
                  <a:schemeClr val="tx1"/>
                </a:solidFill>
                <a:effectLst/>
                <a:latin typeface="+mn-lt"/>
                <a:ea typeface="+mn-ea"/>
                <a:cs typeface="+mn-cs"/>
              </a:rPr>
              <a:t>[4]</a:t>
            </a:r>
            <a:endParaRPr lang="zh-CN" altLang="zh-CN" sz="1200" kern="1200" dirty="0">
              <a:solidFill>
                <a:schemeClr val="tx1"/>
              </a:solidFill>
              <a:effectLst/>
              <a:latin typeface="+mn-lt"/>
              <a:ea typeface="+mn-ea"/>
              <a:cs typeface="+mn-cs"/>
            </a:endParaRPr>
          </a:p>
          <a:p>
            <a:pPr lvl="0"/>
            <a:endParaRPr lang="en-US" altLang="zh-CN" sz="1200" b="1"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系统创新：全蛋白模块化分子机器</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本项目创新构建模块化全蛋白分子机器，集靶向定位、结构感知、变构调控与功能执行于一体，以致病</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的异常二级结构作为特异性激活信号，依托</a:t>
            </a:r>
            <a:r>
              <a:rPr lang="en-US" altLang="zh-CN" sz="1200" kern="1200" dirty="0">
                <a:solidFill>
                  <a:schemeClr val="tx1"/>
                </a:solidFill>
                <a:effectLst/>
                <a:latin typeface="+mn-lt"/>
                <a:ea typeface="+mn-ea"/>
                <a:cs typeface="+mn-cs"/>
              </a:rPr>
              <a:t>AI</a:t>
            </a:r>
            <a:r>
              <a:rPr lang="zh-CN" altLang="zh-CN" sz="1200" kern="1200" dirty="0">
                <a:solidFill>
                  <a:schemeClr val="tx1"/>
                </a:solidFill>
                <a:effectLst/>
                <a:latin typeface="+mn-lt"/>
                <a:ea typeface="+mn-ea"/>
                <a:cs typeface="+mn-cs"/>
              </a:rPr>
              <a:t>理性设计的变构</a:t>
            </a:r>
            <a:r>
              <a:rPr lang="en-US" altLang="zh-CN" sz="1200" kern="1200" dirty="0">
                <a:solidFill>
                  <a:schemeClr val="tx1"/>
                </a:solidFill>
                <a:effectLst/>
                <a:latin typeface="+mn-lt"/>
                <a:ea typeface="+mn-ea"/>
                <a:cs typeface="+mn-cs"/>
              </a:rPr>
              <a:t>Linker</a:t>
            </a:r>
            <a:r>
              <a:rPr lang="zh-CN" altLang="zh-CN" sz="1200" kern="1200" dirty="0">
                <a:solidFill>
                  <a:schemeClr val="tx1"/>
                </a:solidFill>
                <a:effectLst/>
                <a:latin typeface="+mn-lt"/>
                <a:ea typeface="+mn-ea"/>
                <a:cs typeface="+mn-cs"/>
              </a:rPr>
              <a:t>实现智能开关调控，在不干扰正常</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的前提下精准降解致病</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，同时采用靶向保守区域的安全设计，脱离传统试错模式，实现高度特异、低脱靶、可调控的精准治疗系统。</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DA7F61C4-64DE-4C29-BE11-1BFA9C069B8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第 五 页 研究目标</a:t>
            </a:r>
            <a:endParaRPr lang="zh-CN" altLang="zh-CN" sz="1200" b="1"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总体目标</a:t>
            </a:r>
            <a:r>
              <a:rPr lang="zh-CN" altLang="zh-CN" sz="1200" kern="1200" dirty="0">
                <a:solidFill>
                  <a:schemeClr val="tx1"/>
                </a:solidFill>
                <a:effectLst/>
                <a:latin typeface="+mn-lt"/>
                <a:ea typeface="+mn-ea"/>
                <a:cs typeface="+mn-cs"/>
              </a:rPr>
              <a:t>构建</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靶向锚定</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结构感知</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变构激活</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精准切割</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一体化系统，实现</a:t>
            </a:r>
            <a:r>
              <a:rPr lang="zh-CN" altLang="zh-CN" sz="1200" b="1" kern="1200" dirty="0">
                <a:solidFill>
                  <a:schemeClr val="tx1"/>
                </a:solidFill>
                <a:effectLst/>
                <a:latin typeface="+mn-lt"/>
                <a:ea typeface="+mn-ea"/>
                <a:cs typeface="+mn-cs"/>
              </a:rPr>
              <a:t>只切割致病</a:t>
            </a:r>
            <a:r>
              <a:rPr lang="en-US" altLang="zh-CN" sz="1200" b="1" kern="1200" dirty="0">
                <a:solidFill>
                  <a:schemeClr val="tx1"/>
                </a:solidFill>
                <a:effectLst/>
                <a:latin typeface="+mn-lt"/>
                <a:ea typeface="+mn-ea"/>
                <a:cs typeface="+mn-cs"/>
              </a:rPr>
              <a:t> RNA</a:t>
            </a:r>
            <a:r>
              <a:rPr lang="zh-CN" altLang="zh-CN" sz="1200" b="1" kern="1200" dirty="0">
                <a:solidFill>
                  <a:schemeClr val="tx1"/>
                </a:solidFill>
                <a:effectLst/>
                <a:latin typeface="+mn-lt"/>
                <a:ea typeface="+mn-ea"/>
                <a:cs typeface="+mn-cs"/>
              </a:rPr>
              <a:t>、不损伤野生型</a:t>
            </a:r>
            <a:r>
              <a:rPr lang="en-US" altLang="zh-CN" sz="1200" b="1" kern="1200" dirty="0">
                <a:solidFill>
                  <a:schemeClr val="tx1"/>
                </a:solidFill>
                <a:effectLst/>
                <a:latin typeface="+mn-lt"/>
                <a:ea typeface="+mn-ea"/>
                <a:cs typeface="+mn-cs"/>
              </a:rPr>
              <a:t> RNA</a:t>
            </a:r>
            <a:r>
              <a:rPr lang="zh-CN" altLang="zh-CN" sz="1200" kern="1200" dirty="0">
                <a:solidFill>
                  <a:schemeClr val="tx1"/>
                </a:solidFill>
                <a:effectLst/>
                <a:latin typeface="+mn-lt"/>
                <a:ea typeface="+mn-ea"/>
                <a:cs typeface="+mn-cs"/>
              </a:rPr>
              <a:t>的亨廷顿病精准治疗。</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获得可区分</a:t>
            </a:r>
            <a:r>
              <a:rPr lang="en-US" altLang="zh-CN" sz="1200" kern="1200" dirty="0">
                <a:solidFill>
                  <a:schemeClr val="tx1"/>
                </a:solidFill>
                <a:effectLst/>
                <a:latin typeface="+mn-lt"/>
                <a:ea typeface="+mn-ea"/>
                <a:cs typeface="+mn-cs"/>
              </a:rPr>
              <a:t> CAG&lt;36</a:t>
            </a:r>
            <a:r>
              <a:rPr lang="zh-CN" altLang="zh-CN" sz="1200" kern="1200" dirty="0">
                <a:solidFill>
                  <a:schemeClr val="tx1"/>
                </a:solidFill>
                <a:effectLst/>
                <a:latin typeface="+mn-lt"/>
                <a:ea typeface="+mn-ea"/>
                <a:cs typeface="+mn-cs"/>
              </a:rPr>
              <a:t>（正常）与</a:t>
            </a:r>
            <a:r>
              <a:rPr lang="en-US" altLang="zh-CN" sz="1200" kern="1200" dirty="0">
                <a:solidFill>
                  <a:schemeClr val="tx1"/>
                </a:solidFill>
                <a:effectLst/>
                <a:latin typeface="+mn-lt"/>
                <a:ea typeface="+mn-ea"/>
                <a:cs typeface="+mn-cs"/>
              </a:rPr>
              <a:t> CAG≥36</a:t>
            </a:r>
            <a:r>
              <a:rPr lang="zh-CN" altLang="zh-CN" sz="1200" kern="1200" dirty="0">
                <a:solidFill>
                  <a:schemeClr val="tx1"/>
                </a:solidFill>
                <a:effectLst/>
                <a:latin typeface="+mn-lt"/>
                <a:ea typeface="+mn-ea"/>
                <a:cs typeface="+mn-cs"/>
              </a:rPr>
              <a:t>（致病）的</a:t>
            </a:r>
            <a:r>
              <a:rPr lang="en-US" altLang="zh-CN" sz="1200" kern="1200" dirty="0">
                <a:solidFill>
                  <a:schemeClr val="tx1"/>
                </a:solidFill>
                <a:effectLst/>
                <a:latin typeface="+mn-lt"/>
                <a:ea typeface="+mn-ea"/>
                <a:cs typeface="+mn-cs"/>
              </a:rPr>
              <a:t> RNA </a:t>
            </a:r>
            <a:r>
              <a:rPr lang="zh-CN" altLang="zh-CN" sz="1200" kern="1200" dirty="0">
                <a:solidFill>
                  <a:schemeClr val="tx1"/>
                </a:solidFill>
                <a:effectLst/>
                <a:latin typeface="+mn-lt"/>
                <a:ea typeface="+mn-ea"/>
                <a:cs typeface="+mn-cs"/>
              </a:rPr>
              <a:t>结构感知元件。</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完成</a:t>
            </a:r>
            <a:r>
              <a:rPr lang="en-US" altLang="zh-CN" sz="1200" kern="1200" dirty="0">
                <a:solidFill>
                  <a:schemeClr val="tx1"/>
                </a:solidFill>
                <a:effectLst/>
                <a:latin typeface="+mn-lt"/>
                <a:ea typeface="+mn-ea"/>
                <a:cs typeface="+mn-cs"/>
              </a:rPr>
              <a:t> AI </a:t>
            </a:r>
            <a:r>
              <a:rPr lang="zh-CN" altLang="zh-CN" sz="1200" kern="1200" dirty="0">
                <a:solidFill>
                  <a:schemeClr val="tx1"/>
                </a:solidFill>
                <a:effectLst/>
                <a:latin typeface="+mn-lt"/>
                <a:ea typeface="+mn-ea"/>
                <a:cs typeface="+mn-cs"/>
              </a:rPr>
              <a:t>驱动的变构调控</a:t>
            </a:r>
            <a:r>
              <a:rPr lang="en-US" altLang="zh-CN" sz="1200" kern="1200" dirty="0">
                <a:solidFill>
                  <a:schemeClr val="tx1"/>
                </a:solidFill>
                <a:effectLst/>
                <a:latin typeface="+mn-lt"/>
                <a:ea typeface="+mn-ea"/>
                <a:cs typeface="+mn-cs"/>
              </a:rPr>
              <a:t> Linker </a:t>
            </a:r>
            <a:r>
              <a:rPr lang="zh-CN" altLang="zh-CN" sz="1200" kern="1200" dirty="0">
                <a:solidFill>
                  <a:schemeClr val="tx1"/>
                </a:solidFill>
                <a:effectLst/>
                <a:latin typeface="+mn-lt"/>
                <a:ea typeface="+mn-ea"/>
                <a:cs typeface="+mn-cs"/>
              </a:rPr>
              <a:t>设计与验证。</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实现高特异性、低脱靶的条件性</a:t>
            </a:r>
            <a:r>
              <a:rPr lang="en-US" altLang="zh-CN" sz="1200" kern="1200" dirty="0">
                <a:solidFill>
                  <a:schemeClr val="tx1"/>
                </a:solidFill>
                <a:effectLst/>
                <a:latin typeface="+mn-lt"/>
                <a:ea typeface="+mn-ea"/>
                <a:cs typeface="+mn-cs"/>
              </a:rPr>
              <a:t> RNA </a:t>
            </a:r>
            <a:r>
              <a:rPr lang="zh-CN" altLang="zh-CN" sz="1200" kern="1200" dirty="0">
                <a:solidFill>
                  <a:schemeClr val="tx1"/>
                </a:solidFill>
                <a:effectLst/>
                <a:latin typeface="+mn-lt"/>
                <a:ea typeface="+mn-ea"/>
                <a:cs typeface="+mn-cs"/>
              </a:rPr>
              <a:t>编辑与降解。</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提供可标准化、可推广的</a:t>
            </a:r>
            <a:r>
              <a:rPr lang="en-US" altLang="zh-CN" sz="1200" kern="1200" dirty="0">
                <a:solidFill>
                  <a:schemeClr val="tx1"/>
                </a:solidFill>
                <a:effectLst/>
                <a:latin typeface="+mn-lt"/>
                <a:ea typeface="+mn-ea"/>
                <a:cs typeface="+mn-cs"/>
              </a:rPr>
              <a:t> RNA </a:t>
            </a:r>
            <a:r>
              <a:rPr lang="zh-CN" altLang="zh-CN" sz="1200" kern="1200" dirty="0">
                <a:solidFill>
                  <a:schemeClr val="tx1"/>
                </a:solidFill>
                <a:effectLst/>
                <a:latin typeface="+mn-lt"/>
                <a:ea typeface="+mn-ea"/>
                <a:cs typeface="+mn-cs"/>
              </a:rPr>
              <a:t>精准操控技术平台。</a:t>
            </a:r>
            <a:endParaRPr lang="en-US" altLang="zh-CN" sz="1200" kern="1200" dirty="0">
              <a:solidFill>
                <a:schemeClr val="tx1"/>
              </a:solidFill>
              <a:effectLst/>
              <a:latin typeface="+mn-lt"/>
              <a:ea typeface="+mn-ea"/>
              <a:cs typeface="+mn-cs"/>
            </a:endParaRPr>
          </a:p>
          <a:p>
            <a:pPr lvl="0"/>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第 六 页 整体系统设计</a:t>
            </a:r>
            <a:endParaRPr lang="zh-CN" altLang="zh-CN" sz="1200" b="1"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系统构成：四大模块化全蛋白分子机器</a:t>
            </a:r>
            <a:endParaRPr lang="zh-CN" altLang="zh-CN" sz="120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靶向定位模块（</a:t>
            </a:r>
            <a:r>
              <a:rPr lang="en-US" altLang="zh-CN" sz="1200" b="1" kern="1200" dirty="0">
                <a:solidFill>
                  <a:schemeClr val="tx1"/>
                </a:solidFill>
                <a:effectLst/>
                <a:latin typeface="+mn-lt"/>
                <a:ea typeface="+mn-ea"/>
                <a:cs typeface="+mn-cs"/>
              </a:rPr>
              <a:t>PUF</a:t>
            </a:r>
            <a:r>
              <a:rPr lang="zh-CN" altLang="zh-CN" sz="1200" b="1"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：以</a:t>
            </a:r>
            <a:r>
              <a:rPr lang="en-US" altLang="zh-CN" sz="1200" kern="1200" dirty="0">
                <a:solidFill>
                  <a:schemeClr val="tx1"/>
                </a:solidFill>
                <a:effectLst/>
                <a:latin typeface="+mn-lt"/>
                <a:ea typeface="+mn-ea"/>
                <a:cs typeface="+mn-cs"/>
              </a:rPr>
              <a:t>PUF</a:t>
            </a:r>
            <a:r>
              <a:rPr lang="zh-CN" altLang="zh-CN" sz="1200" kern="1200" dirty="0">
                <a:solidFill>
                  <a:schemeClr val="tx1"/>
                </a:solidFill>
                <a:effectLst/>
                <a:latin typeface="+mn-lt"/>
                <a:ea typeface="+mn-ea"/>
                <a:cs typeface="+mn-cs"/>
              </a:rPr>
              <a:t>蛋白特异性结合</a:t>
            </a:r>
            <a:r>
              <a:rPr lang="en-US" altLang="zh-CN" sz="1200" kern="1200" dirty="0">
                <a:solidFill>
                  <a:schemeClr val="tx1"/>
                </a:solidFill>
                <a:effectLst/>
                <a:latin typeface="+mn-lt"/>
                <a:ea typeface="+mn-ea"/>
                <a:cs typeface="+mn-cs"/>
              </a:rPr>
              <a:t>HTT mRNA</a:t>
            </a:r>
            <a:r>
              <a:rPr lang="zh-CN" altLang="zh-CN" sz="1200" kern="1200" dirty="0">
                <a:solidFill>
                  <a:schemeClr val="tx1"/>
                </a:solidFill>
                <a:effectLst/>
                <a:latin typeface="+mn-lt"/>
                <a:ea typeface="+mn-ea"/>
                <a:cs typeface="+mn-cs"/>
              </a:rPr>
              <a:t>保守区域，将分子机器精准锚定在目标</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上。</a:t>
            </a:r>
            <a:endParaRPr lang="zh-CN" altLang="zh-CN" sz="120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结构感知模块</a:t>
            </a:r>
            <a:r>
              <a:rPr lang="zh-CN" altLang="zh-CN" sz="1200" kern="1200" dirty="0">
                <a:solidFill>
                  <a:schemeClr val="tx1"/>
                </a:solidFill>
                <a:effectLst/>
                <a:latin typeface="+mn-lt"/>
                <a:ea typeface="+mn-ea"/>
                <a:cs typeface="+mn-cs"/>
              </a:rPr>
              <a:t>：识别</a:t>
            </a:r>
            <a:r>
              <a:rPr lang="en-US" altLang="zh-CN" sz="1200" kern="1200" dirty="0">
                <a:solidFill>
                  <a:schemeClr val="tx1"/>
                </a:solidFill>
                <a:effectLst/>
                <a:latin typeface="+mn-lt"/>
                <a:ea typeface="+mn-ea"/>
                <a:cs typeface="+mn-cs"/>
              </a:rPr>
              <a:t>CAG</a:t>
            </a:r>
            <a:r>
              <a:rPr lang="zh-CN" altLang="zh-CN" sz="1200" kern="1200" dirty="0">
                <a:solidFill>
                  <a:schemeClr val="tx1"/>
                </a:solidFill>
                <a:effectLst/>
                <a:latin typeface="+mn-lt"/>
                <a:ea typeface="+mn-ea"/>
                <a:cs typeface="+mn-cs"/>
              </a:rPr>
              <a:t>异常扩增形成的</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发夹结构，区分正常</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与致病</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变构调控</a:t>
            </a:r>
            <a:r>
              <a:rPr lang="en-US" altLang="zh-CN" sz="1200" b="1" kern="1200" dirty="0">
                <a:solidFill>
                  <a:schemeClr val="tx1"/>
                </a:solidFill>
                <a:effectLst/>
                <a:latin typeface="+mn-lt"/>
                <a:ea typeface="+mn-ea"/>
                <a:cs typeface="+mn-cs"/>
              </a:rPr>
              <a:t> Linker</a:t>
            </a:r>
            <a:r>
              <a:rPr lang="zh-CN" altLang="zh-CN" sz="1200" kern="1200" dirty="0">
                <a:solidFill>
                  <a:schemeClr val="tx1"/>
                </a:solidFill>
                <a:effectLst/>
                <a:latin typeface="+mn-lt"/>
                <a:ea typeface="+mn-ea"/>
                <a:cs typeface="+mn-cs"/>
              </a:rPr>
              <a:t>：作为系统开关，仅在感知致病</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构象后发生变构，激活下游功能。 </a:t>
            </a:r>
            <a:endParaRPr lang="zh-CN" altLang="zh-CN" sz="120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功能执行模块（</a:t>
            </a:r>
            <a:r>
              <a:rPr lang="en-US" altLang="zh-CN" sz="1200" b="1" kern="1200" dirty="0">
                <a:solidFill>
                  <a:schemeClr val="tx1"/>
                </a:solidFill>
                <a:effectLst/>
                <a:latin typeface="+mn-lt"/>
                <a:ea typeface="+mn-ea"/>
                <a:cs typeface="+mn-cs"/>
              </a:rPr>
              <a:t>APOBEC</a:t>
            </a:r>
            <a:r>
              <a:rPr lang="zh-CN" altLang="zh-CN" sz="1200" b="1"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：通过</a:t>
            </a:r>
            <a:r>
              <a:rPr lang="en-US" altLang="zh-CN" sz="1200" kern="1200" dirty="0">
                <a:solidFill>
                  <a:schemeClr val="tx1"/>
                </a:solidFill>
                <a:effectLst/>
                <a:latin typeface="+mn-lt"/>
                <a:ea typeface="+mn-ea"/>
                <a:cs typeface="+mn-cs"/>
              </a:rPr>
              <a:t>C→U</a:t>
            </a:r>
            <a:r>
              <a:rPr lang="zh-CN" altLang="zh-CN" sz="1200" kern="1200" dirty="0">
                <a:solidFill>
                  <a:schemeClr val="tx1"/>
                </a:solidFill>
                <a:effectLst/>
                <a:latin typeface="+mn-lt"/>
                <a:ea typeface="+mn-ea"/>
                <a:cs typeface="+mn-cs"/>
              </a:rPr>
              <a:t>编辑引入终止密码子，特异性降解致病</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，实现治疗作用。</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工作逻辑：</a:t>
            </a:r>
            <a:r>
              <a:rPr lang="zh-CN" altLang="zh-CN" sz="1200" kern="1200" dirty="0">
                <a:solidFill>
                  <a:schemeClr val="tx1"/>
                </a:solidFill>
                <a:effectLst/>
                <a:latin typeface="+mn-lt"/>
                <a:ea typeface="+mn-ea"/>
                <a:cs typeface="+mn-cs"/>
              </a:rPr>
              <a:t>靶向锚定</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结构校验</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变构激活</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条件切割</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双重校验</a:t>
            </a:r>
            <a:r>
              <a:rPr lang="zh-CN" altLang="zh-CN" sz="1200" kern="1200" dirty="0">
                <a:solidFill>
                  <a:schemeClr val="tx1"/>
                </a:solidFill>
                <a:effectLst/>
                <a:latin typeface="+mn-lt"/>
                <a:ea typeface="+mn-ea"/>
                <a:cs typeface="+mn-cs"/>
              </a:rPr>
              <a:t>：序列识别</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结构解锁</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仅致病</a:t>
            </a:r>
            <a:r>
              <a:rPr lang="en-US" altLang="zh-CN" sz="1200" kern="1200" dirty="0">
                <a:solidFill>
                  <a:schemeClr val="tx1"/>
                </a:solidFill>
                <a:effectLst/>
                <a:latin typeface="+mn-lt"/>
                <a:ea typeface="+mn-ea"/>
                <a:cs typeface="+mn-cs"/>
              </a:rPr>
              <a:t> RNA </a:t>
            </a:r>
            <a:r>
              <a:rPr lang="zh-CN" altLang="zh-CN" sz="1200" kern="1200" dirty="0">
                <a:solidFill>
                  <a:schemeClr val="tx1"/>
                </a:solidFill>
                <a:effectLst/>
                <a:latin typeface="+mn-lt"/>
                <a:ea typeface="+mn-ea"/>
                <a:cs typeface="+mn-cs"/>
              </a:rPr>
              <a:t>被切割</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DA7F61C4-64DE-4C29-BE11-1BFA9C069B8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第 六 页 整体系统设计</a:t>
            </a:r>
            <a:endParaRPr lang="zh-CN" altLang="zh-CN" sz="1200" b="1"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系统构成：四大模块化全蛋白分子机器</a:t>
            </a:r>
            <a:endParaRPr lang="zh-CN" altLang="zh-CN" sz="120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靶向定位模块（</a:t>
            </a:r>
            <a:r>
              <a:rPr lang="en-US" altLang="zh-CN" sz="1200" b="1" kern="1200" dirty="0">
                <a:solidFill>
                  <a:schemeClr val="tx1"/>
                </a:solidFill>
                <a:effectLst/>
                <a:latin typeface="+mn-lt"/>
                <a:ea typeface="+mn-ea"/>
                <a:cs typeface="+mn-cs"/>
              </a:rPr>
              <a:t>PUF</a:t>
            </a:r>
            <a:r>
              <a:rPr lang="zh-CN" altLang="zh-CN" sz="1200" b="1"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：以</a:t>
            </a:r>
            <a:r>
              <a:rPr lang="en-US" altLang="zh-CN" sz="1200" kern="1200" dirty="0">
                <a:solidFill>
                  <a:schemeClr val="tx1"/>
                </a:solidFill>
                <a:effectLst/>
                <a:latin typeface="+mn-lt"/>
                <a:ea typeface="+mn-ea"/>
                <a:cs typeface="+mn-cs"/>
              </a:rPr>
              <a:t>PUF</a:t>
            </a:r>
            <a:r>
              <a:rPr lang="zh-CN" altLang="zh-CN" sz="1200" kern="1200" dirty="0">
                <a:solidFill>
                  <a:schemeClr val="tx1"/>
                </a:solidFill>
                <a:effectLst/>
                <a:latin typeface="+mn-lt"/>
                <a:ea typeface="+mn-ea"/>
                <a:cs typeface="+mn-cs"/>
              </a:rPr>
              <a:t>蛋白特异性结合</a:t>
            </a:r>
            <a:r>
              <a:rPr lang="en-US" altLang="zh-CN" sz="1200" kern="1200" dirty="0">
                <a:solidFill>
                  <a:schemeClr val="tx1"/>
                </a:solidFill>
                <a:effectLst/>
                <a:latin typeface="+mn-lt"/>
                <a:ea typeface="+mn-ea"/>
                <a:cs typeface="+mn-cs"/>
              </a:rPr>
              <a:t>HTT mRNA</a:t>
            </a:r>
            <a:r>
              <a:rPr lang="zh-CN" altLang="zh-CN" sz="1200" kern="1200" dirty="0">
                <a:solidFill>
                  <a:schemeClr val="tx1"/>
                </a:solidFill>
                <a:effectLst/>
                <a:latin typeface="+mn-lt"/>
                <a:ea typeface="+mn-ea"/>
                <a:cs typeface="+mn-cs"/>
              </a:rPr>
              <a:t>保守区域，将分子机器精准锚定在目标</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上。</a:t>
            </a:r>
            <a:endParaRPr lang="zh-CN" altLang="zh-CN" sz="120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结构感知模块</a:t>
            </a:r>
            <a:r>
              <a:rPr lang="zh-CN" altLang="zh-CN" sz="1200" kern="1200" dirty="0">
                <a:solidFill>
                  <a:schemeClr val="tx1"/>
                </a:solidFill>
                <a:effectLst/>
                <a:latin typeface="+mn-lt"/>
                <a:ea typeface="+mn-ea"/>
                <a:cs typeface="+mn-cs"/>
              </a:rPr>
              <a:t>：识别</a:t>
            </a:r>
            <a:r>
              <a:rPr lang="en-US" altLang="zh-CN" sz="1200" kern="1200" dirty="0">
                <a:solidFill>
                  <a:schemeClr val="tx1"/>
                </a:solidFill>
                <a:effectLst/>
                <a:latin typeface="+mn-lt"/>
                <a:ea typeface="+mn-ea"/>
                <a:cs typeface="+mn-cs"/>
              </a:rPr>
              <a:t>CAG</a:t>
            </a:r>
            <a:r>
              <a:rPr lang="zh-CN" altLang="zh-CN" sz="1200" kern="1200" dirty="0">
                <a:solidFill>
                  <a:schemeClr val="tx1"/>
                </a:solidFill>
                <a:effectLst/>
                <a:latin typeface="+mn-lt"/>
                <a:ea typeface="+mn-ea"/>
                <a:cs typeface="+mn-cs"/>
              </a:rPr>
              <a:t>异常扩增形成的</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发夹结构，区分正常</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与致病</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变构调控</a:t>
            </a:r>
            <a:r>
              <a:rPr lang="en-US" altLang="zh-CN" sz="1200" b="1" kern="1200" dirty="0">
                <a:solidFill>
                  <a:schemeClr val="tx1"/>
                </a:solidFill>
                <a:effectLst/>
                <a:latin typeface="+mn-lt"/>
                <a:ea typeface="+mn-ea"/>
                <a:cs typeface="+mn-cs"/>
              </a:rPr>
              <a:t> Linker</a:t>
            </a:r>
            <a:r>
              <a:rPr lang="zh-CN" altLang="zh-CN" sz="1200" kern="1200" dirty="0">
                <a:solidFill>
                  <a:schemeClr val="tx1"/>
                </a:solidFill>
                <a:effectLst/>
                <a:latin typeface="+mn-lt"/>
                <a:ea typeface="+mn-ea"/>
                <a:cs typeface="+mn-cs"/>
              </a:rPr>
              <a:t>：作为系统开关，仅在感知致病</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构象后发生变构，激活下游功能。 </a:t>
            </a:r>
            <a:endParaRPr lang="zh-CN" altLang="zh-CN" sz="120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功能执行模块（</a:t>
            </a:r>
            <a:r>
              <a:rPr lang="en-US" altLang="zh-CN" sz="1200" b="1" kern="1200" dirty="0">
                <a:solidFill>
                  <a:schemeClr val="tx1"/>
                </a:solidFill>
                <a:effectLst/>
                <a:latin typeface="+mn-lt"/>
                <a:ea typeface="+mn-ea"/>
                <a:cs typeface="+mn-cs"/>
              </a:rPr>
              <a:t>APOBEC</a:t>
            </a:r>
            <a:r>
              <a:rPr lang="zh-CN" altLang="zh-CN" sz="1200" b="1"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：通过</a:t>
            </a:r>
            <a:r>
              <a:rPr lang="en-US" altLang="zh-CN" sz="1200" kern="1200" dirty="0">
                <a:solidFill>
                  <a:schemeClr val="tx1"/>
                </a:solidFill>
                <a:effectLst/>
                <a:latin typeface="+mn-lt"/>
                <a:ea typeface="+mn-ea"/>
                <a:cs typeface="+mn-cs"/>
              </a:rPr>
              <a:t>C→U</a:t>
            </a:r>
            <a:r>
              <a:rPr lang="zh-CN" altLang="zh-CN" sz="1200" kern="1200" dirty="0">
                <a:solidFill>
                  <a:schemeClr val="tx1"/>
                </a:solidFill>
                <a:effectLst/>
                <a:latin typeface="+mn-lt"/>
                <a:ea typeface="+mn-ea"/>
                <a:cs typeface="+mn-cs"/>
              </a:rPr>
              <a:t>编辑引入终止密码子，特异性降解致病</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，实现治疗作用。</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工作逻辑：</a:t>
            </a:r>
            <a:r>
              <a:rPr lang="zh-CN" altLang="zh-CN" sz="1200" kern="1200" dirty="0">
                <a:solidFill>
                  <a:schemeClr val="tx1"/>
                </a:solidFill>
                <a:effectLst/>
                <a:latin typeface="+mn-lt"/>
                <a:ea typeface="+mn-ea"/>
                <a:cs typeface="+mn-cs"/>
              </a:rPr>
              <a:t>靶向锚定</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结构校验</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变构激活</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条件切割</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双重校验</a:t>
            </a:r>
            <a:r>
              <a:rPr lang="zh-CN" altLang="zh-CN" sz="1200" kern="1200" dirty="0">
                <a:solidFill>
                  <a:schemeClr val="tx1"/>
                </a:solidFill>
                <a:effectLst/>
                <a:latin typeface="+mn-lt"/>
                <a:ea typeface="+mn-ea"/>
                <a:cs typeface="+mn-cs"/>
              </a:rPr>
              <a:t>：序列识别</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结构解锁</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仅致病</a:t>
            </a:r>
            <a:r>
              <a:rPr lang="en-US" altLang="zh-CN" sz="1200" kern="1200" dirty="0">
                <a:solidFill>
                  <a:schemeClr val="tx1"/>
                </a:solidFill>
                <a:effectLst/>
                <a:latin typeface="+mn-lt"/>
                <a:ea typeface="+mn-ea"/>
                <a:cs typeface="+mn-cs"/>
              </a:rPr>
              <a:t> RNA </a:t>
            </a:r>
            <a:r>
              <a:rPr lang="zh-CN" altLang="zh-CN" sz="1200" kern="1200" dirty="0">
                <a:solidFill>
                  <a:schemeClr val="tx1"/>
                </a:solidFill>
                <a:effectLst/>
                <a:latin typeface="+mn-lt"/>
                <a:ea typeface="+mn-ea"/>
                <a:cs typeface="+mn-cs"/>
              </a:rPr>
              <a:t>被切割</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第七页</a:t>
            </a:r>
            <a:r>
              <a:rPr lang="en-US" altLang="zh-CN" sz="1200" b="1" kern="1200" dirty="0">
                <a:solidFill>
                  <a:schemeClr val="tx1"/>
                </a:solidFill>
                <a:effectLst/>
                <a:latin typeface="+mn-lt"/>
                <a:ea typeface="+mn-ea"/>
                <a:cs typeface="+mn-cs"/>
              </a:rPr>
              <a:t>  </a:t>
            </a:r>
            <a:r>
              <a:rPr lang="zh-CN" altLang="zh-CN" sz="1200" b="1" kern="1200" dirty="0">
                <a:solidFill>
                  <a:schemeClr val="tx1"/>
                </a:solidFill>
                <a:effectLst/>
                <a:latin typeface="+mn-lt"/>
                <a:ea typeface="+mn-ea"/>
                <a:cs typeface="+mn-cs"/>
              </a:rPr>
              <a:t>系统详细介绍</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模块</a:t>
            </a:r>
            <a:r>
              <a:rPr lang="en-US" altLang="zh-CN" sz="1200" b="1" kern="1200" dirty="0">
                <a:solidFill>
                  <a:schemeClr val="tx1"/>
                </a:solidFill>
                <a:effectLst/>
                <a:latin typeface="+mn-lt"/>
                <a:ea typeface="+mn-ea"/>
                <a:cs typeface="+mn-cs"/>
              </a:rPr>
              <a:t> 1</a:t>
            </a:r>
            <a:r>
              <a:rPr lang="zh-CN" altLang="zh-CN" sz="1200" b="1" kern="1200" dirty="0">
                <a:solidFill>
                  <a:schemeClr val="tx1"/>
                </a:solidFill>
                <a:effectLst/>
                <a:latin typeface="+mn-lt"/>
                <a:ea typeface="+mn-ea"/>
                <a:cs typeface="+mn-cs"/>
              </a:rPr>
              <a:t>：靶向定位模块（</a:t>
            </a:r>
            <a:r>
              <a:rPr lang="en-US" altLang="zh-CN" sz="1200" b="1" kern="1200" dirty="0">
                <a:solidFill>
                  <a:schemeClr val="tx1"/>
                </a:solidFill>
                <a:effectLst/>
                <a:latin typeface="+mn-lt"/>
                <a:ea typeface="+mn-ea"/>
                <a:cs typeface="+mn-cs"/>
              </a:rPr>
              <a:t>PUF</a:t>
            </a:r>
            <a:r>
              <a:rPr lang="zh-CN" altLang="zh-CN" sz="1200" b="1"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功能</a:t>
            </a:r>
            <a:r>
              <a:rPr lang="zh-CN" altLang="zh-CN" sz="1200" kern="1200" dirty="0">
                <a:solidFill>
                  <a:schemeClr val="tx1"/>
                </a:solidFill>
                <a:effectLst/>
                <a:latin typeface="+mn-lt"/>
                <a:ea typeface="+mn-ea"/>
                <a:cs typeface="+mn-cs"/>
              </a:rPr>
              <a:t>：利用</a:t>
            </a:r>
            <a:r>
              <a:rPr lang="en-US" altLang="zh-CN" sz="1200" kern="1200" dirty="0">
                <a:solidFill>
                  <a:schemeClr val="tx1"/>
                </a:solidFill>
                <a:effectLst/>
                <a:latin typeface="+mn-lt"/>
                <a:ea typeface="+mn-ea"/>
                <a:cs typeface="+mn-cs"/>
              </a:rPr>
              <a:t> PUF </a:t>
            </a:r>
            <a:r>
              <a:rPr lang="zh-CN" altLang="zh-CN" sz="1200" kern="1200" dirty="0">
                <a:solidFill>
                  <a:schemeClr val="tx1"/>
                </a:solidFill>
                <a:effectLst/>
                <a:latin typeface="+mn-lt"/>
                <a:ea typeface="+mn-ea"/>
                <a:cs typeface="+mn-cs"/>
              </a:rPr>
              <a:t>蛋白可编程识别特性，高特异性结合</a:t>
            </a:r>
            <a:r>
              <a:rPr lang="en-US" altLang="zh-CN" sz="1200" kern="1200" dirty="0">
                <a:solidFill>
                  <a:schemeClr val="tx1"/>
                </a:solidFill>
                <a:effectLst/>
                <a:latin typeface="+mn-lt"/>
                <a:ea typeface="+mn-ea"/>
                <a:cs typeface="+mn-cs"/>
              </a:rPr>
              <a:t> HTT mRNA </a:t>
            </a:r>
            <a:r>
              <a:rPr lang="zh-CN" altLang="zh-CN" sz="1200" kern="1200" dirty="0">
                <a:solidFill>
                  <a:schemeClr val="tx1"/>
                </a:solidFill>
                <a:effectLst/>
                <a:latin typeface="+mn-lt"/>
                <a:ea typeface="+mn-ea"/>
                <a:cs typeface="+mn-cs"/>
              </a:rPr>
              <a:t>上游保守序列，实现精准定位。</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设计思路</a:t>
            </a:r>
            <a:r>
              <a:rPr lang="zh-CN" altLang="zh-CN" sz="1200" kern="1200" dirty="0">
                <a:solidFill>
                  <a:schemeClr val="tx1"/>
                </a:solidFill>
                <a:effectLst/>
                <a:latin typeface="+mn-lt"/>
                <a:ea typeface="+mn-ea"/>
                <a:cs typeface="+mn-cs"/>
              </a:rPr>
              <a:t>：靶向</a:t>
            </a:r>
            <a:r>
              <a:rPr lang="en-US" altLang="zh-CN" sz="1200" kern="1200" dirty="0">
                <a:solidFill>
                  <a:schemeClr val="tx1"/>
                </a:solidFill>
                <a:effectLst/>
                <a:latin typeface="+mn-lt"/>
                <a:ea typeface="+mn-ea"/>
                <a:cs typeface="+mn-cs"/>
              </a:rPr>
              <a:t> CAG </a:t>
            </a:r>
            <a:r>
              <a:rPr lang="zh-CN" altLang="zh-CN" sz="1200" kern="1200" dirty="0">
                <a:solidFill>
                  <a:schemeClr val="tx1"/>
                </a:solidFill>
                <a:effectLst/>
                <a:latin typeface="+mn-lt"/>
                <a:ea typeface="+mn-ea"/>
                <a:cs typeface="+mn-cs"/>
              </a:rPr>
              <a:t>重复区外侧保守位点，不直接结合重复序列，避免结构干扰与非特异性结合。</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核心优势</a:t>
            </a:r>
            <a:r>
              <a:rPr lang="zh-CN" altLang="zh-CN" sz="1200" kern="1200" dirty="0">
                <a:solidFill>
                  <a:schemeClr val="tx1"/>
                </a:solidFill>
                <a:effectLst/>
                <a:latin typeface="+mn-lt"/>
                <a:ea typeface="+mn-ea"/>
                <a:cs typeface="+mn-cs"/>
              </a:rPr>
              <a:t>：定位稳定、通用性强，为整个分子机器提供可靠的靶标锚定，降低脱靶风险。</a:t>
            </a:r>
            <a:endParaRPr lang="zh-CN" altLang="zh-CN" sz="1200" kern="1200" dirty="0">
              <a:solidFill>
                <a:schemeClr val="tx1"/>
              </a:solidFill>
              <a:effectLst/>
              <a:latin typeface="+mn-lt"/>
              <a:ea typeface="+mn-ea"/>
              <a:cs typeface="+mn-cs"/>
            </a:endParaRPr>
          </a:p>
          <a:p>
            <a:endParaRPr lang="en-US" altLang="zh-CN" sz="1200" b="1"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模块</a:t>
            </a:r>
            <a:r>
              <a:rPr lang="en-US" altLang="zh-CN" sz="1200" b="1" kern="1200" dirty="0">
                <a:solidFill>
                  <a:schemeClr val="tx1"/>
                </a:solidFill>
                <a:effectLst/>
                <a:latin typeface="+mn-lt"/>
                <a:ea typeface="+mn-ea"/>
                <a:cs typeface="+mn-cs"/>
              </a:rPr>
              <a:t> 2</a:t>
            </a:r>
            <a:r>
              <a:rPr lang="zh-CN" altLang="zh-CN" sz="1200" b="1" kern="1200" dirty="0">
                <a:solidFill>
                  <a:schemeClr val="tx1"/>
                </a:solidFill>
                <a:effectLst/>
                <a:latin typeface="+mn-lt"/>
                <a:ea typeface="+mn-ea"/>
                <a:cs typeface="+mn-cs"/>
              </a:rPr>
              <a:t>：结构感知模块（核心传感器）</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功能</a:t>
            </a:r>
            <a:r>
              <a:rPr lang="zh-CN" altLang="zh-CN" sz="1200" kern="1200" dirty="0">
                <a:solidFill>
                  <a:schemeClr val="tx1"/>
                </a:solidFill>
                <a:effectLst/>
                <a:latin typeface="+mn-lt"/>
                <a:ea typeface="+mn-ea"/>
                <a:cs typeface="+mn-cs"/>
              </a:rPr>
              <a:t>：特异性识别</a:t>
            </a:r>
            <a:r>
              <a:rPr lang="en-US" altLang="zh-CN" sz="1200" kern="1200" dirty="0">
                <a:solidFill>
                  <a:schemeClr val="tx1"/>
                </a:solidFill>
                <a:effectLst/>
                <a:latin typeface="+mn-lt"/>
                <a:ea typeface="+mn-ea"/>
                <a:cs typeface="+mn-cs"/>
              </a:rPr>
              <a:t> CAG </a:t>
            </a:r>
            <a:r>
              <a:rPr lang="zh-CN" altLang="zh-CN" sz="1200" kern="1200" dirty="0">
                <a:solidFill>
                  <a:schemeClr val="tx1"/>
                </a:solidFill>
                <a:effectLst/>
                <a:latin typeface="+mn-lt"/>
                <a:ea typeface="+mn-ea"/>
                <a:cs typeface="+mn-cs"/>
              </a:rPr>
              <a:t>异常扩增形成的</a:t>
            </a:r>
            <a:r>
              <a:rPr lang="en-US" altLang="zh-CN" sz="1200" kern="1200" dirty="0">
                <a:solidFill>
                  <a:schemeClr val="tx1"/>
                </a:solidFill>
                <a:effectLst/>
                <a:latin typeface="+mn-lt"/>
                <a:ea typeface="+mn-ea"/>
                <a:cs typeface="+mn-cs"/>
              </a:rPr>
              <a:t> RNA </a:t>
            </a:r>
            <a:r>
              <a:rPr lang="zh-CN" altLang="zh-CN" sz="1200" kern="1200" dirty="0">
                <a:solidFill>
                  <a:schemeClr val="tx1"/>
                </a:solidFill>
                <a:effectLst/>
                <a:latin typeface="+mn-lt"/>
                <a:ea typeface="+mn-ea"/>
                <a:cs typeface="+mn-cs"/>
              </a:rPr>
              <a:t>发夹结构，作为系统激活的唯一判断依据。</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区分标准：</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正常</a:t>
            </a:r>
            <a:r>
              <a:rPr lang="en-US" altLang="zh-CN" sz="1200" kern="1200" dirty="0">
                <a:solidFill>
                  <a:schemeClr val="tx1"/>
                </a:solidFill>
                <a:effectLst/>
                <a:latin typeface="+mn-lt"/>
                <a:ea typeface="+mn-ea"/>
                <a:cs typeface="+mn-cs"/>
              </a:rPr>
              <a:t> RNA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CAG </a:t>
            </a:r>
            <a:r>
              <a:rPr lang="zh-CN" altLang="zh-CN" sz="1200" kern="1200" dirty="0">
                <a:solidFill>
                  <a:schemeClr val="tx1"/>
                </a:solidFill>
                <a:effectLst/>
                <a:latin typeface="+mn-lt"/>
                <a:ea typeface="+mn-ea"/>
                <a:cs typeface="+mn-cs"/>
              </a:rPr>
              <a:t>重复数＜</a:t>
            </a:r>
            <a:r>
              <a:rPr lang="en-US" altLang="zh-CN" sz="1200" kern="1200" dirty="0">
                <a:solidFill>
                  <a:schemeClr val="tx1"/>
                </a:solidFill>
                <a:effectLst/>
                <a:latin typeface="+mn-lt"/>
                <a:ea typeface="+mn-ea"/>
                <a:cs typeface="+mn-cs"/>
              </a:rPr>
              <a:t>36</a:t>
            </a:r>
            <a:r>
              <a:rPr lang="zh-CN" altLang="zh-CN" sz="1200" kern="1200" dirty="0">
                <a:solidFill>
                  <a:schemeClr val="tx1"/>
                </a:solidFill>
                <a:effectLst/>
                <a:latin typeface="+mn-lt"/>
                <a:ea typeface="+mn-ea"/>
                <a:cs typeface="+mn-cs"/>
              </a:rPr>
              <a:t>，不形成稳定发夹结构</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致病</a:t>
            </a:r>
            <a:r>
              <a:rPr lang="en-US" altLang="zh-CN" sz="1200" kern="1200" dirty="0">
                <a:solidFill>
                  <a:schemeClr val="tx1"/>
                </a:solidFill>
                <a:effectLst/>
                <a:latin typeface="+mn-lt"/>
                <a:ea typeface="+mn-ea"/>
                <a:cs typeface="+mn-cs"/>
              </a:rPr>
              <a:t> RNA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CAG </a:t>
            </a:r>
            <a:r>
              <a:rPr lang="zh-CN" altLang="zh-CN" sz="1200" kern="1200" dirty="0">
                <a:solidFill>
                  <a:schemeClr val="tx1"/>
                </a:solidFill>
                <a:effectLst/>
                <a:latin typeface="+mn-lt"/>
                <a:ea typeface="+mn-ea"/>
                <a:cs typeface="+mn-cs"/>
              </a:rPr>
              <a:t>重复数≥</a:t>
            </a:r>
            <a:r>
              <a:rPr lang="en-US" altLang="zh-CN" sz="1200" kern="1200" dirty="0">
                <a:solidFill>
                  <a:schemeClr val="tx1"/>
                </a:solidFill>
                <a:effectLst/>
                <a:latin typeface="+mn-lt"/>
                <a:ea typeface="+mn-ea"/>
                <a:cs typeface="+mn-cs"/>
              </a:rPr>
              <a:t>36</a:t>
            </a:r>
            <a:r>
              <a:rPr lang="zh-CN" altLang="zh-CN" sz="1200" kern="1200" dirty="0">
                <a:solidFill>
                  <a:schemeClr val="tx1"/>
                </a:solidFill>
                <a:effectLst/>
                <a:latin typeface="+mn-lt"/>
                <a:ea typeface="+mn-ea"/>
                <a:cs typeface="+mn-cs"/>
              </a:rPr>
              <a:t>，形成突出且稳定的特征性发夹结构</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构建路径</a:t>
            </a:r>
            <a:r>
              <a:rPr lang="zh-CN"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检索</a:t>
            </a:r>
            <a:r>
              <a:rPr lang="en-US" altLang="zh-CN" sz="1200" kern="1200" dirty="0">
                <a:solidFill>
                  <a:schemeClr val="tx1"/>
                </a:solidFill>
                <a:effectLst/>
                <a:latin typeface="+mn-lt"/>
                <a:ea typeface="+mn-ea"/>
                <a:cs typeface="+mn-cs"/>
              </a:rPr>
              <a:t> PDB </a:t>
            </a:r>
            <a:r>
              <a:rPr lang="zh-CN" altLang="zh-CN" sz="1200" kern="1200" dirty="0">
                <a:solidFill>
                  <a:schemeClr val="tx1"/>
                </a:solidFill>
                <a:effectLst/>
                <a:latin typeface="+mn-lt"/>
                <a:ea typeface="+mn-ea"/>
                <a:cs typeface="+mn-cs"/>
              </a:rPr>
              <a:t>数据库与文献，筛选天然</a:t>
            </a:r>
            <a:r>
              <a:rPr lang="en-US" altLang="zh-CN" sz="1200" kern="1200" dirty="0">
                <a:solidFill>
                  <a:schemeClr val="tx1"/>
                </a:solidFill>
                <a:effectLst/>
                <a:latin typeface="+mn-lt"/>
                <a:ea typeface="+mn-ea"/>
                <a:cs typeface="+mn-cs"/>
              </a:rPr>
              <a:t> RNA </a:t>
            </a:r>
            <a:r>
              <a:rPr lang="zh-CN" altLang="zh-CN" sz="1200" kern="1200" dirty="0">
                <a:solidFill>
                  <a:schemeClr val="tx1"/>
                </a:solidFill>
                <a:effectLst/>
                <a:latin typeface="+mn-lt"/>
                <a:ea typeface="+mn-ea"/>
                <a:cs typeface="+mn-cs"/>
              </a:rPr>
              <a:t>发夹结合蛋白</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通过定向进化提升对目标构象的亲和力与特异性</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采用</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RFdiffusion</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ProteinMPNN</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等</a:t>
            </a:r>
            <a:r>
              <a:rPr lang="en-US" altLang="zh-CN" sz="1200" kern="1200" dirty="0">
                <a:solidFill>
                  <a:schemeClr val="tx1"/>
                </a:solidFill>
                <a:effectLst/>
                <a:latin typeface="+mn-lt"/>
                <a:ea typeface="+mn-ea"/>
                <a:cs typeface="+mn-cs"/>
              </a:rPr>
              <a:t> AI </a:t>
            </a:r>
            <a:r>
              <a:rPr lang="zh-CN" altLang="zh-CN" sz="1200" kern="1200" dirty="0">
                <a:solidFill>
                  <a:schemeClr val="tx1"/>
                </a:solidFill>
                <a:effectLst/>
                <a:latin typeface="+mn-lt"/>
                <a:ea typeface="+mn-ea"/>
                <a:cs typeface="+mn-cs"/>
              </a:rPr>
              <a:t>工具从头设计全新结合蛋白</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核心作用：</a:t>
            </a:r>
            <a:r>
              <a:rPr lang="zh-CN" altLang="zh-CN" sz="1200" kern="1200" dirty="0">
                <a:solidFill>
                  <a:schemeClr val="tx1"/>
                </a:solidFill>
                <a:effectLst/>
                <a:latin typeface="+mn-lt"/>
                <a:ea typeface="+mn-ea"/>
                <a:cs typeface="+mn-cs"/>
              </a:rPr>
              <a:t>实现 “只识别致病构象” 的严格筛选，是系统高特异性的基础。</a:t>
            </a:r>
            <a:endParaRPr lang="zh-CN" altLang="zh-CN" sz="1200" kern="1200" dirty="0">
              <a:solidFill>
                <a:schemeClr val="tx1"/>
              </a:solidFill>
              <a:effectLst/>
              <a:latin typeface="+mn-lt"/>
              <a:ea typeface="+mn-ea"/>
              <a:cs typeface="+mn-cs"/>
            </a:endParaRPr>
          </a:p>
          <a:p>
            <a:endParaRPr lang="en-US" altLang="zh-CN" sz="1200" b="1"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第 八 页 系统详细介绍</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模块</a:t>
            </a:r>
            <a:r>
              <a:rPr lang="en-US" altLang="zh-CN" sz="1200" b="1" kern="1200" dirty="0">
                <a:solidFill>
                  <a:schemeClr val="tx1"/>
                </a:solidFill>
                <a:effectLst/>
                <a:latin typeface="+mn-lt"/>
                <a:ea typeface="+mn-ea"/>
                <a:cs typeface="+mn-cs"/>
              </a:rPr>
              <a:t> 3</a:t>
            </a:r>
            <a:r>
              <a:rPr lang="zh-CN" altLang="zh-CN" sz="1200" b="1" kern="1200" dirty="0">
                <a:solidFill>
                  <a:schemeClr val="tx1"/>
                </a:solidFill>
                <a:effectLst/>
                <a:latin typeface="+mn-lt"/>
                <a:ea typeface="+mn-ea"/>
                <a:cs typeface="+mn-cs"/>
              </a:rPr>
              <a:t>：变构调控</a:t>
            </a:r>
            <a:r>
              <a:rPr lang="en-US" altLang="zh-CN" sz="1200" b="1" kern="1200" dirty="0">
                <a:solidFill>
                  <a:schemeClr val="tx1"/>
                </a:solidFill>
                <a:effectLst/>
                <a:latin typeface="+mn-lt"/>
                <a:ea typeface="+mn-ea"/>
                <a:cs typeface="+mn-cs"/>
              </a:rPr>
              <a:t> Linker</a:t>
            </a:r>
            <a:r>
              <a:rPr lang="zh-CN" altLang="zh-CN" sz="1200" b="1" kern="1200" dirty="0">
                <a:solidFill>
                  <a:schemeClr val="tx1"/>
                </a:solidFill>
                <a:effectLst/>
                <a:latin typeface="+mn-lt"/>
                <a:ea typeface="+mn-ea"/>
                <a:cs typeface="+mn-cs"/>
              </a:rPr>
              <a:t>（总开关）</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关闭状态</a:t>
            </a:r>
            <a:r>
              <a:rPr lang="zh-CN" altLang="zh-CN" sz="1200" kern="1200" dirty="0">
                <a:solidFill>
                  <a:schemeClr val="tx1"/>
                </a:solidFill>
                <a:effectLst/>
                <a:latin typeface="+mn-lt"/>
                <a:ea typeface="+mn-ea"/>
                <a:cs typeface="+mn-cs"/>
              </a:rPr>
              <a:t>：未结合致病</a:t>
            </a:r>
            <a:r>
              <a:rPr lang="en-US" altLang="zh-CN" sz="1200" kern="1200" dirty="0">
                <a:solidFill>
                  <a:schemeClr val="tx1"/>
                </a:solidFill>
                <a:effectLst/>
                <a:latin typeface="+mn-lt"/>
                <a:ea typeface="+mn-ea"/>
                <a:cs typeface="+mn-cs"/>
              </a:rPr>
              <a:t> RNA </a:t>
            </a:r>
            <a:r>
              <a:rPr lang="zh-CN" altLang="zh-CN" sz="1200" kern="1200" dirty="0">
                <a:solidFill>
                  <a:schemeClr val="tx1"/>
                </a:solidFill>
                <a:effectLst/>
                <a:latin typeface="+mn-lt"/>
                <a:ea typeface="+mn-ea"/>
                <a:cs typeface="+mn-cs"/>
              </a:rPr>
              <a:t>时，</a:t>
            </a:r>
            <a:r>
              <a:rPr lang="en-US" altLang="zh-CN" sz="1200" kern="1200" dirty="0">
                <a:solidFill>
                  <a:schemeClr val="tx1"/>
                </a:solidFill>
                <a:effectLst/>
                <a:latin typeface="+mn-lt"/>
                <a:ea typeface="+mn-ea"/>
                <a:cs typeface="+mn-cs"/>
              </a:rPr>
              <a:t>Linker</a:t>
            </a:r>
            <a:r>
              <a:rPr lang="zh-CN" altLang="zh-CN" sz="1200" kern="1200" dirty="0">
                <a:solidFill>
                  <a:schemeClr val="tx1"/>
                </a:solidFill>
                <a:effectLst/>
                <a:latin typeface="+mn-lt"/>
                <a:ea typeface="+mn-ea"/>
                <a:cs typeface="+mn-cs"/>
              </a:rPr>
              <a:t>自折叠屏蔽</a:t>
            </a:r>
            <a:r>
              <a:rPr lang="en-US" altLang="zh-CN" sz="1200" kern="1200" dirty="0">
                <a:solidFill>
                  <a:schemeClr val="tx1"/>
                </a:solidFill>
                <a:effectLst/>
                <a:latin typeface="+mn-lt"/>
                <a:ea typeface="+mn-ea"/>
                <a:cs typeface="+mn-cs"/>
              </a:rPr>
              <a:t> APOBEC </a:t>
            </a:r>
            <a:r>
              <a:rPr lang="zh-CN" altLang="zh-CN" sz="1200" kern="1200" dirty="0">
                <a:solidFill>
                  <a:schemeClr val="tx1"/>
                </a:solidFill>
                <a:effectLst/>
                <a:latin typeface="+mn-lt"/>
                <a:ea typeface="+mn-ea"/>
                <a:cs typeface="+mn-cs"/>
              </a:rPr>
              <a:t>活性中心，使系统保持静默。</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激活状态：</a:t>
            </a:r>
            <a:r>
              <a:rPr lang="zh-CN" altLang="zh-CN" sz="1200" kern="1200" dirty="0">
                <a:solidFill>
                  <a:schemeClr val="tx1"/>
                </a:solidFill>
                <a:effectLst/>
                <a:latin typeface="+mn-lt"/>
                <a:ea typeface="+mn-ea"/>
                <a:cs typeface="+mn-cs"/>
              </a:rPr>
              <a:t>感知到异常</a:t>
            </a:r>
            <a:r>
              <a:rPr lang="en-US" altLang="zh-CN" sz="1200" kern="1200" dirty="0">
                <a:solidFill>
                  <a:schemeClr val="tx1"/>
                </a:solidFill>
                <a:effectLst/>
                <a:latin typeface="+mn-lt"/>
                <a:ea typeface="+mn-ea"/>
                <a:cs typeface="+mn-cs"/>
              </a:rPr>
              <a:t> RNA </a:t>
            </a:r>
            <a:r>
              <a:rPr lang="zh-CN" altLang="zh-CN" sz="1200" kern="1200" dirty="0">
                <a:solidFill>
                  <a:schemeClr val="tx1"/>
                </a:solidFill>
                <a:effectLst/>
                <a:latin typeface="+mn-lt"/>
                <a:ea typeface="+mn-ea"/>
                <a:cs typeface="+mn-cs"/>
              </a:rPr>
              <a:t>发夹后，</a:t>
            </a:r>
            <a:r>
              <a:rPr lang="en-US" altLang="zh-CN" sz="1200" kern="1200" dirty="0">
                <a:solidFill>
                  <a:schemeClr val="tx1"/>
                </a:solidFill>
                <a:effectLst/>
                <a:latin typeface="+mn-lt"/>
                <a:ea typeface="+mn-ea"/>
                <a:cs typeface="+mn-cs"/>
              </a:rPr>
              <a:t>Linker </a:t>
            </a:r>
            <a:r>
              <a:rPr lang="zh-CN" altLang="zh-CN" sz="1200" kern="1200" dirty="0">
                <a:solidFill>
                  <a:schemeClr val="tx1"/>
                </a:solidFill>
                <a:effectLst/>
                <a:latin typeface="+mn-lt"/>
                <a:ea typeface="+mn-ea"/>
                <a:cs typeface="+mn-cs"/>
              </a:rPr>
              <a:t>发生构象重排，释放功能蛋白活性。</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设计手段：</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①</a:t>
            </a:r>
            <a:r>
              <a:rPr lang="en-US" altLang="zh-CN" sz="1200" kern="1200" dirty="0">
                <a:solidFill>
                  <a:schemeClr val="tx1"/>
                </a:solidFill>
                <a:effectLst/>
                <a:latin typeface="+mn-lt"/>
                <a:ea typeface="+mn-ea"/>
                <a:cs typeface="+mn-cs"/>
              </a:rPr>
              <a:t>AlphaFold3 </a:t>
            </a:r>
            <a:r>
              <a:rPr lang="zh-CN" altLang="zh-CN" sz="1200" kern="1200" dirty="0">
                <a:solidFill>
                  <a:schemeClr val="tx1"/>
                </a:solidFill>
                <a:effectLst/>
                <a:latin typeface="+mn-lt"/>
                <a:ea typeface="+mn-ea"/>
                <a:cs typeface="+mn-cs"/>
              </a:rPr>
              <a:t>预测蛋白–</a:t>
            </a:r>
            <a:r>
              <a:rPr lang="en-US" altLang="zh-CN" sz="1200" kern="1200" dirty="0">
                <a:solidFill>
                  <a:schemeClr val="tx1"/>
                </a:solidFill>
                <a:effectLst/>
                <a:latin typeface="+mn-lt"/>
                <a:ea typeface="+mn-ea"/>
                <a:cs typeface="+mn-cs"/>
              </a:rPr>
              <a:t>RNA </a:t>
            </a:r>
            <a:r>
              <a:rPr lang="zh-CN" altLang="zh-CN" sz="1200" kern="1200" dirty="0">
                <a:solidFill>
                  <a:schemeClr val="tx1"/>
                </a:solidFill>
                <a:effectLst/>
                <a:latin typeface="+mn-lt"/>
                <a:ea typeface="+mn-ea"/>
                <a:cs typeface="+mn-cs"/>
              </a:rPr>
              <a:t>复合物三维结构</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②分子动力学模拟（</a:t>
            </a:r>
            <a:r>
              <a:rPr lang="en-US" altLang="zh-CN" sz="1200" kern="1200" dirty="0">
                <a:solidFill>
                  <a:schemeClr val="tx1"/>
                </a:solidFill>
                <a:effectLst/>
                <a:latin typeface="+mn-lt"/>
                <a:ea typeface="+mn-ea"/>
                <a:cs typeface="+mn-cs"/>
              </a:rPr>
              <a:t>MD</a:t>
            </a:r>
            <a:r>
              <a:rPr lang="zh-CN" altLang="zh-CN" sz="1200" kern="1200" dirty="0">
                <a:solidFill>
                  <a:schemeClr val="tx1"/>
                </a:solidFill>
                <a:effectLst/>
                <a:latin typeface="+mn-lt"/>
                <a:ea typeface="+mn-ea"/>
                <a:cs typeface="+mn-cs"/>
              </a:rPr>
              <a:t>）验证构象变化可靠性</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③</a:t>
            </a:r>
            <a:r>
              <a:rPr lang="en-US" altLang="zh-CN" sz="1200" kern="1200" dirty="0">
                <a:solidFill>
                  <a:schemeClr val="tx1"/>
                </a:solidFill>
                <a:effectLst/>
                <a:latin typeface="+mn-lt"/>
                <a:ea typeface="+mn-ea"/>
                <a:cs typeface="+mn-cs"/>
              </a:rPr>
              <a:t>GAN + </a:t>
            </a:r>
            <a:r>
              <a:rPr lang="zh-CN" altLang="zh-CN" sz="1200" kern="1200" dirty="0">
                <a:solidFill>
                  <a:schemeClr val="tx1"/>
                </a:solidFill>
                <a:effectLst/>
                <a:latin typeface="+mn-lt"/>
                <a:ea typeface="+mn-ea"/>
                <a:cs typeface="+mn-cs"/>
              </a:rPr>
              <a:t>结构模型联合迭代优化序列与功能</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核心价值</a:t>
            </a:r>
            <a:r>
              <a:rPr lang="zh-CN" altLang="zh-CN" sz="1200" kern="1200" dirty="0">
                <a:solidFill>
                  <a:schemeClr val="tx1"/>
                </a:solidFill>
                <a:effectLst/>
                <a:latin typeface="+mn-lt"/>
                <a:ea typeface="+mn-ea"/>
                <a:cs typeface="+mn-cs"/>
              </a:rPr>
              <a:t>：实现条件激活、可关断、低脱靶，从源头避免误伤正常</a:t>
            </a:r>
            <a:r>
              <a:rPr lang="en-US" altLang="zh-CN" sz="1200" kern="1200" dirty="0">
                <a:solidFill>
                  <a:schemeClr val="tx1"/>
                </a:solidFill>
                <a:effectLst/>
                <a:latin typeface="+mn-lt"/>
                <a:ea typeface="+mn-ea"/>
                <a:cs typeface="+mn-cs"/>
              </a:rPr>
              <a:t> RNA</a:t>
            </a:r>
            <a:r>
              <a:rPr lang="zh-CN"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endParaRPr lang="en-US" altLang="zh-CN" sz="1200" b="1"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模块</a:t>
            </a:r>
            <a:r>
              <a:rPr lang="en-US" altLang="zh-CN" sz="1200" b="1" kern="1200" dirty="0">
                <a:solidFill>
                  <a:schemeClr val="tx1"/>
                </a:solidFill>
                <a:effectLst/>
                <a:latin typeface="+mn-lt"/>
                <a:ea typeface="+mn-ea"/>
                <a:cs typeface="+mn-cs"/>
              </a:rPr>
              <a:t> 4</a:t>
            </a:r>
            <a:r>
              <a:rPr lang="zh-CN" altLang="zh-CN" sz="1200" b="1" kern="1200" dirty="0">
                <a:solidFill>
                  <a:schemeClr val="tx1"/>
                </a:solidFill>
                <a:effectLst/>
                <a:latin typeface="+mn-lt"/>
                <a:ea typeface="+mn-ea"/>
                <a:cs typeface="+mn-cs"/>
              </a:rPr>
              <a:t>：功能执行模块（</a:t>
            </a:r>
            <a:r>
              <a:rPr lang="en-US" altLang="zh-CN" sz="1200" b="1" kern="1200" dirty="0">
                <a:solidFill>
                  <a:schemeClr val="tx1"/>
                </a:solidFill>
                <a:effectLst/>
                <a:latin typeface="+mn-lt"/>
                <a:ea typeface="+mn-ea"/>
                <a:cs typeface="+mn-cs"/>
              </a:rPr>
              <a:t>APOBEC</a:t>
            </a:r>
            <a:r>
              <a:rPr lang="zh-CN" altLang="zh-CN" sz="1200" b="1"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元件来源</a:t>
            </a:r>
            <a:r>
              <a:rPr lang="zh-CN" altLang="zh-CN" sz="1200" kern="1200" dirty="0">
                <a:solidFill>
                  <a:schemeClr val="tx1"/>
                </a:solidFill>
                <a:effectLst/>
                <a:latin typeface="+mn-lt"/>
                <a:ea typeface="+mn-ea"/>
                <a:cs typeface="+mn-cs"/>
              </a:rPr>
              <a:t>：人源</a:t>
            </a:r>
            <a:r>
              <a:rPr lang="en-US" altLang="zh-CN" sz="1200" kern="1200" dirty="0">
                <a:solidFill>
                  <a:schemeClr val="tx1"/>
                </a:solidFill>
                <a:effectLst/>
                <a:latin typeface="+mn-lt"/>
                <a:ea typeface="+mn-ea"/>
                <a:cs typeface="+mn-cs"/>
              </a:rPr>
              <a:t> APOBEC3 </a:t>
            </a:r>
            <a:r>
              <a:rPr lang="zh-CN" altLang="zh-CN" sz="1200" kern="1200" dirty="0">
                <a:solidFill>
                  <a:schemeClr val="tx1"/>
                </a:solidFill>
                <a:effectLst/>
                <a:latin typeface="+mn-lt"/>
                <a:ea typeface="+mn-ea"/>
                <a:cs typeface="+mn-cs"/>
              </a:rPr>
              <a:t>家族胞嘧啶脱氨酶（截短体）。</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作用机制</a:t>
            </a:r>
            <a:r>
              <a:rPr lang="zh-CN" altLang="zh-CN" sz="1200" kern="1200" dirty="0">
                <a:solidFill>
                  <a:schemeClr val="tx1"/>
                </a:solidFill>
                <a:effectLst/>
                <a:latin typeface="+mn-lt"/>
                <a:ea typeface="+mn-ea"/>
                <a:cs typeface="+mn-cs"/>
              </a:rPr>
              <a:t>：催化靶</a:t>
            </a:r>
            <a:r>
              <a:rPr lang="en-US" altLang="zh-CN" sz="1200" kern="1200" dirty="0">
                <a:solidFill>
                  <a:schemeClr val="tx1"/>
                </a:solidFill>
                <a:effectLst/>
                <a:latin typeface="+mn-lt"/>
                <a:ea typeface="+mn-ea"/>
                <a:cs typeface="+mn-cs"/>
              </a:rPr>
              <a:t> RNA </a:t>
            </a:r>
            <a:r>
              <a:rPr lang="zh-CN" altLang="zh-CN" sz="1200" kern="1200" dirty="0">
                <a:solidFill>
                  <a:schemeClr val="tx1"/>
                </a:solidFill>
                <a:effectLst/>
                <a:latin typeface="+mn-lt"/>
                <a:ea typeface="+mn-ea"/>
                <a:cs typeface="+mn-cs"/>
              </a:rPr>
              <a:t>上</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U </a:t>
            </a:r>
            <a:r>
              <a:rPr lang="zh-CN" altLang="zh-CN" sz="1200" kern="1200" dirty="0">
                <a:solidFill>
                  <a:schemeClr val="tx1"/>
                </a:solidFill>
                <a:effectLst/>
                <a:latin typeface="+mn-lt"/>
                <a:ea typeface="+mn-ea"/>
                <a:cs typeface="+mn-cs"/>
              </a:rPr>
              <a:t>编辑，引入提前终止密码子。</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最终效果</a:t>
            </a:r>
            <a:r>
              <a:rPr lang="zh-CN" altLang="zh-CN" sz="1200" kern="1200" dirty="0">
                <a:solidFill>
                  <a:schemeClr val="tx1"/>
                </a:solidFill>
                <a:effectLst/>
                <a:latin typeface="+mn-lt"/>
                <a:ea typeface="+mn-ea"/>
                <a:cs typeface="+mn-cs"/>
              </a:rPr>
              <a:t>：破坏致病</a:t>
            </a:r>
            <a:r>
              <a:rPr lang="en-US" altLang="zh-CN" sz="1200" kern="1200" dirty="0">
                <a:solidFill>
                  <a:schemeClr val="tx1"/>
                </a:solidFill>
                <a:effectLst/>
                <a:latin typeface="+mn-lt"/>
                <a:ea typeface="+mn-ea"/>
                <a:cs typeface="+mn-cs"/>
              </a:rPr>
              <a:t> RNA </a:t>
            </a:r>
            <a:r>
              <a:rPr lang="zh-CN" altLang="zh-CN" sz="1200" kern="1200" dirty="0">
                <a:solidFill>
                  <a:schemeClr val="tx1"/>
                </a:solidFill>
                <a:effectLst/>
                <a:latin typeface="+mn-lt"/>
                <a:ea typeface="+mn-ea"/>
                <a:cs typeface="+mn-cs"/>
              </a:rPr>
              <a:t>稳定性，使其快速降解，阻止毒性</a:t>
            </a:r>
            <a:r>
              <a:rPr lang="en-US" altLang="zh-CN" sz="1200" kern="1200" dirty="0">
                <a:solidFill>
                  <a:schemeClr val="tx1"/>
                </a:solidFill>
                <a:effectLst/>
                <a:latin typeface="+mn-lt"/>
                <a:ea typeface="+mn-ea"/>
                <a:cs typeface="+mn-cs"/>
              </a:rPr>
              <a:t> HTT </a:t>
            </a:r>
            <a:r>
              <a:rPr lang="zh-CN" altLang="zh-CN" sz="1200" kern="1200" dirty="0">
                <a:solidFill>
                  <a:schemeClr val="tx1"/>
                </a:solidFill>
                <a:effectLst/>
                <a:latin typeface="+mn-lt"/>
                <a:ea typeface="+mn-ea"/>
                <a:cs typeface="+mn-cs"/>
              </a:rPr>
              <a:t>蛋白翻译。</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核心优势</a:t>
            </a:r>
            <a:r>
              <a:rPr lang="zh-CN" altLang="zh-CN" sz="1200" kern="1200" dirty="0">
                <a:solidFill>
                  <a:schemeClr val="tx1"/>
                </a:solidFill>
                <a:effectLst/>
                <a:latin typeface="+mn-lt"/>
                <a:ea typeface="+mn-ea"/>
                <a:cs typeface="+mn-cs"/>
              </a:rPr>
              <a:t>：人体同源、安全性高、无需辅因子、结构紧凑，适合融合表达。</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DA7F61C4-64DE-4C29-BE11-1BFA9C069B8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A7F61C4-64DE-4C29-BE11-1BFA9C069B8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en-US" altLang="zh-CN" sz="1200" b="1" kern="1200" dirty="0">
                <a:solidFill>
                  <a:schemeClr val="tx1"/>
                </a:solidFill>
                <a:effectLst/>
                <a:latin typeface="+mn-lt"/>
                <a:ea typeface="+mn-ea"/>
                <a:cs typeface="+mn-cs"/>
              </a:rPr>
              <a:t>AlphaFold 3</a:t>
            </a:r>
            <a:r>
              <a:rPr lang="zh-CN" altLang="en-US" sz="1200" b="1" kern="1200" dirty="0">
                <a:solidFill>
                  <a:schemeClr val="tx1"/>
                </a:solidFill>
                <a:effectLst/>
                <a:latin typeface="+mn-lt"/>
                <a:ea typeface="+mn-ea"/>
                <a:cs typeface="+mn-cs"/>
              </a:rPr>
              <a:t>结构预测</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该技术将</a:t>
            </a:r>
            <a:r>
              <a:rPr lang="en-US" altLang="zh-CN" sz="1200" kern="1200" dirty="0">
                <a:solidFill>
                  <a:schemeClr val="tx1"/>
                </a:solidFill>
                <a:effectLst/>
                <a:latin typeface="+mn-lt"/>
                <a:ea typeface="+mn-ea"/>
                <a:cs typeface="+mn-cs"/>
              </a:rPr>
              <a:t>Linker</a:t>
            </a:r>
            <a:r>
              <a:rPr lang="zh-CN" altLang="en-US" sz="1200" kern="1200" dirty="0">
                <a:solidFill>
                  <a:schemeClr val="tx1"/>
                </a:solidFill>
                <a:effectLst/>
                <a:latin typeface="+mn-lt"/>
                <a:ea typeface="+mn-ea"/>
                <a:cs typeface="+mn-cs"/>
              </a:rPr>
              <a:t>从单纯的物理连接纽带升级为具有构象调控功能的智能开关，有效解决效应蛋白的空间自由度失控问题。</a:t>
            </a:r>
            <a:endParaRPr lang="zh-CN" altLang="en-US" sz="1200" kern="1200" dirty="0">
              <a:solidFill>
                <a:schemeClr val="tx1"/>
              </a:solidFill>
              <a:effectLst/>
              <a:latin typeface="+mn-lt"/>
              <a:ea typeface="+mn-ea"/>
              <a:cs typeface="+mn-cs"/>
            </a:endParaRPr>
          </a:p>
          <a:p>
            <a:pPr lvl="0"/>
            <a:r>
              <a:rPr lang="zh-CN" altLang="en-US" sz="1200" b="1" kern="1200" dirty="0">
                <a:solidFill>
                  <a:schemeClr val="tx1"/>
                </a:solidFill>
                <a:effectLst/>
                <a:latin typeface="+mn-lt"/>
                <a:ea typeface="+mn-ea"/>
                <a:cs typeface="+mn-cs"/>
              </a:rPr>
              <a:t> </a:t>
            </a:r>
            <a:r>
              <a:rPr lang="en-US" altLang="zh-CN" sz="1200" b="1" kern="1200" dirty="0">
                <a:solidFill>
                  <a:schemeClr val="tx1"/>
                </a:solidFill>
                <a:effectLst/>
                <a:latin typeface="+mn-lt"/>
                <a:ea typeface="+mn-ea"/>
                <a:cs typeface="+mn-cs"/>
              </a:rPr>
              <a:t>RNA </a:t>
            </a:r>
            <a:r>
              <a:rPr lang="zh-CN" altLang="en-US" sz="1200" b="1" kern="1200" dirty="0">
                <a:solidFill>
                  <a:schemeClr val="tx1"/>
                </a:solidFill>
                <a:effectLst/>
                <a:latin typeface="+mn-lt"/>
                <a:ea typeface="+mn-ea"/>
                <a:cs typeface="+mn-cs"/>
              </a:rPr>
              <a:t>结合蛋白设计</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寻找潜在的天然候选蛋白，并考虑通过</a:t>
            </a:r>
            <a:r>
              <a:rPr lang="en-US" altLang="zh-CN" sz="1200" kern="1200" dirty="0">
                <a:solidFill>
                  <a:schemeClr val="tx1"/>
                </a:solidFill>
                <a:effectLst/>
                <a:latin typeface="+mn-lt"/>
                <a:ea typeface="+mn-ea"/>
                <a:cs typeface="+mn-cs"/>
              </a:rPr>
              <a:t>AI</a:t>
            </a:r>
            <a:r>
              <a:rPr lang="zh-CN" altLang="en-US" sz="1200" kern="1200" dirty="0">
                <a:solidFill>
                  <a:schemeClr val="tx1"/>
                </a:solidFill>
                <a:effectLst/>
                <a:latin typeface="+mn-lt"/>
                <a:ea typeface="+mn-ea"/>
                <a:cs typeface="+mn-cs"/>
              </a:rPr>
              <a:t>辅助的蛋白质设计工具（例如基于</a:t>
            </a:r>
            <a:r>
              <a:rPr lang="en-US" altLang="zh-CN" sz="1200" kern="1200" dirty="0" err="1">
                <a:solidFill>
                  <a:schemeClr val="tx1"/>
                </a:solidFill>
                <a:effectLst/>
                <a:latin typeface="+mn-lt"/>
                <a:ea typeface="+mn-ea"/>
                <a:cs typeface="+mn-cs"/>
              </a:rPr>
              <a:t>RFdiffusion</a:t>
            </a:r>
            <a:r>
              <a:rPr lang="zh-CN" altLang="en-US" sz="1200" kern="1200" dirty="0">
                <a:solidFill>
                  <a:schemeClr val="tx1"/>
                </a:solidFill>
                <a:effectLst/>
                <a:latin typeface="+mn-lt"/>
                <a:ea typeface="+mn-ea"/>
                <a:cs typeface="+mn-cs"/>
              </a:rPr>
              <a:t>或</a:t>
            </a:r>
            <a:r>
              <a:rPr lang="en-US" altLang="zh-CN" sz="1200" kern="1200" dirty="0" err="1">
                <a:solidFill>
                  <a:schemeClr val="tx1"/>
                </a:solidFill>
                <a:effectLst/>
                <a:latin typeface="+mn-lt"/>
                <a:ea typeface="+mn-ea"/>
                <a:cs typeface="+mn-cs"/>
              </a:rPr>
              <a:t>ProteinMPNN</a:t>
            </a:r>
            <a:r>
              <a:rPr lang="zh-CN" altLang="en-US" sz="1200" kern="1200" dirty="0">
                <a:solidFill>
                  <a:schemeClr val="tx1"/>
                </a:solidFill>
                <a:effectLst/>
                <a:latin typeface="+mn-lt"/>
                <a:ea typeface="+mn-ea"/>
                <a:cs typeface="+mn-cs"/>
              </a:rPr>
              <a:t>的流程）从头生成对目标</a:t>
            </a:r>
            <a:r>
              <a:rPr lang="en-US" altLang="zh-CN" sz="1200" kern="1200" dirty="0">
                <a:solidFill>
                  <a:schemeClr val="tx1"/>
                </a:solidFill>
                <a:effectLst/>
                <a:latin typeface="+mn-lt"/>
                <a:ea typeface="+mn-ea"/>
                <a:cs typeface="+mn-cs"/>
              </a:rPr>
              <a:t>RNA</a:t>
            </a:r>
            <a:r>
              <a:rPr lang="zh-CN" altLang="en-US" sz="1200" kern="1200" dirty="0">
                <a:solidFill>
                  <a:schemeClr val="tx1"/>
                </a:solidFill>
                <a:effectLst/>
                <a:latin typeface="+mn-lt"/>
                <a:ea typeface="+mn-ea"/>
                <a:cs typeface="+mn-cs"/>
              </a:rPr>
              <a:t>构象具有高亲和力的结合蛋白。</a:t>
            </a:r>
            <a:endParaRPr lang="zh-CN" altLang="en-US" sz="1200" kern="1200" dirty="0">
              <a:solidFill>
                <a:schemeClr val="tx1"/>
              </a:solidFill>
              <a:effectLst/>
              <a:latin typeface="+mn-lt"/>
              <a:ea typeface="+mn-ea"/>
              <a:cs typeface="+mn-cs"/>
            </a:endParaRPr>
          </a:p>
          <a:p>
            <a:pPr lvl="0"/>
            <a:r>
              <a:rPr lang="zh-CN" altLang="en-US" sz="1200" b="1" kern="1200" dirty="0">
                <a:solidFill>
                  <a:schemeClr val="tx1"/>
                </a:solidFill>
                <a:effectLst/>
                <a:latin typeface="+mn-lt"/>
                <a:ea typeface="+mn-ea"/>
                <a:cs typeface="+mn-cs"/>
              </a:rPr>
              <a:t>变构 </a:t>
            </a:r>
            <a:r>
              <a:rPr lang="en-US" altLang="zh-CN" sz="1200" b="1" kern="1200" dirty="0">
                <a:solidFill>
                  <a:schemeClr val="tx1"/>
                </a:solidFill>
                <a:effectLst/>
                <a:latin typeface="+mn-lt"/>
                <a:ea typeface="+mn-ea"/>
                <a:cs typeface="+mn-cs"/>
              </a:rPr>
              <a:t>Linker </a:t>
            </a:r>
            <a:r>
              <a:rPr lang="zh-CN" altLang="en-US" sz="1200" b="1" kern="1200" dirty="0">
                <a:solidFill>
                  <a:schemeClr val="tx1"/>
                </a:solidFill>
                <a:effectLst/>
                <a:latin typeface="+mn-lt"/>
                <a:ea typeface="+mn-ea"/>
                <a:cs typeface="+mn-cs"/>
              </a:rPr>
              <a:t>理性设计</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即结合生成对抗网络</a:t>
            </a:r>
            <a:r>
              <a:rPr lang="en-US" altLang="zh-CN" sz="1200" kern="1200" dirty="0">
                <a:solidFill>
                  <a:schemeClr val="tx1"/>
                </a:solidFill>
                <a:effectLst/>
                <a:latin typeface="+mn-lt"/>
                <a:ea typeface="+mn-ea"/>
                <a:cs typeface="+mn-cs"/>
              </a:rPr>
              <a:t>GAN</a:t>
            </a:r>
            <a:r>
              <a:rPr lang="zh-CN" altLang="en-US" sz="1200" kern="1200" dirty="0">
                <a:solidFill>
                  <a:schemeClr val="tx1"/>
                </a:solidFill>
                <a:effectLst/>
                <a:latin typeface="+mn-lt"/>
                <a:ea typeface="+mn-ea"/>
                <a:cs typeface="+mn-cs"/>
              </a:rPr>
              <a:t>和序列</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结构预测模型进行迭代设计和优化</a:t>
            </a:r>
            <a:endParaRPr lang="zh-CN" altLang="en-US" sz="1200" kern="1200" dirty="0">
              <a:solidFill>
                <a:schemeClr val="tx1"/>
              </a:solidFill>
              <a:effectLst/>
              <a:latin typeface="+mn-lt"/>
              <a:ea typeface="+mn-ea"/>
              <a:cs typeface="+mn-cs"/>
            </a:endParaRPr>
          </a:p>
          <a:p>
            <a:pPr lvl="0"/>
            <a:r>
              <a:rPr lang="zh-CN" altLang="en-US" sz="1200" b="1" kern="1200" dirty="0">
                <a:solidFill>
                  <a:schemeClr val="tx1"/>
                </a:solidFill>
                <a:effectLst/>
                <a:latin typeface="+mn-lt"/>
                <a:ea typeface="+mn-ea"/>
                <a:cs typeface="+mn-cs"/>
              </a:rPr>
              <a:t>分子动力学（</a:t>
            </a:r>
            <a:r>
              <a:rPr lang="en-US" altLang="zh-CN" sz="1200" b="1" kern="1200" dirty="0">
                <a:solidFill>
                  <a:schemeClr val="tx1"/>
                </a:solidFill>
                <a:effectLst/>
                <a:latin typeface="+mn-lt"/>
                <a:ea typeface="+mn-ea"/>
                <a:cs typeface="+mn-cs"/>
              </a:rPr>
              <a:t>MD</a:t>
            </a:r>
            <a:r>
              <a:rPr lang="zh-CN" altLang="en-US" sz="1200" b="1" kern="1200" dirty="0">
                <a:solidFill>
                  <a:schemeClr val="tx1"/>
                </a:solidFill>
                <a:effectLst/>
                <a:latin typeface="+mn-lt"/>
                <a:ea typeface="+mn-ea"/>
                <a:cs typeface="+mn-cs"/>
              </a:rPr>
              <a:t>）构象分析</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分子动力学（</a:t>
            </a:r>
            <a:r>
              <a:rPr lang="en-US" altLang="zh-CN" sz="1200" kern="1200" dirty="0">
                <a:solidFill>
                  <a:schemeClr val="tx1"/>
                </a:solidFill>
                <a:effectLst/>
                <a:latin typeface="+mn-lt"/>
                <a:ea typeface="+mn-ea"/>
                <a:cs typeface="+mn-cs"/>
              </a:rPr>
              <a:t>MD</a:t>
            </a:r>
            <a:r>
              <a:rPr lang="zh-CN" altLang="en-US" sz="1200" kern="1200" dirty="0">
                <a:solidFill>
                  <a:schemeClr val="tx1"/>
                </a:solidFill>
                <a:effectLst/>
                <a:latin typeface="+mn-lt"/>
                <a:ea typeface="+mn-ea"/>
                <a:cs typeface="+mn-cs"/>
              </a:rPr>
              <a:t>）模拟（例如使用</a:t>
            </a:r>
            <a:r>
              <a:rPr lang="en-US" altLang="zh-CN" sz="1200" kern="1200" dirty="0">
                <a:solidFill>
                  <a:schemeClr val="tx1"/>
                </a:solidFill>
                <a:effectLst/>
                <a:latin typeface="+mn-lt"/>
                <a:ea typeface="+mn-ea"/>
                <a:cs typeface="+mn-cs"/>
              </a:rPr>
              <a:t>GROMACS</a:t>
            </a:r>
            <a:r>
              <a:rPr lang="zh-CN" altLang="en-US"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AMBER</a:t>
            </a:r>
            <a:r>
              <a:rPr lang="zh-CN" altLang="en-US" sz="1200" kern="1200" dirty="0">
                <a:solidFill>
                  <a:schemeClr val="tx1"/>
                </a:solidFill>
                <a:effectLst/>
                <a:latin typeface="+mn-lt"/>
                <a:ea typeface="+mn-ea"/>
                <a:cs typeface="+mn-cs"/>
              </a:rPr>
              <a:t>软件）分析其在有无靶标</a:t>
            </a:r>
            <a:r>
              <a:rPr lang="en-US" altLang="zh-CN" sz="1200" kern="1200" dirty="0">
                <a:solidFill>
                  <a:schemeClr val="tx1"/>
                </a:solidFill>
                <a:effectLst/>
                <a:latin typeface="+mn-lt"/>
                <a:ea typeface="+mn-ea"/>
                <a:cs typeface="+mn-cs"/>
              </a:rPr>
              <a:t>RNA</a:t>
            </a:r>
            <a:r>
              <a:rPr lang="zh-CN" altLang="en-US" sz="1200" kern="1200" dirty="0">
                <a:solidFill>
                  <a:schemeClr val="tx1"/>
                </a:solidFill>
                <a:effectLst/>
                <a:latin typeface="+mn-lt"/>
                <a:ea typeface="+mn-ea"/>
                <a:cs typeface="+mn-cs"/>
              </a:rPr>
              <a:t>结合时的构象系综变化，初步验证其“开关”功能的可行性。</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最终目标</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产出</a:t>
            </a:r>
            <a:r>
              <a:rPr lang="en-US" altLang="zh-CN" sz="1200" kern="1200" dirty="0">
                <a:solidFill>
                  <a:schemeClr val="tx1"/>
                </a:solidFill>
                <a:effectLst/>
                <a:latin typeface="+mn-lt"/>
                <a:ea typeface="+mn-ea"/>
                <a:cs typeface="+mn-cs"/>
              </a:rPr>
              <a:t>1-2</a:t>
            </a:r>
            <a:r>
              <a:rPr lang="zh-CN" altLang="en-US" sz="1200" kern="1200" dirty="0">
                <a:solidFill>
                  <a:schemeClr val="tx1"/>
                </a:solidFill>
                <a:effectLst/>
                <a:latin typeface="+mn-lt"/>
                <a:ea typeface="+mn-ea"/>
                <a:cs typeface="+mn-cs"/>
              </a:rPr>
              <a:t>个经计算模拟预测具有预期功能的候选融合蛋白序列</a:t>
            </a:r>
            <a:endParaRPr lang="zh-CN" altLang="en-US"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DA7F61C4-64DE-4C29-BE11-1BFA9C069B8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kern="1200" dirty="0">
                <a:solidFill>
                  <a:schemeClr val="tx1"/>
                </a:solidFill>
                <a:effectLst/>
                <a:latin typeface="+mn-lt"/>
                <a:ea typeface="+mn-ea"/>
                <a:cs typeface="+mn-cs"/>
              </a:rPr>
              <a:t>湿实验核心技术</a:t>
            </a:r>
            <a:endParaRPr lang="zh-CN" altLang="en-US" sz="1200" kern="1200" dirty="0">
              <a:solidFill>
                <a:schemeClr val="tx1"/>
              </a:solidFill>
              <a:effectLst/>
              <a:latin typeface="+mn-lt"/>
              <a:ea typeface="+mn-ea"/>
              <a:cs typeface="+mn-cs"/>
            </a:endParaRPr>
          </a:p>
          <a:p>
            <a:pPr lvl="0"/>
            <a:r>
              <a:rPr lang="zh-CN" altLang="en-US" sz="1200" b="1" kern="1200" dirty="0">
                <a:solidFill>
                  <a:schemeClr val="tx1"/>
                </a:solidFill>
                <a:effectLst/>
                <a:latin typeface="+mn-lt"/>
                <a:ea typeface="+mn-ea"/>
                <a:cs typeface="+mn-cs"/>
              </a:rPr>
              <a:t>重组蛋白表达与纯化</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构建真核载体，经</a:t>
            </a:r>
            <a:r>
              <a:rPr lang="en-US" altLang="zh-CN" sz="1200" kern="1200" dirty="0">
                <a:solidFill>
                  <a:schemeClr val="tx1"/>
                </a:solidFill>
                <a:effectLst/>
                <a:latin typeface="+mn-lt"/>
                <a:ea typeface="+mn-ea"/>
                <a:cs typeface="+mn-cs"/>
              </a:rPr>
              <a:t>HEK293T</a:t>
            </a:r>
            <a:r>
              <a:rPr lang="zh-CN" altLang="en-US" sz="1200" kern="1200" dirty="0">
                <a:solidFill>
                  <a:schemeClr val="tx1"/>
                </a:solidFill>
                <a:effectLst/>
                <a:latin typeface="+mn-lt"/>
                <a:ea typeface="+mn-ea"/>
                <a:cs typeface="+mn-cs"/>
              </a:rPr>
              <a:t>瞬转表达，通过</a:t>
            </a:r>
            <a:r>
              <a:rPr lang="en-US" altLang="zh-CN" sz="1200" kern="1200" dirty="0">
                <a:solidFill>
                  <a:schemeClr val="tx1"/>
                </a:solidFill>
                <a:effectLst/>
                <a:latin typeface="+mn-lt"/>
                <a:ea typeface="+mn-ea"/>
                <a:cs typeface="+mn-cs"/>
              </a:rPr>
              <a:t>Ni-NTA</a:t>
            </a:r>
            <a:r>
              <a:rPr lang="zh-CN" altLang="en-US"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SEC</a:t>
            </a:r>
            <a:r>
              <a:rPr lang="zh-CN" altLang="en-US" sz="1200" kern="1200" dirty="0">
                <a:solidFill>
                  <a:schemeClr val="tx1"/>
                </a:solidFill>
                <a:effectLst/>
                <a:latin typeface="+mn-lt"/>
                <a:ea typeface="+mn-ea"/>
                <a:cs typeface="+mn-cs"/>
              </a:rPr>
              <a:t>联用纯化高纯度蛋白。</a:t>
            </a:r>
            <a:endParaRPr lang="zh-CN" altLang="en-US" sz="1200" kern="1200" dirty="0">
              <a:solidFill>
                <a:schemeClr val="tx1"/>
              </a:solidFill>
              <a:effectLst/>
              <a:latin typeface="+mn-lt"/>
              <a:ea typeface="+mn-ea"/>
              <a:cs typeface="+mn-cs"/>
            </a:endParaRPr>
          </a:p>
          <a:p>
            <a:pPr lvl="0"/>
            <a:r>
              <a:rPr lang="zh-CN" altLang="en-US" sz="1200" b="1" kern="1200" dirty="0">
                <a:solidFill>
                  <a:schemeClr val="tx1"/>
                </a:solidFill>
                <a:effectLst/>
                <a:latin typeface="+mn-lt"/>
                <a:ea typeface="+mn-ea"/>
                <a:cs typeface="+mn-cs"/>
              </a:rPr>
              <a:t>体外转录</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我们将通过体外转录合成两带有不同荧光基团标记的</a:t>
            </a:r>
            <a:r>
              <a:rPr lang="en-US" altLang="zh-CN" sz="1200" kern="1200" dirty="0">
                <a:solidFill>
                  <a:schemeClr val="tx1"/>
                </a:solidFill>
                <a:effectLst/>
                <a:latin typeface="+mn-lt"/>
                <a:ea typeface="+mn-ea"/>
                <a:cs typeface="+mn-cs"/>
              </a:rPr>
              <a:t>RNA</a:t>
            </a:r>
            <a:r>
              <a:rPr lang="zh-CN" altLang="en-US" sz="1200" kern="1200" dirty="0">
                <a:solidFill>
                  <a:schemeClr val="tx1"/>
                </a:solidFill>
                <a:effectLst/>
                <a:latin typeface="+mn-lt"/>
                <a:ea typeface="+mn-ea"/>
                <a:cs typeface="+mn-cs"/>
              </a:rPr>
              <a:t>底物：代表正常</a:t>
            </a:r>
            <a:r>
              <a:rPr lang="en-US" altLang="zh-CN" sz="1200" kern="1200" dirty="0">
                <a:solidFill>
                  <a:schemeClr val="tx1"/>
                </a:solidFill>
                <a:effectLst/>
                <a:latin typeface="+mn-lt"/>
                <a:ea typeface="+mn-ea"/>
                <a:cs typeface="+mn-cs"/>
              </a:rPr>
              <a:t>RNA</a:t>
            </a:r>
            <a:r>
              <a:rPr lang="zh-CN" altLang="en-US"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CAG</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20</a:t>
            </a:r>
            <a:r>
              <a:rPr lang="zh-CN" altLang="en-US" sz="1200" kern="1200" dirty="0">
                <a:solidFill>
                  <a:schemeClr val="tx1"/>
                </a:solidFill>
                <a:effectLst/>
                <a:latin typeface="+mn-lt"/>
                <a:ea typeface="+mn-ea"/>
                <a:cs typeface="+mn-cs"/>
              </a:rPr>
              <a:t>底物和代表致病</a:t>
            </a:r>
            <a:r>
              <a:rPr lang="en-US" altLang="zh-CN" sz="1200" kern="1200" dirty="0">
                <a:solidFill>
                  <a:schemeClr val="tx1"/>
                </a:solidFill>
                <a:effectLst/>
                <a:latin typeface="+mn-lt"/>
                <a:ea typeface="+mn-ea"/>
                <a:cs typeface="+mn-cs"/>
              </a:rPr>
              <a:t>RNA</a:t>
            </a:r>
            <a:r>
              <a:rPr lang="zh-CN" altLang="en-US"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CAG</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40</a:t>
            </a:r>
            <a:r>
              <a:rPr lang="zh-CN" altLang="en-US" sz="1200" kern="1200" dirty="0">
                <a:solidFill>
                  <a:schemeClr val="tx1"/>
                </a:solidFill>
                <a:effectLst/>
                <a:latin typeface="+mn-lt"/>
                <a:ea typeface="+mn-ea"/>
                <a:cs typeface="+mn-cs"/>
              </a:rPr>
              <a:t>底物，以精确评估分子机器的</a:t>
            </a:r>
            <a:r>
              <a:rPr lang="en-US" altLang="zh-CN" sz="1200" kern="1200" dirty="0">
                <a:solidFill>
                  <a:schemeClr val="tx1"/>
                </a:solidFill>
                <a:effectLst/>
                <a:latin typeface="+mn-lt"/>
                <a:ea typeface="+mn-ea"/>
                <a:cs typeface="+mn-cs"/>
              </a:rPr>
              <a:t>RNA</a:t>
            </a:r>
            <a:r>
              <a:rPr lang="zh-CN" altLang="en-US" sz="1200" kern="1200" dirty="0">
                <a:solidFill>
                  <a:schemeClr val="tx1"/>
                </a:solidFill>
                <a:effectLst/>
                <a:latin typeface="+mn-lt"/>
                <a:ea typeface="+mn-ea"/>
                <a:cs typeface="+mn-cs"/>
              </a:rPr>
              <a:t>结合及切割活性。</a:t>
            </a:r>
            <a:endParaRPr lang="zh-CN" altLang="en-US" sz="1200" kern="1200" dirty="0">
              <a:solidFill>
                <a:schemeClr val="tx1"/>
              </a:solidFill>
              <a:effectLst/>
              <a:latin typeface="+mn-lt"/>
              <a:ea typeface="+mn-ea"/>
              <a:cs typeface="+mn-cs"/>
            </a:endParaRPr>
          </a:p>
          <a:p>
            <a:pPr lvl="0"/>
            <a:r>
              <a:rPr lang="en-US" altLang="zh-CN" sz="1200" b="1" kern="1200" dirty="0">
                <a:solidFill>
                  <a:schemeClr val="tx1"/>
                </a:solidFill>
                <a:effectLst/>
                <a:latin typeface="+mn-lt"/>
                <a:ea typeface="+mn-ea"/>
                <a:cs typeface="+mn-cs"/>
              </a:rPr>
              <a:t>EMSA </a:t>
            </a:r>
            <a:r>
              <a:rPr lang="zh-CN" altLang="en-US" sz="1200" b="1" kern="1200" dirty="0">
                <a:solidFill>
                  <a:schemeClr val="tx1"/>
                </a:solidFill>
                <a:effectLst/>
                <a:latin typeface="+mn-lt"/>
                <a:ea typeface="+mn-ea"/>
                <a:cs typeface="+mn-cs"/>
              </a:rPr>
              <a:t>电泳迁移</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通过</a:t>
            </a:r>
            <a:r>
              <a:rPr lang="en-US" altLang="zh-CN" sz="1200" kern="1200" dirty="0">
                <a:solidFill>
                  <a:schemeClr val="tx1"/>
                </a:solidFill>
                <a:effectLst/>
                <a:latin typeface="+mn-lt"/>
                <a:ea typeface="+mn-ea"/>
                <a:cs typeface="+mn-cs"/>
              </a:rPr>
              <a:t>EMSA</a:t>
            </a:r>
            <a:r>
              <a:rPr lang="zh-CN" altLang="en-US" sz="1200" kern="1200" dirty="0">
                <a:solidFill>
                  <a:schemeClr val="tx1"/>
                </a:solidFill>
                <a:effectLst/>
                <a:latin typeface="+mn-lt"/>
                <a:ea typeface="+mn-ea"/>
                <a:cs typeface="+mn-cs"/>
              </a:rPr>
              <a:t>测定蛋白与</a:t>
            </a:r>
            <a:r>
              <a:rPr lang="en-US" altLang="zh-CN" sz="1200" kern="1200" dirty="0">
                <a:solidFill>
                  <a:schemeClr val="tx1"/>
                </a:solidFill>
                <a:effectLst/>
                <a:latin typeface="+mn-lt"/>
                <a:ea typeface="+mn-ea"/>
                <a:cs typeface="+mn-cs"/>
              </a:rPr>
              <a:t>RNA</a:t>
            </a:r>
            <a:r>
              <a:rPr lang="zh-CN" altLang="en-US" sz="1200" kern="1200" dirty="0">
                <a:solidFill>
                  <a:schemeClr val="tx1"/>
                </a:solidFill>
                <a:effectLst/>
                <a:latin typeface="+mn-lt"/>
                <a:ea typeface="+mn-ea"/>
                <a:cs typeface="+mn-cs"/>
              </a:rPr>
              <a:t>结合的 </a:t>
            </a:r>
            <a:r>
              <a:rPr lang="en-US" altLang="zh-CN" sz="1200" kern="1200" dirty="0" err="1">
                <a:solidFill>
                  <a:schemeClr val="tx1"/>
                </a:solidFill>
                <a:effectLst/>
                <a:latin typeface="+mn-lt"/>
                <a:ea typeface="+mn-ea"/>
                <a:cs typeface="+mn-cs"/>
              </a:rPr>
              <a:t>Kd</a:t>
            </a:r>
            <a:r>
              <a:rPr lang="zh-CN" altLang="en-US" sz="1200" kern="1200" dirty="0">
                <a:solidFill>
                  <a:schemeClr val="tx1"/>
                </a:solidFill>
                <a:effectLst/>
                <a:latin typeface="+mn-lt"/>
                <a:ea typeface="+mn-ea"/>
                <a:cs typeface="+mn-cs"/>
              </a:rPr>
              <a:t> 值，验证靶向模块有效性。</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4.</a:t>
            </a:r>
            <a:r>
              <a:rPr lang="zh-CN" altLang="en-US" sz="1200" b="1" kern="1200" dirty="0">
                <a:solidFill>
                  <a:schemeClr val="tx1"/>
                </a:solidFill>
                <a:effectLst/>
                <a:latin typeface="+mn-lt"/>
                <a:ea typeface="+mn-ea"/>
                <a:cs typeface="+mn-cs"/>
              </a:rPr>
              <a:t>双荧光报告系统构建</a:t>
            </a:r>
            <a:endParaRPr lang="zh-CN" altLang="en-US" sz="120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细胞水平的效能与特异性评估将检验该分子机器在更接近生理环境的复杂细胞内的表现。</a:t>
            </a:r>
            <a:r>
              <a:rPr lang="zh-CN" altLang="en-US" sz="1200" kern="1200" dirty="0">
                <a:solidFill>
                  <a:schemeClr val="tx1"/>
                </a:solidFill>
                <a:effectLst/>
                <a:latin typeface="+mn-lt"/>
                <a:ea typeface="+mn-ea"/>
                <a:cs typeface="+mn-cs"/>
              </a:rPr>
              <a:t>该项目将构建双荧光报告系统以直观、定量地评估其细胞内活性和特异性。</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5.</a:t>
            </a:r>
            <a:r>
              <a:rPr lang="zh-CN" altLang="en-US" sz="1200" b="1" kern="1200" dirty="0">
                <a:solidFill>
                  <a:schemeClr val="tx1"/>
                </a:solidFill>
                <a:effectLst/>
                <a:latin typeface="+mn-lt"/>
                <a:ea typeface="+mn-ea"/>
                <a:cs typeface="+mn-cs"/>
              </a:rPr>
              <a:t>多维度定量验证</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显微成像与流式分析</a:t>
            </a:r>
            <a:r>
              <a:rPr lang="zh-CN" altLang="en-US" sz="1200" kern="1200" dirty="0">
                <a:solidFill>
                  <a:schemeClr val="tx1"/>
                </a:solidFill>
                <a:effectLst/>
                <a:latin typeface="+mn-lt"/>
                <a:ea typeface="+mn-ea"/>
                <a:cs typeface="+mn-cs"/>
              </a:rPr>
              <a:t>：通过双荧光比值评估敲低效率及特异性。</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逆转录</a:t>
            </a:r>
            <a:r>
              <a:rPr lang="en-US" altLang="zh-CN" sz="1200" b="1" kern="1200" dirty="0">
                <a:solidFill>
                  <a:schemeClr val="tx1"/>
                </a:solidFill>
                <a:effectLst/>
                <a:latin typeface="+mn-lt"/>
                <a:ea typeface="+mn-ea"/>
                <a:cs typeface="+mn-cs"/>
              </a:rPr>
              <a:t>PCR</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检测内源性</a:t>
            </a:r>
            <a:r>
              <a:rPr lang="en-US" altLang="zh-CN" sz="1200" kern="1200" dirty="0" err="1">
                <a:solidFill>
                  <a:schemeClr val="tx1"/>
                </a:solidFill>
                <a:effectLst/>
                <a:latin typeface="+mn-lt"/>
                <a:ea typeface="+mn-ea"/>
                <a:cs typeface="+mn-cs"/>
              </a:rPr>
              <a:t>mHTT</a:t>
            </a:r>
            <a:r>
              <a:rPr lang="en-US" altLang="zh-CN" sz="1200" kern="1200" dirty="0">
                <a:solidFill>
                  <a:schemeClr val="tx1"/>
                </a:solidFill>
                <a:effectLst/>
                <a:latin typeface="+mn-lt"/>
                <a:ea typeface="+mn-ea"/>
                <a:cs typeface="+mn-cs"/>
              </a:rPr>
              <a:t> mRNA</a:t>
            </a:r>
            <a:r>
              <a:rPr lang="zh-CN" altLang="en-US" sz="1200" kern="1200" dirty="0">
                <a:solidFill>
                  <a:schemeClr val="tx1"/>
                </a:solidFill>
                <a:effectLst/>
                <a:latin typeface="+mn-lt"/>
                <a:ea typeface="+mn-ea"/>
                <a:cs typeface="+mn-cs"/>
              </a:rPr>
              <a:t>的稳态水平变化</a:t>
            </a:r>
            <a:endParaRPr lang="zh-CN" altLang="en-US"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Western Blot</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定量分析可溶性</a:t>
            </a:r>
            <a:r>
              <a:rPr lang="en-US" altLang="zh-CN" sz="1200" kern="1200" dirty="0" err="1">
                <a:solidFill>
                  <a:schemeClr val="tx1"/>
                </a:solidFill>
                <a:effectLst/>
                <a:latin typeface="+mn-lt"/>
                <a:ea typeface="+mn-ea"/>
                <a:cs typeface="+mn-cs"/>
              </a:rPr>
              <a:t>mHTT</a:t>
            </a:r>
            <a:r>
              <a:rPr lang="zh-CN" altLang="en-US" sz="1200" kern="1200" dirty="0">
                <a:solidFill>
                  <a:schemeClr val="tx1"/>
                </a:solidFill>
                <a:effectLst/>
                <a:latin typeface="+mn-lt"/>
                <a:ea typeface="+mn-ea"/>
                <a:cs typeface="+mn-cs"/>
              </a:rPr>
              <a:t>蛋白的减少程度</a:t>
            </a:r>
            <a:endParaRPr lang="zh-CN" altLang="en-US"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DA7F61C4-64DE-4C29-BE11-1BFA9C069B8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We Want To Conclude:</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组</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无明显切割，证明报告蛋白的条件性激活功能有效抑制了对正常</a:t>
            </a:r>
            <a:r>
              <a:rPr lang="en-US" altLang="zh-CN" sz="1200" kern="1200" dirty="0">
                <a:solidFill>
                  <a:schemeClr val="tx1"/>
                </a:solidFill>
                <a:effectLst/>
                <a:latin typeface="+mn-lt"/>
                <a:ea typeface="+mn-ea"/>
                <a:cs typeface="+mn-cs"/>
              </a:rPr>
              <a:t>RNA</a:t>
            </a:r>
            <a:r>
              <a:rPr lang="zh-CN" altLang="en-US" sz="1200" kern="1200" dirty="0">
                <a:solidFill>
                  <a:schemeClr val="tx1"/>
                </a:solidFill>
                <a:effectLst/>
                <a:latin typeface="+mn-lt"/>
                <a:ea typeface="+mn-ea"/>
                <a:cs typeface="+mn-cs"/>
              </a:rPr>
              <a:t>的误伤；</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组</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有明显切割，与组</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形成对照，排除了正常</a:t>
            </a:r>
            <a:r>
              <a:rPr lang="en-US" altLang="zh-CN" sz="1200" kern="1200" dirty="0">
                <a:solidFill>
                  <a:schemeClr val="tx1"/>
                </a:solidFill>
                <a:effectLst/>
                <a:latin typeface="+mn-lt"/>
                <a:ea typeface="+mn-ea"/>
                <a:cs typeface="+mn-cs"/>
              </a:rPr>
              <a:t>RNA</a:t>
            </a:r>
            <a:r>
              <a:rPr lang="zh-CN" altLang="en-US" sz="1200" kern="1200" dirty="0">
                <a:solidFill>
                  <a:schemeClr val="tx1"/>
                </a:solidFill>
                <a:effectLst/>
                <a:latin typeface="+mn-lt"/>
                <a:ea typeface="+mn-ea"/>
                <a:cs typeface="+mn-cs"/>
              </a:rPr>
              <a:t>本身不被切割的可能，印证了调控模块对功能模块的调控作用</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组</a:t>
            </a:r>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出现切割，证明致病</a:t>
            </a:r>
            <a:r>
              <a:rPr lang="en-US" altLang="zh-CN" sz="1200" kern="1200" dirty="0">
                <a:solidFill>
                  <a:schemeClr val="tx1"/>
                </a:solidFill>
                <a:effectLst/>
                <a:latin typeface="+mn-lt"/>
                <a:ea typeface="+mn-ea"/>
                <a:cs typeface="+mn-cs"/>
              </a:rPr>
              <a:t>RNA</a:t>
            </a:r>
            <a:r>
              <a:rPr lang="zh-CN" altLang="en-US" sz="1200" kern="1200" dirty="0">
                <a:solidFill>
                  <a:schemeClr val="tx1"/>
                </a:solidFill>
                <a:effectLst/>
                <a:latin typeface="+mn-lt"/>
                <a:ea typeface="+mn-ea"/>
                <a:cs typeface="+mn-cs"/>
              </a:rPr>
              <a:t>本身是可被</a:t>
            </a:r>
            <a:r>
              <a:rPr lang="en-US" altLang="zh-CN" sz="1200" kern="1200" dirty="0">
                <a:solidFill>
                  <a:schemeClr val="tx1"/>
                </a:solidFill>
                <a:effectLst/>
                <a:latin typeface="+mn-lt"/>
                <a:ea typeface="+mn-ea"/>
                <a:cs typeface="+mn-cs"/>
              </a:rPr>
              <a:t>APOBEC</a:t>
            </a:r>
            <a:r>
              <a:rPr lang="zh-CN" altLang="en-US" sz="1200" kern="1200" dirty="0">
                <a:solidFill>
                  <a:schemeClr val="tx1"/>
                </a:solidFill>
                <a:effectLst/>
                <a:latin typeface="+mn-lt"/>
                <a:ea typeface="+mn-ea"/>
                <a:cs typeface="+mn-cs"/>
              </a:rPr>
              <a:t>功能模块切割的</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 </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结论：系统严格依赖致病 </a:t>
            </a:r>
            <a:r>
              <a:rPr lang="en-US" altLang="zh-CN" sz="1200" kern="1200" dirty="0">
                <a:solidFill>
                  <a:schemeClr val="tx1"/>
                </a:solidFill>
                <a:effectLst/>
                <a:latin typeface="+mn-lt"/>
                <a:ea typeface="+mn-ea"/>
                <a:cs typeface="+mn-cs"/>
              </a:rPr>
              <a:t>RNA </a:t>
            </a:r>
            <a:r>
              <a:rPr lang="zh-CN" altLang="en-US" sz="1200" kern="1200" dirty="0">
                <a:solidFill>
                  <a:schemeClr val="tx1"/>
                </a:solidFill>
                <a:effectLst/>
                <a:latin typeface="+mn-lt"/>
                <a:ea typeface="+mn-ea"/>
                <a:cs typeface="+mn-cs"/>
              </a:rPr>
              <a:t>的特征二级结构实现变构激活，具备高度特异性、结构依赖性与低脱靶特性</a:t>
            </a:r>
            <a:endParaRPr lang="zh-CN" altLang="en-US" dirty="0">
              <a:effectLst/>
            </a:endParaRPr>
          </a:p>
          <a:p>
            <a:endParaRPr lang="zh-CN" altLang="en-US" dirty="0">
              <a:effectLst/>
            </a:endParaRPr>
          </a:p>
        </p:txBody>
      </p:sp>
      <p:sp>
        <p:nvSpPr>
          <p:cNvPr id="4" name="灯片编号占位符 3"/>
          <p:cNvSpPr>
            <a:spLocks noGrp="1"/>
          </p:cNvSpPr>
          <p:nvPr>
            <p:ph type="sldNum" sz="quarter" idx="5"/>
          </p:nvPr>
        </p:nvSpPr>
        <p:spPr/>
        <p:txBody>
          <a:bodyPr/>
          <a:lstStyle/>
          <a:p>
            <a:fld id="{DA7F61C4-64DE-4C29-BE11-1BFA9C069B8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kern="1200" dirty="0">
                <a:solidFill>
                  <a:schemeClr val="tx1"/>
                </a:solidFill>
                <a:effectLst/>
                <a:latin typeface="+mn-lt"/>
                <a:ea typeface="+mn-ea"/>
                <a:cs typeface="+mn-cs"/>
              </a:rPr>
              <a:t>预期实验结果</a:t>
            </a:r>
            <a:endParaRPr lang="zh-CN" altLang="en-US"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1.</a:t>
            </a:r>
            <a:r>
              <a:rPr lang="zh-CN" altLang="en-US" sz="1200" b="1" kern="1200" dirty="0">
                <a:solidFill>
                  <a:schemeClr val="tx1"/>
                </a:solidFill>
                <a:effectLst/>
                <a:latin typeface="+mn-lt"/>
                <a:ea typeface="+mn-ea"/>
                <a:cs typeface="+mn-cs"/>
              </a:rPr>
              <a:t>体外水平</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①</a:t>
            </a:r>
            <a:r>
              <a:rPr lang="zh-CN" altLang="en-US" sz="1200" b="1" kern="1200" dirty="0">
                <a:solidFill>
                  <a:schemeClr val="tx1"/>
                </a:solidFill>
                <a:effectLst/>
                <a:latin typeface="+mn-lt"/>
                <a:ea typeface="+mn-ea"/>
                <a:cs typeface="+mn-cs"/>
              </a:rPr>
              <a:t>蛋白制备</a:t>
            </a:r>
            <a:r>
              <a:rPr lang="en-US" altLang="zh-CN"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完成分子克隆、真核表达与蛋白纯化，获得高纯度融合蛋白</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②</a:t>
            </a:r>
            <a:r>
              <a:rPr lang="zh-CN" altLang="en-US" sz="1200" b="1" kern="1200" dirty="0">
                <a:solidFill>
                  <a:schemeClr val="tx1"/>
                </a:solidFill>
                <a:effectLst/>
                <a:latin typeface="+mn-lt"/>
                <a:ea typeface="+mn-ea"/>
                <a:cs typeface="+mn-cs"/>
              </a:rPr>
              <a:t>靶向验证</a:t>
            </a:r>
            <a:r>
              <a:rPr lang="en-US" altLang="zh-CN" sz="1200" b="1"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EMSA </a:t>
            </a:r>
            <a:r>
              <a:rPr lang="zh-CN" altLang="en-US" sz="1200" kern="1200" dirty="0">
                <a:solidFill>
                  <a:schemeClr val="tx1"/>
                </a:solidFill>
                <a:effectLst/>
                <a:latin typeface="+mn-lt"/>
                <a:ea typeface="+mn-ea"/>
                <a:cs typeface="+mn-cs"/>
              </a:rPr>
              <a:t>测定结合常数 </a:t>
            </a:r>
            <a:r>
              <a:rPr lang="en-US" altLang="zh-CN" sz="1200" kern="1200" dirty="0" err="1">
                <a:solidFill>
                  <a:schemeClr val="tx1"/>
                </a:solidFill>
                <a:effectLst/>
                <a:latin typeface="+mn-lt"/>
                <a:ea typeface="+mn-ea"/>
                <a:cs typeface="+mn-cs"/>
              </a:rPr>
              <a:t>Kd</a:t>
            </a:r>
            <a:r>
              <a:rPr lang="zh-CN" altLang="en-US" sz="1200" kern="1200" dirty="0">
                <a:solidFill>
                  <a:schemeClr val="tx1"/>
                </a:solidFill>
                <a:effectLst/>
                <a:latin typeface="+mn-lt"/>
                <a:ea typeface="+mn-ea"/>
                <a:cs typeface="+mn-cs"/>
              </a:rPr>
              <a:t>，验证靶向模块高效识别能力</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③</a:t>
            </a:r>
            <a:r>
              <a:rPr lang="zh-CN" altLang="en-US" sz="1200" b="1" kern="1200" dirty="0">
                <a:solidFill>
                  <a:schemeClr val="tx1"/>
                </a:solidFill>
                <a:effectLst/>
                <a:latin typeface="+mn-lt"/>
                <a:ea typeface="+mn-ea"/>
                <a:cs typeface="+mn-cs"/>
              </a:rPr>
              <a:t>功能评价</a:t>
            </a:r>
            <a:r>
              <a:rPr lang="en-US" altLang="zh-CN"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体外切割实验证实仅致病 </a:t>
            </a:r>
            <a:r>
              <a:rPr lang="en-US" altLang="zh-CN" sz="1200" kern="1200" dirty="0">
                <a:solidFill>
                  <a:schemeClr val="tx1"/>
                </a:solidFill>
                <a:effectLst/>
                <a:latin typeface="+mn-lt"/>
                <a:ea typeface="+mn-ea"/>
                <a:cs typeface="+mn-cs"/>
              </a:rPr>
              <a:t>RNA </a:t>
            </a:r>
            <a:r>
              <a:rPr lang="zh-CN" altLang="en-US" sz="1200" kern="1200" dirty="0">
                <a:solidFill>
                  <a:schemeClr val="tx1"/>
                </a:solidFill>
                <a:effectLst/>
                <a:latin typeface="+mn-lt"/>
                <a:ea typeface="+mn-ea"/>
                <a:cs typeface="+mn-cs"/>
              </a:rPr>
              <a:t>被特异性降解</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④</a:t>
            </a:r>
            <a:r>
              <a:rPr lang="zh-CN" altLang="en-US" sz="1200" b="1" kern="1200" dirty="0">
                <a:solidFill>
                  <a:schemeClr val="tx1"/>
                </a:solidFill>
                <a:effectLst/>
                <a:latin typeface="+mn-lt"/>
                <a:ea typeface="+mn-ea"/>
                <a:cs typeface="+mn-cs"/>
              </a:rPr>
              <a:t>机制研究</a:t>
            </a:r>
            <a:r>
              <a:rPr lang="en-US" altLang="zh-CN" sz="1200" b="1"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SPR/BLI </a:t>
            </a:r>
            <a:r>
              <a:rPr lang="zh-CN" altLang="en-US" sz="1200" kern="1200" dirty="0">
                <a:solidFill>
                  <a:schemeClr val="tx1"/>
                </a:solidFill>
                <a:effectLst/>
                <a:latin typeface="+mn-lt"/>
                <a:ea typeface="+mn-ea"/>
                <a:cs typeface="+mn-cs"/>
              </a:rPr>
              <a:t>实时监测结合动力学，</a:t>
            </a:r>
            <a:r>
              <a:rPr lang="en-US" altLang="zh-CN" sz="1200" kern="1200" dirty="0">
                <a:solidFill>
                  <a:schemeClr val="tx1"/>
                </a:solidFill>
                <a:effectLst/>
                <a:latin typeface="+mn-lt"/>
                <a:ea typeface="+mn-ea"/>
                <a:cs typeface="+mn-cs"/>
              </a:rPr>
              <a:t>CD </a:t>
            </a:r>
            <a:r>
              <a:rPr lang="zh-CN" altLang="en-US" sz="1200" kern="1200" dirty="0">
                <a:solidFill>
                  <a:schemeClr val="tx1"/>
                </a:solidFill>
                <a:effectLst/>
                <a:latin typeface="+mn-lt"/>
                <a:ea typeface="+mn-ea"/>
                <a:cs typeface="+mn-cs"/>
              </a:rPr>
              <a:t>光谱揭示变构机制</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细胞水平</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①</a:t>
            </a:r>
            <a:r>
              <a:rPr lang="zh-CN" altLang="en-US" sz="1200" b="1" kern="1200" dirty="0">
                <a:solidFill>
                  <a:schemeClr val="tx1"/>
                </a:solidFill>
                <a:effectLst/>
                <a:latin typeface="+mn-lt"/>
                <a:ea typeface="+mn-ea"/>
                <a:cs typeface="+mn-cs"/>
              </a:rPr>
              <a:t>定量评估</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构建双荧光报告系统以直观、定量地评估其细胞内活性和特异性。</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②</a:t>
            </a:r>
            <a:r>
              <a:rPr lang="zh-CN" altLang="en-US" sz="1200" b="1" kern="1200" dirty="0">
                <a:solidFill>
                  <a:schemeClr val="tx1"/>
                </a:solidFill>
                <a:effectLst/>
                <a:latin typeface="+mn-lt"/>
                <a:ea typeface="+mn-ea"/>
                <a:cs typeface="+mn-cs"/>
              </a:rPr>
              <a:t>靶向特异性</a:t>
            </a:r>
            <a:r>
              <a:rPr lang="en-US" altLang="zh-CN" sz="1200" b="1" kern="1200" dirty="0">
                <a:solidFill>
                  <a:schemeClr val="tx1"/>
                </a:solidFill>
                <a:effectLst/>
                <a:latin typeface="+mn-lt"/>
                <a:ea typeface="+mn-ea"/>
                <a:cs typeface="+mn-cs"/>
              </a:rPr>
              <a:t>:</a:t>
            </a:r>
            <a:r>
              <a:rPr lang="zh-CN" altLang="en-US" sz="1200" b="1" kern="1200" dirty="0">
                <a:solidFill>
                  <a:schemeClr val="tx1"/>
                </a:solidFill>
                <a:effectLst/>
                <a:latin typeface="+mn-lt"/>
                <a:ea typeface="+mn-ea"/>
                <a:cs typeface="+mn-cs"/>
              </a:rPr>
              <a:t>（图</a:t>
            </a:r>
            <a:r>
              <a:rPr lang="en-US" altLang="zh-CN" sz="1200" b="1" kern="1200" dirty="0">
                <a:solidFill>
                  <a:schemeClr val="tx1"/>
                </a:solidFill>
                <a:effectLst/>
                <a:latin typeface="+mn-lt"/>
                <a:ea typeface="+mn-ea"/>
                <a:cs typeface="+mn-cs"/>
              </a:rPr>
              <a:t>4</a:t>
            </a:r>
            <a:r>
              <a:rPr lang="zh-CN" altLang="en-US" sz="1200" b="1"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使致病 </a:t>
            </a:r>
            <a:r>
              <a:rPr lang="en-US" altLang="zh-CN" sz="1200" kern="1200" dirty="0">
                <a:solidFill>
                  <a:schemeClr val="tx1"/>
                </a:solidFill>
                <a:effectLst/>
                <a:latin typeface="+mn-lt"/>
                <a:ea typeface="+mn-ea"/>
                <a:cs typeface="+mn-cs"/>
              </a:rPr>
              <a:t>RNA </a:t>
            </a:r>
            <a:r>
              <a:rPr lang="zh-CN" altLang="en-US" sz="1200" kern="1200" dirty="0">
                <a:solidFill>
                  <a:schemeClr val="tx1"/>
                </a:solidFill>
                <a:effectLst/>
                <a:latin typeface="+mn-lt"/>
                <a:ea typeface="+mn-ea"/>
                <a:cs typeface="+mn-cs"/>
              </a:rPr>
              <a:t>组 </a:t>
            </a:r>
            <a:r>
              <a:rPr lang="en-US" altLang="zh-CN" sz="1200" kern="1200" dirty="0">
                <a:solidFill>
                  <a:schemeClr val="tx1"/>
                </a:solidFill>
                <a:effectLst/>
                <a:latin typeface="+mn-lt"/>
                <a:ea typeface="+mn-ea"/>
                <a:cs typeface="+mn-cs"/>
              </a:rPr>
              <a:t>GFP </a:t>
            </a:r>
            <a:r>
              <a:rPr lang="zh-CN" altLang="en-US" sz="1200" kern="1200" dirty="0">
                <a:solidFill>
                  <a:schemeClr val="tx1"/>
                </a:solidFill>
                <a:effectLst/>
                <a:latin typeface="+mn-lt"/>
                <a:ea typeface="+mn-ea"/>
                <a:cs typeface="+mn-cs"/>
              </a:rPr>
              <a:t>信号显著下降，正常 </a:t>
            </a:r>
            <a:r>
              <a:rPr lang="en-US" altLang="zh-CN" sz="1200" kern="1200" dirty="0">
                <a:solidFill>
                  <a:schemeClr val="tx1"/>
                </a:solidFill>
                <a:effectLst/>
                <a:latin typeface="+mn-lt"/>
                <a:ea typeface="+mn-ea"/>
                <a:cs typeface="+mn-cs"/>
              </a:rPr>
              <a:t>RNA </a:t>
            </a:r>
            <a:r>
              <a:rPr lang="zh-CN" altLang="en-US" sz="1200" kern="1200" dirty="0">
                <a:solidFill>
                  <a:schemeClr val="tx1"/>
                </a:solidFill>
                <a:effectLst/>
                <a:latin typeface="+mn-lt"/>
                <a:ea typeface="+mn-ea"/>
                <a:cs typeface="+mn-cs"/>
              </a:rPr>
              <a:t>组基本不受影响</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③模型验证</a:t>
            </a:r>
            <a:r>
              <a:rPr lang="en-US" altLang="zh-CN" sz="1200" b="1"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在患者成纤维细胞与神经元前体细胞中功能有效</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DA7F61C4-64DE-4C29-BE11-1BFA9C069B8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kern="1200" dirty="0">
                <a:solidFill>
                  <a:schemeClr val="tx1"/>
                </a:solidFill>
                <a:effectLst/>
                <a:latin typeface="+mn-lt"/>
                <a:ea typeface="+mn-ea"/>
                <a:cs typeface="+mn-cs"/>
              </a:rPr>
              <a:t>临床价值</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精准识别</a:t>
            </a:r>
            <a:r>
              <a:rPr lang="zh-CN" altLang="en-US" sz="1200" kern="1200" dirty="0">
                <a:solidFill>
                  <a:schemeClr val="tx1"/>
                </a:solidFill>
                <a:effectLst/>
                <a:latin typeface="+mn-lt"/>
                <a:ea typeface="+mn-ea"/>
                <a:cs typeface="+mn-cs"/>
              </a:rPr>
              <a:t>：突破亨廷顿病高度同源 </a:t>
            </a:r>
            <a:r>
              <a:rPr lang="en-US" altLang="zh-CN" sz="1200" kern="1200" dirty="0">
                <a:solidFill>
                  <a:schemeClr val="tx1"/>
                </a:solidFill>
                <a:effectLst/>
                <a:latin typeface="+mn-lt"/>
                <a:ea typeface="+mn-ea"/>
                <a:cs typeface="+mn-cs"/>
              </a:rPr>
              <a:t>RNA </a:t>
            </a:r>
            <a:r>
              <a:rPr lang="zh-CN" altLang="en-US" sz="1200" kern="1200" dirty="0">
                <a:solidFill>
                  <a:schemeClr val="tx1"/>
                </a:solidFill>
                <a:effectLst/>
                <a:latin typeface="+mn-lt"/>
                <a:ea typeface="+mn-ea"/>
                <a:cs typeface="+mn-cs"/>
              </a:rPr>
              <a:t>无法精准区分的临床瓶颈</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安全增益</a:t>
            </a:r>
            <a:r>
              <a:rPr lang="zh-CN" altLang="en-US" sz="1200" kern="1200" dirty="0">
                <a:solidFill>
                  <a:schemeClr val="tx1"/>
                </a:solidFill>
                <a:effectLst/>
                <a:latin typeface="+mn-lt"/>
                <a:ea typeface="+mn-ea"/>
                <a:cs typeface="+mn-cs"/>
              </a:rPr>
              <a:t>：保留野生型 </a:t>
            </a:r>
            <a:r>
              <a:rPr lang="en-US" altLang="zh-CN" sz="1200" kern="1200" dirty="0">
                <a:solidFill>
                  <a:schemeClr val="tx1"/>
                </a:solidFill>
                <a:effectLst/>
                <a:latin typeface="+mn-lt"/>
                <a:ea typeface="+mn-ea"/>
                <a:cs typeface="+mn-cs"/>
              </a:rPr>
              <a:t>HTT </a:t>
            </a:r>
            <a:r>
              <a:rPr lang="zh-CN" altLang="en-US" sz="1200" kern="1200" dirty="0">
                <a:solidFill>
                  <a:schemeClr val="tx1"/>
                </a:solidFill>
                <a:effectLst/>
                <a:latin typeface="+mn-lt"/>
                <a:ea typeface="+mn-ea"/>
                <a:cs typeface="+mn-cs"/>
              </a:rPr>
              <a:t>生理功能，从源头规避脱靶风险。</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广谱治疗：</a:t>
            </a:r>
            <a:r>
              <a:rPr lang="zh-CN" altLang="en-US" sz="1200" kern="1200" dirty="0">
                <a:solidFill>
                  <a:schemeClr val="tx1"/>
                </a:solidFill>
                <a:effectLst/>
                <a:latin typeface="+mn-lt"/>
                <a:ea typeface="+mn-ea"/>
                <a:cs typeface="+mn-cs"/>
              </a:rPr>
              <a:t>可拓展至多种 </a:t>
            </a:r>
            <a:r>
              <a:rPr lang="en-US" altLang="zh-CN" sz="1200" kern="1200" dirty="0">
                <a:solidFill>
                  <a:schemeClr val="tx1"/>
                </a:solidFill>
                <a:effectLst/>
                <a:latin typeface="+mn-lt"/>
                <a:ea typeface="+mn-ea"/>
                <a:cs typeface="+mn-cs"/>
              </a:rPr>
              <a:t>CAG </a:t>
            </a:r>
            <a:r>
              <a:rPr lang="zh-CN" altLang="en-US" sz="1200" kern="1200" dirty="0">
                <a:solidFill>
                  <a:schemeClr val="tx1"/>
                </a:solidFill>
                <a:effectLst/>
                <a:latin typeface="+mn-lt"/>
                <a:ea typeface="+mn-ea"/>
                <a:cs typeface="+mn-cs"/>
              </a:rPr>
              <a:t>重复疾病、肿瘤 </a:t>
            </a:r>
            <a:r>
              <a:rPr lang="en-US" altLang="zh-CN" sz="1200" kern="1200" dirty="0">
                <a:solidFill>
                  <a:schemeClr val="tx1"/>
                </a:solidFill>
                <a:effectLst/>
                <a:latin typeface="+mn-lt"/>
                <a:ea typeface="+mn-ea"/>
                <a:cs typeface="+mn-cs"/>
              </a:rPr>
              <a:t>RNA </a:t>
            </a:r>
            <a:r>
              <a:rPr lang="zh-CN" altLang="en-US" sz="1200" kern="1200" dirty="0">
                <a:solidFill>
                  <a:schemeClr val="tx1"/>
                </a:solidFill>
                <a:effectLst/>
                <a:latin typeface="+mn-lt"/>
                <a:ea typeface="+mn-ea"/>
                <a:cs typeface="+mn-cs"/>
              </a:rPr>
              <a:t>等精准治疗</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学术价值</a:t>
            </a:r>
            <a:endParaRPr lang="zh-CN" altLang="en-US"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1.</a:t>
            </a:r>
            <a:r>
              <a:rPr lang="zh-CN" altLang="en-US" sz="1200" b="1" kern="1200" dirty="0">
                <a:solidFill>
                  <a:schemeClr val="tx1"/>
                </a:solidFill>
                <a:effectLst/>
                <a:latin typeface="+mn-lt"/>
                <a:ea typeface="+mn-ea"/>
                <a:cs typeface="+mn-cs"/>
              </a:rPr>
              <a:t>标准定义：</a:t>
            </a:r>
            <a:r>
              <a:rPr lang="zh-CN" altLang="en-US" sz="1200" kern="1200" dirty="0">
                <a:solidFill>
                  <a:schemeClr val="tx1"/>
                </a:solidFill>
                <a:effectLst/>
                <a:latin typeface="+mn-lt"/>
                <a:ea typeface="+mn-ea"/>
                <a:cs typeface="+mn-cs"/>
              </a:rPr>
              <a:t>建立</a:t>
            </a:r>
            <a:r>
              <a:rPr lang="en-US" altLang="zh-CN" sz="1200" kern="1200" dirty="0">
                <a:solidFill>
                  <a:schemeClr val="tx1"/>
                </a:solidFill>
                <a:effectLst/>
                <a:latin typeface="+mn-lt"/>
                <a:ea typeface="+mn-ea"/>
                <a:cs typeface="+mn-cs"/>
              </a:rPr>
              <a:t>RNA </a:t>
            </a:r>
            <a:r>
              <a:rPr lang="zh-CN" altLang="en-US" sz="1200" kern="1200" dirty="0">
                <a:solidFill>
                  <a:schemeClr val="tx1"/>
                </a:solidFill>
                <a:effectLst/>
                <a:latin typeface="+mn-lt"/>
                <a:ea typeface="+mn-ea"/>
                <a:cs typeface="+mn-cs"/>
              </a:rPr>
              <a:t>结构感应型变构调控元件设计标准</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en-US" sz="1200" b="1" kern="1200" dirty="0">
                <a:solidFill>
                  <a:schemeClr val="tx1"/>
                </a:solidFill>
                <a:effectLst/>
                <a:latin typeface="+mn-lt"/>
                <a:ea typeface="+mn-ea"/>
                <a:cs typeface="+mn-cs"/>
              </a:rPr>
              <a:t>范式革新：</a:t>
            </a:r>
            <a:r>
              <a:rPr lang="zh-CN" altLang="en-US" sz="1200" kern="1200" dirty="0">
                <a:solidFill>
                  <a:schemeClr val="tx1"/>
                </a:solidFill>
                <a:effectLst/>
                <a:latin typeface="+mn-lt"/>
                <a:ea typeface="+mn-ea"/>
                <a:cs typeface="+mn-cs"/>
              </a:rPr>
              <a:t>形成</a:t>
            </a:r>
            <a:r>
              <a:rPr lang="en-US" altLang="zh-CN" sz="1200" kern="1200" dirty="0">
                <a:solidFill>
                  <a:schemeClr val="tx1"/>
                </a:solidFill>
                <a:effectLst/>
                <a:latin typeface="+mn-lt"/>
                <a:ea typeface="+mn-ea"/>
                <a:cs typeface="+mn-cs"/>
              </a:rPr>
              <a:t>AI </a:t>
            </a:r>
            <a:r>
              <a:rPr lang="zh-CN" altLang="en-US" sz="1200" kern="1200" dirty="0">
                <a:solidFill>
                  <a:schemeClr val="tx1"/>
                </a:solidFill>
                <a:effectLst/>
                <a:latin typeface="+mn-lt"/>
                <a:ea typeface="+mn-ea"/>
                <a:cs typeface="+mn-cs"/>
              </a:rPr>
              <a:t>驱动、干湿闭环的合成生物学元件理性设计新范式</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3.</a:t>
            </a:r>
            <a:r>
              <a:rPr lang="zh-CN" altLang="en-US" sz="1200" b="1" kern="1200" dirty="0">
                <a:solidFill>
                  <a:schemeClr val="tx1"/>
                </a:solidFill>
                <a:effectLst/>
                <a:latin typeface="+mn-lt"/>
                <a:ea typeface="+mn-ea"/>
                <a:cs typeface="+mn-cs"/>
              </a:rPr>
              <a:t>底层底座：</a:t>
            </a:r>
            <a:r>
              <a:rPr lang="zh-CN" altLang="en-US" sz="1200" kern="1200" dirty="0">
                <a:solidFill>
                  <a:schemeClr val="tx1"/>
                </a:solidFill>
                <a:effectLst/>
                <a:latin typeface="+mn-lt"/>
                <a:ea typeface="+mn-ea"/>
                <a:cs typeface="+mn-cs"/>
              </a:rPr>
              <a:t>提供模块化、可复用、可扩展的 </a:t>
            </a:r>
            <a:r>
              <a:rPr lang="en-US" altLang="zh-CN" sz="1200" kern="1200" dirty="0">
                <a:solidFill>
                  <a:schemeClr val="tx1"/>
                </a:solidFill>
                <a:effectLst/>
                <a:latin typeface="+mn-lt"/>
                <a:ea typeface="+mn-ea"/>
                <a:cs typeface="+mn-cs"/>
              </a:rPr>
              <a:t>RNA </a:t>
            </a:r>
            <a:r>
              <a:rPr lang="zh-CN" altLang="en-US" sz="1200" kern="1200" dirty="0">
                <a:solidFill>
                  <a:schemeClr val="tx1"/>
                </a:solidFill>
                <a:effectLst/>
                <a:latin typeface="+mn-lt"/>
                <a:ea typeface="+mn-ea"/>
                <a:cs typeface="+mn-cs"/>
              </a:rPr>
              <a:t>精准操控底层平台</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社会意义</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r>
              <a:rPr lang="zh-CN" altLang="en-US" sz="1200" b="1" kern="1200" dirty="0">
                <a:solidFill>
                  <a:schemeClr val="tx1"/>
                </a:solidFill>
                <a:effectLst/>
                <a:latin typeface="+mn-lt"/>
                <a:ea typeface="+mn-ea"/>
                <a:cs typeface="+mn-cs"/>
              </a:rPr>
              <a:t>普惠民生：</a:t>
            </a:r>
            <a:r>
              <a:rPr lang="zh-CN" altLang="en-US" sz="1200" kern="1200" dirty="0">
                <a:solidFill>
                  <a:schemeClr val="tx1"/>
                </a:solidFill>
                <a:effectLst/>
                <a:latin typeface="+mn-lt"/>
                <a:ea typeface="+mn-ea"/>
                <a:cs typeface="+mn-cs"/>
              </a:rPr>
              <a:t>减轻罕见病家庭与社会医疗经济负担</a:t>
            </a:r>
            <a:r>
              <a:rPr lang="en-US" altLang="zh-CN" sz="1200" kern="1200" baseline="30000" dirty="0">
                <a:solidFill>
                  <a:schemeClr val="tx1"/>
                </a:solidFill>
                <a:effectLst/>
                <a:latin typeface="+mn-lt"/>
                <a:ea typeface="+mn-ea"/>
                <a:cs typeface="+mn-cs"/>
              </a:rPr>
              <a:t>[1]</a:t>
            </a:r>
            <a:endParaRPr lang="zh-CN" altLang="en-US"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en-US" sz="1200" b="1" kern="1200" dirty="0">
                <a:solidFill>
                  <a:schemeClr val="tx1"/>
                </a:solidFill>
                <a:effectLst/>
                <a:latin typeface="+mn-lt"/>
                <a:ea typeface="+mn-ea"/>
                <a:cs typeface="+mn-cs"/>
              </a:rPr>
              <a:t>战略领先：</a:t>
            </a:r>
            <a:r>
              <a:rPr lang="zh-CN" altLang="en-US" sz="1200" kern="1200" dirty="0">
                <a:solidFill>
                  <a:schemeClr val="tx1"/>
                </a:solidFill>
                <a:effectLst/>
                <a:latin typeface="+mn-lt"/>
                <a:ea typeface="+mn-ea"/>
                <a:cs typeface="+mn-cs"/>
              </a:rPr>
              <a:t>提升我国在核酸药物底层源头创新领域的国际竞争力</a:t>
            </a:r>
            <a:endParaRPr lang="zh-CN" altLang="en-US"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DA7F61C4-64DE-4C29-BE11-1BFA9C069B8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[1] Nandi, A., et al. (2024). The global macroeconomic burden of Alzheimer's disease and other dementias: estimates and projections for 152 countries or territories. The Lancet Global Health, 12(9), e1534-e1543.</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 </a:t>
            </a:r>
            <a:r>
              <a:rPr lang="en-US" altLang="zh-CN" sz="1200" kern="1200" dirty="0" err="1">
                <a:solidFill>
                  <a:schemeClr val="tx1"/>
                </a:solidFill>
                <a:effectLst/>
                <a:latin typeface="+mn-lt"/>
                <a:ea typeface="+mn-ea"/>
                <a:cs typeface="+mn-cs"/>
              </a:rPr>
              <a:t>Monian</a:t>
            </a:r>
            <a:r>
              <a:rPr lang="en-US" altLang="zh-CN" sz="1200" kern="1200" dirty="0">
                <a:solidFill>
                  <a:schemeClr val="tx1"/>
                </a:solidFill>
                <a:effectLst/>
                <a:latin typeface="+mn-lt"/>
                <a:ea typeface="+mn-ea"/>
                <a:cs typeface="+mn-cs"/>
              </a:rPr>
              <a:t>, P., et al. (2023). RNA editing: Expanding the potential of RNA therapeutics. Molecular Therapy, 31(1), 34-44.</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[3] Heinz, L. C., &amp; </a:t>
            </a:r>
            <a:r>
              <a:rPr lang="en-US" altLang="zh-CN" sz="1200" kern="1200" dirty="0" err="1">
                <a:solidFill>
                  <a:schemeClr val="tx1"/>
                </a:solidFill>
                <a:effectLst/>
                <a:latin typeface="+mn-lt"/>
                <a:ea typeface="+mn-ea"/>
                <a:cs typeface="+mn-cs"/>
              </a:rPr>
              <a:t>Süßmuth</a:t>
            </a:r>
            <a:r>
              <a:rPr lang="en-US" altLang="zh-CN" sz="1200" kern="1200" dirty="0">
                <a:solidFill>
                  <a:schemeClr val="tx1"/>
                </a:solidFill>
                <a:effectLst/>
                <a:latin typeface="+mn-lt"/>
                <a:ea typeface="+mn-ea"/>
                <a:cs typeface="+mn-cs"/>
              </a:rPr>
              <a:t>, S. D. (2021). Huntingtin and Its Role in Mechanisms of RNA-Mediated Toxicity. Toxins, 13(7), 487.</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[4] Abramson, J., et al. (2024). Accurate structure prediction of biomolecular interactions with AlphaFold 3. Nature, 630(8016), 493-500.</a:t>
            </a:r>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DA7F61C4-64DE-4C29-BE11-1BFA9C069B8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CC5610D-D3BB-48E8-B638-5938ABB9CFD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4F05AE2-E521-4071-B027-062C254CFD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2CC5610D-D3BB-48E8-B638-5938ABB9CFD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4F05AE2-E521-4071-B027-062C254CFD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2CC5610D-D3BB-48E8-B638-5938ABB9CFD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4F05AE2-E521-4071-B027-062C254CFD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2CC5610D-D3BB-48E8-B638-5938ABB9CFD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4F05AE2-E521-4071-B027-062C254CFD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2CC5610D-D3BB-48E8-B638-5938ABB9CFD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4F05AE2-E521-4071-B027-062C254CFD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CC5610D-D3BB-48E8-B638-5938ABB9CFD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4F05AE2-E521-4071-B027-062C254CFD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CC5610D-D3BB-48E8-B638-5938ABB9CFD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4F05AE2-E521-4071-B027-062C254CFD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2CC5610D-D3BB-48E8-B638-5938ABB9CFD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4F05AE2-E521-4071-B027-062C254CFD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2CC5610D-D3BB-48E8-B638-5938ABB9CFD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4F05AE2-E521-4071-B027-062C254CFD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2CC5610D-D3BB-48E8-B638-5938ABB9CFD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4F05AE2-E521-4071-B027-062C254CFD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2CC5610D-D3BB-48E8-B638-5938ABB9CFD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4F05AE2-E521-4071-B027-062C254CFD7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封面页">
    <p:bg>
      <p:bgPr>
        <a:solidFill>
          <a:schemeClr val="accent1"/>
        </a:solidFill>
        <a:effectLst/>
      </p:bgPr>
    </p:bg>
    <p:spTree>
      <p:nvGrpSpPr>
        <p:cNvPr id="1" name=""/>
        <p:cNvGrpSpPr/>
        <p:nvPr/>
      </p:nvGrpSpPr>
      <p:grpSpPr>
        <a:xfrm>
          <a:off x="0" y="0"/>
          <a:ext cx="0" cy="0"/>
          <a:chOff x="0" y="0"/>
          <a:chExt cx="0" cy="0"/>
        </a:xfrm>
      </p:grpSpPr>
      <p:sp>
        <p:nvSpPr>
          <p:cNvPr id="9" name="任意多边形: 形状 8"/>
          <p:cNvSpPr/>
          <p:nvPr userDrawn="1"/>
        </p:nvSpPr>
        <p:spPr>
          <a:xfrm>
            <a:off x="736600" y="266700"/>
            <a:ext cx="1661579" cy="222250"/>
          </a:xfrm>
          <a:custGeom>
            <a:avLst/>
            <a:gdLst>
              <a:gd name="connsiteX0" fmla="*/ 1232440 w 1495425"/>
              <a:gd name="connsiteY0" fmla="*/ 178500 h 200025"/>
              <a:gd name="connsiteX1" fmla="*/ 1239870 w 1495425"/>
              <a:gd name="connsiteY1" fmla="*/ 181354 h 200025"/>
              <a:gd name="connsiteX2" fmla="*/ 1242822 w 1495425"/>
              <a:gd name="connsiteY2" fmla="*/ 188727 h 200025"/>
              <a:gd name="connsiteX3" fmla="*/ 1239870 w 1495425"/>
              <a:gd name="connsiteY3" fmla="*/ 196101 h 200025"/>
              <a:gd name="connsiteX4" fmla="*/ 1232440 w 1495425"/>
              <a:gd name="connsiteY4" fmla="*/ 199073 h 200025"/>
              <a:gd name="connsiteX5" fmla="*/ 1225296 w 1495425"/>
              <a:gd name="connsiteY5" fmla="*/ 196101 h 200025"/>
              <a:gd name="connsiteX6" fmla="*/ 1222438 w 1495425"/>
              <a:gd name="connsiteY6" fmla="*/ 188727 h 200025"/>
              <a:gd name="connsiteX7" fmla="*/ 1225296 w 1495425"/>
              <a:gd name="connsiteY7" fmla="*/ 181354 h 200025"/>
              <a:gd name="connsiteX8" fmla="*/ 1232440 w 1495425"/>
              <a:gd name="connsiteY8" fmla="*/ 178500 h 200025"/>
              <a:gd name="connsiteX9" fmla="*/ 561804 w 1495425"/>
              <a:gd name="connsiteY9" fmla="*/ 72895 h 200025"/>
              <a:gd name="connsiteX10" fmla="*/ 531676 w 1495425"/>
              <a:gd name="connsiteY10" fmla="*/ 85268 h 200025"/>
              <a:gd name="connsiteX11" fmla="*/ 516970 w 1495425"/>
              <a:gd name="connsiteY11" fmla="*/ 120825 h 200025"/>
              <a:gd name="connsiteX12" fmla="*/ 599980 w 1495425"/>
              <a:gd name="connsiteY12" fmla="*/ 120825 h 200025"/>
              <a:gd name="connsiteX13" fmla="*/ 589236 w 1495425"/>
              <a:gd name="connsiteY13" fmla="*/ 85449 h 200025"/>
              <a:gd name="connsiteX14" fmla="*/ 561804 w 1495425"/>
              <a:gd name="connsiteY14" fmla="*/ 72895 h 200025"/>
              <a:gd name="connsiteX15" fmla="*/ 346062 w 1495425"/>
              <a:gd name="connsiteY15" fmla="*/ 65284 h 200025"/>
              <a:gd name="connsiteX16" fmla="*/ 357616 w 1495425"/>
              <a:gd name="connsiteY16" fmla="*/ 65284 h 200025"/>
              <a:gd name="connsiteX17" fmla="*/ 357616 w 1495425"/>
              <a:gd name="connsiteY17" fmla="*/ 196814 h 200025"/>
              <a:gd name="connsiteX18" fmla="*/ 346062 w 1495425"/>
              <a:gd name="connsiteY18" fmla="*/ 196814 h 200025"/>
              <a:gd name="connsiteX19" fmla="*/ 1452372 w 1495425"/>
              <a:gd name="connsiteY19" fmla="*/ 62074 h 200025"/>
              <a:gd name="connsiteX20" fmla="*/ 1484376 w 1495425"/>
              <a:gd name="connsiteY20" fmla="*/ 76286 h 200025"/>
              <a:gd name="connsiteX21" fmla="*/ 1495425 w 1495425"/>
              <a:gd name="connsiteY21" fmla="*/ 116777 h 200025"/>
              <a:gd name="connsiteX22" fmla="*/ 1495425 w 1495425"/>
              <a:gd name="connsiteY22" fmla="*/ 196814 h 200025"/>
              <a:gd name="connsiteX23" fmla="*/ 1483900 w 1495425"/>
              <a:gd name="connsiteY23" fmla="*/ 196814 h 200025"/>
              <a:gd name="connsiteX24" fmla="*/ 1483900 w 1495425"/>
              <a:gd name="connsiteY24" fmla="*/ 120225 h 200025"/>
              <a:gd name="connsiteX25" fmla="*/ 1450372 w 1495425"/>
              <a:gd name="connsiteY25" fmla="*/ 72895 h 200025"/>
              <a:gd name="connsiteX26" fmla="*/ 1419606 w 1495425"/>
              <a:gd name="connsiteY26" fmla="*/ 86811 h 200025"/>
              <a:gd name="connsiteX27" fmla="*/ 1407605 w 1495425"/>
              <a:gd name="connsiteY27" fmla="*/ 121301 h 200025"/>
              <a:gd name="connsiteX28" fmla="*/ 1407605 w 1495425"/>
              <a:gd name="connsiteY28" fmla="*/ 196814 h 200025"/>
              <a:gd name="connsiteX29" fmla="*/ 1396079 w 1495425"/>
              <a:gd name="connsiteY29" fmla="*/ 196814 h 200025"/>
              <a:gd name="connsiteX30" fmla="*/ 1396079 w 1495425"/>
              <a:gd name="connsiteY30" fmla="*/ 65284 h 200025"/>
              <a:gd name="connsiteX31" fmla="*/ 1407605 w 1495425"/>
              <a:gd name="connsiteY31" fmla="*/ 65284 h 200025"/>
              <a:gd name="connsiteX32" fmla="*/ 1407605 w 1495425"/>
              <a:gd name="connsiteY32" fmla="*/ 89192 h 200025"/>
              <a:gd name="connsiteX33" fmla="*/ 1408176 w 1495425"/>
              <a:gd name="connsiteY33" fmla="*/ 89192 h 200025"/>
              <a:gd name="connsiteX34" fmla="*/ 1452372 w 1495425"/>
              <a:gd name="connsiteY34" fmla="*/ 62074 h 200025"/>
              <a:gd name="connsiteX35" fmla="*/ 1337215 w 1495425"/>
              <a:gd name="connsiteY35" fmla="*/ 62074 h 200025"/>
              <a:gd name="connsiteX36" fmla="*/ 1365790 w 1495425"/>
              <a:gd name="connsiteY36" fmla="*/ 68256 h 200025"/>
              <a:gd name="connsiteX37" fmla="*/ 1365790 w 1495425"/>
              <a:gd name="connsiteY37" fmla="*/ 81582 h 200025"/>
              <a:gd name="connsiteX38" fmla="*/ 1335405 w 1495425"/>
              <a:gd name="connsiteY38" fmla="*/ 72895 h 200025"/>
              <a:gd name="connsiteX39" fmla="*/ 1298638 w 1495425"/>
              <a:gd name="connsiteY39" fmla="*/ 89545 h 200025"/>
              <a:gd name="connsiteX40" fmla="*/ 1284541 w 1495425"/>
              <a:gd name="connsiteY40" fmla="*/ 132598 h 200025"/>
              <a:gd name="connsiteX41" fmla="*/ 1297400 w 1495425"/>
              <a:gd name="connsiteY41" fmla="*/ 173684 h 200025"/>
              <a:gd name="connsiteX42" fmla="*/ 1331596 w 1495425"/>
              <a:gd name="connsiteY42" fmla="*/ 189203 h 200025"/>
              <a:gd name="connsiteX43" fmla="*/ 1365313 w 1495425"/>
              <a:gd name="connsiteY43" fmla="*/ 178738 h 200025"/>
              <a:gd name="connsiteX44" fmla="*/ 1365313 w 1495425"/>
              <a:gd name="connsiteY44" fmla="*/ 190987 h 200025"/>
              <a:gd name="connsiteX45" fmla="*/ 1331023 w 1495425"/>
              <a:gd name="connsiteY45" fmla="*/ 200025 h 200025"/>
              <a:gd name="connsiteX46" fmla="*/ 1288542 w 1495425"/>
              <a:gd name="connsiteY46" fmla="*/ 181592 h 200025"/>
              <a:gd name="connsiteX47" fmla="*/ 1272349 w 1495425"/>
              <a:gd name="connsiteY47" fmla="*/ 133312 h 200025"/>
              <a:gd name="connsiteX48" fmla="*/ 1290542 w 1495425"/>
              <a:gd name="connsiteY48" fmla="*/ 82058 h 200025"/>
              <a:gd name="connsiteX49" fmla="*/ 1337215 w 1495425"/>
              <a:gd name="connsiteY49" fmla="*/ 62074 h 200025"/>
              <a:gd name="connsiteX50" fmla="*/ 562270 w 1495425"/>
              <a:gd name="connsiteY50" fmla="*/ 62074 h 200025"/>
              <a:gd name="connsiteX51" fmla="*/ 599218 w 1495425"/>
              <a:gd name="connsiteY51" fmla="*/ 79324 h 200025"/>
              <a:gd name="connsiteX52" fmla="*/ 612124 w 1495425"/>
              <a:gd name="connsiteY52" fmla="*/ 126292 h 200025"/>
              <a:gd name="connsiteX53" fmla="*/ 612124 w 1495425"/>
              <a:gd name="connsiteY53" fmla="*/ 131531 h 200025"/>
              <a:gd name="connsiteX54" fmla="*/ 516503 w 1495425"/>
              <a:gd name="connsiteY54" fmla="*/ 131531 h 200025"/>
              <a:gd name="connsiteX55" fmla="*/ 528761 w 1495425"/>
              <a:gd name="connsiteY55" fmla="*/ 173922 h 200025"/>
              <a:gd name="connsiteX56" fmla="*/ 562499 w 1495425"/>
              <a:gd name="connsiteY56" fmla="*/ 189203 h 200025"/>
              <a:gd name="connsiteX57" fmla="*/ 604885 w 1495425"/>
              <a:gd name="connsiteY57" fmla="*/ 172911 h 200025"/>
              <a:gd name="connsiteX58" fmla="*/ 604885 w 1495425"/>
              <a:gd name="connsiteY58" fmla="*/ 185517 h 200025"/>
              <a:gd name="connsiteX59" fmla="*/ 560165 w 1495425"/>
              <a:gd name="connsiteY59" fmla="*/ 200025 h 200025"/>
              <a:gd name="connsiteX60" fmla="*/ 519769 w 1495425"/>
              <a:gd name="connsiteY60" fmla="*/ 181770 h 200025"/>
              <a:gd name="connsiteX61" fmla="*/ 504358 w 1495425"/>
              <a:gd name="connsiteY61" fmla="*/ 130340 h 200025"/>
              <a:gd name="connsiteX62" fmla="*/ 520475 w 1495425"/>
              <a:gd name="connsiteY62" fmla="*/ 81820 h 200025"/>
              <a:gd name="connsiteX63" fmla="*/ 562270 w 1495425"/>
              <a:gd name="connsiteY63" fmla="*/ 62074 h 200025"/>
              <a:gd name="connsiteX64" fmla="*/ 454800 w 1495425"/>
              <a:gd name="connsiteY64" fmla="*/ 62074 h 200025"/>
              <a:gd name="connsiteX65" fmla="*/ 483403 w 1495425"/>
              <a:gd name="connsiteY65" fmla="*/ 68256 h 200025"/>
              <a:gd name="connsiteX66" fmla="*/ 483403 w 1495425"/>
              <a:gd name="connsiteY66" fmla="*/ 81582 h 200025"/>
              <a:gd name="connsiteX67" fmla="*/ 453047 w 1495425"/>
              <a:gd name="connsiteY67" fmla="*/ 72895 h 200025"/>
              <a:gd name="connsiteX68" fmla="*/ 416271 w 1495425"/>
              <a:gd name="connsiteY68" fmla="*/ 89545 h 200025"/>
              <a:gd name="connsiteX69" fmla="*/ 402145 w 1495425"/>
              <a:gd name="connsiteY69" fmla="*/ 132598 h 200025"/>
              <a:gd name="connsiteX70" fmla="*/ 415042 w 1495425"/>
              <a:gd name="connsiteY70" fmla="*/ 173684 h 200025"/>
              <a:gd name="connsiteX71" fmla="*/ 449199 w 1495425"/>
              <a:gd name="connsiteY71" fmla="*/ 189203 h 200025"/>
              <a:gd name="connsiteX72" fmla="*/ 482937 w 1495425"/>
              <a:gd name="connsiteY72" fmla="*/ 178738 h 200025"/>
              <a:gd name="connsiteX73" fmla="*/ 482937 w 1495425"/>
              <a:gd name="connsiteY73" fmla="*/ 190987 h 200025"/>
              <a:gd name="connsiteX74" fmla="*/ 448609 w 1495425"/>
              <a:gd name="connsiteY74" fmla="*/ 200025 h 200025"/>
              <a:gd name="connsiteX75" fmla="*/ 406175 w 1495425"/>
              <a:gd name="connsiteY75" fmla="*/ 181592 h 200025"/>
              <a:gd name="connsiteX76" fmla="*/ 390001 w 1495425"/>
              <a:gd name="connsiteY76" fmla="*/ 133312 h 200025"/>
              <a:gd name="connsiteX77" fmla="*/ 408156 w 1495425"/>
              <a:gd name="connsiteY77" fmla="*/ 82058 h 200025"/>
              <a:gd name="connsiteX78" fmla="*/ 454800 w 1495425"/>
              <a:gd name="connsiteY78" fmla="*/ 62074 h 200025"/>
              <a:gd name="connsiteX79" fmla="*/ 671313 w 1495425"/>
              <a:gd name="connsiteY79" fmla="*/ 30089 h 200025"/>
              <a:gd name="connsiteX80" fmla="*/ 671313 w 1495425"/>
              <a:gd name="connsiteY80" fmla="*/ 102289 h 200025"/>
              <a:gd name="connsiteX81" fmla="*/ 693163 w 1495425"/>
              <a:gd name="connsiteY81" fmla="*/ 102289 h 200025"/>
              <a:gd name="connsiteX82" fmla="*/ 725986 w 1495425"/>
              <a:gd name="connsiteY82" fmla="*/ 92650 h 200025"/>
              <a:gd name="connsiteX83" fmla="*/ 737206 w 1495425"/>
              <a:gd name="connsiteY83" fmla="*/ 65018 h 200025"/>
              <a:gd name="connsiteX84" fmla="*/ 695401 w 1495425"/>
              <a:gd name="connsiteY84" fmla="*/ 30089 h 200025"/>
              <a:gd name="connsiteX85" fmla="*/ 85115 w 1495425"/>
              <a:gd name="connsiteY85" fmla="*/ 21165 h 200025"/>
              <a:gd name="connsiteX86" fmla="*/ 33214 w 1495425"/>
              <a:gd name="connsiteY86" fmla="*/ 44415 h 200025"/>
              <a:gd name="connsiteX87" fmla="*/ 12840 w 1495425"/>
              <a:gd name="connsiteY87" fmla="*/ 105242 h 200025"/>
              <a:gd name="connsiteX88" fmla="*/ 32109 w 1495425"/>
              <a:gd name="connsiteY88" fmla="*/ 165835 h 200025"/>
              <a:gd name="connsiteX89" fmla="*/ 83591 w 1495425"/>
              <a:gd name="connsiteY89" fmla="*/ 188371 h 200025"/>
              <a:gd name="connsiteX90" fmla="*/ 136655 w 1495425"/>
              <a:gd name="connsiteY90" fmla="*/ 166073 h 200025"/>
              <a:gd name="connsiteX91" fmla="*/ 156220 w 1495425"/>
              <a:gd name="connsiteY91" fmla="*/ 103937 h 200025"/>
              <a:gd name="connsiteX92" fmla="*/ 137122 w 1495425"/>
              <a:gd name="connsiteY92" fmla="*/ 43053 h 200025"/>
              <a:gd name="connsiteX93" fmla="*/ 85115 w 1495425"/>
              <a:gd name="connsiteY93" fmla="*/ 21165 h 200025"/>
              <a:gd name="connsiteX94" fmla="*/ 351777 w 1495425"/>
              <a:gd name="connsiteY94" fmla="*/ 12602 h 200025"/>
              <a:gd name="connsiteX95" fmla="*/ 358616 w 1495425"/>
              <a:gd name="connsiteY95" fmla="*/ 15164 h 200025"/>
              <a:gd name="connsiteX96" fmla="*/ 361588 w 1495425"/>
              <a:gd name="connsiteY96" fmla="*/ 22117 h 200025"/>
              <a:gd name="connsiteX97" fmla="*/ 358673 w 1495425"/>
              <a:gd name="connsiteY97" fmla="*/ 29194 h 200025"/>
              <a:gd name="connsiteX98" fmla="*/ 351777 w 1495425"/>
              <a:gd name="connsiteY98" fmla="*/ 32109 h 200025"/>
              <a:gd name="connsiteX99" fmla="*/ 345072 w 1495425"/>
              <a:gd name="connsiteY99" fmla="*/ 29318 h 200025"/>
              <a:gd name="connsiteX100" fmla="*/ 342205 w 1495425"/>
              <a:gd name="connsiteY100" fmla="*/ 22117 h 200025"/>
              <a:gd name="connsiteX101" fmla="*/ 345129 w 1495425"/>
              <a:gd name="connsiteY101" fmla="*/ 15278 h 200025"/>
              <a:gd name="connsiteX102" fmla="*/ 351777 w 1495425"/>
              <a:gd name="connsiteY102" fmla="*/ 12602 h 200025"/>
              <a:gd name="connsiteX103" fmla="*/ 1142048 w 1495425"/>
              <a:gd name="connsiteY103" fmla="*/ 9525 h 200025"/>
              <a:gd name="connsiteX104" fmla="*/ 1182720 w 1495425"/>
              <a:gd name="connsiteY104" fmla="*/ 16192 h 200025"/>
              <a:gd name="connsiteX105" fmla="*/ 1182720 w 1495425"/>
              <a:gd name="connsiteY105" fmla="*/ 42129 h 200025"/>
              <a:gd name="connsiteX106" fmla="*/ 1140237 w 1495425"/>
              <a:gd name="connsiteY106" fmla="*/ 30585 h 200025"/>
              <a:gd name="connsiteX107" fmla="*/ 1112425 w 1495425"/>
              <a:gd name="connsiteY107" fmla="*/ 37662 h 200025"/>
              <a:gd name="connsiteX108" fmla="*/ 1101662 w 1495425"/>
              <a:gd name="connsiteY108" fmla="*/ 57360 h 200025"/>
              <a:gd name="connsiteX109" fmla="*/ 1109090 w 1495425"/>
              <a:gd name="connsiteY109" fmla="*/ 75562 h 200025"/>
              <a:gd name="connsiteX110" fmla="*/ 1141380 w 1495425"/>
              <a:gd name="connsiteY110" fmla="*/ 94717 h 200025"/>
              <a:gd name="connsiteX111" fmla="*/ 1179671 w 1495425"/>
              <a:gd name="connsiteY111" fmla="*/ 120663 h 200025"/>
              <a:gd name="connsiteX112" fmla="*/ 1190625 w 1495425"/>
              <a:gd name="connsiteY112" fmla="*/ 149812 h 200025"/>
              <a:gd name="connsiteX113" fmla="*/ 1172813 w 1495425"/>
              <a:gd name="connsiteY113" fmla="*/ 187056 h 200025"/>
              <a:gd name="connsiteX114" fmla="*/ 1123473 w 1495425"/>
              <a:gd name="connsiteY114" fmla="*/ 200025 h 200025"/>
              <a:gd name="connsiteX115" fmla="*/ 1097756 w 1495425"/>
              <a:gd name="connsiteY115" fmla="*/ 196990 h 200025"/>
              <a:gd name="connsiteX116" fmla="*/ 1076325 w 1495425"/>
              <a:gd name="connsiteY116" fmla="*/ 189435 h 200025"/>
              <a:gd name="connsiteX117" fmla="*/ 1076325 w 1495425"/>
              <a:gd name="connsiteY117" fmla="*/ 162306 h 200025"/>
              <a:gd name="connsiteX118" fmla="*/ 1099185 w 1495425"/>
              <a:gd name="connsiteY118" fmla="*/ 174443 h 200025"/>
              <a:gd name="connsiteX119" fmla="*/ 1126236 w 1495425"/>
              <a:gd name="connsiteY119" fmla="*/ 179202 h 200025"/>
              <a:gd name="connsiteX120" fmla="*/ 1165384 w 1495425"/>
              <a:gd name="connsiteY120" fmla="*/ 151597 h 200025"/>
              <a:gd name="connsiteX121" fmla="*/ 1161193 w 1495425"/>
              <a:gd name="connsiteY121" fmla="*/ 137674 h 200025"/>
              <a:gd name="connsiteX122" fmla="*/ 1149667 w 1495425"/>
              <a:gd name="connsiteY122" fmla="*/ 126730 h 200025"/>
              <a:gd name="connsiteX123" fmla="*/ 1122235 w 1495425"/>
              <a:gd name="connsiteY123" fmla="*/ 112090 h 200025"/>
              <a:gd name="connsiteX124" fmla="*/ 1085373 w 1495425"/>
              <a:gd name="connsiteY124" fmla="*/ 86449 h 200025"/>
              <a:gd name="connsiteX125" fmla="*/ 1076420 w 1495425"/>
              <a:gd name="connsiteY125" fmla="*/ 59379 h 200025"/>
              <a:gd name="connsiteX126" fmla="*/ 1095089 w 1495425"/>
              <a:gd name="connsiteY126" fmla="*/ 22974 h 200025"/>
              <a:gd name="connsiteX127" fmla="*/ 1142048 w 1495425"/>
              <a:gd name="connsiteY127" fmla="*/ 9525 h 200025"/>
              <a:gd name="connsiteX128" fmla="*/ 904875 w 1495425"/>
              <a:gd name="connsiteY128" fmla="*/ 9525 h 200025"/>
              <a:gd name="connsiteX129" fmla="*/ 929354 w 1495425"/>
              <a:gd name="connsiteY129" fmla="*/ 9525 h 200025"/>
              <a:gd name="connsiteX130" fmla="*/ 929354 w 1495425"/>
              <a:gd name="connsiteY130" fmla="*/ 122253 h 200025"/>
              <a:gd name="connsiteX131" fmla="*/ 977075 w 1495425"/>
              <a:gd name="connsiteY131" fmla="*/ 178496 h 200025"/>
              <a:gd name="connsiteX132" fmla="*/ 1023271 w 1495425"/>
              <a:gd name="connsiteY132" fmla="*/ 124063 h 200025"/>
              <a:gd name="connsiteX133" fmla="*/ 1023271 w 1495425"/>
              <a:gd name="connsiteY133" fmla="*/ 9525 h 200025"/>
              <a:gd name="connsiteX134" fmla="*/ 1047750 w 1495425"/>
              <a:gd name="connsiteY134" fmla="*/ 9525 h 200025"/>
              <a:gd name="connsiteX135" fmla="*/ 1047750 w 1495425"/>
              <a:gd name="connsiteY135" fmla="*/ 120558 h 200025"/>
              <a:gd name="connsiteX136" fmla="*/ 974789 w 1495425"/>
              <a:gd name="connsiteY136" fmla="*/ 200025 h 200025"/>
              <a:gd name="connsiteX137" fmla="*/ 904875 w 1495425"/>
              <a:gd name="connsiteY137" fmla="*/ 123339 h 200025"/>
              <a:gd name="connsiteX138" fmla="*/ 790575 w 1495425"/>
              <a:gd name="connsiteY138" fmla="*/ 9525 h 200025"/>
              <a:gd name="connsiteX139" fmla="*/ 813911 w 1495425"/>
              <a:gd name="connsiteY139" fmla="*/ 9525 h 200025"/>
              <a:gd name="connsiteX140" fmla="*/ 813911 w 1495425"/>
              <a:gd name="connsiteY140" fmla="*/ 169820 h 200025"/>
              <a:gd name="connsiteX141" fmla="*/ 885825 w 1495425"/>
              <a:gd name="connsiteY141" fmla="*/ 169820 h 200025"/>
              <a:gd name="connsiteX142" fmla="*/ 885825 w 1495425"/>
              <a:gd name="connsiteY142" fmla="*/ 190500 h 200025"/>
              <a:gd name="connsiteX143" fmla="*/ 790575 w 1495425"/>
              <a:gd name="connsiteY143" fmla="*/ 190500 h 200025"/>
              <a:gd name="connsiteX144" fmla="*/ 647700 w 1495425"/>
              <a:gd name="connsiteY144" fmla="*/ 9525 h 200025"/>
              <a:gd name="connsiteX145" fmla="*/ 699659 w 1495425"/>
              <a:gd name="connsiteY145" fmla="*/ 9525 h 200025"/>
              <a:gd name="connsiteX146" fmla="*/ 745646 w 1495425"/>
              <a:gd name="connsiteY146" fmla="*/ 23660 h 200025"/>
              <a:gd name="connsiteX147" fmla="*/ 762000 w 1495425"/>
              <a:gd name="connsiteY147" fmla="*/ 64084 h 200025"/>
              <a:gd name="connsiteX148" fmla="*/ 742874 w 1495425"/>
              <a:gd name="connsiteY148" fmla="*/ 107252 h 200025"/>
              <a:gd name="connsiteX149" fmla="*/ 695049 w 1495425"/>
              <a:gd name="connsiteY149" fmla="*/ 122853 h 200025"/>
              <a:gd name="connsiteX150" fmla="*/ 671313 w 1495425"/>
              <a:gd name="connsiteY150" fmla="*/ 122853 h 200025"/>
              <a:gd name="connsiteX151" fmla="*/ 671313 w 1495425"/>
              <a:gd name="connsiteY151" fmla="*/ 190500 h 200025"/>
              <a:gd name="connsiteX152" fmla="*/ 647700 w 1495425"/>
              <a:gd name="connsiteY152" fmla="*/ 190500 h 200025"/>
              <a:gd name="connsiteX153" fmla="*/ 87211 w 1495425"/>
              <a:gd name="connsiteY153" fmla="*/ 9515 h 200025"/>
              <a:gd name="connsiteX154" fmla="*/ 146409 w 1495425"/>
              <a:gd name="connsiteY154" fmla="*/ 35023 h 200025"/>
              <a:gd name="connsiteX155" fmla="*/ 169059 w 1495425"/>
              <a:gd name="connsiteY155" fmla="*/ 101917 h 200025"/>
              <a:gd name="connsiteX156" fmla="*/ 145885 w 1495425"/>
              <a:gd name="connsiteY156" fmla="*/ 173803 h 200025"/>
              <a:gd name="connsiteX157" fmla="*/ 83830 w 1495425"/>
              <a:gd name="connsiteY157" fmla="*/ 200025 h 200025"/>
              <a:gd name="connsiteX158" fmla="*/ 22765 w 1495425"/>
              <a:gd name="connsiteY158" fmla="*/ 174100 h 200025"/>
              <a:gd name="connsiteX159" fmla="*/ 0 w 1495425"/>
              <a:gd name="connsiteY159" fmla="*/ 106670 h 200025"/>
              <a:gd name="connsiteX160" fmla="*/ 23356 w 1495425"/>
              <a:gd name="connsiteY160" fmla="*/ 36033 h 200025"/>
              <a:gd name="connsiteX161" fmla="*/ 87211 w 1495425"/>
              <a:gd name="connsiteY161" fmla="*/ 9515 h 200025"/>
              <a:gd name="connsiteX162" fmla="*/ 317440 w 1495425"/>
              <a:gd name="connsiteY162" fmla="*/ 0 h 200025"/>
              <a:gd name="connsiteX163" fmla="*/ 331098 w 1495425"/>
              <a:gd name="connsiteY163" fmla="*/ 2496 h 200025"/>
              <a:gd name="connsiteX164" fmla="*/ 331098 w 1495425"/>
              <a:gd name="connsiteY164" fmla="*/ 14507 h 200025"/>
              <a:gd name="connsiteX165" fmla="*/ 316973 w 1495425"/>
              <a:gd name="connsiteY165" fmla="*/ 10820 h 200025"/>
              <a:gd name="connsiteX166" fmla="*/ 293151 w 1495425"/>
              <a:gd name="connsiteY166" fmla="*/ 43405 h 200025"/>
              <a:gd name="connsiteX167" fmla="*/ 293151 w 1495425"/>
              <a:gd name="connsiteY167" fmla="*/ 65284 h 200025"/>
              <a:gd name="connsiteX168" fmla="*/ 327365 w 1495425"/>
              <a:gd name="connsiteY168" fmla="*/ 65284 h 200025"/>
              <a:gd name="connsiteX169" fmla="*/ 327365 w 1495425"/>
              <a:gd name="connsiteY169" fmla="*/ 76105 h 200025"/>
              <a:gd name="connsiteX170" fmla="*/ 293151 w 1495425"/>
              <a:gd name="connsiteY170" fmla="*/ 76105 h 200025"/>
              <a:gd name="connsiteX171" fmla="*/ 293151 w 1495425"/>
              <a:gd name="connsiteY171" fmla="*/ 196814 h 200025"/>
              <a:gd name="connsiteX172" fmla="*/ 281597 w 1495425"/>
              <a:gd name="connsiteY172" fmla="*/ 196814 h 200025"/>
              <a:gd name="connsiteX173" fmla="*/ 281597 w 1495425"/>
              <a:gd name="connsiteY173" fmla="*/ 76105 h 200025"/>
              <a:gd name="connsiteX174" fmla="*/ 258356 w 1495425"/>
              <a:gd name="connsiteY174" fmla="*/ 76105 h 200025"/>
              <a:gd name="connsiteX175" fmla="*/ 258356 w 1495425"/>
              <a:gd name="connsiteY175" fmla="*/ 65284 h 200025"/>
              <a:gd name="connsiteX176" fmla="*/ 281597 w 1495425"/>
              <a:gd name="connsiteY176" fmla="*/ 65284 h 200025"/>
              <a:gd name="connsiteX177" fmla="*/ 281597 w 1495425"/>
              <a:gd name="connsiteY177" fmla="*/ 42453 h 200025"/>
              <a:gd name="connsiteX178" fmla="*/ 291865 w 1495425"/>
              <a:gd name="connsiteY178" fmla="*/ 10820 h 200025"/>
              <a:gd name="connsiteX179" fmla="*/ 317440 w 1495425"/>
              <a:gd name="connsiteY179" fmla="*/ 0 h 200025"/>
              <a:gd name="connsiteX180" fmla="*/ 245964 w 1495425"/>
              <a:gd name="connsiteY180" fmla="*/ 0 h 200025"/>
              <a:gd name="connsiteX181" fmla="*/ 259623 w 1495425"/>
              <a:gd name="connsiteY181" fmla="*/ 2496 h 200025"/>
              <a:gd name="connsiteX182" fmla="*/ 259623 w 1495425"/>
              <a:gd name="connsiteY182" fmla="*/ 14507 h 200025"/>
              <a:gd name="connsiteX183" fmla="*/ 245497 w 1495425"/>
              <a:gd name="connsiteY183" fmla="*/ 10820 h 200025"/>
              <a:gd name="connsiteX184" fmla="*/ 221675 w 1495425"/>
              <a:gd name="connsiteY184" fmla="*/ 43405 h 200025"/>
              <a:gd name="connsiteX185" fmla="*/ 221675 w 1495425"/>
              <a:gd name="connsiteY185" fmla="*/ 65284 h 200025"/>
              <a:gd name="connsiteX186" fmla="*/ 255889 w 1495425"/>
              <a:gd name="connsiteY186" fmla="*/ 65284 h 200025"/>
              <a:gd name="connsiteX187" fmla="*/ 255889 w 1495425"/>
              <a:gd name="connsiteY187" fmla="*/ 76105 h 200025"/>
              <a:gd name="connsiteX188" fmla="*/ 221675 w 1495425"/>
              <a:gd name="connsiteY188" fmla="*/ 76105 h 200025"/>
              <a:gd name="connsiteX189" fmla="*/ 221675 w 1495425"/>
              <a:gd name="connsiteY189" fmla="*/ 196814 h 200025"/>
              <a:gd name="connsiteX190" fmla="*/ 210121 w 1495425"/>
              <a:gd name="connsiteY190" fmla="*/ 196814 h 200025"/>
              <a:gd name="connsiteX191" fmla="*/ 210121 w 1495425"/>
              <a:gd name="connsiteY191" fmla="*/ 76105 h 200025"/>
              <a:gd name="connsiteX192" fmla="*/ 186890 w 1495425"/>
              <a:gd name="connsiteY192" fmla="*/ 76105 h 200025"/>
              <a:gd name="connsiteX193" fmla="*/ 186890 w 1495425"/>
              <a:gd name="connsiteY193" fmla="*/ 65284 h 200025"/>
              <a:gd name="connsiteX194" fmla="*/ 210121 w 1495425"/>
              <a:gd name="connsiteY194" fmla="*/ 65284 h 200025"/>
              <a:gd name="connsiteX195" fmla="*/ 210121 w 1495425"/>
              <a:gd name="connsiteY195" fmla="*/ 42453 h 200025"/>
              <a:gd name="connsiteX196" fmla="*/ 220389 w 1495425"/>
              <a:gd name="connsiteY196" fmla="*/ 10820 h 200025"/>
              <a:gd name="connsiteX197" fmla="*/ 245964 w 1495425"/>
              <a:gd name="connsiteY197" fmla="*/ 0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495425" h="200025">
                <a:moveTo>
                  <a:pt x="1232440" y="178500"/>
                </a:moveTo>
                <a:cubicBezTo>
                  <a:pt x="1235392" y="178500"/>
                  <a:pt x="1237773" y="179452"/>
                  <a:pt x="1239870" y="181354"/>
                </a:cubicBezTo>
                <a:cubicBezTo>
                  <a:pt x="1241870" y="183257"/>
                  <a:pt x="1242822" y="185715"/>
                  <a:pt x="1242822" y="188727"/>
                </a:cubicBezTo>
                <a:cubicBezTo>
                  <a:pt x="1242822" y="191661"/>
                  <a:pt x="1241870" y="194119"/>
                  <a:pt x="1239870" y="196101"/>
                </a:cubicBezTo>
                <a:cubicBezTo>
                  <a:pt x="1237773" y="198083"/>
                  <a:pt x="1235392" y="199073"/>
                  <a:pt x="1232440" y="199073"/>
                </a:cubicBezTo>
                <a:cubicBezTo>
                  <a:pt x="1229582" y="199073"/>
                  <a:pt x="1227201" y="198083"/>
                  <a:pt x="1225296" y="196101"/>
                </a:cubicBezTo>
                <a:cubicBezTo>
                  <a:pt x="1223391" y="194119"/>
                  <a:pt x="1222438" y="191661"/>
                  <a:pt x="1222438" y="188727"/>
                </a:cubicBezTo>
                <a:cubicBezTo>
                  <a:pt x="1222438" y="185715"/>
                  <a:pt x="1223391" y="183257"/>
                  <a:pt x="1225296" y="181354"/>
                </a:cubicBezTo>
                <a:cubicBezTo>
                  <a:pt x="1227201" y="179452"/>
                  <a:pt x="1229582" y="178500"/>
                  <a:pt x="1232440" y="178500"/>
                </a:cubicBezTo>
                <a:close/>
                <a:moveTo>
                  <a:pt x="561804" y="72895"/>
                </a:moveTo>
                <a:cubicBezTo>
                  <a:pt x="549659" y="72895"/>
                  <a:pt x="539620" y="77019"/>
                  <a:pt x="531676" y="85268"/>
                </a:cubicBezTo>
                <a:cubicBezTo>
                  <a:pt x="523742" y="93507"/>
                  <a:pt x="518836" y="105366"/>
                  <a:pt x="516970" y="120825"/>
                </a:cubicBezTo>
                <a:lnTo>
                  <a:pt x="599980" y="120825"/>
                </a:lnTo>
                <a:cubicBezTo>
                  <a:pt x="599437" y="105604"/>
                  <a:pt x="595856" y="93812"/>
                  <a:pt x="589236" y="85449"/>
                </a:cubicBezTo>
                <a:cubicBezTo>
                  <a:pt x="582626" y="77076"/>
                  <a:pt x="573471" y="72895"/>
                  <a:pt x="561804" y="72895"/>
                </a:cubicBezTo>
                <a:close/>
                <a:moveTo>
                  <a:pt x="346062" y="65284"/>
                </a:moveTo>
                <a:lnTo>
                  <a:pt x="357616" y="65284"/>
                </a:lnTo>
                <a:lnTo>
                  <a:pt x="357616" y="196814"/>
                </a:lnTo>
                <a:lnTo>
                  <a:pt x="346062" y="196814"/>
                </a:lnTo>
                <a:close/>
                <a:moveTo>
                  <a:pt x="1452372" y="62074"/>
                </a:moveTo>
                <a:cubicBezTo>
                  <a:pt x="1466278" y="62074"/>
                  <a:pt x="1476947" y="66818"/>
                  <a:pt x="1484376" y="76286"/>
                </a:cubicBezTo>
                <a:cubicBezTo>
                  <a:pt x="1491710" y="85763"/>
                  <a:pt x="1495425" y="99260"/>
                  <a:pt x="1495425" y="116777"/>
                </a:cubicBezTo>
                <a:lnTo>
                  <a:pt x="1495425" y="196814"/>
                </a:lnTo>
                <a:lnTo>
                  <a:pt x="1483900" y="196814"/>
                </a:lnTo>
                <a:lnTo>
                  <a:pt x="1483900" y="120225"/>
                </a:lnTo>
                <a:cubicBezTo>
                  <a:pt x="1483900" y="88678"/>
                  <a:pt x="1472660" y="72895"/>
                  <a:pt x="1450372" y="72895"/>
                </a:cubicBezTo>
                <a:cubicBezTo>
                  <a:pt x="1437894" y="72895"/>
                  <a:pt x="1427702" y="77533"/>
                  <a:pt x="1419606" y="86811"/>
                </a:cubicBezTo>
                <a:cubicBezTo>
                  <a:pt x="1411605" y="96088"/>
                  <a:pt x="1407605" y="107585"/>
                  <a:pt x="1407605" y="121301"/>
                </a:cubicBezTo>
                <a:lnTo>
                  <a:pt x="1407605" y="196814"/>
                </a:lnTo>
                <a:lnTo>
                  <a:pt x="1396079" y="196814"/>
                </a:lnTo>
                <a:lnTo>
                  <a:pt x="1396079" y="65284"/>
                </a:lnTo>
                <a:lnTo>
                  <a:pt x="1407605" y="65284"/>
                </a:lnTo>
                <a:lnTo>
                  <a:pt x="1407605" y="89192"/>
                </a:lnTo>
                <a:lnTo>
                  <a:pt x="1408176" y="89192"/>
                </a:lnTo>
                <a:cubicBezTo>
                  <a:pt x="1417605" y="71114"/>
                  <a:pt x="1432370" y="62074"/>
                  <a:pt x="1452372" y="62074"/>
                </a:cubicBezTo>
                <a:close/>
                <a:moveTo>
                  <a:pt x="1337215" y="62074"/>
                </a:moveTo>
                <a:cubicBezTo>
                  <a:pt x="1347026" y="62074"/>
                  <a:pt x="1356551" y="64141"/>
                  <a:pt x="1365790" y="68256"/>
                </a:cubicBezTo>
                <a:lnTo>
                  <a:pt x="1365790" y="81582"/>
                </a:lnTo>
                <a:cubicBezTo>
                  <a:pt x="1356551" y="75790"/>
                  <a:pt x="1346454" y="72895"/>
                  <a:pt x="1335405" y="72895"/>
                </a:cubicBezTo>
                <a:cubicBezTo>
                  <a:pt x="1320356" y="72895"/>
                  <a:pt x="1308068" y="78448"/>
                  <a:pt x="1298638" y="89545"/>
                </a:cubicBezTo>
                <a:cubicBezTo>
                  <a:pt x="1289209" y="100651"/>
                  <a:pt x="1284541" y="114995"/>
                  <a:pt x="1284541" y="132598"/>
                </a:cubicBezTo>
                <a:cubicBezTo>
                  <a:pt x="1284541" y="149642"/>
                  <a:pt x="1288828" y="163338"/>
                  <a:pt x="1297400" y="173684"/>
                </a:cubicBezTo>
                <a:cubicBezTo>
                  <a:pt x="1305973" y="184031"/>
                  <a:pt x="1317403" y="189203"/>
                  <a:pt x="1331596" y="189203"/>
                </a:cubicBezTo>
                <a:cubicBezTo>
                  <a:pt x="1344454" y="189203"/>
                  <a:pt x="1355693" y="185715"/>
                  <a:pt x="1365313" y="178738"/>
                </a:cubicBezTo>
                <a:lnTo>
                  <a:pt x="1365313" y="190987"/>
                </a:lnTo>
                <a:cubicBezTo>
                  <a:pt x="1355693" y="197012"/>
                  <a:pt x="1344263" y="200025"/>
                  <a:pt x="1331023" y="200025"/>
                </a:cubicBezTo>
                <a:cubicBezTo>
                  <a:pt x="1313498" y="200025"/>
                  <a:pt x="1299306" y="193880"/>
                  <a:pt x="1288542" y="181592"/>
                </a:cubicBezTo>
                <a:cubicBezTo>
                  <a:pt x="1277779" y="169304"/>
                  <a:pt x="1272349" y="153210"/>
                  <a:pt x="1272349" y="133312"/>
                </a:cubicBezTo>
                <a:cubicBezTo>
                  <a:pt x="1272349" y="112462"/>
                  <a:pt x="1278445" y="95374"/>
                  <a:pt x="1290542" y="82058"/>
                </a:cubicBezTo>
                <a:cubicBezTo>
                  <a:pt x="1302639" y="68732"/>
                  <a:pt x="1318165" y="62074"/>
                  <a:pt x="1337215" y="62074"/>
                </a:cubicBezTo>
                <a:close/>
                <a:moveTo>
                  <a:pt x="562270" y="62074"/>
                </a:moveTo>
                <a:cubicBezTo>
                  <a:pt x="578301" y="62074"/>
                  <a:pt x="590617" y="67828"/>
                  <a:pt x="599218" y="79324"/>
                </a:cubicBezTo>
                <a:cubicBezTo>
                  <a:pt x="607819" y="90811"/>
                  <a:pt x="612124" y="106470"/>
                  <a:pt x="612124" y="126292"/>
                </a:cubicBezTo>
                <a:lnTo>
                  <a:pt x="612124" y="131531"/>
                </a:lnTo>
                <a:lnTo>
                  <a:pt x="516503" y="131531"/>
                </a:lnTo>
                <a:cubicBezTo>
                  <a:pt x="516503" y="149603"/>
                  <a:pt x="520589" y="163734"/>
                  <a:pt x="528761" y="173922"/>
                </a:cubicBezTo>
                <a:cubicBezTo>
                  <a:pt x="536934" y="184110"/>
                  <a:pt x="548183" y="189203"/>
                  <a:pt x="562499" y="189203"/>
                </a:cubicBezTo>
                <a:cubicBezTo>
                  <a:pt x="576977" y="189203"/>
                  <a:pt x="591102" y="183773"/>
                  <a:pt x="604885" y="172911"/>
                </a:cubicBezTo>
                <a:lnTo>
                  <a:pt x="604885" y="185517"/>
                </a:lnTo>
                <a:cubicBezTo>
                  <a:pt x="591493" y="195189"/>
                  <a:pt x="576586" y="200025"/>
                  <a:pt x="560165" y="200025"/>
                </a:cubicBezTo>
                <a:cubicBezTo>
                  <a:pt x="543506" y="200025"/>
                  <a:pt x="530047" y="193940"/>
                  <a:pt x="519769" y="181770"/>
                </a:cubicBezTo>
                <a:cubicBezTo>
                  <a:pt x="509492" y="169601"/>
                  <a:pt x="504358" y="152456"/>
                  <a:pt x="504358" y="130340"/>
                </a:cubicBezTo>
                <a:cubicBezTo>
                  <a:pt x="504358" y="111147"/>
                  <a:pt x="509731" y="94974"/>
                  <a:pt x="520475" y="81820"/>
                </a:cubicBezTo>
                <a:cubicBezTo>
                  <a:pt x="531209" y="68656"/>
                  <a:pt x="545144" y="62074"/>
                  <a:pt x="562270" y="62074"/>
                </a:cubicBezTo>
                <a:close/>
                <a:moveTo>
                  <a:pt x="454800" y="62074"/>
                </a:moveTo>
                <a:cubicBezTo>
                  <a:pt x="464687" y="62074"/>
                  <a:pt x="474221" y="64141"/>
                  <a:pt x="483403" y="68256"/>
                </a:cubicBezTo>
                <a:lnTo>
                  <a:pt x="483403" y="81582"/>
                </a:lnTo>
                <a:cubicBezTo>
                  <a:pt x="474221" y="75790"/>
                  <a:pt x="464096" y="72895"/>
                  <a:pt x="453047" y="72895"/>
                </a:cubicBezTo>
                <a:cubicBezTo>
                  <a:pt x="437950" y="72895"/>
                  <a:pt x="425691" y="78448"/>
                  <a:pt x="416271" y="89545"/>
                </a:cubicBezTo>
                <a:cubicBezTo>
                  <a:pt x="406851" y="100651"/>
                  <a:pt x="402145" y="114995"/>
                  <a:pt x="402145" y="132598"/>
                </a:cubicBezTo>
                <a:cubicBezTo>
                  <a:pt x="402145" y="149642"/>
                  <a:pt x="406441" y="163338"/>
                  <a:pt x="415042" y="173684"/>
                </a:cubicBezTo>
                <a:cubicBezTo>
                  <a:pt x="423643" y="184031"/>
                  <a:pt x="435026" y="189203"/>
                  <a:pt x="449199" y="189203"/>
                </a:cubicBezTo>
                <a:cubicBezTo>
                  <a:pt x="462115" y="189203"/>
                  <a:pt x="473364" y="185715"/>
                  <a:pt x="482937" y="178738"/>
                </a:cubicBezTo>
                <a:lnTo>
                  <a:pt x="482937" y="190987"/>
                </a:lnTo>
                <a:cubicBezTo>
                  <a:pt x="473364" y="197012"/>
                  <a:pt x="461924" y="200025"/>
                  <a:pt x="448609" y="200025"/>
                </a:cubicBezTo>
                <a:cubicBezTo>
                  <a:pt x="431102" y="200025"/>
                  <a:pt x="416947" y="193880"/>
                  <a:pt x="406175" y="181592"/>
                </a:cubicBezTo>
                <a:cubicBezTo>
                  <a:pt x="395392" y="169304"/>
                  <a:pt x="390001" y="153210"/>
                  <a:pt x="390001" y="133312"/>
                </a:cubicBezTo>
                <a:cubicBezTo>
                  <a:pt x="390001" y="112462"/>
                  <a:pt x="396050" y="95374"/>
                  <a:pt x="408156" y="82058"/>
                </a:cubicBezTo>
                <a:cubicBezTo>
                  <a:pt x="420262" y="68732"/>
                  <a:pt x="435807" y="62074"/>
                  <a:pt x="454800" y="62074"/>
                </a:cubicBezTo>
                <a:close/>
                <a:moveTo>
                  <a:pt x="671313" y="30089"/>
                </a:moveTo>
                <a:lnTo>
                  <a:pt x="671313" y="102289"/>
                </a:lnTo>
                <a:lnTo>
                  <a:pt x="693163" y="102289"/>
                </a:lnTo>
                <a:cubicBezTo>
                  <a:pt x="707564" y="102289"/>
                  <a:pt x="718509" y="99079"/>
                  <a:pt x="725986" y="92650"/>
                </a:cubicBezTo>
                <a:cubicBezTo>
                  <a:pt x="733463" y="86230"/>
                  <a:pt x="737206" y="77019"/>
                  <a:pt x="737206" y="65018"/>
                </a:cubicBezTo>
                <a:cubicBezTo>
                  <a:pt x="737206" y="41729"/>
                  <a:pt x="723272" y="30089"/>
                  <a:pt x="695401" y="30089"/>
                </a:cubicBezTo>
                <a:close/>
                <a:moveTo>
                  <a:pt x="85115" y="21165"/>
                </a:moveTo>
                <a:cubicBezTo>
                  <a:pt x="64094" y="21165"/>
                  <a:pt x="46797" y="28918"/>
                  <a:pt x="33214" y="44415"/>
                </a:cubicBezTo>
                <a:cubicBezTo>
                  <a:pt x="19631" y="59912"/>
                  <a:pt x="12840" y="80191"/>
                  <a:pt x="12840" y="105242"/>
                </a:cubicBezTo>
                <a:cubicBezTo>
                  <a:pt x="12840" y="130616"/>
                  <a:pt x="19269" y="150811"/>
                  <a:pt x="32109" y="165835"/>
                </a:cubicBezTo>
                <a:cubicBezTo>
                  <a:pt x="44948" y="180859"/>
                  <a:pt x="62112" y="188371"/>
                  <a:pt x="83591" y="188371"/>
                </a:cubicBezTo>
                <a:cubicBezTo>
                  <a:pt x="105937" y="188371"/>
                  <a:pt x="123625" y="180938"/>
                  <a:pt x="136655" y="166073"/>
                </a:cubicBezTo>
                <a:cubicBezTo>
                  <a:pt x="149695" y="151207"/>
                  <a:pt x="156220" y="130492"/>
                  <a:pt x="156220" y="103937"/>
                </a:cubicBezTo>
                <a:cubicBezTo>
                  <a:pt x="156220" y="77934"/>
                  <a:pt x="149857" y="57636"/>
                  <a:pt x="137122" y="43053"/>
                </a:cubicBezTo>
                <a:cubicBezTo>
                  <a:pt x="124396" y="28461"/>
                  <a:pt x="107061" y="21165"/>
                  <a:pt x="85115" y="21165"/>
                </a:cubicBezTo>
                <a:close/>
                <a:moveTo>
                  <a:pt x="351777" y="12602"/>
                </a:moveTo>
                <a:cubicBezTo>
                  <a:pt x="354349" y="12602"/>
                  <a:pt x="356625" y="13459"/>
                  <a:pt x="358616" y="15164"/>
                </a:cubicBezTo>
                <a:cubicBezTo>
                  <a:pt x="360597" y="16869"/>
                  <a:pt x="361588" y="19183"/>
                  <a:pt x="361588" y="22117"/>
                </a:cubicBezTo>
                <a:cubicBezTo>
                  <a:pt x="361588" y="24898"/>
                  <a:pt x="360616" y="27251"/>
                  <a:pt x="358673" y="29194"/>
                </a:cubicBezTo>
                <a:cubicBezTo>
                  <a:pt x="356721" y="31137"/>
                  <a:pt x="354425" y="32109"/>
                  <a:pt x="351777" y="32109"/>
                </a:cubicBezTo>
                <a:cubicBezTo>
                  <a:pt x="349215" y="32109"/>
                  <a:pt x="346977" y="31175"/>
                  <a:pt x="345072" y="29318"/>
                </a:cubicBezTo>
                <a:cubicBezTo>
                  <a:pt x="343167" y="27451"/>
                  <a:pt x="342205" y="25051"/>
                  <a:pt x="342205" y="22117"/>
                </a:cubicBezTo>
                <a:cubicBezTo>
                  <a:pt x="342205" y="19345"/>
                  <a:pt x="343186" y="17069"/>
                  <a:pt x="345129" y="15278"/>
                </a:cubicBezTo>
                <a:cubicBezTo>
                  <a:pt x="347072" y="13497"/>
                  <a:pt x="349291" y="12602"/>
                  <a:pt x="351777" y="12602"/>
                </a:cubicBezTo>
                <a:close/>
                <a:moveTo>
                  <a:pt x="1142048" y="9525"/>
                </a:moveTo>
                <a:cubicBezTo>
                  <a:pt x="1160526" y="9525"/>
                  <a:pt x="1174052" y="11744"/>
                  <a:pt x="1182720" y="16192"/>
                </a:cubicBezTo>
                <a:lnTo>
                  <a:pt x="1182720" y="42129"/>
                </a:lnTo>
                <a:cubicBezTo>
                  <a:pt x="1171480" y="34433"/>
                  <a:pt x="1157288" y="30585"/>
                  <a:pt x="1140237" y="30585"/>
                </a:cubicBezTo>
                <a:cubicBezTo>
                  <a:pt x="1128808" y="30585"/>
                  <a:pt x="1119569" y="32947"/>
                  <a:pt x="1112425" y="37662"/>
                </a:cubicBezTo>
                <a:cubicBezTo>
                  <a:pt x="1105281" y="42386"/>
                  <a:pt x="1101662" y="48949"/>
                  <a:pt x="1101662" y="57360"/>
                </a:cubicBezTo>
                <a:cubicBezTo>
                  <a:pt x="1101662" y="64818"/>
                  <a:pt x="1104138" y="70885"/>
                  <a:pt x="1109090" y="75562"/>
                </a:cubicBezTo>
                <a:cubicBezTo>
                  <a:pt x="1114044" y="80248"/>
                  <a:pt x="1124807" y="86630"/>
                  <a:pt x="1141380" y="94717"/>
                </a:cubicBezTo>
                <a:cubicBezTo>
                  <a:pt x="1159669" y="103365"/>
                  <a:pt x="1172432" y="112014"/>
                  <a:pt x="1179671" y="120663"/>
                </a:cubicBezTo>
                <a:cubicBezTo>
                  <a:pt x="1187005" y="129302"/>
                  <a:pt x="1190625" y="139027"/>
                  <a:pt x="1190625" y="149812"/>
                </a:cubicBezTo>
                <a:cubicBezTo>
                  <a:pt x="1190625" y="165994"/>
                  <a:pt x="1184720" y="178409"/>
                  <a:pt x="1172813" y="187056"/>
                </a:cubicBezTo>
                <a:cubicBezTo>
                  <a:pt x="1161002" y="195702"/>
                  <a:pt x="1144524" y="200025"/>
                  <a:pt x="1123473" y="200025"/>
                </a:cubicBezTo>
                <a:cubicBezTo>
                  <a:pt x="1116140" y="200025"/>
                  <a:pt x="1107567" y="199013"/>
                  <a:pt x="1097756" y="196990"/>
                </a:cubicBezTo>
                <a:cubicBezTo>
                  <a:pt x="1087945" y="194968"/>
                  <a:pt x="1080801" y="192450"/>
                  <a:pt x="1076325" y="189435"/>
                </a:cubicBezTo>
                <a:lnTo>
                  <a:pt x="1076325" y="162306"/>
                </a:lnTo>
                <a:cubicBezTo>
                  <a:pt x="1082040" y="167224"/>
                  <a:pt x="1089660" y="171269"/>
                  <a:pt x="1099185" y="174443"/>
                </a:cubicBezTo>
                <a:cubicBezTo>
                  <a:pt x="1108710" y="177616"/>
                  <a:pt x="1117663" y="179202"/>
                  <a:pt x="1126236" y="179202"/>
                </a:cubicBezTo>
                <a:cubicBezTo>
                  <a:pt x="1152334" y="179202"/>
                  <a:pt x="1165384" y="170000"/>
                  <a:pt x="1165384" y="151597"/>
                </a:cubicBezTo>
                <a:cubicBezTo>
                  <a:pt x="1165384" y="146440"/>
                  <a:pt x="1164050" y="141799"/>
                  <a:pt x="1161193" y="137674"/>
                </a:cubicBezTo>
                <a:cubicBezTo>
                  <a:pt x="1158430" y="133550"/>
                  <a:pt x="1154525" y="129902"/>
                  <a:pt x="1149667" y="126730"/>
                </a:cubicBezTo>
                <a:cubicBezTo>
                  <a:pt x="1144809" y="123558"/>
                  <a:pt x="1135666" y="118672"/>
                  <a:pt x="1122235" y="112090"/>
                </a:cubicBezTo>
                <a:cubicBezTo>
                  <a:pt x="1103566" y="102889"/>
                  <a:pt x="1091279" y="94345"/>
                  <a:pt x="1085373" y="86449"/>
                </a:cubicBezTo>
                <a:cubicBezTo>
                  <a:pt x="1079372" y="78562"/>
                  <a:pt x="1076420" y="69533"/>
                  <a:pt x="1076420" y="59379"/>
                </a:cubicBezTo>
                <a:cubicBezTo>
                  <a:pt x="1076420" y="44072"/>
                  <a:pt x="1082612" y="31937"/>
                  <a:pt x="1095089" y="22974"/>
                </a:cubicBezTo>
                <a:cubicBezTo>
                  <a:pt x="1107472" y="14011"/>
                  <a:pt x="1123093" y="9525"/>
                  <a:pt x="1142048" y="9525"/>
                </a:cubicBezTo>
                <a:close/>
                <a:moveTo>
                  <a:pt x="904875" y="9525"/>
                </a:moveTo>
                <a:lnTo>
                  <a:pt x="929354" y="9525"/>
                </a:lnTo>
                <a:lnTo>
                  <a:pt x="929354" y="122253"/>
                </a:lnTo>
                <a:cubicBezTo>
                  <a:pt x="929354" y="159748"/>
                  <a:pt x="945261" y="178496"/>
                  <a:pt x="977075" y="178496"/>
                </a:cubicBezTo>
                <a:cubicBezTo>
                  <a:pt x="1007841" y="178496"/>
                  <a:pt x="1023271" y="160352"/>
                  <a:pt x="1023271" y="124063"/>
                </a:cubicBezTo>
                <a:lnTo>
                  <a:pt x="1023271" y="9525"/>
                </a:lnTo>
                <a:lnTo>
                  <a:pt x="1047750" y="9525"/>
                </a:lnTo>
                <a:lnTo>
                  <a:pt x="1047750" y="120558"/>
                </a:lnTo>
                <a:cubicBezTo>
                  <a:pt x="1047750" y="173536"/>
                  <a:pt x="1023461" y="200025"/>
                  <a:pt x="974789" y="200025"/>
                </a:cubicBezTo>
                <a:cubicBezTo>
                  <a:pt x="928211" y="200025"/>
                  <a:pt x="904875" y="174464"/>
                  <a:pt x="904875" y="123339"/>
                </a:cubicBezTo>
                <a:close/>
                <a:moveTo>
                  <a:pt x="790575" y="9525"/>
                </a:moveTo>
                <a:lnTo>
                  <a:pt x="813911" y="9525"/>
                </a:lnTo>
                <a:lnTo>
                  <a:pt x="813911" y="169820"/>
                </a:lnTo>
                <a:lnTo>
                  <a:pt x="885825" y="169820"/>
                </a:lnTo>
                <a:lnTo>
                  <a:pt x="885825" y="190500"/>
                </a:lnTo>
                <a:lnTo>
                  <a:pt x="790575" y="190500"/>
                </a:lnTo>
                <a:close/>
                <a:moveTo>
                  <a:pt x="647700" y="9525"/>
                </a:moveTo>
                <a:lnTo>
                  <a:pt x="699659" y="9525"/>
                </a:lnTo>
                <a:cubicBezTo>
                  <a:pt x="719414" y="9525"/>
                  <a:pt x="734739" y="14240"/>
                  <a:pt x="745646" y="23660"/>
                </a:cubicBezTo>
                <a:cubicBezTo>
                  <a:pt x="756551" y="33090"/>
                  <a:pt x="762000" y="46558"/>
                  <a:pt x="762000" y="64084"/>
                </a:cubicBezTo>
                <a:cubicBezTo>
                  <a:pt x="762000" y="81848"/>
                  <a:pt x="755628" y="96231"/>
                  <a:pt x="742874" y="107252"/>
                </a:cubicBezTo>
                <a:cubicBezTo>
                  <a:pt x="730120" y="118281"/>
                  <a:pt x="714175" y="123473"/>
                  <a:pt x="695049" y="122853"/>
                </a:cubicBezTo>
                <a:lnTo>
                  <a:pt x="671313" y="122853"/>
                </a:lnTo>
                <a:lnTo>
                  <a:pt x="671313" y="190500"/>
                </a:lnTo>
                <a:lnTo>
                  <a:pt x="647700" y="190500"/>
                </a:lnTo>
                <a:close/>
                <a:moveTo>
                  <a:pt x="87211" y="9515"/>
                </a:moveTo>
                <a:cubicBezTo>
                  <a:pt x="111576" y="9515"/>
                  <a:pt x="131312" y="18012"/>
                  <a:pt x="146409" y="35023"/>
                </a:cubicBezTo>
                <a:cubicBezTo>
                  <a:pt x="161506" y="52026"/>
                  <a:pt x="169059" y="74324"/>
                  <a:pt x="169059" y="101917"/>
                </a:cubicBezTo>
                <a:cubicBezTo>
                  <a:pt x="169059" y="132359"/>
                  <a:pt x="161334" y="156321"/>
                  <a:pt x="145885" y="173803"/>
                </a:cubicBezTo>
                <a:cubicBezTo>
                  <a:pt x="130435" y="191284"/>
                  <a:pt x="109747" y="200025"/>
                  <a:pt x="83830" y="200025"/>
                </a:cubicBezTo>
                <a:cubicBezTo>
                  <a:pt x="58302" y="200025"/>
                  <a:pt x="37948" y="191383"/>
                  <a:pt x="22765" y="174100"/>
                </a:cubicBezTo>
                <a:cubicBezTo>
                  <a:pt x="7591" y="156817"/>
                  <a:pt x="0" y="134341"/>
                  <a:pt x="0" y="106670"/>
                </a:cubicBezTo>
                <a:cubicBezTo>
                  <a:pt x="0" y="77257"/>
                  <a:pt x="7782" y="53711"/>
                  <a:pt x="23356" y="36033"/>
                </a:cubicBezTo>
                <a:cubicBezTo>
                  <a:pt x="38919" y="18355"/>
                  <a:pt x="60207" y="9515"/>
                  <a:pt x="87211" y="9515"/>
                </a:cubicBezTo>
                <a:close/>
                <a:moveTo>
                  <a:pt x="317440" y="0"/>
                </a:moveTo>
                <a:cubicBezTo>
                  <a:pt x="322964" y="0"/>
                  <a:pt x="327517" y="829"/>
                  <a:pt x="331098" y="2496"/>
                </a:cubicBezTo>
                <a:lnTo>
                  <a:pt x="331098" y="14507"/>
                </a:lnTo>
                <a:cubicBezTo>
                  <a:pt x="327984" y="12049"/>
                  <a:pt x="323279" y="10820"/>
                  <a:pt x="316973" y="10820"/>
                </a:cubicBezTo>
                <a:cubicBezTo>
                  <a:pt x="301095" y="10820"/>
                  <a:pt x="293151" y="21679"/>
                  <a:pt x="293151" y="43405"/>
                </a:cubicBezTo>
                <a:lnTo>
                  <a:pt x="293151" y="65284"/>
                </a:lnTo>
                <a:lnTo>
                  <a:pt x="327365" y="65284"/>
                </a:lnTo>
                <a:lnTo>
                  <a:pt x="327365" y="76105"/>
                </a:lnTo>
                <a:lnTo>
                  <a:pt x="293151" y="76105"/>
                </a:lnTo>
                <a:lnTo>
                  <a:pt x="293151" y="196814"/>
                </a:lnTo>
                <a:lnTo>
                  <a:pt x="281597" y="196814"/>
                </a:lnTo>
                <a:lnTo>
                  <a:pt x="281597" y="76105"/>
                </a:lnTo>
                <a:lnTo>
                  <a:pt x="258356" y="76105"/>
                </a:lnTo>
                <a:lnTo>
                  <a:pt x="258356" y="65284"/>
                </a:lnTo>
                <a:lnTo>
                  <a:pt x="281597" y="65284"/>
                </a:lnTo>
                <a:lnTo>
                  <a:pt x="281597" y="42453"/>
                </a:lnTo>
                <a:cubicBezTo>
                  <a:pt x="281597" y="28585"/>
                  <a:pt x="285016" y="18040"/>
                  <a:pt x="291865" y="10820"/>
                </a:cubicBezTo>
                <a:cubicBezTo>
                  <a:pt x="298714" y="3610"/>
                  <a:pt x="307238" y="0"/>
                  <a:pt x="317440" y="0"/>
                </a:cubicBezTo>
                <a:close/>
                <a:moveTo>
                  <a:pt x="245964" y="0"/>
                </a:moveTo>
                <a:cubicBezTo>
                  <a:pt x="251489" y="0"/>
                  <a:pt x="256041" y="829"/>
                  <a:pt x="259623" y="2496"/>
                </a:cubicBezTo>
                <a:lnTo>
                  <a:pt x="259623" y="14507"/>
                </a:lnTo>
                <a:cubicBezTo>
                  <a:pt x="256508" y="12049"/>
                  <a:pt x="251803" y="10820"/>
                  <a:pt x="245497" y="10820"/>
                </a:cubicBezTo>
                <a:cubicBezTo>
                  <a:pt x="229619" y="10820"/>
                  <a:pt x="221675" y="21679"/>
                  <a:pt x="221675" y="43405"/>
                </a:cubicBezTo>
                <a:lnTo>
                  <a:pt x="221675" y="65284"/>
                </a:lnTo>
                <a:lnTo>
                  <a:pt x="255889" y="65284"/>
                </a:lnTo>
                <a:lnTo>
                  <a:pt x="255889" y="76105"/>
                </a:lnTo>
                <a:lnTo>
                  <a:pt x="221675" y="76105"/>
                </a:lnTo>
                <a:lnTo>
                  <a:pt x="221675" y="196814"/>
                </a:lnTo>
                <a:lnTo>
                  <a:pt x="210121" y="196814"/>
                </a:lnTo>
                <a:lnTo>
                  <a:pt x="210121" y="76105"/>
                </a:lnTo>
                <a:lnTo>
                  <a:pt x="186890" y="76105"/>
                </a:lnTo>
                <a:lnTo>
                  <a:pt x="186890" y="65284"/>
                </a:lnTo>
                <a:lnTo>
                  <a:pt x="210121" y="65284"/>
                </a:lnTo>
                <a:lnTo>
                  <a:pt x="210121" y="42453"/>
                </a:lnTo>
                <a:cubicBezTo>
                  <a:pt x="210121" y="28585"/>
                  <a:pt x="213541" y="18040"/>
                  <a:pt x="220389" y="10820"/>
                </a:cubicBezTo>
                <a:cubicBezTo>
                  <a:pt x="227247" y="3610"/>
                  <a:pt x="235763" y="0"/>
                  <a:pt x="245964" y="0"/>
                </a:cubicBezTo>
                <a:close/>
              </a:path>
            </a:pathLst>
          </a:custGeom>
          <a:solidFill>
            <a:schemeClr val="bg1"/>
          </a:solidFill>
          <a:ln w="9525" cap="flat">
            <a:noFill/>
            <a:prstDash val="solid"/>
            <a:miter/>
          </a:ln>
        </p:spPr>
        <p:txBody>
          <a:bodyPr rtlCol="0" anchor="ctr">
            <a:noAutofit/>
          </a:bodyPr>
          <a:lstStyle/>
          <a:p>
            <a:endParaRPr lang="zh-CN" altLang="en-US"/>
          </a:p>
        </p:txBody>
      </p:sp>
      <p:sp>
        <p:nvSpPr>
          <p:cNvPr id="4" name="矩形 3"/>
          <p:cNvSpPr/>
          <p:nvPr userDrawn="1"/>
        </p:nvSpPr>
        <p:spPr>
          <a:xfrm>
            <a:off x="731839" y="731839"/>
            <a:ext cx="10728323" cy="5394323"/>
          </a:xfrm>
          <a:prstGeom prst="rect">
            <a:avLst/>
          </a:prstGeom>
          <a:solidFill>
            <a:schemeClr val="bg1"/>
          </a:solidFill>
          <a:ln>
            <a:solidFill>
              <a:schemeClr val="accent1"/>
            </a:solidFill>
          </a:ln>
          <a:effectLst>
            <a:outerShdw blurRad="342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lvl="0" algn="ctr"/>
            <a:endParaRPr lang="zh-CN" altLang="en-US"/>
          </a:p>
        </p:txBody>
      </p:sp>
      <p:sp>
        <p:nvSpPr>
          <p:cNvPr id="20" name="矩形 19"/>
          <p:cNvSpPr/>
          <p:nvPr userDrawn="1"/>
        </p:nvSpPr>
        <p:spPr>
          <a:xfrm>
            <a:off x="892705" y="892704"/>
            <a:ext cx="10406591" cy="507259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目录页">
    <p:bg>
      <p:bgPr>
        <a:solidFill>
          <a:schemeClr val="accent1"/>
        </a:solidFill>
        <a:effectLst/>
      </p:bgPr>
    </p:bg>
    <p:spTree>
      <p:nvGrpSpPr>
        <p:cNvPr id="1" name=""/>
        <p:cNvGrpSpPr/>
        <p:nvPr/>
      </p:nvGrpSpPr>
      <p:grpSpPr>
        <a:xfrm>
          <a:off x="0" y="0"/>
          <a:ext cx="0" cy="0"/>
          <a:chOff x="0" y="0"/>
          <a:chExt cx="0" cy="0"/>
        </a:xfrm>
      </p:grpSpPr>
      <p:sp>
        <p:nvSpPr>
          <p:cNvPr id="2" name="任意多边形: 形状 1"/>
          <p:cNvSpPr/>
          <p:nvPr userDrawn="1"/>
        </p:nvSpPr>
        <p:spPr>
          <a:xfrm>
            <a:off x="736600" y="266700"/>
            <a:ext cx="1661579" cy="222250"/>
          </a:xfrm>
          <a:custGeom>
            <a:avLst/>
            <a:gdLst>
              <a:gd name="connsiteX0" fmla="*/ 1232440 w 1495425"/>
              <a:gd name="connsiteY0" fmla="*/ 178500 h 200025"/>
              <a:gd name="connsiteX1" fmla="*/ 1239870 w 1495425"/>
              <a:gd name="connsiteY1" fmla="*/ 181354 h 200025"/>
              <a:gd name="connsiteX2" fmla="*/ 1242822 w 1495425"/>
              <a:gd name="connsiteY2" fmla="*/ 188727 h 200025"/>
              <a:gd name="connsiteX3" fmla="*/ 1239870 w 1495425"/>
              <a:gd name="connsiteY3" fmla="*/ 196101 h 200025"/>
              <a:gd name="connsiteX4" fmla="*/ 1232440 w 1495425"/>
              <a:gd name="connsiteY4" fmla="*/ 199073 h 200025"/>
              <a:gd name="connsiteX5" fmla="*/ 1225296 w 1495425"/>
              <a:gd name="connsiteY5" fmla="*/ 196101 h 200025"/>
              <a:gd name="connsiteX6" fmla="*/ 1222438 w 1495425"/>
              <a:gd name="connsiteY6" fmla="*/ 188727 h 200025"/>
              <a:gd name="connsiteX7" fmla="*/ 1225296 w 1495425"/>
              <a:gd name="connsiteY7" fmla="*/ 181354 h 200025"/>
              <a:gd name="connsiteX8" fmla="*/ 1232440 w 1495425"/>
              <a:gd name="connsiteY8" fmla="*/ 178500 h 200025"/>
              <a:gd name="connsiteX9" fmla="*/ 561804 w 1495425"/>
              <a:gd name="connsiteY9" fmla="*/ 72895 h 200025"/>
              <a:gd name="connsiteX10" fmla="*/ 531676 w 1495425"/>
              <a:gd name="connsiteY10" fmla="*/ 85268 h 200025"/>
              <a:gd name="connsiteX11" fmla="*/ 516970 w 1495425"/>
              <a:gd name="connsiteY11" fmla="*/ 120825 h 200025"/>
              <a:gd name="connsiteX12" fmla="*/ 599980 w 1495425"/>
              <a:gd name="connsiteY12" fmla="*/ 120825 h 200025"/>
              <a:gd name="connsiteX13" fmla="*/ 589236 w 1495425"/>
              <a:gd name="connsiteY13" fmla="*/ 85449 h 200025"/>
              <a:gd name="connsiteX14" fmla="*/ 561804 w 1495425"/>
              <a:gd name="connsiteY14" fmla="*/ 72895 h 200025"/>
              <a:gd name="connsiteX15" fmla="*/ 346062 w 1495425"/>
              <a:gd name="connsiteY15" fmla="*/ 65284 h 200025"/>
              <a:gd name="connsiteX16" fmla="*/ 357616 w 1495425"/>
              <a:gd name="connsiteY16" fmla="*/ 65284 h 200025"/>
              <a:gd name="connsiteX17" fmla="*/ 357616 w 1495425"/>
              <a:gd name="connsiteY17" fmla="*/ 196814 h 200025"/>
              <a:gd name="connsiteX18" fmla="*/ 346062 w 1495425"/>
              <a:gd name="connsiteY18" fmla="*/ 196814 h 200025"/>
              <a:gd name="connsiteX19" fmla="*/ 1452372 w 1495425"/>
              <a:gd name="connsiteY19" fmla="*/ 62074 h 200025"/>
              <a:gd name="connsiteX20" fmla="*/ 1484376 w 1495425"/>
              <a:gd name="connsiteY20" fmla="*/ 76286 h 200025"/>
              <a:gd name="connsiteX21" fmla="*/ 1495425 w 1495425"/>
              <a:gd name="connsiteY21" fmla="*/ 116777 h 200025"/>
              <a:gd name="connsiteX22" fmla="*/ 1495425 w 1495425"/>
              <a:gd name="connsiteY22" fmla="*/ 196814 h 200025"/>
              <a:gd name="connsiteX23" fmla="*/ 1483900 w 1495425"/>
              <a:gd name="connsiteY23" fmla="*/ 196814 h 200025"/>
              <a:gd name="connsiteX24" fmla="*/ 1483900 w 1495425"/>
              <a:gd name="connsiteY24" fmla="*/ 120225 h 200025"/>
              <a:gd name="connsiteX25" fmla="*/ 1450372 w 1495425"/>
              <a:gd name="connsiteY25" fmla="*/ 72895 h 200025"/>
              <a:gd name="connsiteX26" fmla="*/ 1419606 w 1495425"/>
              <a:gd name="connsiteY26" fmla="*/ 86811 h 200025"/>
              <a:gd name="connsiteX27" fmla="*/ 1407605 w 1495425"/>
              <a:gd name="connsiteY27" fmla="*/ 121301 h 200025"/>
              <a:gd name="connsiteX28" fmla="*/ 1407605 w 1495425"/>
              <a:gd name="connsiteY28" fmla="*/ 196814 h 200025"/>
              <a:gd name="connsiteX29" fmla="*/ 1396079 w 1495425"/>
              <a:gd name="connsiteY29" fmla="*/ 196814 h 200025"/>
              <a:gd name="connsiteX30" fmla="*/ 1396079 w 1495425"/>
              <a:gd name="connsiteY30" fmla="*/ 65284 h 200025"/>
              <a:gd name="connsiteX31" fmla="*/ 1407605 w 1495425"/>
              <a:gd name="connsiteY31" fmla="*/ 65284 h 200025"/>
              <a:gd name="connsiteX32" fmla="*/ 1407605 w 1495425"/>
              <a:gd name="connsiteY32" fmla="*/ 89192 h 200025"/>
              <a:gd name="connsiteX33" fmla="*/ 1408176 w 1495425"/>
              <a:gd name="connsiteY33" fmla="*/ 89192 h 200025"/>
              <a:gd name="connsiteX34" fmla="*/ 1452372 w 1495425"/>
              <a:gd name="connsiteY34" fmla="*/ 62074 h 200025"/>
              <a:gd name="connsiteX35" fmla="*/ 1337215 w 1495425"/>
              <a:gd name="connsiteY35" fmla="*/ 62074 h 200025"/>
              <a:gd name="connsiteX36" fmla="*/ 1365790 w 1495425"/>
              <a:gd name="connsiteY36" fmla="*/ 68256 h 200025"/>
              <a:gd name="connsiteX37" fmla="*/ 1365790 w 1495425"/>
              <a:gd name="connsiteY37" fmla="*/ 81582 h 200025"/>
              <a:gd name="connsiteX38" fmla="*/ 1335405 w 1495425"/>
              <a:gd name="connsiteY38" fmla="*/ 72895 h 200025"/>
              <a:gd name="connsiteX39" fmla="*/ 1298638 w 1495425"/>
              <a:gd name="connsiteY39" fmla="*/ 89545 h 200025"/>
              <a:gd name="connsiteX40" fmla="*/ 1284541 w 1495425"/>
              <a:gd name="connsiteY40" fmla="*/ 132598 h 200025"/>
              <a:gd name="connsiteX41" fmla="*/ 1297400 w 1495425"/>
              <a:gd name="connsiteY41" fmla="*/ 173684 h 200025"/>
              <a:gd name="connsiteX42" fmla="*/ 1331596 w 1495425"/>
              <a:gd name="connsiteY42" fmla="*/ 189203 h 200025"/>
              <a:gd name="connsiteX43" fmla="*/ 1365313 w 1495425"/>
              <a:gd name="connsiteY43" fmla="*/ 178738 h 200025"/>
              <a:gd name="connsiteX44" fmla="*/ 1365313 w 1495425"/>
              <a:gd name="connsiteY44" fmla="*/ 190987 h 200025"/>
              <a:gd name="connsiteX45" fmla="*/ 1331023 w 1495425"/>
              <a:gd name="connsiteY45" fmla="*/ 200025 h 200025"/>
              <a:gd name="connsiteX46" fmla="*/ 1288542 w 1495425"/>
              <a:gd name="connsiteY46" fmla="*/ 181592 h 200025"/>
              <a:gd name="connsiteX47" fmla="*/ 1272349 w 1495425"/>
              <a:gd name="connsiteY47" fmla="*/ 133312 h 200025"/>
              <a:gd name="connsiteX48" fmla="*/ 1290542 w 1495425"/>
              <a:gd name="connsiteY48" fmla="*/ 82058 h 200025"/>
              <a:gd name="connsiteX49" fmla="*/ 1337215 w 1495425"/>
              <a:gd name="connsiteY49" fmla="*/ 62074 h 200025"/>
              <a:gd name="connsiteX50" fmla="*/ 562270 w 1495425"/>
              <a:gd name="connsiteY50" fmla="*/ 62074 h 200025"/>
              <a:gd name="connsiteX51" fmla="*/ 599218 w 1495425"/>
              <a:gd name="connsiteY51" fmla="*/ 79324 h 200025"/>
              <a:gd name="connsiteX52" fmla="*/ 612124 w 1495425"/>
              <a:gd name="connsiteY52" fmla="*/ 126292 h 200025"/>
              <a:gd name="connsiteX53" fmla="*/ 612124 w 1495425"/>
              <a:gd name="connsiteY53" fmla="*/ 131531 h 200025"/>
              <a:gd name="connsiteX54" fmla="*/ 516503 w 1495425"/>
              <a:gd name="connsiteY54" fmla="*/ 131531 h 200025"/>
              <a:gd name="connsiteX55" fmla="*/ 528761 w 1495425"/>
              <a:gd name="connsiteY55" fmla="*/ 173922 h 200025"/>
              <a:gd name="connsiteX56" fmla="*/ 562499 w 1495425"/>
              <a:gd name="connsiteY56" fmla="*/ 189203 h 200025"/>
              <a:gd name="connsiteX57" fmla="*/ 604885 w 1495425"/>
              <a:gd name="connsiteY57" fmla="*/ 172911 h 200025"/>
              <a:gd name="connsiteX58" fmla="*/ 604885 w 1495425"/>
              <a:gd name="connsiteY58" fmla="*/ 185517 h 200025"/>
              <a:gd name="connsiteX59" fmla="*/ 560165 w 1495425"/>
              <a:gd name="connsiteY59" fmla="*/ 200025 h 200025"/>
              <a:gd name="connsiteX60" fmla="*/ 519769 w 1495425"/>
              <a:gd name="connsiteY60" fmla="*/ 181770 h 200025"/>
              <a:gd name="connsiteX61" fmla="*/ 504358 w 1495425"/>
              <a:gd name="connsiteY61" fmla="*/ 130340 h 200025"/>
              <a:gd name="connsiteX62" fmla="*/ 520475 w 1495425"/>
              <a:gd name="connsiteY62" fmla="*/ 81820 h 200025"/>
              <a:gd name="connsiteX63" fmla="*/ 562270 w 1495425"/>
              <a:gd name="connsiteY63" fmla="*/ 62074 h 200025"/>
              <a:gd name="connsiteX64" fmla="*/ 454800 w 1495425"/>
              <a:gd name="connsiteY64" fmla="*/ 62074 h 200025"/>
              <a:gd name="connsiteX65" fmla="*/ 483403 w 1495425"/>
              <a:gd name="connsiteY65" fmla="*/ 68256 h 200025"/>
              <a:gd name="connsiteX66" fmla="*/ 483403 w 1495425"/>
              <a:gd name="connsiteY66" fmla="*/ 81582 h 200025"/>
              <a:gd name="connsiteX67" fmla="*/ 453047 w 1495425"/>
              <a:gd name="connsiteY67" fmla="*/ 72895 h 200025"/>
              <a:gd name="connsiteX68" fmla="*/ 416271 w 1495425"/>
              <a:gd name="connsiteY68" fmla="*/ 89545 h 200025"/>
              <a:gd name="connsiteX69" fmla="*/ 402145 w 1495425"/>
              <a:gd name="connsiteY69" fmla="*/ 132598 h 200025"/>
              <a:gd name="connsiteX70" fmla="*/ 415042 w 1495425"/>
              <a:gd name="connsiteY70" fmla="*/ 173684 h 200025"/>
              <a:gd name="connsiteX71" fmla="*/ 449199 w 1495425"/>
              <a:gd name="connsiteY71" fmla="*/ 189203 h 200025"/>
              <a:gd name="connsiteX72" fmla="*/ 482937 w 1495425"/>
              <a:gd name="connsiteY72" fmla="*/ 178738 h 200025"/>
              <a:gd name="connsiteX73" fmla="*/ 482937 w 1495425"/>
              <a:gd name="connsiteY73" fmla="*/ 190987 h 200025"/>
              <a:gd name="connsiteX74" fmla="*/ 448609 w 1495425"/>
              <a:gd name="connsiteY74" fmla="*/ 200025 h 200025"/>
              <a:gd name="connsiteX75" fmla="*/ 406175 w 1495425"/>
              <a:gd name="connsiteY75" fmla="*/ 181592 h 200025"/>
              <a:gd name="connsiteX76" fmla="*/ 390001 w 1495425"/>
              <a:gd name="connsiteY76" fmla="*/ 133312 h 200025"/>
              <a:gd name="connsiteX77" fmla="*/ 408156 w 1495425"/>
              <a:gd name="connsiteY77" fmla="*/ 82058 h 200025"/>
              <a:gd name="connsiteX78" fmla="*/ 454800 w 1495425"/>
              <a:gd name="connsiteY78" fmla="*/ 62074 h 200025"/>
              <a:gd name="connsiteX79" fmla="*/ 671313 w 1495425"/>
              <a:gd name="connsiteY79" fmla="*/ 30089 h 200025"/>
              <a:gd name="connsiteX80" fmla="*/ 671313 w 1495425"/>
              <a:gd name="connsiteY80" fmla="*/ 102289 h 200025"/>
              <a:gd name="connsiteX81" fmla="*/ 693163 w 1495425"/>
              <a:gd name="connsiteY81" fmla="*/ 102289 h 200025"/>
              <a:gd name="connsiteX82" fmla="*/ 725986 w 1495425"/>
              <a:gd name="connsiteY82" fmla="*/ 92650 h 200025"/>
              <a:gd name="connsiteX83" fmla="*/ 737206 w 1495425"/>
              <a:gd name="connsiteY83" fmla="*/ 65018 h 200025"/>
              <a:gd name="connsiteX84" fmla="*/ 695401 w 1495425"/>
              <a:gd name="connsiteY84" fmla="*/ 30089 h 200025"/>
              <a:gd name="connsiteX85" fmla="*/ 85115 w 1495425"/>
              <a:gd name="connsiteY85" fmla="*/ 21165 h 200025"/>
              <a:gd name="connsiteX86" fmla="*/ 33214 w 1495425"/>
              <a:gd name="connsiteY86" fmla="*/ 44415 h 200025"/>
              <a:gd name="connsiteX87" fmla="*/ 12840 w 1495425"/>
              <a:gd name="connsiteY87" fmla="*/ 105242 h 200025"/>
              <a:gd name="connsiteX88" fmla="*/ 32109 w 1495425"/>
              <a:gd name="connsiteY88" fmla="*/ 165835 h 200025"/>
              <a:gd name="connsiteX89" fmla="*/ 83591 w 1495425"/>
              <a:gd name="connsiteY89" fmla="*/ 188371 h 200025"/>
              <a:gd name="connsiteX90" fmla="*/ 136655 w 1495425"/>
              <a:gd name="connsiteY90" fmla="*/ 166073 h 200025"/>
              <a:gd name="connsiteX91" fmla="*/ 156220 w 1495425"/>
              <a:gd name="connsiteY91" fmla="*/ 103937 h 200025"/>
              <a:gd name="connsiteX92" fmla="*/ 137122 w 1495425"/>
              <a:gd name="connsiteY92" fmla="*/ 43053 h 200025"/>
              <a:gd name="connsiteX93" fmla="*/ 85115 w 1495425"/>
              <a:gd name="connsiteY93" fmla="*/ 21165 h 200025"/>
              <a:gd name="connsiteX94" fmla="*/ 351777 w 1495425"/>
              <a:gd name="connsiteY94" fmla="*/ 12602 h 200025"/>
              <a:gd name="connsiteX95" fmla="*/ 358616 w 1495425"/>
              <a:gd name="connsiteY95" fmla="*/ 15164 h 200025"/>
              <a:gd name="connsiteX96" fmla="*/ 361588 w 1495425"/>
              <a:gd name="connsiteY96" fmla="*/ 22117 h 200025"/>
              <a:gd name="connsiteX97" fmla="*/ 358673 w 1495425"/>
              <a:gd name="connsiteY97" fmla="*/ 29194 h 200025"/>
              <a:gd name="connsiteX98" fmla="*/ 351777 w 1495425"/>
              <a:gd name="connsiteY98" fmla="*/ 32109 h 200025"/>
              <a:gd name="connsiteX99" fmla="*/ 345072 w 1495425"/>
              <a:gd name="connsiteY99" fmla="*/ 29318 h 200025"/>
              <a:gd name="connsiteX100" fmla="*/ 342205 w 1495425"/>
              <a:gd name="connsiteY100" fmla="*/ 22117 h 200025"/>
              <a:gd name="connsiteX101" fmla="*/ 345129 w 1495425"/>
              <a:gd name="connsiteY101" fmla="*/ 15278 h 200025"/>
              <a:gd name="connsiteX102" fmla="*/ 351777 w 1495425"/>
              <a:gd name="connsiteY102" fmla="*/ 12602 h 200025"/>
              <a:gd name="connsiteX103" fmla="*/ 1142048 w 1495425"/>
              <a:gd name="connsiteY103" fmla="*/ 9525 h 200025"/>
              <a:gd name="connsiteX104" fmla="*/ 1182720 w 1495425"/>
              <a:gd name="connsiteY104" fmla="*/ 16192 h 200025"/>
              <a:gd name="connsiteX105" fmla="*/ 1182720 w 1495425"/>
              <a:gd name="connsiteY105" fmla="*/ 42129 h 200025"/>
              <a:gd name="connsiteX106" fmla="*/ 1140237 w 1495425"/>
              <a:gd name="connsiteY106" fmla="*/ 30585 h 200025"/>
              <a:gd name="connsiteX107" fmla="*/ 1112425 w 1495425"/>
              <a:gd name="connsiteY107" fmla="*/ 37662 h 200025"/>
              <a:gd name="connsiteX108" fmla="*/ 1101662 w 1495425"/>
              <a:gd name="connsiteY108" fmla="*/ 57360 h 200025"/>
              <a:gd name="connsiteX109" fmla="*/ 1109090 w 1495425"/>
              <a:gd name="connsiteY109" fmla="*/ 75562 h 200025"/>
              <a:gd name="connsiteX110" fmla="*/ 1141380 w 1495425"/>
              <a:gd name="connsiteY110" fmla="*/ 94717 h 200025"/>
              <a:gd name="connsiteX111" fmla="*/ 1179671 w 1495425"/>
              <a:gd name="connsiteY111" fmla="*/ 120663 h 200025"/>
              <a:gd name="connsiteX112" fmla="*/ 1190625 w 1495425"/>
              <a:gd name="connsiteY112" fmla="*/ 149812 h 200025"/>
              <a:gd name="connsiteX113" fmla="*/ 1172813 w 1495425"/>
              <a:gd name="connsiteY113" fmla="*/ 187056 h 200025"/>
              <a:gd name="connsiteX114" fmla="*/ 1123473 w 1495425"/>
              <a:gd name="connsiteY114" fmla="*/ 200025 h 200025"/>
              <a:gd name="connsiteX115" fmla="*/ 1097756 w 1495425"/>
              <a:gd name="connsiteY115" fmla="*/ 196990 h 200025"/>
              <a:gd name="connsiteX116" fmla="*/ 1076325 w 1495425"/>
              <a:gd name="connsiteY116" fmla="*/ 189435 h 200025"/>
              <a:gd name="connsiteX117" fmla="*/ 1076325 w 1495425"/>
              <a:gd name="connsiteY117" fmla="*/ 162306 h 200025"/>
              <a:gd name="connsiteX118" fmla="*/ 1099185 w 1495425"/>
              <a:gd name="connsiteY118" fmla="*/ 174443 h 200025"/>
              <a:gd name="connsiteX119" fmla="*/ 1126236 w 1495425"/>
              <a:gd name="connsiteY119" fmla="*/ 179202 h 200025"/>
              <a:gd name="connsiteX120" fmla="*/ 1165384 w 1495425"/>
              <a:gd name="connsiteY120" fmla="*/ 151597 h 200025"/>
              <a:gd name="connsiteX121" fmla="*/ 1161193 w 1495425"/>
              <a:gd name="connsiteY121" fmla="*/ 137674 h 200025"/>
              <a:gd name="connsiteX122" fmla="*/ 1149667 w 1495425"/>
              <a:gd name="connsiteY122" fmla="*/ 126730 h 200025"/>
              <a:gd name="connsiteX123" fmla="*/ 1122235 w 1495425"/>
              <a:gd name="connsiteY123" fmla="*/ 112090 h 200025"/>
              <a:gd name="connsiteX124" fmla="*/ 1085373 w 1495425"/>
              <a:gd name="connsiteY124" fmla="*/ 86449 h 200025"/>
              <a:gd name="connsiteX125" fmla="*/ 1076420 w 1495425"/>
              <a:gd name="connsiteY125" fmla="*/ 59379 h 200025"/>
              <a:gd name="connsiteX126" fmla="*/ 1095089 w 1495425"/>
              <a:gd name="connsiteY126" fmla="*/ 22974 h 200025"/>
              <a:gd name="connsiteX127" fmla="*/ 1142048 w 1495425"/>
              <a:gd name="connsiteY127" fmla="*/ 9525 h 200025"/>
              <a:gd name="connsiteX128" fmla="*/ 904875 w 1495425"/>
              <a:gd name="connsiteY128" fmla="*/ 9525 h 200025"/>
              <a:gd name="connsiteX129" fmla="*/ 929354 w 1495425"/>
              <a:gd name="connsiteY129" fmla="*/ 9525 h 200025"/>
              <a:gd name="connsiteX130" fmla="*/ 929354 w 1495425"/>
              <a:gd name="connsiteY130" fmla="*/ 122253 h 200025"/>
              <a:gd name="connsiteX131" fmla="*/ 977075 w 1495425"/>
              <a:gd name="connsiteY131" fmla="*/ 178496 h 200025"/>
              <a:gd name="connsiteX132" fmla="*/ 1023271 w 1495425"/>
              <a:gd name="connsiteY132" fmla="*/ 124063 h 200025"/>
              <a:gd name="connsiteX133" fmla="*/ 1023271 w 1495425"/>
              <a:gd name="connsiteY133" fmla="*/ 9525 h 200025"/>
              <a:gd name="connsiteX134" fmla="*/ 1047750 w 1495425"/>
              <a:gd name="connsiteY134" fmla="*/ 9525 h 200025"/>
              <a:gd name="connsiteX135" fmla="*/ 1047750 w 1495425"/>
              <a:gd name="connsiteY135" fmla="*/ 120558 h 200025"/>
              <a:gd name="connsiteX136" fmla="*/ 974789 w 1495425"/>
              <a:gd name="connsiteY136" fmla="*/ 200025 h 200025"/>
              <a:gd name="connsiteX137" fmla="*/ 904875 w 1495425"/>
              <a:gd name="connsiteY137" fmla="*/ 123339 h 200025"/>
              <a:gd name="connsiteX138" fmla="*/ 790575 w 1495425"/>
              <a:gd name="connsiteY138" fmla="*/ 9525 h 200025"/>
              <a:gd name="connsiteX139" fmla="*/ 813911 w 1495425"/>
              <a:gd name="connsiteY139" fmla="*/ 9525 h 200025"/>
              <a:gd name="connsiteX140" fmla="*/ 813911 w 1495425"/>
              <a:gd name="connsiteY140" fmla="*/ 169820 h 200025"/>
              <a:gd name="connsiteX141" fmla="*/ 885825 w 1495425"/>
              <a:gd name="connsiteY141" fmla="*/ 169820 h 200025"/>
              <a:gd name="connsiteX142" fmla="*/ 885825 w 1495425"/>
              <a:gd name="connsiteY142" fmla="*/ 190500 h 200025"/>
              <a:gd name="connsiteX143" fmla="*/ 790575 w 1495425"/>
              <a:gd name="connsiteY143" fmla="*/ 190500 h 200025"/>
              <a:gd name="connsiteX144" fmla="*/ 647700 w 1495425"/>
              <a:gd name="connsiteY144" fmla="*/ 9525 h 200025"/>
              <a:gd name="connsiteX145" fmla="*/ 699659 w 1495425"/>
              <a:gd name="connsiteY145" fmla="*/ 9525 h 200025"/>
              <a:gd name="connsiteX146" fmla="*/ 745646 w 1495425"/>
              <a:gd name="connsiteY146" fmla="*/ 23660 h 200025"/>
              <a:gd name="connsiteX147" fmla="*/ 762000 w 1495425"/>
              <a:gd name="connsiteY147" fmla="*/ 64084 h 200025"/>
              <a:gd name="connsiteX148" fmla="*/ 742874 w 1495425"/>
              <a:gd name="connsiteY148" fmla="*/ 107252 h 200025"/>
              <a:gd name="connsiteX149" fmla="*/ 695049 w 1495425"/>
              <a:gd name="connsiteY149" fmla="*/ 122853 h 200025"/>
              <a:gd name="connsiteX150" fmla="*/ 671313 w 1495425"/>
              <a:gd name="connsiteY150" fmla="*/ 122853 h 200025"/>
              <a:gd name="connsiteX151" fmla="*/ 671313 w 1495425"/>
              <a:gd name="connsiteY151" fmla="*/ 190500 h 200025"/>
              <a:gd name="connsiteX152" fmla="*/ 647700 w 1495425"/>
              <a:gd name="connsiteY152" fmla="*/ 190500 h 200025"/>
              <a:gd name="connsiteX153" fmla="*/ 87211 w 1495425"/>
              <a:gd name="connsiteY153" fmla="*/ 9515 h 200025"/>
              <a:gd name="connsiteX154" fmla="*/ 146409 w 1495425"/>
              <a:gd name="connsiteY154" fmla="*/ 35023 h 200025"/>
              <a:gd name="connsiteX155" fmla="*/ 169059 w 1495425"/>
              <a:gd name="connsiteY155" fmla="*/ 101917 h 200025"/>
              <a:gd name="connsiteX156" fmla="*/ 145885 w 1495425"/>
              <a:gd name="connsiteY156" fmla="*/ 173803 h 200025"/>
              <a:gd name="connsiteX157" fmla="*/ 83830 w 1495425"/>
              <a:gd name="connsiteY157" fmla="*/ 200025 h 200025"/>
              <a:gd name="connsiteX158" fmla="*/ 22765 w 1495425"/>
              <a:gd name="connsiteY158" fmla="*/ 174100 h 200025"/>
              <a:gd name="connsiteX159" fmla="*/ 0 w 1495425"/>
              <a:gd name="connsiteY159" fmla="*/ 106670 h 200025"/>
              <a:gd name="connsiteX160" fmla="*/ 23356 w 1495425"/>
              <a:gd name="connsiteY160" fmla="*/ 36033 h 200025"/>
              <a:gd name="connsiteX161" fmla="*/ 87211 w 1495425"/>
              <a:gd name="connsiteY161" fmla="*/ 9515 h 200025"/>
              <a:gd name="connsiteX162" fmla="*/ 317440 w 1495425"/>
              <a:gd name="connsiteY162" fmla="*/ 0 h 200025"/>
              <a:gd name="connsiteX163" fmla="*/ 331098 w 1495425"/>
              <a:gd name="connsiteY163" fmla="*/ 2496 h 200025"/>
              <a:gd name="connsiteX164" fmla="*/ 331098 w 1495425"/>
              <a:gd name="connsiteY164" fmla="*/ 14507 h 200025"/>
              <a:gd name="connsiteX165" fmla="*/ 316973 w 1495425"/>
              <a:gd name="connsiteY165" fmla="*/ 10820 h 200025"/>
              <a:gd name="connsiteX166" fmla="*/ 293151 w 1495425"/>
              <a:gd name="connsiteY166" fmla="*/ 43405 h 200025"/>
              <a:gd name="connsiteX167" fmla="*/ 293151 w 1495425"/>
              <a:gd name="connsiteY167" fmla="*/ 65284 h 200025"/>
              <a:gd name="connsiteX168" fmla="*/ 327365 w 1495425"/>
              <a:gd name="connsiteY168" fmla="*/ 65284 h 200025"/>
              <a:gd name="connsiteX169" fmla="*/ 327365 w 1495425"/>
              <a:gd name="connsiteY169" fmla="*/ 76105 h 200025"/>
              <a:gd name="connsiteX170" fmla="*/ 293151 w 1495425"/>
              <a:gd name="connsiteY170" fmla="*/ 76105 h 200025"/>
              <a:gd name="connsiteX171" fmla="*/ 293151 w 1495425"/>
              <a:gd name="connsiteY171" fmla="*/ 196814 h 200025"/>
              <a:gd name="connsiteX172" fmla="*/ 281597 w 1495425"/>
              <a:gd name="connsiteY172" fmla="*/ 196814 h 200025"/>
              <a:gd name="connsiteX173" fmla="*/ 281597 w 1495425"/>
              <a:gd name="connsiteY173" fmla="*/ 76105 h 200025"/>
              <a:gd name="connsiteX174" fmla="*/ 258356 w 1495425"/>
              <a:gd name="connsiteY174" fmla="*/ 76105 h 200025"/>
              <a:gd name="connsiteX175" fmla="*/ 258356 w 1495425"/>
              <a:gd name="connsiteY175" fmla="*/ 65284 h 200025"/>
              <a:gd name="connsiteX176" fmla="*/ 281597 w 1495425"/>
              <a:gd name="connsiteY176" fmla="*/ 65284 h 200025"/>
              <a:gd name="connsiteX177" fmla="*/ 281597 w 1495425"/>
              <a:gd name="connsiteY177" fmla="*/ 42453 h 200025"/>
              <a:gd name="connsiteX178" fmla="*/ 291865 w 1495425"/>
              <a:gd name="connsiteY178" fmla="*/ 10820 h 200025"/>
              <a:gd name="connsiteX179" fmla="*/ 317440 w 1495425"/>
              <a:gd name="connsiteY179" fmla="*/ 0 h 200025"/>
              <a:gd name="connsiteX180" fmla="*/ 245964 w 1495425"/>
              <a:gd name="connsiteY180" fmla="*/ 0 h 200025"/>
              <a:gd name="connsiteX181" fmla="*/ 259623 w 1495425"/>
              <a:gd name="connsiteY181" fmla="*/ 2496 h 200025"/>
              <a:gd name="connsiteX182" fmla="*/ 259623 w 1495425"/>
              <a:gd name="connsiteY182" fmla="*/ 14507 h 200025"/>
              <a:gd name="connsiteX183" fmla="*/ 245497 w 1495425"/>
              <a:gd name="connsiteY183" fmla="*/ 10820 h 200025"/>
              <a:gd name="connsiteX184" fmla="*/ 221675 w 1495425"/>
              <a:gd name="connsiteY184" fmla="*/ 43405 h 200025"/>
              <a:gd name="connsiteX185" fmla="*/ 221675 w 1495425"/>
              <a:gd name="connsiteY185" fmla="*/ 65284 h 200025"/>
              <a:gd name="connsiteX186" fmla="*/ 255889 w 1495425"/>
              <a:gd name="connsiteY186" fmla="*/ 65284 h 200025"/>
              <a:gd name="connsiteX187" fmla="*/ 255889 w 1495425"/>
              <a:gd name="connsiteY187" fmla="*/ 76105 h 200025"/>
              <a:gd name="connsiteX188" fmla="*/ 221675 w 1495425"/>
              <a:gd name="connsiteY188" fmla="*/ 76105 h 200025"/>
              <a:gd name="connsiteX189" fmla="*/ 221675 w 1495425"/>
              <a:gd name="connsiteY189" fmla="*/ 196814 h 200025"/>
              <a:gd name="connsiteX190" fmla="*/ 210121 w 1495425"/>
              <a:gd name="connsiteY190" fmla="*/ 196814 h 200025"/>
              <a:gd name="connsiteX191" fmla="*/ 210121 w 1495425"/>
              <a:gd name="connsiteY191" fmla="*/ 76105 h 200025"/>
              <a:gd name="connsiteX192" fmla="*/ 186890 w 1495425"/>
              <a:gd name="connsiteY192" fmla="*/ 76105 h 200025"/>
              <a:gd name="connsiteX193" fmla="*/ 186890 w 1495425"/>
              <a:gd name="connsiteY193" fmla="*/ 65284 h 200025"/>
              <a:gd name="connsiteX194" fmla="*/ 210121 w 1495425"/>
              <a:gd name="connsiteY194" fmla="*/ 65284 h 200025"/>
              <a:gd name="connsiteX195" fmla="*/ 210121 w 1495425"/>
              <a:gd name="connsiteY195" fmla="*/ 42453 h 200025"/>
              <a:gd name="connsiteX196" fmla="*/ 220389 w 1495425"/>
              <a:gd name="connsiteY196" fmla="*/ 10820 h 200025"/>
              <a:gd name="connsiteX197" fmla="*/ 245964 w 1495425"/>
              <a:gd name="connsiteY197" fmla="*/ 0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495425" h="200025">
                <a:moveTo>
                  <a:pt x="1232440" y="178500"/>
                </a:moveTo>
                <a:cubicBezTo>
                  <a:pt x="1235392" y="178500"/>
                  <a:pt x="1237773" y="179452"/>
                  <a:pt x="1239870" y="181354"/>
                </a:cubicBezTo>
                <a:cubicBezTo>
                  <a:pt x="1241870" y="183257"/>
                  <a:pt x="1242822" y="185715"/>
                  <a:pt x="1242822" y="188727"/>
                </a:cubicBezTo>
                <a:cubicBezTo>
                  <a:pt x="1242822" y="191661"/>
                  <a:pt x="1241870" y="194119"/>
                  <a:pt x="1239870" y="196101"/>
                </a:cubicBezTo>
                <a:cubicBezTo>
                  <a:pt x="1237773" y="198083"/>
                  <a:pt x="1235392" y="199073"/>
                  <a:pt x="1232440" y="199073"/>
                </a:cubicBezTo>
                <a:cubicBezTo>
                  <a:pt x="1229582" y="199073"/>
                  <a:pt x="1227201" y="198083"/>
                  <a:pt x="1225296" y="196101"/>
                </a:cubicBezTo>
                <a:cubicBezTo>
                  <a:pt x="1223391" y="194119"/>
                  <a:pt x="1222438" y="191661"/>
                  <a:pt x="1222438" y="188727"/>
                </a:cubicBezTo>
                <a:cubicBezTo>
                  <a:pt x="1222438" y="185715"/>
                  <a:pt x="1223391" y="183257"/>
                  <a:pt x="1225296" y="181354"/>
                </a:cubicBezTo>
                <a:cubicBezTo>
                  <a:pt x="1227201" y="179452"/>
                  <a:pt x="1229582" y="178500"/>
                  <a:pt x="1232440" y="178500"/>
                </a:cubicBezTo>
                <a:close/>
                <a:moveTo>
                  <a:pt x="561804" y="72895"/>
                </a:moveTo>
                <a:cubicBezTo>
                  <a:pt x="549659" y="72895"/>
                  <a:pt x="539620" y="77019"/>
                  <a:pt x="531676" y="85268"/>
                </a:cubicBezTo>
                <a:cubicBezTo>
                  <a:pt x="523742" y="93507"/>
                  <a:pt x="518836" y="105366"/>
                  <a:pt x="516970" y="120825"/>
                </a:cubicBezTo>
                <a:lnTo>
                  <a:pt x="599980" y="120825"/>
                </a:lnTo>
                <a:cubicBezTo>
                  <a:pt x="599437" y="105604"/>
                  <a:pt x="595856" y="93812"/>
                  <a:pt x="589236" y="85449"/>
                </a:cubicBezTo>
                <a:cubicBezTo>
                  <a:pt x="582626" y="77076"/>
                  <a:pt x="573471" y="72895"/>
                  <a:pt x="561804" y="72895"/>
                </a:cubicBezTo>
                <a:close/>
                <a:moveTo>
                  <a:pt x="346062" y="65284"/>
                </a:moveTo>
                <a:lnTo>
                  <a:pt x="357616" y="65284"/>
                </a:lnTo>
                <a:lnTo>
                  <a:pt x="357616" y="196814"/>
                </a:lnTo>
                <a:lnTo>
                  <a:pt x="346062" y="196814"/>
                </a:lnTo>
                <a:close/>
                <a:moveTo>
                  <a:pt x="1452372" y="62074"/>
                </a:moveTo>
                <a:cubicBezTo>
                  <a:pt x="1466278" y="62074"/>
                  <a:pt x="1476947" y="66818"/>
                  <a:pt x="1484376" y="76286"/>
                </a:cubicBezTo>
                <a:cubicBezTo>
                  <a:pt x="1491710" y="85763"/>
                  <a:pt x="1495425" y="99260"/>
                  <a:pt x="1495425" y="116777"/>
                </a:cubicBezTo>
                <a:lnTo>
                  <a:pt x="1495425" y="196814"/>
                </a:lnTo>
                <a:lnTo>
                  <a:pt x="1483900" y="196814"/>
                </a:lnTo>
                <a:lnTo>
                  <a:pt x="1483900" y="120225"/>
                </a:lnTo>
                <a:cubicBezTo>
                  <a:pt x="1483900" y="88678"/>
                  <a:pt x="1472660" y="72895"/>
                  <a:pt x="1450372" y="72895"/>
                </a:cubicBezTo>
                <a:cubicBezTo>
                  <a:pt x="1437894" y="72895"/>
                  <a:pt x="1427702" y="77533"/>
                  <a:pt x="1419606" y="86811"/>
                </a:cubicBezTo>
                <a:cubicBezTo>
                  <a:pt x="1411605" y="96088"/>
                  <a:pt x="1407605" y="107585"/>
                  <a:pt x="1407605" y="121301"/>
                </a:cubicBezTo>
                <a:lnTo>
                  <a:pt x="1407605" y="196814"/>
                </a:lnTo>
                <a:lnTo>
                  <a:pt x="1396079" y="196814"/>
                </a:lnTo>
                <a:lnTo>
                  <a:pt x="1396079" y="65284"/>
                </a:lnTo>
                <a:lnTo>
                  <a:pt x="1407605" y="65284"/>
                </a:lnTo>
                <a:lnTo>
                  <a:pt x="1407605" y="89192"/>
                </a:lnTo>
                <a:lnTo>
                  <a:pt x="1408176" y="89192"/>
                </a:lnTo>
                <a:cubicBezTo>
                  <a:pt x="1417605" y="71114"/>
                  <a:pt x="1432370" y="62074"/>
                  <a:pt x="1452372" y="62074"/>
                </a:cubicBezTo>
                <a:close/>
                <a:moveTo>
                  <a:pt x="1337215" y="62074"/>
                </a:moveTo>
                <a:cubicBezTo>
                  <a:pt x="1347026" y="62074"/>
                  <a:pt x="1356551" y="64141"/>
                  <a:pt x="1365790" y="68256"/>
                </a:cubicBezTo>
                <a:lnTo>
                  <a:pt x="1365790" y="81582"/>
                </a:lnTo>
                <a:cubicBezTo>
                  <a:pt x="1356551" y="75790"/>
                  <a:pt x="1346454" y="72895"/>
                  <a:pt x="1335405" y="72895"/>
                </a:cubicBezTo>
                <a:cubicBezTo>
                  <a:pt x="1320356" y="72895"/>
                  <a:pt x="1308068" y="78448"/>
                  <a:pt x="1298638" y="89545"/>
                </a:cubicBezTo>
                <a:cubicBezTo>
                  <a:pt x="1289209" y="100651"/>
                  <a:pt x="1284541" y="114995"/>
                  <a:pt x="1284541" y="132598"/>
                </a:cubicBezTo>
                <a:cubicBezTo>
                  <a:pt x="1284541" y="149642"/>
                  <a:pt x="1288828" y="163338"/>
                  <a:pt x="1297400" y="173684"/>
                </a:cubicBezTo>
                <a:cubicBezTo>
                  <a:pt x="1305973" y="184031"/>
                  <a:pt x="1317403" y="189203"/>
                  <a:pt x="1331596" y="189203"/>
                </a:cubicBezTo>
                <a:cubicBezTo>
                  <a:pt x="1344454" y="189203"/>
                  <a:pt x="1355693" y="185715"/>
                  <a:pt x="1365313" y="178738"/>
                </a:cubicBezTo>
                <a:lnTo>
                  <a:pt x="1365313" y="190987"/>
                </a:lnTo>
                <a:cubicBezTo>
                  <a:pt x="1355693" y="197012"/>
                  <a:pt x="1344263" y="200025"/>
                  <a:pt x="1331023" y="200025"/>
                </a:cubicBezTo>
                <a:cubicBezTo>
                  <a:pt x="1313498" y="200025"/>
                  <a:pt x="1299306" y="193880"/>
                  <a:pt x="1288542" y="181592"/>
                </a:cubicBezTo>
                <a:cubicBezTo>
                  <a:pt x="1277779" y="169304"/>
                  <a:pt x="1272349" y="153210"/>
                  <a:pt x="1272349" y="133312"/>
                </a:cubicBezTo>
                <a:cubicBezTo>
                  <a:pt x="1272349" y="112462"/>
                  <a:pt x="1278445" y="95374"/>
                  <a:pt x="1290542" y="82058"/>
                </a:cubicBezTo>
                <a:cubicBezTo>
                  <a:pt x="1302639" y="68732"/>
                  <a:pt x="1318165" y="62074"/>
                  <a:pt x="1337215" y="62074"/>
                </a:cubicBezTo>
                <a:close/>
                <a:moveTo>
                  <a:pt x="562270" y="62074"/>
                </a:moveTo>
                <a:cubicBezTo>
                  <a:pt x="578301" y="62074"/>
                  <a:pt x="590617" y="67828"/>
                  <a:pt x="599218" y="79324"/>
                </a:cubicBezTo>
                <a:cubicBezTo>
                  <a:pt x="607819" y="90811"/>
                  <a:pt x="612124" y="106470"/>
                  <a:pt x="612124" y="126292"/>
                </a:cubicBezTo>
                <a:lnTo>
                  <a:pt x="612124" y="131531"/>
                </a:lnTo>
                <a:lnTo>
                  <a:pt x="516503" y="131531"/>
                </a:lnTo>
                <a:cubicBezTo>
                  <a:pt x="516503" y="149603"/>
                  <a:pt x="520589" y="163734"/>
                  <a:pt x="528761" y="173922"/>
                </a:cubicBezTo>
                <a:cubicBezTo>
                  <a:pt x="536934" y="184110"/>
                  <a:pt x="548183" y="189203"/>
                  <a:pt x="562499" y="189203"/>
                </a:cubicBezTo>
                <a:cubicBezTo>
                  <a:pt x="576977" y="189203"/>
                  <a:pt x="591102" y="183773"/>
                  <a:pt x="604885" y="172911"/>
                </a:cubicBezTo>
                <a:lnTo>
                  <a:pt x="604885" y="185517"/>
                </a:lnTo>
                <a:cubicBezTo>
                  <a:pt x="591493" y="195189"/>
                  <a:pt x="576586" y="200025"/>
                  <a:pt x="560165" y="200025"/>
                </a:cubicBezTo>
                <a:cubicBezTo>
                  <a:pt x="543506" y="200025"/>
                  <a:pt x="530047" y="193940"/>
                  <a:pt x="519769" y="181770"/>
                </a:cubicBezTo>
                <a:cubicBezTo>
                  <a:pt x="509492" y="169601"/>
                  <a:pt x="504358" y="152456"/>
                  <a:pt x="504358" y="130340"/>
                </a:cubicBezTo>
                <a:cubicBezTo>
                  <a:pt x="504358" y="111147"/>
                  <a:pt x="509731" y="94974"/>
                  <a:pt x="520475" y="81820"/>
                </a:cubicBezTo>
                <a:cubicBezTo>
                  <a:pt x="531209" y="68656"/>
                  <a:pt x="545144" y="62074"/>
                  <a:pt x="562270" y="62074"/>
                </a:cubicBezTo>
                <a:close/>
                <a:moveTo>
                  <a:pt x="454800" y="62074"/>
                </a:moveTo>
                <a:cubicBezTo>
                  <a:pt x="464687" y="62074"/>
                  <a:pt x="474221" y="64141"/>
                  <a:pt x="483403" y="68256"/>
                </a:cubicBezTo>
                <a:lnTo>
                  <a:pt x="483403" y="81582"/>
                </a:lnTo>
                <a:cubicBezTo>
                  <a:pt x="474221" y="75790"/>
                  <a:pt x="464096" y="72895"/>
                  <a:pt x="453047" y="72895"/>
                </a:cubicBezTo>
                <a:cubicBezTo>
                  <a:pt x="437950" y="72895"/>
                  <a:pt x="425691" y="78448"/>
                  <a:pt x="416271" y="89545"/>
                </a:cubicBezTo>
                <a:cubicBezTo>
                  <a:pt x="406851" y="100651"/>
                  <a:pt x="402145" y="114995"/>
                  <a:pt x="402145" y="132598"/>
                </a:cubicBezTo>
                <a:cubicBezTo>
                  <a:pt x="402145" y="149642"/>
                  <a:pt x="406441" y="163338"/>
                  <a:pt x="415042" y="173684"/>
                </a:cubicBezTo>
                <a:cubicBezTo>
                  <a:pt x="423643" y="184031"/>
                  <a:pt x="435026" y="189203"/>
                  <a:pt x="449199" y="189203"/>
                </a:cubicBezTo>
                <a:cubicBezTo>
                  <a:pt x="462115" y="189203"/>
                  <a:pt x="473364" y="185715"/>
                  <a:pt x="482937" y="178738"/>
                </a:cubicBezTo>
                <a:lnTo>
                  <a:pt x="482937" y="190987"/>
                </a:lnTo>
                <a:cubicBezTo>
                  <a:pt x="473364" y="197012"/>
                  <a:pt x="461924" y="200025"/>
                  <a:pt x="448609" y="200025"/>
                </a:cubicBezTo>
                <a:cubicBezTo>
                  <a:pt x="431102" y="200025"/>
                  <a:pt x="416947" y="193880"/>
                  <a:pt x="406175" y="181592"/>
                </a:cubicBezTo>
                <a:cubicBezTo>
                  <a:pt x="395392" y="169304"/>
                  <a:pt x="390001" y="153210"/>
                  <a:pt x="390001" y="133312"/>
                </a:cubicBezTo>
                <a:cubicBezTo>
                  <a:pt x="390001" y="112462"/>
                  <a:pt x="396050" y="95374"/>
                  <a:pt x="408156" y="82058"/>
                </a:cubicBezTo>
                <a:cubicBezTo>
                  <a:pt x="420262" y="68732"/>
                  <a:pt x="435807" y="62074"/>
                  <a:pt x="454800" y="62074"/>
                </a:cubicBezTo>
                <a:close/>
                <a:moveTo>
                  <a:pt x="671313" y="30089"/>
                </a:moveTo>
                <a:lnTo>
                  <a:pt x="671313" y="102289"/>
                </a:lnTo>
                <a:lnTo>
                  <a:pt x="693163" y="102289"/>
                </a:lnTo>
                <a:cubicBezTo>
                  <a:pt x="707564" y="102289"/>
                  <a:pt x="718509" y="99079"/>
                  <a:pt x="725986" y="92650"/>
                </a:cubicBezTo>
                <a:cubicBezTo>
                  <a:pt x="733463" y="86230"/>
                  <a:pt x="737206" y="77019"/>
                  <a:pt x="737206" y="65018"/>
                </a:cubicBezTo>
                <a:cubicBezTo>
                  <a:pt x="737206" y="41729"/>
                  <a:pt x="723272" y="30089"/>
                  <a:pt x="695401" y="30089"/>
                </a:cubicBezTo>
                <a:close/>
                <a:moveTo>
                  <a:pt x="85115" y="21165"/>
                </a:moveTo>
                <a:cubicBezTo>
                  <a:pt x="64094" y="21165"/>
                  <a:pt x="46797" y="28918"/>
                  <a:pt x="33214" y="44415"/>
                </a:cubicBezTo>
                <a:cubicBezTo>
                  <a:pt x="19631" y="59912"/>
                  <a:pt x="12840" y="80191"/>
                  <a:pt x="12840" y="105242"/>
                </a:cubicBezTo>
                <a:cubicBezTo>
                  <a:pt x="12840" y="130616"/>
                  <a:pt x="19269" y="150811"/>
                  <a:pt x="32109" y="165835"/>
                </a:cubicBezTo>
                <a:cubicBezTo>
                  <a:pt x="44948" y="180859"/>
                  <a:pt x="62112" y="188371"/>
                  <a:pt x="83591" y="188371"/>
                </a:cubicBezTo>
                <a:cubicBezTo>
                  <a:pt x="105937" y="188371"/>
                  <a:pt x="123625" y="180938"/>
                  <a:pt x="136655" y="166073"/>
                </a:cubicBezTo>
                <a:cubicBezTo>
                  <a:pt x="149695" y="151207"/>
                  <a:pt x="156220" y="130492"/>
                  <a:pt x="156220" y="103937"/>
                </a:cubicBezTo>
                <a:cubicBezTo>
                  <a:pt x="156220" y="77934"/>
                  <a:pt x="149857" y="57636"/>
                  <a:pt x="137122" y="43053"/>
                </a:cubicBezTo>
                <a:cubicBezTo>
                  <a:pt x="124396" y="28461"/>
                  <a:pt x="107061" y="21165"/>
                  <a:pt x="85115" y="21165"/>
                </a:cubicBezTo>
                <a:close/>
                <a:moveTo>
                  <a:pt x="351777" y="12602"/>
                </a:moveTo>
                <a:cubicBezTo>
                  <a:pt x="354349" y="12602"/>
                  <a:pt x="356625" y="13459"/>
                  <a:pt x="358616" y="15164"/>
                </a:cubicBezTo>
                <a:cubicBezTo>
                  <a:pt x="360597" y="16869"/>
                  <a:pt x="361588" y="19183"/>
                  <a:pt x="361588" y="22117"/>
                </a:cubicBezTo>
                <a:cubicBezTo>
                  <a:pt x="361588" y="24898"/>
                  <a:pt x="360616" y="27251"/>
                  <a:pt x="358673" y="29194"/>
                </a:cubicBezTo>
                <a:cubicBezTo>
                  <a:pt x="356721" y="31137"/>
                  <a:pt x="354425" y="32109"/>
                  <a:pt x="351777" y="32109"/>
                </a:cubicBezTo>
                <a:cubicBezTo>
                  <a:pt x="349215" y="32109"/>
                  <a:pt x="346977" y="31175"/>
                  <a:pt x="345072" y="29318"/>
                </a:cubicBezTo>
                <a:cubicBezTo>
                  <a:pt x="343167" y="27451"/>
                  <a:pt x="342205" y="25051"/>
                  <a:pt x="342205" y="22117"/>
                </a:cubicBezTo>
                <a:cubicBezTo>
                  <a:pt x="342205" y="19345"/>
                  <a:pt x="343186" y="17069"/>
                  <a:pt x="345129" y="15278"/>
                </a:cubicBezTo>
                <a:cubicBezTo>
                  <a:pt x="347072" y="13497"/>
                  <a:pt x="349291" y="12602"/>
                  <a:pt x="351777" y="12602"/>
                </a:cubicBezTo>
                <a:close/>
                <a:moveTo>
                  <a:pt x="1142048" y="9525"/>
                </a:moveTo>
                <a:cubicBezTo>
                  <a:pt x="1160526" y="9525"/>
                  <a:pt x="1174052" y="11744"/>
                  <a:pt x="1182720" y="16192"/>
                </a:cubicBezTo>
                <a:lnTo>
                  <a:pt x="1182720" y="42129"/>
                </a:lnTo>
                <a:cubicBezTo>
                  <a:pt x="1171480" y="34433"/>
                  <a:pt x="1157288" y="30585"/>
                  <a:pt x="1140237" y="30585"/>
                </a:cubicBezTo>
                <a:cubicBezTo>
                  <a:pt x="1128808" y="30585"/>
                  <a:pt x="1119569" y="32947"/>
                  <a:pt x="1112425" y="37662"/>
                </a:cubicBezTo>
                <a:cubicBezTo>
                  <a:pt x="1105281" y="42386"/>
                  <a:pt x="1101662" y="48949"/>
                  <a:pt x="1101662" y="57360"/>
                </a:cubicBezTo>
                <a:cubicBezTo>
                  <a:pt x="1101662" y="64818"/>
                  <a:pt x="1104138" y="70885"/>
                  <a:pt x="1109090" y="75562"/>
                </a:cubicBezTo>
                <a:cubicBezTo>
                  <a:pt x="1114044" y="80248"/>
                  <a:pt x="1124807" y="86630"/>
                  <a:pt x="1141380" y="94717"/>
                </a:cubicBezTo>
                <a:cubicBezTo>
                  <a:pt x="1159669" y="103365"/>
                  <a:pt x="1172432" y="112014"/>
                  <a:pt x="1179671" y="120663"/>
                </a:cubicBezTo>
                <a:cubicBezTo>
                  <a:pt x="1187005" y="129302"/>
                  <a:pt x="1190625" y="139027"/>
                  <a:pt x="1190625" y="149812"/>
                </a:cubicBezTo>
                <a:cubicBezTo>
                  <a:pt x="1190625" y="165994"/>
                  <a:pt x="1184720" y="178409"/>
                  <a:pt x="1172813" y="187056"/>
                </a:cubicBezTo>
                <a:cubicBezTo>
                  <a:pt x="1161002" y="195702"/>
                  <a:pt x="1144524" y="200025"/>
                  <a:pt x="1123473" y="200025"/>
                </a:cubicBezTo>
                <a:cubicBezTo>
                  <a:pt x="1116140" y="200025"/>
                  <a:pt x="1107567" y="199013"/>
                  <a:pt x="1097756" y="196990"/>
                </a:cubicBezTo>
                <a:cubicBezTo>
                  <a:pt x="1087945" y="194968"/>
                  <a:pt x="1080801" y="192450"/>
                  <a:pt x="1076325" y="189435"/>
                </a:cubicBezTo>
                <a:lnTo>
                  <a:pt x="1076325" y="162306"/>
                </a:lnTo>
                <a:cubicBezTo>
                  <a:pt x="1082040" y="167224"/>
                  <a:pt x="1089660" y="171269"/>
                  <a:pt x="1099185" y="174443"/>
                </a:cubicBezTo>
                <a:cubicBezTo>
                  <a:pt x="1108710" y="177616"/>
                  <a:pt x="1117663" y="179202"/>
                  <a:pt x="1126236" y="179202"/>
                </a:cubicBezTo>
                <a:cubicBezTo>
                  <a:pt x="1152334" y="179202"/>
                  <a:pt x="1165384" y="170000"/>
                  <a:pt x="1165384" y="151597"/>
                </a:cubicBezTo>
                <a:cubicBezTo>
                  <a:pt x="1165384" y="146440"/>
                  <a:pt x="1164050" y="141799"/>
                  <a:pt x="1161193" y="137674"/>
                </a:cubicBezTo>
                <a:cubicBezTo>
                  <a:pt x="1158430" y="133550"/>
                  <a:pt x="1154525" y="129902"/>
                  <a:pt x="1149667" y="126730"/>
                </a:cubicBezTo>
                <a:cubicBezTo>
                  <a:pt x="1144809" y="123558"/>
                  <a:pt x="1135666" y="118672"/>
                  <a:pt x="1122235" y="112090"/>
                </a:cubicBezTo>
                <a:cubicBezTo>
                  <a:pt x="1103566" y="102889"/>
                  <a:pt x="1091279" y="94345"/>
                  <a:pt x="1085373" y="86449"/>
                </a:cubicBezTo>
                <a:cubicBezTo>
                  <a:pt x="1079372" y="78562"/>
                  <a:pt x="1076420" y="69533"/>
                  <a:pt x="1076420" y="59379"/>
                </a:cubicBezTo>
                <a:cubicBezTo>
                  <a:pt x="1076420" y="44072"/>
                  <a:pt x="1082612" y="31937"/>
                  <a:pt x="1095089" y="22974"/>
                </a:cubicBezTo>
                <a:cubicBezTo>
                  <a:pt x="1107472" y="14011"/>
                  <a:pt x="1123093" y="9525"/>
                  <a:pt x="1142048" y="9525"/>
                </a:cubicBezTo>
                <a:close/>
                <a:moveTo>
                  <a:pt x="904875" y="9525"/>
                </a:moveTo>
                <a:lnTo>
                  <a:pt x="929354" y="9525"/>
                </a:lnTo>
                <a:lnTo>
                  <a:pt x="929354" y="122253"/>
                </a:lnTo>
                <a:cubicBezTo>
                  <a:pt x="929354" y="159748"/>
                  <a:pt x="945261" y="178496"/>
                  <a:pt x="977075" y="178496"/>
                </a:cubicBezTo>
                <a:cubicBezTo>
                  <a:pt x="1007841" y="178496"/>
                  <a:pt x="1023271" y="160352"/>
                  <a:pt x="1023271" y="124063"/>
                </a:cubicBezTo>
                <a:lnTo>
                  <a:pt x="1023271" y="9525"/>
                </a:lnTo>
                <a:lnTo>
                  <a:pt x="1047750" y="9525"/>
                </a:lnTo>
                <a:lnTo>
                  <a:pt x="1047750" y="120558"/>
                </a:lnTo>
                <a:cubicBezTo>
                  <a:pt x="1047750" y="173536"/>
                  <a:pt x="1023461" y="200025"/>
                  <a:pt x="974789" y="200025"/>
                </a:cubicBezTo>
                <a:cubicBezTo>
                  <a:pt x="928211" y="200025"/>
                  <a:pt x="904875" y="174464"/>
                  <a:pt x="904875" y="123339"/>
                </a:cubicBezTo>
                <a:close/>
                <a:moveTo>
                  <a:pt x="790575" y="9525"/>
                </a:moveTo>
                <a:lnTo>
                  <a:pt x="813911" y="9525"/>
                </a:lnTo>
                <a:lnTo>
                  <a:pt x="813911" y="169820"/>
                </a:lnTo>
                <a:lnTo>
                  <a:pt x="885825" y="169820"/>
                </a:lnTo>
                <a:lnTo>
                  <a:pt x="885825" y="190500"/>
                </a:lnTo>
                <a:lnTo>
                  <a:pt x="790575" y="190500"/>
                </a:lnTo>
                <a:close/>
                <a:moveTo>
                  <a:pt x="647700" y="9525"/>
                </a:moveTo>
                <a:lnTo>
                  <a:pt x="699659" y="9525"/>
                </a:lnTo>
                <a:cubicBezTo>
                  <a:pt x="719414" y="9525"/>
                  <a:pt x="734739" y="14240"/>
                  <a:pt x="745646" y="23660"/>
                </a:cubicBezTo>
                <a:cubicBezTo>
                  <a:pt x="756551" y="33090"/>
                  <a:pt x="762000" y="46558"/>
                  <a:pt x="762000" y="64084"/>
                </a:cubicBezTo>
                <a:cubicBezTo>
                  <a:pt x="762000" y="81848"/>
                  <a:pt x="755628" y="96231"/>
                  <a:pt x="742874" y="107252"/>
                </a:cubicBezTo>
                <a:cubicBezTo>
                  <a:pt x="730120" y="118281"/>
                  <a:pt x="714175" y="123473"/>
                  <a:pt x="695049" y="122853"/>
                </a:cubicBezTo>
                <a:lnTo>
                  <a:pt x="671313" y="122853"/>
                </a:lnTo>
                <a:lnTo>
                  <a:pt x="671313" y="190500"/>
                </a:lnTo>
                <a:lnTo>
                  <a:pt x="647700" y="190500"/>
                </a:lnTo>
                <a:close/>
                <a:moveTo>
                  <a:pt x="87211" y="9515"/>
                </a:moveTo>
                <a:cubicBezTo>
                  <a:pt x="111576" y="9515"/>
                  <a:pt x="131312" y="18012"/>
                  <a:pt x="146409" y="35023"/>
                </a:cubicBezTo>
                <a:cubicBezTo>
                  <a:pt x="161506" y="52026"/>
                  <a:pt x="169059" y="74324"/>
                  <a:pt x="169059" y="101917"/>
                </a:cubicBezTo>
                <a:cubicBezTo>
                  <a:pt x="169059" y="132359"/>
                  <a:pt x="161334" y="156321"/>
                  <a:pt x="145885" y="173803"/>
                </a:cubicBezTo>
                <a:cubicBezTo>
                  <a:pt x="130435" y="191284"/>
                  <a:pt x="109747" y="200025"/>
                  <a:pt x="83830" y="200025"/>
                </a:cubicBezTo>
                <a:cubicBezTo>
                  <a:pt x="58302" y="200025"/>
                  <a:pt x="37948" y="191383"/>
                  <a:pt x="22765" y="174100"/>
                </a:cubicBezTo>
                <a:cubicBezTo>
                  <a:pt x="7591" y="156817"/>
                  <a:pt x="0" y="134341"/>
                  <a:pt x="0" y="106670"/>
                </a:cubicBezTo>
                <a:cubicBezTo>
                  <a:pt x="0" y="77257"/>
                  <a:pt x="7782" y="53711"/>
                  <a:pt x="23356" y="36033"/>
                </a:cubicBezTo>
                <a:cubicBezTo>
                  <a:pt x="38919" y="18355"/>
                  <a:pt x="60207" y="9515"/>
                  <a:pt x="87211" y="9515"/>
                </a:cubicBezTo>
                <a:close/>
                <a:moveTo>
                  <a:pt x="317440" y="0"/>
                </a:moveTo>
                <a:cubicBezTo>
                  <a:pt x="322964" y="0"/>
                  <a:pt x="327517" y="829"/>
                  <a:pt x="331098" y="2496"/>
                </a:cubicBezTo>
                <a:lnTo>
                  <a:pt x="331098" y="14507"/>
                </a:lnTo>
                <a:cubicBezTo>
                  <a:pt x="327984" y="12049"/>
                  <a:pt x="323279" y="10820"/>
                  <a:pt x="316973" y="10820"/>
                </a:cubicBezTo>
                <a:cubicBezTo>
                  <a:pt x="301095" y="10820"/>
                  <a:pt x="293151" y="21679"/>
                  <a:pt x="293151" y="43405"/>
                </a:cubicBezTo>
                <a:lnTo>
                  <a:pt x="293151" y="65284"/>
                </a:lnTo>
                <a:lnTo>
                  <a:pt x="327365" y="65284"/>
                </a:lnTo>
                <a:lnTo>
                  <a:pt x="327365" y="76105"/>
                </a:lnTo>
                <a:lnTo>
                  <a:pt x="293151" y="76105"/>
                </a:lnTo>
                <a:lnTo>
                  <a:pt x="293151" y="196814"/>
                </a:lnTo>
                <a:lnTo>
                  <a:pt x="281597" y="196814"/>
                </a:lnTo>
                <a:lnTo>
                  <a:pt x="281597" y="76105"/>
                </a:lnTo>
                <a:lnTo>
                  <a:pt x="258356" y="76105"/>
                </a:lnTo>
                <a:lnTo>
                  <a:pt x="258356" y="65284"/>
                </a:lnTo>
                <a:lnTo>
                  <a:pt x="281597" y="65284"/>
                </a:lnTo>
                <a:lnTo>
                  <a:pt x="281597" y="42453"/>
                </a:lnTo>
                <a:cubicBezTo>
                  <a:pt x="281597" y="28585"/>
                  <a:pt x="285016" y="18040"/>
                  <a:pt x="291865" y="10820"/>
                </a:cubicBezTo>
                <a:cubicBezTo>
                  <a:pt x="298714" y="3610"/>
                  <a:pt x="307238" y="0"/>
                  <a:pt x="317440" y="0"/>
                </a:cubicBezTo>
                <a:close/>
                <a:moveTo>
                  <a:pt x="245964" y="0"/>
                </a:moveTo>
                <a:cubicBezTo>
                  <a:pt x="251489" y="0"/>
                  <a:pt x="256041" y="829"/>
                  <a:pt x="259623" y="2496"/>
                </a:cubicBezTo>
                <a:lnTo>
                  <a:pt x="259623" y="14507"/>
                </a:lnTo>
                <a:cubicBezTo>
                  <a:pt x="256508" y="12049"/>
                  <a:pt x="251803" y="10820"/>
                  <a:pt x="245497" y="10820"/>
                </a:cubicBezTo>
                <a:cubicBezTo>
                  <a:pt x="229619" y="10820"/>
                  <a:pt x="221675" y="21679"/>
                  <a:pt x="221675" y="43405"/>
                </a:cubicBezTo>
                <a:lnTo>
                  <a:pt x="221675" y="65284"/>
                </a:lnTo>
                <a:lnTo>
                  <a:pt x="255889" y="65284"/>
                </a:lnTo>
                <a:lnTo>
                  <a:pt x="255889" y="76105"/>
                </a:lnTo>
                <a:lnTo>
                  <a:pt x="221675" y="76105"/>
                </a:lnTo>
                <a:lnTo>
                  <a:pt x="221675" y="196814"/>
                </a:lnTo>
                <a:lnTo>
                  <a:pt x="210121" y="196814"/>
                </a:lnTo>
                <a:lnTo>
                  <a:pt x="210121" y="76105"/>
                </a:lnTo>
                <a:lnTo>
                  <a:pt x="186890" y="76105"/>
                </a:lnTo>
                <a:lnTo>
                  <a:pt x="186890" y="65284"/>
                </a:lnTo>
                <a:lnTo>
                  <a:pt x="210121" y="65284"/>
                </a:lnTo>
                <a:lnTo>
                  <a:pt x="210121" y="42453"/>
                </a:lnTo>
                <a:cubicBezTo>
                  <a:pt x="210121" y="28585"/>
                  <a:pt x="213541" y="18040"/>
                  <a:pt x="220389" y="10820"/>
                </a:cubicBezTo>
                <a:cubicBezTo>
                  <a:pt x="227247" y="3610"/>
                  <a:pt x="235763" y="0"/>
                  <a:pt x="245964" y="0"/>
                </a:cubicBezTo>
                <a:close/>
              </a:path>
            </a:pathLst>
          </a:custGeom>
          <a:solidFill>
            <a:schemeClr val="bg1"/>
          </a:solidFill>
          <a:ln w="9525" cap="flat">
            <a:noFill/>
            <a:prstDash val="solid"/>
            <a:miter/>
          </a:ln>
        </p:spPr>
        <p:txBody>
          <a:bodyPr rtlCol="0" anchor="ctr">
            <a:noAutofit/>
          </a:bodyPr>
          <a:lstStyle/>
          <a:p>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副标题页">
    <p:bg>
      <p:bgPr>
        <a:solidFill>
          <a:schemeClr val="accent1"/>
        </a:solidFill>
        <a:effectLst/>
      </p:bgPr>
    </p:bg>
    <p:spTree>
      <p:nvGrpSpPr>
        <p:cNvPr id="1" name=""/>
        <p:cNvGrpSpPr/>
        <p:nvPr/>
      </p:nvGrpSpPr>
      <p:grpSpPr>
        <a:xfrm>
          <a:off x="0" y="0"/>
          <a:ext cx="0" cy="0"/>
          <a:chOff x="0" y="0"/>
          <a:chExt cx="0" cy="0"/>
        </a:xfrm>
      </p:grpSpPr>
      <p:sp>
        <p:nvSpPr>
          <p:cNvPr id="2" name="任意多边形: 形状 1"/>
          <p:cNvSpPr/>
          <p:nvPr userDrawn="1"/>
        </p:nvSpPr>
        <p:spPr>
          <a:xfrm>
            <a:off x="736600" y="266700"/>
            <a:ext cx="1661579" cy="222250"/>
          </a:xfrm>
          <a:custGeom>
            <a:avLst/>
            <a:gdLst>
              <a:gd name="connsiteX0" fmla="*/ 1232440 w 1495425"/>
              <a:gd name="connsiteY0" fmla="*/ 178500 h 200025"/>
              <a:gd name="connsiteX1" fmla="*/ 1239870 w 1495425"/>
              <a:gd name="connsiteY1" fmla="*/ 181354 h 200025"/>
              <a:gd name="connsiteX2" fmla="*/ 1242822 w 1495425"/>
              <a:gd name="connsiteY2" fmla="*/ 188727 h 200025"/>
              <a:gd name="connsiteX3" fmla="*/ 1239870 w 1495425"/>
              <a:gd name="connsiteY3" fmla="*/ 196101 h 200025"/>
              <a:gd name="connsiteX4" fmla="*/ 1232440 w 1495425"/>
              <a:gd name="connsiteY4" fmla="*/ 199073 h 200025"/>
              <a:gd name="connsiteX5" fmla="*/ 1225296 w 1495425"/>
              <a:gd name="connsiteY5" fmla="*/ 196101 h 200025"/>
              <a:gd name="connsiteX6" fmla="*/ 1222438 w 1495425"/>
              <a:gd name="connsiteY6" fmla="*/ 188727 h 200025"/>
              <a:gd name="connsiteX7" fmla="*/ 1225296 w 1495425"/>
              <a:gd name="connsiteY7" fmla="*/ 181354 h 200025"/>
              <a:gd name="connsiteX8" fmla="*/ 1232440 w 1495425"/>
              <a:gd name="connsiteY8" fmla="*/ 178500 h 200025"/>
              <a:gd name="connsiteX9" fmla="*/ 561804 w 1495425"/>
              <a:gd name="connsiteY9" fmla="*/ 72895 h 200025"/>
              <a:gd name="connsiteX10" fmla="*/ 531676 w 1495425"/>
              <a:gd name="connsiteY10" fmla="*/ 85268 h 200025"/>
              <a:gd name="connsiteX11" fmla="*/ 516970 w 1495425"/>
              <a:gd name="connsiteY11" fmla="*/ 120825 h 200025"/>
              <a:gd name="connsiteX12" fmla="*/ 599980 w 1495425"/>
              <a:gd name="connsiteY12" fmla="*/ 120825 h 200025"/>
              <a:gd name="connsiteX13" fmla="*/ 589236 w 1495425"/>
              <a:gd name="connsiteY13" fmla="*/ 85449 h 200025"/>
              <a:gd name="connsiteX14" fmla="*/ 561804 w 1495425"/>
              <a:gd name="connsiteY14" fmla="*/ 72895 h 200025"/>
              <a:gd name="connsiteX15" fmla="*/ 346062 w 1495425"/>
              <a:gd name="connsiteY15" fmla="*/ 65284 h 200025"/>
              <a:gd name="connsiteX16" fmla="*/ 357616 w 1495425"/>
              <a:gd name="connsiteY16" fmla="*/ 65284 h 200025"/>
              <a:gd name="connsiteX17" fmla="*/ 357616 w 1495425"/>
              <a:gd name="connsiteY17" fmla="*/ 196814 h 200025"/>
              <a:gd name="connsiteX18" fmla="*/ 346062 w 1495425"/>
              <a:gd name="connsiteY18" fmla="*/ 196814 h 200025"/>
              <a:gd name="connsiteX19" fmla="*/ 1452372 w 1495425"/>
              <a:gd name="connsiteY19" fmla="*/ 62074 h 200025"/>
              <a:gd name="connsiteX20" fmla="*/ 1484376 w 1495425"/>
              <a:gd name="connsiteY20" fmla="*/ 76286 h 200025"/>
              <a:gd name="connsiteX21" fmla="*/ 1495425 w 1495425"/>
              <a:gd name="connsiteY21" fmla="*/ 116777 h 200025"/>
              <a:gd name="connsiteX22" fmla="*/ 1495425 w 1495425"/>
              <a:gd name="connsiteY22" fmla="*/ 196814 h 200025"/>
              <a:gd name="connsiteX23" fmla="*/ 1483900 w 1495425"/>
              <a:gd name="connsiteY23" fmla="*/ 196814 h 200025"/>
              <a:gd name="connsiteX24" fmla="*/ 1483900 w 1495425"/>
              <a:gd name="connsiteY24" fmla="*/ 120225 h 200025"/>
              <a:gd name="connsiteX25" fmla="*/ 1450372 w 1495425"/>
              <a:gd name="connsiteY25" fmla="*/ 72895 h 200025"/>
              <a:gd name="connsiteX26" fmla="*/ 1419606 w 1495425"/>
              <a:gd name="connsiteY26" fmla="*/ 86811 h 200025"/>
              <a:gd name="connsiteX27" fmla="*/ 1407605 w 1495425"/>
              <a:gd name="connsiteY27" fmla="*/ 121301 h 200025"/>
              <a:gd name="connsiteX28" fmla="*/ 1407605 w 1495425"/>
              <a:gd name="connsiteY28" fmla="*/ 196814 h 200025"/>
              <a:gd name="connsiteX29" fmla="*/ 1396079 w 1495425"/>
              <a:gd name="connsiteY29" fmla="*/ 196814 h 200025"/>
              <a:gd name="connsiteX30" fmla="*/ 1396079 w 1495425"/>
              <a:gd name="connsiteY30" fmla="*/ 65284 h 200025"/>
              <a:gd name="connsiteX31" fmla="*/ 1407605 w 1495425"/>
              <a:gd name="connsiteY31" fmla="*/ 65284 h 200025"/>
              <a:gd name="connsiteX32" fmla="*/ 1407605 w 1495425"/>
              <a:gd name="connsiteY32" fmla="*/ 89192 h 200025"/>
              <a:gd name="connsiteX33" fmla="*/ 1408176 w 1495425"/>
              <a:gd name="connsiteY33" fmla="*/ 89192 h 200025"/>
              <a:gd name="connsiteX34" fmla="*/ 1452372 w 1495425"/>
              <a:gd name="connsiteY34" fmla="*/ 62074 h 200025"/>
              <a:gd name="connsiteX35" fmla="*/ 1337215 w 1495425"/>
              <a:gd name="connsiteY35" fmla="*/ 62074 h 200025"/>
              <a:gd name="connsiteX36" fmla="*/ 1365790 w 1495425"/>
              <a:gd name="connsiteY36" fmla="*/ 68256 h 200025"/>
              <a:gd name="connsiteX37" fmla="*/ 1365790 w 1495425"/>
              <a:gd name="connsiteY37" fmla="*/ 81582 h 200025"/>
              <a:gd name="connsiteX38" fmla="*/ 1335405 w 1495425"/>
              <a:gd name="connsiteY38" fmla="*/ 72895 h 200025"/>
              <a:gd name="connsiteX39" fmla="*/ 1298638 w 1495425"/>
              <a:gd name="connsiteY39" fmla="*/ 89545 h 200025"/>
              <a:gd name="connsiteX40" fmla="*/ 1284541 w 1495425"/>
              <a:gd name="connsiteY40" fmla="*/ 132598 h 200025"/>
              <a:gd name="connsiteX41" fmla="*/ 1297400 w 1495425"/>
              <a:gd name="connsiteY41" fmla="*/ 173684 h 200025"/>
              <a:gd name="connsiteX42" fmla="*/ 1331596 w 1495425"/>
              <a:gd name="connsiteY42" fmla="*/ 189203 h 200025"/>
              <a:gd name="connsiteX43" fmla="*/ 1365313 w 1495425"/>
              <a:gd name="connsiteY43" fmla="*/ 178738 h 200025"/>
              <a:gd name="connsiteX44" fmla="*/ 1365313 w 1495425"/>
              <a:gd name="connsiteY44" fmla="*/ 190987 h 200025"/>
              <a:gd name="connsiteX45" fmla="*/ 1331023 w 1495425"/>
              <a:gd name="connsiteY45" fmla="*/ 200025 h 200025"/>
              <a:gd name="connsiteX46" fmla="*/ 1288542 w 1495425"/>
              <a:gd name="connsiteY46" fmla="*/ 181592 h 200025"/>
              <a:gd name="connsiteX47" fmla="*/ 1272349 w 1495425"/>
              <a:gd name="connsiteY47" fmla="*/ 133312 h 200025"/>
              <a:gd name="connsiteX48" fmla="*/ 1290542 w 1495425"/>
              <a:gd name="connsiteY48" fmla="*/ 82058 h 200025"/>
              <a:gd name="connsiteX49" fmla="*/ 1337215 w 1495425"/>
              <a:gd name="connsiteY49" fmla="*/ 62074 h 200025"/>
              <a:gd name="connsiteX50" fmla="*/ 562270 w 1495425"/>
              <a:gd name="connsiteY50" fmla="*/ 62074 h 200025"/>
              <a:gd name="connsiteX51" fmla="*/ 599218 w 1495425"/>
              <a:gd name="connsiteY51" fmla="*/ 79324 h 200025"/>
              <a:gd name="connsiteX52" fmla="*/ 612124 w 1495425"/>
              <a:gd name="connsiteY52" fmla="*/ 126292 h 200025"/>
              <a:gd name="connsiteX53" fmla="*/ 612124 w 1495425"/>
              <a:gd name="connsiteY53" fmla="*/ 131531 h 200025"/>
              <a:gd name="connsiteX54" fmla="*/ 516503 w 1495425"/>
              <a:gd name="connsiteY54" fmla="*/ 131531 h 200025"/>
              <a:gd name="connsiteX55" fmla="*/ 528761 w 1495425"/>
              <a:gd name="connsiteY55" fmla="*/ 173922 h 200025"/>
              <a:gd name="connsiteX56" fmla="*/ 562499 w 1495425"/>
              <a:gd name="connsiteY56" fmla="*/ 189203 h 200025"/>
              <a:gd name="connsiteX57" fmla="*/ 604885 w 1495425"/>
              <a:gd name="connsiteY57" fmla="*/ 172911 h 200025"/>
              <a:gd name="connsiteX58" fmla="*/ 604885 w 1495425"/>
              <a:gd name="connsiteY58" fmla="*/ 185517 h 200025"/>
              <a:gd name="connsiteX59" fmla="*/ 560165 w 1495425"/>
              <a:gd name="connsiteY59" fmla="*/ 200025 h 200025"/>
              <a:gd name="connsiteX60" fmla="*/ 519769 w 1495425"/>
              <a:gd name="connsiteY60" fmla="*/ 181770 h 200025"/>
              <a:gd name="connsiteX61" fmla="*/ 504358 w 1495425"/>
              <a:gd name="connsiteY61" fmla="*/ 130340 h 200025"/>
              <a:gd name="connsiteX62" fmla="*/ 520475 w 1495425"/>
              <a:gd name="connsiteY62" fmla="*/ 81820 h 200025"/>
              <a:gd name="connsiteX63" fmla="*/ 562270 w 1495425"/>
              <a:gd name="connsiteY63" fmla="*/ 62074 h 200025"/>
              <a:gd name="connsiteX64" fmla="*/ 454800 w 1495425"/>
              <a:gd name="connsiteY64" fmla="*/ 62074 h 200025"/>
              <a:gd name="connsiteX65" fmla="*/ 483403 w 1495425"/>
              <a:gd name="connsiteY65" fmla="*/ 68256 h 200025"/>
              <a:gd name="connsiteX66" fmla="*/ 483403 w 1495425"/>
              <a:gd name="connsiteY66" fmla="*/ 81582 h 200025"/>
              <a:gd name="connsiteX67" fmla="*/ 453047 w 1495425"/>
              <a:gd name="connsiteY67" fmla="*/ 72895 h 200025"/>
              <a:gd name="connsiteX68" fmla="*/ 416271 w 1495425"/>
              <a:gd name="connsiteY68" fmla="*/ 89545 h 200025"/>
              <a:gd name="connsiteX69" fmla="*/ 402145 w 1495425"/>
              <a:gd name="connsiteY69" fmla="*/ 132598 h 200025"/>
              <a:gd name="connsiteX70" fmla="*/ 415042 w 1495425"/>
              <a:gd name="connsiteY70" fmla="*/ 173684 h 200025"/>
              <a:gd name="connsiteX71" fmla="*/ 449199 w 1495425"/>
              <a:gd name="connsiteY71" fmla="*/ 189203 h 200025"/>
              <a:gd name="connsiteX72" fmla="*/ 482937 w 1495425"/>
              <a:gd name="connsiteY72" fmla="*/ 178738 h 200025"/>
              <a:gd name="connsiteX73" fmla="*/ 482937 w 1495425"/>
              <a:gd name="connsiteY73" fmla="*/ 190987 h 200025"/>
              <a:gd name="connsiteX74" fmla="*/ 448609 w 1495425"/>
              <a:gd name="connsiteY74" fmla="*/ 200025 h 200025"/>
              <a:gd name="connsiteX75" fmla="*/ 406175 w 1495425"/>
              <a:gd name="connsiteY75" fmla="*/ 181592 h 200025"/>
              <a:gd name="connsiteX76" fmla="*/ 390001 w 1495425"/>
              <a:gd name="connsiteY76" fmla="*/ 133312 h 200025"/>
              <a:gd name="connsiteX77" fmla="*/ 408156 w 1495425"/>
              <a:gd name="connsiteY77" fmla="*/ 82058 h 200025"/>
              <a:gd name="connsiteX78" fmla="*/ 454800 w 1495425"/>
              <a:gd name="connsiteY78" fmla="*/ 62074 h 200025"/>
              <a:gd name="connsiteX79" fmla="*/ 671313 w 1495425"/>
              <a:gd name="connsiteY79" fmla="*/ 30089 h 200025"/>
              <a:gd name="connsiteX80" fmla="*/ 671313 w 1495425"/>
              <a:gd name="connsiteY80" fmla="*/ 102289 h 200025"/>
              <a:gd name="connsiteX81" fmla="*/ 693163 w 1495425"/>
              <a:gd name="connsiteY81" fmla="*/ 102289 h 200025"/>
              <a:gd name="connsiteX82" fmla="*/ 725986 w 1495425"/>
              <a:gd name="connsiteY82" fmla="*/ 92650 h 200025"/>
              <a:gd name="connsiteX83" fmla="*/ 737206 w 1495425"/>
              <a:gd name="connsiteY83" fmla="*/ 65018 h 200025"/>
              <a:gd name="connsiteX84" fmla="*/ 695401 w 1495425"/>
              <a:gd name="connsiteY84" fmla="*/ 30089 h 200025"/>
              <a:gd name="connsiteX85" fmla="*/ 85115 w 1495425"/>
              <a:gd name="connsiteY85" fmla="*/ 21165 h 200025"/>
              <a:gd name="connsiteX86" fmla="*/ 33214 w 1495425"/>
              <a:gd name="connsiteY86" fmla="*/ 44415 h 200025"/>
              <a:gd name="connsiteX87" fmla="*/ 12840 w 1495425"/>
              <a:gd name="connsiteY87" fmla="*/ 105242 h 200025"/>
              <a:gd name="connsiteX88" fmla="*/ 32109 w 1495425"/>
              <a:gd name="connsiteY88" fmla="*/ 165835 h 200025"/>
              <a:gd name="connsiteX89" fmla="*/ 83591 w 1495425"/>
              <a:gd name="connsiteY89" fmla="*/ 188371 h 200025"/>
              <a:gd name="connsiteX90" fmla="*/ 136655 w 1495425"/>
              <a:gd name="connsiteY90" fmla="*/ 166073 h 200025"/>
              <a:gd name="connsiteX91" fmla="*/ 156220 w 1495425"/>
              <a:gd name="connsiteY91" fmla="*/ 103937 h 200025"/>
              <a:gd name="connsiteX92" fmla="*/ 137122 w 1495425"/>
              <a:gd name="connsiteY92" fmla="*/ 43053 h 200025"/>
              <a:gd name="connsiteX93" fmla="*/ 85115 w 1495425"/>
              <a:gd name="connsiteY93" fmla="*/ 21165 h 200025"/>
              <a:gd name="connsiteX94" fmla="*/ 351777 w 1495425"/>
              <a:gd name="connsiteY94" fmla="*/ 12602 h 200025"/>
              <a:gd name="connsiteX95" fmla="*/ 358616 w 1495425"/>
              <a:gd name="connsiteY95" fmla="*/ 15164 h 200025"/>
              <a:gd name="connsiteX96" fmla="*/ 361588 w 1495425"/>
              <a:gd name="connsiteY96" fmla="*/ 22117 h 200025"/>
              <a:gd name="connsiteX97" fmla="*/ 358673 w 1495425"/>
              <a:gd name="connsiteY97" fmla="*/ 29194 h 200025"/>
              <a:gd name="connsiteX98" fmla="*/ 351777 w 1495425"/>
              <a:gd name="connsiteY98" fmla="*/ 32109 h 200025"/>
              <a:gd name="connsiteX99" fmla="*/ 345072 w 1495425"/>
              <a:gd name="connsiteY99" fmla="*/ 29318 h 200025"/>
              <a:gd name="connsiteX100" fmla="*/ 342205 w 1495425"/>
              <a:gd name="connsiteY100" fmla="*/ 22117 h 200025"/>
              <a:gd name="connsiteX101" fmla="*/ 345129 w 1495425"/>
              <a:gd name="connsiteY101" fmla="*/ 15278 h 200025"/>
              <a:gd name="connsiteX102" fmla="*/ 351777 w 1495425"/>
              <a:gd name="connsiteY102" fmla="*/ 12602 h 200025"/>
              <a:gd name="connsiteX103" fmla="*/ 1142048 w 1495425"/>
              <a:gd name="connsiteY103" fmla="*/ 9525 h 200025"/>
              <a:gd name="connsiteX104" fmla="*/ 1182720 w 1495425"/>
              <a:gd name="connsiteY104" fmla="*/ 16192 h 200025"/>
              <a:gd name="connsiteX105" fmla="*/ 1182720 w 1495425"/>
              <a:gd name="connsiteY105" fmla="*/ 42129 h 200025"/>
              <a:gd name="connsiteX106" fmla="*/ 1140237 w 1495425"/>
              <a:gd name="connsiteY106" fmla="*/ 30585 h 200025"/>
              <a:gd name="connsiteX107" fmla="*/ 1112425 w 1495425"/>
              <a:gd name="connsiteY107" fmla="*/ 37662 h 200025"/>
              <a:gd name="connsiteX108" fmla="*/ 1101662 w 1495425"/>
              <a:gd name="connsiteY108" fmla="*/ 57360 h 200025"/>
              <a:gd name="connsiteX109" fmla="*/ 1109090 w 1495425"/>
              <a:gd name="connsiteY109" fmla="*/ 75562 h 200025"/>
              <a:gd name="connsiteX110" fmla="*/ 1141380 w 1495425"/>
              <a:gd name="connsiteY110" fmla="*/ 94717 h 200025"/>
              <a:gd name="connsiteX111" fmla="*/ 1179671 w 1495425"/>
              <a:gd name="connsiteY111" fmla="*/ 120663 h 200025"/>
              <a:gd name="connsiteX112" fmla="*/ 1190625 w 1495425"/>
              <a:gd name="connsiteY112" fmla="*/ 149812 h 200025"/>
              <a:gd name="connsiteX113" fmla="*/ 1172813 w 1495425"/>
              <a:gd name="connsiteY113" fmla="*/ 187056 h 200025"/>
              <a:gd name="connsiteX114" fmla="*/ 1123473 w 1495425"/>
              <a:gd name="connsiteY114" fmla="*/ 200025 h 200025"/>
              <a:gd name="connsiteX115" fmla="*/ 1097756 w 1495425"/>
              <a:gd name="connsiteY115" fmla="*/ 196990 h 200025"/>
              <a:gd name="connsiteX116" fmla="*/ 1076325 w 1495425"/>
              <a:gd name="connsiteY116" fmla="*/ 189435 h 200025"/>
              <a:gd name="connsiteX117" fmla="*/ 1076325 w 1495425"/>
              <a:gd name="connsiteY117" fmla="*/ 162306 h 200025"/>
              <a:gd name="connsiteX118" fmla="*/ 1099185 w 1495425"/>
              <a:gd name="connsiteY118" fmla="*/ 174443 h 200025"/>
              <a:gd name="connsiteX119" fmla="*/ 1126236 w 1495425"/>
              <a:gd name="connsiteY119" fmla="*/ 179202 h 200025"/>
              <a:gd name="connsiteX120" fmla="*/ 1165384 w 1495425"/>
              <a:gd name="connsiteY120" fmla="*/ 151597 h 200025"/>
              <a:gd name="connsiteX121" fmla="*/ 1161193 w 1495425"/>
              <a:gd name="connsiteY121" fmla="*/ 137674 h 200025"/>
              <a:gd name="connsiteX122" fmla="*/ 1149667 w 1495425"/>
              <a:gd name="connsiteY122" fmla="*/ 126730 h 200025"/>
              <a:gd name="connsiteX123" fmla="*/ 1122235 w 1495425"/>
              <a:gd name="connsiteY123" fmla="*/ 112090 h 200025"/>
              <a:gd name="connsiteX124" fmla="*/ 1085373 w 1495425"/>
              <a:gd name="connsiteY124" fmla="*/ 86449 h 200025"/>
              <a:gd name="connsiteX125" fmla="*/ 1076420 w 1495425"/>
              <a:gd name="connsiteY125" fmla="*/ 59379 h 200025"/>
              <a:gd name="connsiteX126" fmla="*/ 1095089 w 1495425"/>
              <a:gd name="connsiteY126" fmla="*/ 22974 h 200025"/>
              <a:gd name="connsiteX127" fmla="*/ 1142048 w 1495425"/>
              <a:gd name="connsiteY127" fmla="*/ 9525 h 200025"/>
              <a:gd name="connsiteX128" fmla="*/ 904875 w 1495425"/>
              <a:gd name="connsiteY128" fmla="*/ 9525 h 200025"/>
              <a:gd name="connsiteX129" fmla="*/ 929354 w 1495425"/>
              <a:gd name="connsiteY129" fmla="*/ 9525 h 200025"/>
              <a:gd name="connsiteX130" fmla="*/ 929354 w 1495425"/>
              <a:gd name="connsiteY130" fmla="*/ 122253 h 200025"/>
              <a:gd name="connsiteX131" fmla="*/ 977075 w 1495425"/>
              <a:gd name="connsiteY131" fmla="*/ 178496 h 200025"/>
              <a:gd name="connsiteX132" fmla="*/ 1023271 w 1495425"/>
              <a:gd name="connsiteY132" fmla="*/ 124063 h 200025"/>
              <a:gd name="connsiteX133" fmla="*/ 1023271 w 1495425"/>
              <a:gd name="connsiteY133" fmla="*/ 9525 h 200025"/>
              <a:gd name="connsiteX134" fmla="*/ 1047750 w 1495425"/>
              <a:gd name="connsiteY134" fmla="*/ 9525 h 200025"/>
              <a:gd name="connsiteX135" fmla="*/ 1047750 w 1495425"/>
              <a:gd name="connsiteY135" fmla="*/ 120558 h 200025"/>
              <a:gd name="connsiteX136" fmla="*/ 974789 w 1495425"/>
              <a:gd name="connsiteY136" fmla="*/ 200025 h 200025"/>
              <a:gd name="connsiteX137" fmla="*/ 904875 w 1495425"/>
              <a:gd name="connsiteY137" fmla="*/ 123339 h 200025"/>
              <a:gd name="connsiteX138" fmla="*/ 790575 w 1495425"/>
              <a:gd name="connsiteY138" fmla="*/ 9525 h 200025"/>
              <a:gd name="connsiteX139" fmla="*/ 813911 w 1495425"/>
              <a:gd name="connsiteY139" fmla="*/ 9525 h 200025"/>
              <a:gd name="connsiteX140" fmla="*/ 813911 w 1495425"/>
              <a:gd name="connsiteY140" fmla="*/ 169820 h 200025"/>
              <a:gd name="connsiteX141" fmla="*/ 885825 w 1495425"/>
              <a:gd name="connsiteY141" fmla="*/ 169820 h 200025"/>
              <a:gd name="connsiteX142" fmla="*/ 885825 w 1495425"/>
              <a:gd name="connsiteY142" fmla="*/ 190500 h 200025"/>
              <a:gd name="connsiteX143" fmla="*/ 790575 w 1495425"/>
              <a:gd name="connsiteY143" fmla="*/ 190500 h 200025"/>
              <a:gd name="connsiteX144" fmla="*/ 647700 w 1495425"/>
              <a:gd name="connsiteY144" fmla="*/ 9525 h 200025"/>
              <a:gd name="connsiteX145" fmla="*/ 699659 w 1495425"/>
              <a:gd name="connsiteY145" fmla="*/ 9525 h 200025"/>
              <a:gd name="connsiteX146" fmla="*/ 745646 w 1495425"/>
              <a:gd name="connsiteY146" fmla="*/ 23660 h 200025"/>
              <a:gd name="connsiteX147" fmla="*/ 762000 w 1495425"/>
              <a:gd name="connsiteY147" fmla="*/ 64084 h 200025"/>
              <a:gd name="connsiteX148" fmla="*/ 742874 w 1495425"/>
              <a:gd name="connsiteY148" fmla="*/ 107252 h 200025"/>
              <a:gd name="connsiteX149" fmla="*/ 695049 w 1495425"/>
              <a:gd name="connsiteY149" fmla="*/ 122853 h 200025"/>
              <a:gd name="connsiteX150" fmla="*/ 671313 w 1495425"/>
              <a:gd name="connsiteY150" fmla="*/ 122853 h 200025"/>
              <a:gd name="connsiteX151" fmla="*/ 671313 w 1495425"/>
              <a:gd name="connsiteY151" fmla="*/ 190500 h 200025"/>
              <a:gd name="connsiteX152" fmla="*/ 647700 w 1495425"/>
              <a:gd name="connsiteY152" fmla="*/ 190500 h 200025"/>
              <a:gd name="connsiteX153" fmla="*/ 87211 w 1495425"/>
              <a:gd name="connsiteY153" fmla="*/ 9515 h 200025"/>
              <a:gd name="connsiteX154" fmla="*/ 146409 w 1495425"/>
              <a:gd name="connsiteY154" fmla="*/ 35023 h 200025"/>
              <a:gd name="connsiteX155" fmla="*/ 169059 w 1495425"/>
              <a:gd name="connsiteY155" fmla="*/ 101917 h 200025"/>
              <a:gd name="connsiteX156" fmla="*/ 145885 w 1495425"/>
              <a:gd name="connsiteY156" fmla="*/ 173803 h 200025"/>
              <a:gd name="connsiteX157" fmla="*/ 83830 w 1495425"/>
              <a:gd name="connsiteY157" fmla="*/ 200025 h 200025"/>
              <a:gd name="connsiteX158" fmla="*/ 22765 w 1495425"/>
              <a:gd name="connsiteY158" fmla="*/ 174100 h 200025"/>
              <a:gd name="connsiteX159" fmla="*/ 0 w 1495425"/>
              <a:gd name="connsiteY159" fmla="*/ 106670 h 200025"/>
              <a:gd name="connsiteX160" fmla="*/ 23356 w 1495425"/>
              <a:gd name="connsiteY160" fmla="*/ 36033 h 200025"/>
              <a:gd name="connsiteX161" fmla="*/ 87211 w 1495425"/>
              <a:gd name="connsiteY161" fmla="*/ 9515 h 200025"/>
              <a:gd name="connsiteX162" fmla="*/ 317440 w 1495425"/>
              <a:gd name="connsiteY162" fmla="*/ 0 h 200025"/>
              <a:gd name="connsiteX163" fmla="*/ 331098 w 1495425"/>
              <a:gd name="connsiteY163" fmla="*/ 2496 h 200025"/>
              <a:gd name="connsiteX164" fmla="*/ 331098 w 1495425"/>
              <a:gd name="connsiteY164" fmla="*/ 14507 h 200025"/>
              <a:gd name="connsiteX165" fmla="*/ 316973 w 1495425"/>
              <a:gd name="connsiteY165" fmla="*/ 10820 h 200025"/>
              <a:gd name="connsiteX166" fmla="*/ 293151 w 1495425"/>
              <a:gd name="connsiteY166" fmla="*/ 43405 h 200025"/>
              <a:gd name="connsiteX167" fmla="*/ 293151 w 1495425"/>
              <a:gd name="connsiteY167" fmla="*/ 65284 h 200025"/>
              <a:gd name="connsiteX168" fmla="*/ 327365 w 1495425"/>
              <a:gd name="connsiteY168" fmla="*/ 65284 h 200025"/>
              <a:gd name="connsiteX169" fmla="*/ 327365 w 1495425"/>
              <a:gd name="connsiteY169" fmla="*/ 76105 h 200025"/>
              <a:gd name="connsiteX170" fmla="*/ 293151 w 1495425"/>
              <a:gd name="connsiteY170" fmla="*/ 76105 h 200025"/>
              <a:gd name="connsiteX171" fmla="*/ 293151 w 1495425"/>
              <a:gd name="connsiteY171" fmla="*/ 196814 h 200025"/>
              <a:gd name="connsiteX172" fmla="*/ 281597 w 1495425"/>
              <a:gd name="connsiteY172" fmla="*/ 196814 h 200025"/>
              <a:gd name="connsiteX173" fmla="*/ 281597 w 1495425"/>
              <a:gd name="connsiteY173" fmla="*/ 76105 h 200025"/>
              <a:gd name="connsiteX174" fmla="*/ 258356 w 1495425"/>
              <a:gd name="connsiteY174" fmla="*/ 76105 h 200025"/>
              <a:gd name="connsiteX175" fmla="*/ 258356 w 1495425"/>
              <a:gd name="connsiteY175" fmla="*/ 65284 h 200025"/>
              <a:gd name="connsiteX176" fmla="*/ 281597 w 1495425"/>
              <a:gd name="connsiteY176" fmla="*/ 65284 h 200025"/>
              <a:gd name="connsiteX177" fmla="*/ 281597 w 1495425"/>
              <a:gd name="connsiteY177" fmla="*/ 42453 h 200025"/>
              <a:gd name="connsiteX178" fmla="*/ 291865 w 1495425"/>
              <a:gd name="connsiteY178" fmla="*/ 10820 h 200025"/>
              <a:gd name="connsiteX179" fmla="*/ 317440 w 1495425"/>
              <a:gd name="connsiteY179" fmla="*/ 0 h 200025"/>
              <a:gd name="connsiteX180" fmla="*/ 245964 w 1495425"/>
              <a:gd name="connsiteY180" fmla="*/ 0 h 200025"/>
              <a:gd name="connsiteX181" fmla="*/ 259623 w 1495425"/>
              <a:gd name="connsiteY181" fmla="*/ 2496 h 200025"/>
              <a:gd name="connsiteX182" fmla="*/ 259623 w 1495425"/>
              <a:gd name="connsiteY182" fmla="*/ 14507 h 200025"/>
              <a:gd name="connsiteX183" fmla="*/ 245497 w 1495425"/>
              <a:gd name="connsiteY183" fmla="*/ 10820 h 200025"/>
              <a:gd name="connsiteX184" fmla="*/ 221675 w 1495425"/>
              <a:gd name="connsiteY184" fmla="*/ 43405 h 200025"/>
              <a:gd name="connsiteX185" fmla="*/ 221675 w 1495425"/>
              <a:gd name="connsiteY185" fmla="*/ 65284 h 200025"/>
              <a:gd name="connsiteX186" fmla="*/ 255889 w 1495425"/>
              <a:gd name="connsiteY186" fmla="*/ 65284 h 200025"/>
              <a:gd name="connsiteX187" fmla="*/ 255889 w 1495425"/>
              <a:gd name="connsiteY187" fmla="*/ 76105 h 200025"/>
              <a:gd name="connsiteX188" fmla="*/ 221675 w 1495425"/>
              <a:gd name="connsiteY188" fmla="*/ 76105 h 200025"/>
              <a:gd name="connsiteX189" fmla="*/ 221675 w 1495425"/>
              <a:gd name="connsiteY189" fmla="*/ 196814 h 200025"/>
              <a:gd name="connsiteX190" fmla="*/ 210121 w 1495425"/>
              <a:gd name="connsiteY190" fmla="*/ 196814 h 200025"/>
              <a:gd name="connsiteX191" fmla="*/ 210121 w 1495425"/>
              <a:gd name="connsiteY191" fmla="*/ 76105 h 200025"/>
              <a:gd name="connsiteX192" fmla="*/ 186890 w 1495425"/>
              <a:gd name="connsiteY192" fmla="*/ 76105 h 200025"/>
              <a:gd name="connsiteX193" fmla="*/ 186890 w 1495425"/>
              <a:gd name="connsiteY193" fmla="*/ 65284 h 200025"/>
              <a:gd name="connsiteX194" fmla="*/ 210121 w 1495425"/>
              <a:gd name="connsiteY194" fmla="*/ 65284 h 200025"/>
              <a:gd name="connsiteX195" fmla="*/ 210121 w 1495425"/>
              <a:gd name="connsiteY195" fmla="*/ 42453 h 200025"/>
              <a:gd name="connsiteX196" fmla="*/ 220389 w 1495425"/>
              <a:gd name="connsiteY196" fmla="*/ 10820 h 200025"/>
              <a:gd name="connsiteX197" fmla="*/ 245964 w 1495425"/>
              <a:gd name="connsiteY197" fmla="*/ 0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495425" h="200025">
                <a:moveTo>
                  <a:pt x="1232440" y="178500"/>
                </a:moveTo>
                <a:cubicBezTo>
                  <a:pt x="1235392" y="178500"/>
                  <a:pt x="1237773" y="179452"/>
                  <a:pt x="1239870" y="181354"/>
                </a:cubicBezTo>
                <a:cubicBezTo>
                  <a:pt x="1241870" y="183257"/>
                  <a:pt x="1242822" y="185715"/>
                  <a:pt x="1242822" y="188727"/>
                </a:cubicBezTo>
                <a:cubicBezTo>
                  <a:pt x="1242822" y="191661"/>
                  <a:pt x="1241870" y="194119"/>
                  <a:pt x="1239870" y="196101"/>
                </a:cubicBezTo>
                <a:cubicBezTo>
                  <a:pt x="1237773" y="198083"/>
                  <a:pt x="1235392" y="199073"/>
                  <a:pt x="1232440" y="199073"/>
                </a:cubicBezTo>
                <a:cubicBezTo>
                  <a:pt x="1229582" y="199073"/>
                  <a:pt x="1227201" y="198083"/>
                  <a:pt x="1225296" y="196101"/>
                </a:cubicBezTo>
                <a:cubicBezTo>
                  <a:pt x="1223391" y="194119"/>
                  <a:pt x="1222438" y="191661"/>
                  <a:pt x="1222438" y="188727"/>
                </a:cubicBezTo>
                <a:cubicBezTo>
                  <a:pt x="1222438" y="185715"/>
                  <a:pt x="1223391" y="183257"/>
                  <a:pt x="1225296" y="181354"/>
                </a:cubicBezTo>
                <a:cubicBezTo>
                  <a:pt x="1227201" y="179452"/>
                  <a:pt x="1229582" y="178500"/>
                  <a:pt x="1232440" y="178500"/>
                </a:cubicBezTo>
                <a:close/>
                <a:moveTo>
                  <a:pt x="561804" y="72895"/>
                </a:moveTo>
                <a:cubicBezTo>
                  <a:pt x="549659" y="72895"/>
                  <a:pt x="539620" y="77019"/>
                  <a:pt x="531676" y="85268"/>
                </a:cubicBezTo>
                <a:cubicBezTo>
                  <a:pt x="523742" y="93507"/>
                  <a:pt x="518836" y="105366"/>
                  <a:pt x="516970" y="120825"/>
                </a:cubicBezTo>
                <a:lnTo>
                  <a:pt x="599980" y="120825"/>
                </a:lnTo>
                <a:cubicBezTo>
                  <a:pt x="599437" y="105604"/>
                  <a:pt x="595856" y="93812"/>
                  <a:pt x="589236" y="85449"/>
                </a:cubicBezTo>
                <a:cubicBezTo>
                  <a:pt x="582626" y="77076"/>
                  <a:pt x="573471" y="72895"/>
                  <a:pt x="561804" y="72895"/>
                </a:cubicBezTo>
                <a:close/>
                <a:moveTo>
                  <a:pt x="346062" y="65284"/>
                </a:moveTo>
                <a:lnTo>
                  <a:pt x="357616" y="65284"/>
                </a:lnTo>
                <a:lnTo>
                  <a:pt x="357616" y="196814"/>
                </a:lnTo>
                <a:lnTo>
                  <a:pt x="346062" y="196814"/>
                </a:lnTo>
                <a:close/>
                <a:moveTo>
                  <a:pt x="1452372" y="62074"/>
                </a:moveTo>
                <a:cubicBezTo>
                  <a:pt x="1466278" y="62074"/>
                  <a:pt x="1476947" y="66818"/>
                  <a:pt x="1484376" y="76286"/>
                </a:cubicBezTo>
                <a:cubicBezTo>
                  <a:pt x="1491710" y="85763"/>
                  <a:pt x="1495425" y="99260"/>
                  <a:pt x="1495425" y="116777"/>
                </a:cubicBezTo>
                <a:lnTo>
                  <a:pt x="1495425" y="196814"/>
                </a:lnTo>
                <a:lnTo>
                  <a:pt x="1483900" y="196814"/>
                </a:lnTo>
                <a:lnTo>
                  <a:pt x="1483900" y="120225"/>
                </a:lnTo>
                <a:cubicBezTo>
                  <a:pt x="1483900" y="88678"/>
                  <a:pt x="1472660" y="72895"/>
                  <a:pt x="1450372" y="72895"/>
                </a:cubicBezTo>
                <a:cubicBezTo>
                  <a:pt x="1437894" y="72895"/>
                  <a:pt x="1427702" y="77533"/>
                  <a:pt x="1419606" y="86811"/>
                </a:cubicBezTo>
                <a:cubicBezTo>
                  <a:pt x="1411605" y="96088"/>
                  <a:pt x="1407605" y="107585"/>
                  <a:pt x="1407605" y="121301"/>
                </a:cubicBezTo>
                <a:lnTo>
                  <a:pt x="1407605" y="196814"/>
                </a:lnTo>
                <a:lnTo>
                  <a:pt x="1396079" y="196814"/>
                </a:lnTo>
                <a:lnTo>
                  <a:pt x="1396079" y="65284"/>
                </a:lnTo>
                <a:lnTo>
                  <a:pt x="1407605" y="65284"/>
                </a:lnTo>
                <a:lnTo>
                  <a:pt x="1407605" y="89192"/>
                </a:lnTo>
                <a:lnTo>
                  <a:pt x="1408176" y="89192"/>
                </a:lnTo>
                <a:cubicBezTo>
                  <a:pt x="1417605" y="71114"/>
                  <a:pt x="1432370" y="62074"/>
                  <a:pt x="1452372" y="62074"/>
                </a:cubicBezTo>
                <a:close/>
                <a:moveTo>
                  <a:pt x="1337215" y="62074"/>
                </a:moveTo>
                <a:cubicBezTo>
                  <a:pt x="1347026" y="62074"/>
                  <a:pt x="1356551" y="64141"/>
                  <a:pt x="1365790" y="68256"/>
                </a:cubicBezTo>
                <a:lnTo>
                  <a:pt x="1365790" y="81582"/>
                </a:lnTo>
                <a:cubicBezTo>
                  <a:pt x="1356551" y="75790"/>
                  <a:pt x="1346454" y="72895"/>
                  <a:pt x="1335405" y="72895"/>
                </a:cubicBezTo>
                <a:cubicBezTo>
                  <a:pt x="1320356" y="72895"/>
                  <a:pt x="1308068" y="78448"/>
                  <a:pt x="1298638" y="89545"/>
                </a:cubicBezTo>
                <a:cubicBezTo>
                  <a:pt x="1289209" y="100651"/>
                  <a:pt x="1284541" y="114995"/>
                  <a:pt x="1284541" y="132598"/>
                </a:cubicBezTo>
                <a:cubicBezTo>
                  <a:pt x="1284541" y="149642"/>
                  <a:pt x="1288828" y="163338"/>
                  <a:pt x="1297400" y="173684"/>
                </a:cubicBezTo>
                <a:cubicBezTo>
                  <a:pt x="1305973" y="184031"/>
                  <a:pt x="1317403" y="189203"/>
                  <a:pt x="1331596" y="189203"/>
                </a:cubicBezTo>
                <a:cubicBezTo>
                  <a:pt x="1344454" y="189203"/>
                  <a:pt x="1355693" y="185715"/>
                  <a:pt x="1365313" y="178738"/>
                </a:cubicBezTo>
                <a:lnTo>
                  <a:pt x="1365313" y="190987"/>
                </a:lnTo>
                <a:cubicBezTo>
                  <a:pt x="1355693" y="197012"/>
                  <a:pt x="1344263" y="200025"/>
                  <a:pt x="1331023" y="200025"/>
                </a:cubicBezTo>
                <a:cubicBezTo>
                  <a:pt x="1313498" y="200025"/>
                  <a:pt x="1299306" y="193880"/>
                  <a:pt x="1288542" y="181592"/>
                </a:cubicBezTo>
                <a:cubicBezTo>
                  <a:pt x="1277779" y="169304"/>
                  <a:pt x="1272349" y="153210"/>
                  <a:pt x="1272349" y="133312"/>
                </a:cubicBezTo>
                <a:cubicBezTo>
                  <a:pt x="1272349" y="112462"/>
                  <a:pt x="1278445" y="95374"/>
                  <a:pt x="1290542" y="82058"/>
                </a:cubicBezTo>
                <a:cubicBezTo>
                  <a:pt x="1302639" y="68732"/>
                  <a:pt x="1318165" y="62074"/>
                  <a:pt x="1337215" y="62074"/>
                </a:cubicBezTo>
                <a:close/>
                <a:moveTo>
                  <a:pt x="562270" y="62074"/>
                </a:moveTo>
                <a:cubicBezTo>
                  <a:pt x="578301" y="62074"/>
                  <a:pt x="590617" y="67828"/>
                  <a:pt x="599218" y="79324"/>
                </a:cubicBezTo>
                <a:cubicBezTo>
                  <a:pt x="607819" y="90811"/>
                  <a:pt x="612124" y="106470"/>
                  <a:pt x="612124" y="126292"/>
                </a:cubicBezTo>
                <a:lnTo>
                  <a:pt x="612124" y="131531"/>
                </a:lnTo>
                <a:lnTo>
                  <a:pt x="516503" y="131531"/>
                </a:lnTo>
                <a:cubicBezTo>
                  <a:pt x="516503" y="149603"/>
                  <a:pt x="520589" y="163734"/>
                  <a:pt x="528761" y="173922"/>
                </a:cubicBezTo>
                <a:cubicBezTo>
                  <a:pt x="536934" y="184110"/>
                  <a:pt x="548183" y="189203"/>
                  <a:pt x="562499" y="189203"/>
                </a:cubicBezTo>
                <a:cubicBezTo>
                  <a:pt x="576977" y="189203"/>
                  <a:pt x="591102" y="183773"/>
                  <a:pt x="604885" y="172911"/>
                </a:cubicBezTo>
                <a:lnTo>
                  <a:pt x="604885" y="185517"/>
                </a:lnTo>
                <a:cubicBezTo>
                  <a:pt x="591493" y="195189"/>
                  <a:pt x="576586" y="200025"/>
                  <a:pt x="560165" y="200025"/>
                </a:cubicBezTo>
                <a:cubicBezTo>
                  <a:pt x="543506" y="200025"/>
                  <a:pt x="530047" y="193940"/>
                  <a:pt x="519769" y="181770"/>
                </a:cubicBezTo>
                <a:cubicBezTo>
                  <a:pt x="509492" y="169601"/>
                  <a:pt x="504358" y="152456"/>
                  <a:pt x="504358" y="130340"/>
                </a:cubicBezTo>
                <a:cubicBezTo>
                  <a:pt x="504358" y="111147"/>
                  <a:pt x="509731" y="94974"/>
                  <a:pt x="520475" y="81820"/>
                </a:cubicBezTo>
                <a:cubicBezTo>
                  <a:pt x="531209" y="68656"/>
                  <a:pt x="545144" y="62074"/>
                  <a:pt x="562270" y="62074"/>
                </a:cubicBezTo>
                <a:close/>
                <a:moveTo>
                  <a:pt x="454800" y="62074"/>
                </a:moveTo>
                <a:cubicBezTo>
                  <a:pt x="464687" y="62074"/>
                  <a:pt x="474221" y="64141"/>
                  <a:pt x="483403" y="68256"/>
                </a:cubicBezTo>
                <a:lnTo>
                  <a:pt x="483403" y="81582"/>
                </a:lnTo>
                <a:cubicBezTo>
                  <a:pt x="474221" y="75790"/>
                  <a:pt x="464096" y="72895"/>
                  <a:pt x="453047" y="72895"/>
                </a:cubicBezTo>
                <a:cubicBezTo>
                  <a:pt x="437950" y="72895"/>
                  <a:pt x="425691" y="78448"/>
                  <a:pt x="416271" y="89545"/>
                </a:cubicBezTo>
                <a:cubicBezTo>
                  <a:pt x="406851" y="100651"/>
                  <a:pt x="402145" y="114995"/>
                  <a:pt x="402145" y="132598"/>
                </a:cubicBezTo>
                <a:cubicBezTo>
                  <a:pt x="402145" y="149642"/>
                  <a:pt x="406441" y="163338"/>
                  <a:pt x="415042" y="173684"/>
                </a:cubicBezTo>
                <a:cubicBezTo>
                  <a:pt x="423643" y="184031"/>
                  <a:pt x="435026" y="189203"/>
                  <a:pt x="449199" y="189203"/>
                </a:cubicBezTo>
                <a:cubicBezTo>
                  <a:pt x="462115" y="189203"/>
                  <a:pt x="473364" y="185715"/>
                  <a:pt x="482937" y="178738"/>
                </a:cubicBezTo>
                <a:lnTo>
                  <a:pt x="482937" y="190987"/>
                </a:lnTo>
                <a:cubicBezTo>
                  <a:pt x="473364" y="197012"/>
                  <a:pt x="461924" y="200025"/>
                  <a:pt x="448609" y="200025"/>
                </a:cubicBezTo>
                <a:cubicBezTo>
                  <a:pt x="431102" y="200025"/>
                  <a:pt x="416947" y="193880"/>
                  <a:pt x="406175" y="181592"/>
                </a:cubicBezTo>
                <a:cubicBezTo>
                  <a:pt x="395392" y="169304"/>
                  <a:pt x="390001" y="153210"/>
                  <a:pt x="390001" y="133312"/>
                </a:cubicBezTo>
                <a:cubicBezTo>
                  <a:pt x="390001" y="112462"/>
                  <a:pt x="396050" y="95374"/>
                  <a:pt x="408156" y="82058"/>
                </a:cubicBezTo>
                <a:cubicBezTo>
                  <a:pt x="420262" y="68732"/>
                  <a:pt x="435807" y="62074"/>
                  <a:pt x="454800" y="62074"/>
                </a:cubicBezTo>
                <a:close/>
                <a:moveTo>
                  <a:pt x="671313" y="30089"/>
                </a:moveTo>
                <a:lnTo>
                  <a:pt x="671313" y="102289"/>
                </a:lnTo>
                <a:lnTo>
                  <a:pt x="693163" y="102289"/>
                </a:lnTo>
                <a:cubicBezTo>
                  <a:pt x="707564" y="102289"/>
                  <a:pt x="718509" y="99079"/>
                  <a:pt x="725986" y="92650"/>
                </a:cubicBezTo>
                <a:cubicBezTo>
                  <a:pt x="733463" y="86230"/>
                  <a:pt x="737206" y="77019"/>
                  <a:pt x="737206" y="65018"/>
                </a:cubicBezTo>
                <a:cubicBezTo>
                  <a:pt x="737206" y="41729"/>
                  <a:pt x="723272" y="30089"/>
                  <a:pt x="695401" y="30089"/>
                </a:cubicBezTo>
                <a:close/>
                <a:moveTo>
                  <a:pt x="85115" y="21165"/>
                </a:moveTo>
                <a:cubicBezTo>
                  <a:pt x="64094" y="21165"/>
                  <a:pt x="46797" y="28918"/>
                  <a:pt x="33214" y="44415"/>
                </a:cubicBezTo>
                <a:cubicBezTo>
                  <a:pt x="19631" y="59912"/>
                  <a:pt x="12840" y="80191"/>
                  <a:pt x="12840" y="105242"/>
                </a:cubicBezTo>
                <a:cubicBezTo>
                  <a:pt x="12840" y="130616"/>
                  <a:pt x="19269" y="150811"/>
                  <a:pt x="32109" y="165835"/>
                </a:cubicBezTo>
                <a:cubicBezTo>
                  <a:pt x="44948" y="180859"/>
                  <a:pt x="62112" y="188371"/>
                  <a:pt x="83591" y="188371"/>
                </a:cubicBezTo>
                <a:cubicBezTo>
                  <a:pt x="105937" y="188371"/>
                  <a:pt x="123625" y="180938"/>
                  <a:pt x="136655" y="166073"/>
                </a:cubicBezTo>
                <a:cubicBezTo>
                  <a:pt x="149695" y="151207"/>
                  <a:pt x="156220" y="130492"/>
                  <a:pt x="156220" y="103937"/>
                </a:cubicBezTo>
                <a:cubicBezTo>
                  <a:pt x="156220" y="77934"/>
                  <a:pt x="149857" y="57636"/>
                  <a:pt x="137122" y="43053"/>
                </a:cubicBezTo>
                <a:cubicBezTo>
                  <a:pt x="124396" y="28461"/>
                  <a:pt x="107061" y="21165"/>
                  <a:pt x="85115" y="21165"/>
                </a:cubicBezTo>
                <a:close/>
                <a:moveTo>
                  <a:pt x="351777" y="12602"/>
                </a:moveTo>
                <a:cubicBezTo>
                  <a:pt x="354349" y="12602"/>
                  <a:pt x="356625" y="13459"/>
                  <a:pt x="358616" y="15164"/>
                </a:cubicBezTo>
                <a:cubicBezTo>
                  <a:pt x="360597" y="16869"/>
                  <a:pt x="361588" y="19183"/>
                  <a:pt x="361588" y="22117"/>
                </a:cubicBezTo>
                <a:cubicBezTo>
                  <a:pt x="361588" y="24898"/>
                  <a:pt x="360616" y="27251"/>
                  <a:pt x="358673" y="29194"/>
                </a:cubicBezTo>
                <a:cubicBezTo>
                  <a:pt x="356721" y="31137"/>
                  <a:pt x="354425" y="32109"/>
                  <a:pt x="351777" y="32109"/>
                </a:cubicBezTo>
                <a:cubicBezTo>
                  <a:pt x="349215" y="32109"/>
                  <a:pt x="346977" y="31175"/>
                  <a:pt x="345072" y="29318"/>
                </a:cubicBezTo>
                <a:cubicBezTo>
                  <a:pt x="343167" y="27451"/>
                  <a:pt x="342205" y="25051"/>
                  <a:pt x="342205" y="22117"/>
                </a:cubicBezTo>
                <a:cubicBezTo>
                  <a:pt x="342205" y="19345"/>
                  <a:pt x="343186" y="17069"/>
                  <a:pt x="345129" y="15278"/>
                </a:cubicBezTo>
                <a:cubicBezTo>
                  <a:pt x="347072" y="13497"/>
                  <a:pt x="349291" y="12602"/>
                  <a:pt x="351777" y="12602"/>
                </a:cubicBezTo>
                <a:close/>
                <a:moveTo>
                  <a:pt x="1142048" y="9525"/>
                </a:moveTo>
                <a:cubicBezTo>
                  <a:pt x="1160526" y="9525"/>
                  <a:pt x="1174052" y="11744"/>
                  <a:pt x="1182720" y="16192"/>
                </a:cubicBezTo>
                <a:lnTo>
                  <a:pt x="1182720" y="42129"/>
                </a:lnTo>
                <a:cubicBezTo>
                  <a:pt x="1171480" y="34433"/>
                  <a:pt x="1157288" y="30585"/>
                  <a:pt x="1140237" y="30585"/>
                </a:cubicBezTo>
                <a:cubicBezTo>
                  <a:pt x="1128808" y="30585"/>
                  <a:pt x="1119569" y="32947"/>
                  <a:pt x="1112425" y="37662"/>
                </a:cubicBezTo>
                <a:cubicBezTo>
                  <a:pt x="1105281" y="42386"/>
                  <a:pt x="1101662" y="48949"/>
                  <a:pt x="1101662" y="57360"/>
                </a:cubicBezTo>
                <a:cubicBezTo>
                  <a:pt x="1101662" y="64818"/>
                  <a:pt x="1104138" y="70885"/>
                  <a:pt x="1109090" y="75562"/>
                </a:cubicBezTo>
                <a:cubicBezTo>
                  <a:pt x="1114044" y="80248"/>
                  <a:pt x="1124807" y="86630"/>
                  <a:pt x="1141380" y="94717"/>
                </a:cubicBezTo>
                <a:cubicBezTo>
                  <a:pt x="1159669" y="103365"/>
                  <a:pt x="1172432" y="112014"/>
                  <a:pt x="1179671" y="120663"/>
                </a:cubicBezTo>
                <a:cubicBezTo>
                  <a:pt x="1187005" y="129302"/>
                  <a:pt x="1190625" y="139027"/>
                  <a:pt x="1190625" y="149812"/>
                </a:cubicBezTo>
                <a:cubicBezTo>
                  <a:pt x="1190625" y="165994"/>
                  <a:pt x="1184720" y="178409"/>
                  <a:pt x="1172813" y="187056"/>
                </a:cubicBezTo>
                <a:cubicBezTo>
                  <a:pt x="1161002" y="195702"/>
                  <a:pt x="1144524" y="200025"/>
                  <a:pt x="1123473" y="200025"/>
                </a:cubicBezTo>
                <a:cubicBezTo>
                  <a:pt x="1116140" y="200025"/>
                  <a:pt x="1107567" y="199013"/>
                  <a:pt x="1097756" y="196990"/>
                </a:cubicBezTo>
                <a:cubicBezTo>
                  <a:pt x="1087945" y="194968"/>
                  <a:pt x="1080801" y="192450"/>
                  <a:pt x="1076325" y="189435"/>
                </a:cubicBezTo>
                <a:lnTo>
                  <a:pt x="1076325" y="162306"/>
                </a:lnTo>
                <a:cubicBezTo>
                  <a:pt x="1082040" y="167224"/>
                  <a:pt x="1089660" y="171269"/>
                  <a:pt x="1099185" y="174443"/>
                </a:cubicBezTo>
                <a:cubicBezTo>
                  <a:pt x="1108710" y="177616"/>
                  <a:pt x="1117663" y="179202"/>
                  <a:pt x="1126236" y="179202"/>
                </a:cubicBezTo>
                <a:cubicBezTo>
                  <a:pt x="1152334" y="179202"/>
                  <a:pt x="1165384" y="170000"/>
                  <a:pt x="1165384" y="151597"/>
                </a:cubicBezTo>
                <a:cubicBezTo>
                  <a:pt x="1165384" y="146440"/>
                  <a:pt x="1164050" y="141799"/>
                  <a:pt x="1161193" y="137674"/>
                </a:cubicBezTo>
                <a:cubicBezTo>
                  <a:pt x="1158430" y="133550"/>
                  <a:pt x="1154525" y="129902"/>
                  <a:pt x="1149667" y="126730"/>
                </a:cubicBezTo>
                <a:cubicBezTo>
                  <a:pt x="1144809" y="123558"/>
                  <a:pt x="1135666" y="118672"/>
                  <a:pt x="1122235" y="112090"/>
                </a:cubicBezTo>
                <a:cubicBezTo>
                  <a:pt x="1103566" y="102889"/>
                  <a:pt x="1091279" y="94345"/>
                  <a:pt x="1085373" y="86449"/>
                </a:cubicBezTo>
                <a:cubicBezTo>
                  <a:pt x="1079372" y="78562"/>
                  <a:pt x="1076420" y="69533"/>
                  <a:pt x="1076420" y="59379"/>
                </a:cubicBezTo>
                <a:cubicBezTo>
                  <a:pt x="1076420" y="44072"/>
                  <a:pt x="1082612" y="31937"/>
                  <a:pt x="1095089" y="22974"/>
                </a:cubicBezTo>
                <a:cubicBezTo>
                  <a:pt x="1107472" y="14011"/>
                  <a:pt x="1123093" y="9525"/>
                  <a:pt x="1142048" y="9525"/>
                </a:cubicBezTo>
                <a:close/>
                <a:moveTo>
                  <a:pt x="904875" y="9525"/>
                </a:moveTo>
                <a:lnTo>
                  <a:pt x="929354" y="9525"/>
                </a:lnTo>
                <a:lnTo>
                  <a:pt x="929354" y="122253"/>
                </a:lnTo>
                <a:cubicBezTo>
                  <a:pt x="929354" y="159748"/>
                  <a:pt x="945261" y="178496"/>
                  <a:pt x="977075" y="178496"/>
                </a:cubicBezTo>
                <a:cubicBezTo>
                  <a:pt x="1007841" y="178496"/>
                  <a:pt x="1023271" y="160352"/>
                  <a:pt x="1023271" y="124063"/>
                </a:cubicBezTo>
                <a:lnTo>
                  <a:pt x="1023271" y="9525"/>
                </a:lnTo>
                <a:lnTo>
                  <a:pt x="1047750" y="9525"/>
                </a:lnTo>
                <a:lnTo>
                  <a:pt x="1047750" y="120558"/>
                </a:lnTo>
                <a:cubicBezTo>
                  <a:pt x="1047750" y="173536"/>
                  <a:pt x="1023461" y="200025"/>
                  <a:pt x="974789" y="200025"/>
                </a:cubicBezTo>
                <a:cubicBezTo>
                  <a:pt x="928211" y="200025"/>
                  <a:pt x="904875" y="174464"/>
                  <a:pt x="904875" y="123339"/>
                </a:cubicBezTo>
                <a:close/>
                <a:moveTo>
                  <a:pt x="790575" y="9525"/>
                </a:moveTo>
                <a:lnTo>
                  <a:pt x="813911" y="9525"/>
                </a:lnTo>
                <a:lnTo>
                  <a:pt x="813911" y="169820"/>
                </a:lnTo>
                <a:lnTo>
                  <a:pt x="885825" y="169820"/>
                </a:lnTo>
                <a:lnTo>
                  <a:pt x="885825" y="190500"/>
                </a:lnTo>
                <a:lnTo>
                  <a:pt x="790575" y="190500"/>
                </a:lnTo>
                <a:close/>
                <a:moveTo>
                  <a:pt x="647700" y="9525"/>
                </a:moveTo>
                <a:lnTo>
                  <a:pt x="699659" y="9525"/>
                </a:lnTo>
                <a:cubicBezTo>
                  <a:pt x="719414" y="9525"/>
                  <a:pt x="734739" y="14240"/>
                  <a:pt x="745646" y="23660"/>
                </a:cubicBezTo>
                <a:cubicBezTo>
                  <a:pt x="756551" y="33090"/>
                  <a:pt x="762000" y="46558"/>
                  <a:pt x="762000" y="64084"/>
                </a:cubicBezTo>
                <a:cubicBezTo>
                  <a:pt x="762000" y="81848"/>
                  <a:pt x="755628" y="96231"/>
                  <a:pt x="742874" y="107252"/>
                </a:cubicBezTo>
                <a:cubicBezTo>
                  <a:pt x="730120" y="118281"/>
                  <a:pt x="714175" y="123473"/>
                  <a:pt x="695049" y="122853"/>
                </a:cubicBezTo>
                <a:lnTo>
                  <a:pt x="671313" y="122853"/>
                </a:lnTo>
                <a:lnTo>
                  <a:pt x="671313" y="190500"/>
                </a:lnTo>
                <a:lnTo>
                  <a:pt x="647700" y="190500"/>
                </a:lnTo>
                <a:close/>
                <a:moveTo>
                  <a:pt x="87211" y="9515"/>
                </a:moveTo>
                <a:cubicBezTo>
                  <a:pt x="111576" y="9515"/>
                  <a:pt x="131312" y="18012"/>
                  <a:pt x="146409" y="35023"/>
                </a:cubicBezTo>
                <a:cubicBezTo>
                  <a:pt x="161506" y="52026"/>
                  <a:pt x="169059" y="74324"/>
                  <a:pt x="169059" y="101917"/>
                </a:cubicBezTo>
                <a:cubicBezTo>
                  <a:pt x="169059" y="132359"/>
                  <a:pt x="161334" y="156321"/>
                  <a:pt x="145885" y="173803"/>
                </a:cubicBezTo>
                <a:cubicBezTo>
                  <a:pt x="130435" y="191284"/>
                  <a:pt x="109747" y="200025"/>
                  <a:pt x="83830" y="200025"/>
                </a:cubicBezTo>
                <a:cubicBezTo>
                  <a:pt x="58302" y="200025"/>
                  <a:pt x="37948" y="191383"/>
                  <a:pt x="22765" y="174100"/>
                </a:cubicBezTo>
                <a:cubicBezTo>
                  <a:pt x="7591" y="156817"/>
                  <a:pt x="0" y="134341"/>
                  <a:pt x="0" y="106670"/>
                </a:cubicBezTo>
                <a:cubicBezTo>
                  <a:pt x="0" y="77257"/>
                  <a:pt x="7782" y="53711"/>
                  <a:pt x="23356" y="36033"/>
                </a:cubicBezTo>
                <a:cubicBezTo>
                  <a:pt x="38919" y="18355"/>
                  <a:pt x="60207" y="9515"/>
                  <a:pt x="87211" y="9515"/>
                </a:cubicBezTo>
                <a:close/>
                <a:moveTo>
                  <a:pt x="317440" y="0"/>
                </a:moveTo>
                <a:cubicBezTo>
                  <a:pt x="322964" y="0"/>
                  <a:pt x="327517" y="829"/>
                  <a:pt x="331098" y="2496"/>
                </a:cubicBezTo>
                <a:lnTo>
                  <a:pt x="331098" y="14507"/>
                </a:lnTo>
                <a:cubicBezTo>
                  <a:pt x="327984" y="12049"/>
                  <a:pt x="323279" y="10820"/>
                  <a:pt x="316973" y="10820"/>
                </a:cubicBezTo>
                <a:cubicBezTo>
                  <a:pt x="301095" y="10820"/>
                  <a:pt x="293151" y="21679"/>
                  <a:pt x="293151" y="43405"/>
                </a:cubicBezTo>
                <a:lnTo>
                  <a:pt x="293151" y="65284"/>
                </a:lnTo>
                <a:lnTo>
                  <a:pt x="327365" y="65284"/>
                </a:lnTo>
                <a:lnTo>
                  <a:pt x="327365" y="76105"/>
                </a:lnTo>
                <a:lnTo>
                  <a:pt x="293151" y="76105"/>
                </a:lnTo>
                <a:lnTo>
                  <a:pt x="293151" y="196814"/>
                </a:lnTo>
                <a:lnTo>
                  <a:pt x="281597" y="196814"/>
                </a:lnTo>
                <a:lnTo>
                  <a:pt x="281597" y="76105"/>
                </a:lnTo>
                <a:lnTo>
                  <a:pt x="258356" y="76105"/>
                </a:lnTo>
                <a:lnTo>
                  <a:pt x="258356" y="65284"/>
                </a:lnTo>
                <a:lnTo>
                  <a:pt x="281597" y="65284"/>
                </a:lnTo>
                <a:lnTo>
                  <a:pt x="281597" y="42453"/>
                </a:lnTo>
                <a:cubicBezTo>
                  <a:pt x="281597" y="28585"/>
                  <a:pt x="285016" y="18040"/>
                  <a:pt x="291865" y="10820"/>
                </a:cubicBezTo>
                <a:cubicBezTo>
                  <a:pt x="298714" y="3610"/>
                  <a:pt x="307238" y="0"/>
                  <a:pt x="317440" y="0"/>
                </a:cubicBezTo>
                <a:close/>
                <a:moveTo>
                  <a:pt x="245964" y="0"/>
                </a:moveTo>
                <a:cubicBezTo>
                  <a:pt x="251489" y="0"/>
                  <a:pt x="256041" y="829"/>
                  <a:pt x="259623" y="2496"/>
                </a:cubicBezTo>
                <a:lnTo>
                  <a:pt x="259623" y="14507"/>
                </a:lnTo>
                <a:cubicBezTo>
                  <a:pt x="256508" y="12049"/>
                  <a:pt x="251803" y="10820"/>
                  <a:pt x="245497" y="10820"/>
                </a:cubicBezTo>
                <a:cubicBezTo>
                  <a:pt x="229619" y="10820"/>
                  <a:pt x="221675" y="21679"/>
                  <a:pt x="221675" y="43405"/>
                </a:cubicBezTo>
                <a:lnTo>
                  <a:pt x="221675" y="65284"/>
                </a:lnTo>
                <a:lnTo>
                  <a:pt x="255889" y="65284"/>
                </a:lnTo>
                <a:lnTo>
                  <a:pt x="255889" y="76105"/>
                </a:lnTo>
                <a:lnTo>
                  <a:pt x="221675" y="76105"/>
                </a:lnTo>
                <a:lnTo>
                  <a:pt x="221675" y="196814"/>
                </a:lnTo>
                <a:lnTo>
                  <a:pt x="210121" y="196814"/>
                </a:lnTo>
                <a:lnTo>
                  <a:pt x="210121" y="76105"/>
                </a:lnTo>
                <a:lnTo>
                  <a:pt x="186890" y="76105"/>
                </a:lnTo>
                <a:lnTo>
                  <a:pt x="186890" y="65284"/>
                </a:lnTo>
                <a:lnTo>
                  <a:pt x="210121" y="65284"/>
                </a:lnTo>
                <a:lnTo>
                  <a:pt x="210121" y="42453"/>
                </a:lnTo>
                <a:cubicBezTo>
                  <a:pt x="210121" y="28585"/>
                  <a:pt x="213541" y="18040"/>
                  <a:pt x="220389" y="10820"/>
                </a:cubicBezTo>
                <a:cubicBezTo>
                  <a:pt x="227247" y="3610"/>
                  <a:pt x="235763" y="0"/>
                  <a:pt x="245964" y="0"/>
                </a:cubicBezTo>
                <a:close/>
              </a:path>
            </a:pathLst>
          </a:custGeom>
          <a:solidFill>
            <a:schemeClr val="bg1"/>
          </a:solidFill>
          <a:ln w="9525" cap="flat">
            <a:noFill/>
            <a:prstDash val="solid"/>
            <a:miter/>
          </a:ln>
        </p:spPr>
        <p:txBody>
          <a:bodyPr rtlCol="0" anchor="ctr">
            <a:noAutofit/>
          </a:bodyPr>
          <a:lstStyle/>
          <a:p>
            <a:endParaRPr lang="zh-CN" altLang="en-US"/>
          </a:p>
        </p:txBody>
      </p:sp>
      <p:sp>
        <p:nvSpPr>
          <p:cNvPr id="7" name="文本框 6"/>
          <p:cNvSpPr txBox="1"/>
          <p:nvPr userDrawn="1"/>
        </p:nvSpPr>
        <p:spPr>
          <a:xfrm>
            <a:off x="10209866" y="244475"/>
            <a:ext cx="1245534" cy="307777"/>
          </a:xfrm>
          <a:prstGeom prst="rect">
            <a:avLst/>
          </a:prstGeom>
          <a:noFill/>
        </p:spPr>
        <p:txBody>
          <a:bodyPr wrap="none" lIns="0" tIns="0" rIns="0" bIns="0" rtlCol="0">
            <a:noAutofit/>
          </a:bodyPr>
          <a:lstStyle/>
          <a:p>
            <a:r>
              <a:rPr lang="en-US" altLang="zh-CN" sz="1000" cap="all" dirty="0">
                <a:solidFill>
                  <a:schemeClr val="bg1"/>
                </a:solidFill>
              </a:rPr>
              <a:t>Academic report</a:t>
            </a:r>
            <a:endParaRPr lang="en-US" altLang="zh-CN" sz="1000" cap="all" dirty="0">
              <a:solidFill>
                <a:schemeClr val="bg1"/>
              </a:solidFill>
            </a:endParaRPr>
          </a:p>
          <a:p>
            <a:r>
              <a:rPr lang="en-US" altLang="zh-CN" sz="1000" cap="all" dirty="0">
                <a:solidFill>
                  <a:schemeClr val="bg1"/>
                </a:solidFill>
              </a:rPr>
              <a:t>presentation</a:t>
            </a:r>
            <a:endParaRPr lang="zh-CN" altLang="en-US" sz="1000" cap="all" dirty="0">
              <a:solidFill>
                <a:schemeClr val="bg1"/>
              </a:solidFill>
            </a:endParaRPr>
          </a:p>
        </p:txBody>
      </p:sp>
      <p:cxnSp>
        <p:nvCxnSpPr>
          <p:cNvPr id="8" name="直接连接符 7"/>
          <p:cNvCxnSpPr/>
          <p:nvPr userDrawn="1"/>
        </p:nvCxnSpPr>
        <p:spPr>
          <a:xfrm>
            <a:off x="731838" y="6162908"/>
            <a:ext cx="107283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文本占位符 11"/>
          <p:cNvSpPr>
            <a:spLocks noGrp="1"/>
          </p:cNvSpPr>
          <p:nvPr>
            <p:ph type="body" sz="quarter" idx="10" hasCustomPrompt="1"/>
          </p:nvPr>
        </p:nvSpPr>
        <p:spPr>
          <a:xfrm>
            <a:off x="736600" y="6239103"/>
            <a:ext cx="471283" cy="230832"/>
          </a:xfrm>
          <a:prstGeom prst="rect">
            <a:avLst/>
          </a:prstGeom>
        </p:spPr>
        <p:txBody>
          <a:bodyPr wrap="none" lIns="0" tIns="0" rIns="0" bIns="0">
            <a:noAutofit/>
          </a:bodyPr>
          <a:lstStyle>
            <a:lvl1pPr marL="0" indent="0" algn="l" defTabSz="914400" rtl="0" eaLnBrk="1" latinLnBrk="0" hangingPunct="1">
              <a:lnSpc>
                <a:spcPct val="100000"/>
              </a:lnSpc>
              <a:spcBef>
                <a:spcPts val="0"/>
              </a:spcBef>
              <a:buNone/>
              <a:defRPr lang="zh-CN" altLang="en-US" sz="1500" kern="1200" dirty="0">
                <a:solidFill>
                  <a:schemeClr val="bg1"/>
                </a:solidFill>
                <a:latin typeface="+mn-lt"/>
                <a:ea typeface="+mn-ea"/>
                <a:cs typeface="+mn-cs"/>
              </a:defRPr>
            </a:lvl1pPr>
          </a:lstStyle>
          <a:p>
            <a:pPr lvl="0"/>
            <a:r>
              <a:rPr lang="en-US" altLang="zh-CN" dirty="0"/>
              <a:t>20XX</a:t>
            </a:r>
            <a:endParaRPr lang="zh-CN" altLang="en-US" dirty="0"/>
          </a:p>
        </p:txBody>
      </p:sp>
      <p:sp>
        <p:nvSpPr>
          <p:cNvPr id="13" name="文本占位符 12"/>
          <p:cNvSpPr>
            <a:spLocks noGrp="1"/>
          </p:cNvSpPr>
          <p:nvPr>
            <p:ph type="body" sz="quarter" idx="11" hasCustomPrompt="1"/>
          </p:nvPr>
        </p:nvSpPr>
        <p:spPr>
          <a:xfrm>
            <a:off x="10480774" y="6239103"/>
            <a:ext cx="974626" cy="230832"/>
          </a:xfrm>
          <a:prstGeom prst="rect">
            <a:avLst/>
          </a:prstGeom>
        </p:spPr>
        <p:txBody>
          <a:bodyPr wrap="none" lIns="0" tIns="0" rIns="0" bIns="0">
            <a:noAutofit/>
          </a:bodyPr>
          <a:lstStyle>
            <a:lvl1pPr marL="0" indent="0" algn="r" defTabSz="914400" rtl="0" eaLnBrk="1" latinLnBrk="0" hangingPunct="1">
              <a:lnSpc>
                <a:spcPct val="100000"/>
              </a:lnSpc>
              <a:spcBef>
                <a:spcPts val="0"/>
              </a:spcBef>
              <a:buNone/>
              <a:defRPr lang="zh-CN" altLang="en-US" sz="1500" kern="1200" dirty="0">
                <a:solidFill>
                  <a:schemeClr val="bg1"/>
                </a:solidFill>
                <a:latin typeface="+mn-lt"/>
                <a:ea typeface="+mn-ea"/>
                <a:cs typeface="+mn-cs"/>
              </a:defRPr>
            </a:lvl1pPr>
          </a:lstStyle>
          <a:p>
            <a:pPr lvl="0"/>
            <a:r>
              <a:rPr lang="en-US" altLang="zh-CN" dirty="0"/>
              <a:t>March·27th</a:t>
            </a:r>
            <a:endParaRPr lang="en-US" altLang="zh-CN"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内容页_1">
    <p:bg>
      <p:bgPr>
        <a:solidFill>
          <a:schemeClr val="bg1"/>
        </a:solidFill>
        <a:effectLst/>
      </p:bgPr>
    </p:bg>
    <p:spTree>
      <p:nvGrpSpPr>
        <p:cNvPr id="1" name=""/>
        <p:cNvGrpSpPr/>
        <p:nvPr/>
      </p:nvGrpSpPr>
      <p:grpSpPr>
        <a:xfrm>
          <a:off x="0" y="0"/>
          <a:ext cx="0" cy="0"/>
          <a:chOff x="0" y="0"/>
          <a:chExt cx="0" cy="0"/>
        </a:xfrm>
      </p:grpSpPr>
      <p:grpSp>
        <p:nvGrpSpPr>
          <p:cNvPr id="10" name="组合 9"/>
          <p:cNvGrpSpPr/>
          <p:nvPr userDrawn="1"/>
        </p:nvGrpSpPr>
        <p:grpSpPr>
          <a:xfrm>
            <a:off x="736600" y="266700"/>
            <a:ext cx="1661579" cy="222249"/>
            <a:chOff x="8759825" y="266700"/>
            <a:chExt cx="1495425" cy="200025"/>
          </a:xfrm>
          <a:solidFill>
            <a:srgbClr val="404040"/>
          </a:solidFill>
        </p:grpSpPr>
        <p:sp>
          <p:nvSpPr>
            <p:cNvPr id="11" name="任意多边形: 形状 10"/>
            <p:cNvSpPr/>
            <p:nvPr/>
          </p:nvSpPr>
          <p:spPr>
            <a:xfrm>
              <a:off x="9836150" y="276225"/>
              <a:ext cx="114300" cy="190500"/>
            </a:xfrm>
            <a:custGeom>
              <a:avLst/>
              <a:gdLst>
                <a:gd name="connsiteX0" fmla="*/ 64803 w 114300"/>
                <a:gd name="connsiteY0" fmla="*/ 115 h 190500"/>
                <a:gd name="connsiteX1" fmla="*/ 105475 w 114300"/>
                <a:gd name="connsiteY1" fmla="*/ 6782 h 190500"/>
                <a:gd name="connsiteX2" fmla="*/ 105475 w 114300"/>
                <a:gd name="connsiteY2" fmla="*/ 32719 h 190500"/>
                <a:gd name="connsiteX3" fmla="*/ 62992 w 114300"/>
                <a:gd name="connsiteY3" fmla="*/ 21175 h 190500"/>
                <a:gd name="connsiteX4" fmla="*/ 35180 w 114300"/>
                <a:gd name="connsiteY4" fmla="*/ 28252 h 190500"/>
                <a:gd name="connsiteX5" fmla="*/ 24417 w 114300"/>
                <a:gd name="connsiteY5" fmla="*/ 47950 h 190500"/>
                <a:gd name="connsiteX6" fmla="*/ 31845 w 114300"/>
                <a:gd name="connsiteY6" fmla="*/ 66152 h 190500"/>
                <a:gd name="connsiteX7" fmla="*/ 64135 w 114300"/>
                <a:gd name="connsiteY7" fmla="*/ 85307 h 190500"/>
                <a:gd name="connsiteX8" fmla="*/ 102426 w 114300"/>
                <a:gd name="connsiteY8" fmla="*/ 111253 h 190500"/>
                <a:gd name="connsiteX9" fmla="*/ 113380 w 114300"/>
                <a:gd name="connsiteY9" fmla="*/ 140402 h 190500"/>
                <a:gd name="connsiteX10" fmla="*/ 95568 w 114300"/>
                <a:gd name="connsiteY10" fmla="*/ 177646 h 190500"/>
                <a:gd name="connsiteX11" fmla="*/ 46228 w 114300"/>
                <a:gd name="connsiteY11" fmla="*/ 190615 h 190500"/>
                <a:gd name="connsiteX12" fmla="*/ 20511 w 114300"/>
                <a:gd name="connsiteY12" fmla="*/ 187580 h 190500"/>
                <a:gd name="connsiteX13" fmla="*/ -920 w 114300"/>
                <a:gd name="connsiteY13" fmla="*/ 180025 h 190500"/>
                <a:gd name="connsiteX14" fmla="*/ -920 w 114300"/>
                <a:gd name="connsiteY14" fmla="*/ 152896 h 190500"/>
                <a:gd name="connsiteX15" fmla="*/ 21940 w 114300"/>
                <a:gd name="connsiteY15" fmla="*/ 165033 h 190500"/>
                <a:gd name="connsiteX16" fmla="*/ 48991 w 114300"/>
                <a:gd name="connsiteY16" fmla="*/ 169792 h 190500"/>
                <a:gd name="connsiteX17" fmla="*/ 88139 w 114300"/>
                <a:gd name="connsiteY17" fmla="*/ 142187 h 190500"/>
                <a:gd name="connsiteX18" fmla="*/ 83948 w 114300"/>
                <a:gd name="connsiteY18" fmla="*/ 128264 h 190500"/>
                <a:gd name="connsiteX19" fmla="*/ 72422 w 114300"/>
                <a:gd name="connsiteY19" fmla="*/ 117320 h 190500"/>
                <a:gd name="connsiteX20" fmla="*/ 44990 w 114300"/>
                <a:gd name="connsiteY20" fmla="*/ 102680 h 190500"/>
                <a:gd name="connsiteX21" fmla="*/ 8128 w 114300"/>
                <a:gd name="connsiteY21" fmla="*/ 77039 h 190500"/>
                <a:gd name="connsiteX22" fmla="*/ -825 w 114300"/>
                <a:gd name="connsiteY22" fmla="*/ 49969 h 190500"/>
                <a:gd name="connsiteX23" fmla="*/ 17844 w 114300"/>
                <a:gd name="connsiteY23" fmla="*/ 13564 h 190500"/>
                <a:gd name="connsiteX24" fmla="*/ 64803 w 114300"/>
                <a:gd name="connsiteY24" fmla="*/ 11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4300" h="190500">
                  <a:moveTo>
                    <a:pt x="64803" y="115"/>
                  </a:moveTo>
                  <a:cubicBezTo>
                    <a:pt x="83281" y="115"/>
                    <a:pt x="96807" y="2334"/>
                    <a:pt x="105475" y="6782"/>
                  </a:cubicBezTo>
                  <a:lnTo>
                    <a:pt x="105475" y="32719"/>
                  </a:lnTo>
                  <a:cubicBezTo>
                    <a:pt x="94235" y="25023"/>
                    <a:pt x="80043" y="21175"/>
                    <a:pt x="62992" y="21175"/>
                  </a:cubicBezTo>
                  <a:cubicBezTo>
                    <a:pt x="51563" y="21175"/>
                    <a:pt x="42324" y="23537"/>
                    <a:pt x="35180" y="28252"/>
                  </a:cubicBezTo>
                  <a:cubicBezTo>
                    <a:pt x="28036" y="32976"/>
                    <a:pt x="24417" y="39539"/>
                    <a:pt x="24417" y="47950"/>
                  </a:cubicBezTo>
                  <a:cubicBezTo>
                    <a:pt x="24417" y="55408"/>
                    <a:pt x="26893" y="61475"/>
                    <a:pt x="31845" y="66152"/>
                  </a:cubicBezTo>
                  <a:cubicBezTo>
                    <a:pt x="36799" y="70838"/>
                    <a:pt x="47562" y="77220"/>
                    <a:pt x="64135" y="85307"/>
                  </a:cubicBezTo>
                  <a:cubicBezTo>
                    <a:pt x="82424" y="93955"/>
                    <a:pt x="95187" y="102604"/>
                    <a:pt x="102426" y="111253"/>
                  </a:cubicBezTo>
                  <a:cubicBezTo>
                    <a:pt x="109760" y="119892"/>
                    <a:pt x="113380" y="129617"/>
                    <a:pt x="113380" y="140402"/>
                  </a:cubicBezTo>
                  <a:cubicBezTo>
                    <a:pt x="113380" y="156584"/>
                    <a:pt x="107475" y="168999"/>
                    <a:pt x="95568" y="177646"/>
                  </a:cubicBezTo>
                  <a:cubicBezTo>
                    <a:pt x="83757" y="186292"/>
                    <a:pt x="67279" y="190615"/>
                    <a:pt x="46228" y="190615"/>
                  </a:cubicBezTo>
                  <a:cubicBezTo>
                    <a:pt x="38895" y="190615"/>
                    <a:pt x="30322" y="189603"/>
                    <a:pt x="20511" y="187580"/>
                  </a:cubicBezTo>
                  <a:cubicBezTo>
                    <a:pt x="10700" y="185558"/>
                    <a:pt x="3556" y="183040"/>
                    <a:pt x="-920" y="180025"/>
                  </a:cubicBezTo>
                  <a:lnTo>
                    <a:pt x="-920" y="152896"/>
                  </a:lnTo>
                  <a:cubicBezTo>
                    <a:pt x="4795" y="157814"/>
                    <a:pt x="12415" y="161859"/>
                    <a:pt x="21940" y="165033"/>
                  </a:cubicBezTo>
                  <a:cubicBezTo>
                    <a:pt x="31465" y="168206"/>
                    <a:pt x="40418" y="169792"/>
                    <a:pt x="48991" y="169792"/>
                  </a:cubicBezTo>
                  <a:cubicBezTo>
                    <a:pt x="75089" y="169792"/>
                    <a:pt x="88139" y="160590"/>
                    <a:pt x="88139" y="142187"/>
                  </a:cubicBezTo>
                  <a:cubicBezTo>
                    <a:pt x="88139" y="137030"/>
                    <a:pt x="86805" y="132389"/>
                    <a:pt x="83948" y="128264"/>
                  </a:cubicBezTo>
                  <a:cubicBezTo>
                    <a:pt x="81185" y="124140"/>
                    <a:pt x="77280" y="120492"/>
                    <a:pt x="72422" y="117320"/>
                  </a:cubicBezTo>
                  <a:cubicBezTo>
                    <a:pt x="67564" y="114148"/>
                    <a:pt x="58421" y="109262"/>
                    <a:pt x="44990" y="102680"/>
                  </a:cubicBezTo>
                  <a:cubicBezTo>
                    <a:pt x="26321" y="93479"/>
                    <a:pt x="14034" y="84935"/>
                    <a:pt x="8128" y="77039"/>
                  </a:cubicBezTo>
                  <a:cubicBezTo>
                    <a:pt x="2127" y="69152"/>
                    <a:pt x="-825" y="60123"/>
                    <a:pt x="-825" y="49969"/>
                  </a:cubicBezTo>
                  <a:cubicBezTo>
                    <a:pt x="-825" y="34662"/>
                    <a:pt x="5367" y="22527"/>
                    <a:pt x="17844" y="13564"/>
                  </a:cubicBezTo>
                  <a:cubicBezTo>
                    <a:pt x="30227" y="4601"/>
                    <a:pt x="45848" y="115"/>
                    <a:pt x="64803" y="115"/>
                  </a:cubicBezTo>
                  <a:close/>
                </a:path>
              </a:pathLst>
            </a:custGeom>
            <a:grpFill/>
            <a:ln w="9525" cap="flat">
              <a:noFill/>
              <a:prstDash val="solid"/>
              <a:miter/>
            </a:ln>
          </p:spPr>
          <p:txBody>
            <a:bodyPr rtlCol="0" anchor="ctr">
              <a:noAutofit/>
            </a:bodyPr>
            <a:lstStyle/>
            <a:p>
              <a:endParaRPr lang="zh-CN" altLang="en-US"/>
            </a:p>
          </p:txBody>
        </p:sp>
        <p:sp>
          <p:nvSpPr>
            <p:cNvPr id="12" name="任意多边形: 形状 11"/>
            <p:cNvSpPr/>
            <p:nvPr/>
          </p:nvSpPr>
          <p:spPr>
            <a:xfrm>
              <a:off x="9407525" y="276225"/>
              <a:ext cx="114300" cy="180975"/>
            </a:xfrm>
            <a:custGeom>
              <a:avLst/>
              <a:gdLst>
                <a:gd name="connsiteX0" fmla="*/ -920 w 114300"/>
                <a:gd name="connsiteY0" fmla="*/ 115 h 180975"/>
                <a:gd name="connsiteX1" fmla="*/ 51039 w 114300"/>
                <a:gd name="connsiteY1" fmla="*/ 115 h 180975"/>
                <a:gd name="connsiteX2" fmla="*/ 97026 w 114300"/>
                <a:gd name="connsiteY2" fmla="*/ 14250 h 180975"/>
                <a:gd name="connsiteX3" fmla="*/ 113380 w 114300"/>
                <a:gd name="connsiteY3" fmla="*/ 54674 h 180975"/>
                <a:gd name="connsiteX4" fmla="*/ 94254 w 114300"/>
                <a:gd name="connsiteY4" fmla="*/ 97842 h 180975"/>
                <a:gd name="connsiteX5" fmla="*/ 46429 w 114300"/>
                <a:gd name="connsiteY5" fmla="*/ 113443 h 180975"/>
                <a:gd name="connsiteX6" fmla="*/ 22693 w 114300"/>
                <a:gd name="connsiteY6" fmla="*/ 113443 h 180975"/>
                <a:gd name="connsiteX7" fmla="*/ 22693 w 114300"/>
                <a:gd name="connsiteY7" fmla="*/ 181090 h 180975"/>
                <a:gd name="connsiteX8" fmla="*/ -920 w 114300"/>
                <a:gd name="connsiteY8" fmla="*/ 181090 h 180975"/>
                <a:gd name="connsiteX9" fmla="*/ -920 w 114300"/>
                <a:gd name="connsiteY9" fmla="*/ 115 h 180975"/>
                <a:gd name="connsiteX10" fmla="*/ 22693 w 114300"/>
                <a:gd name="connsiteY10" fmla="*/ 20679 h 180975"/>
                <a:gd name="connsiteX11" fmla="*/ 22693 w 114300"/>
                <a:gd name="connsiteY11" fmla="*/ 92879 h 180975"/>
                <a:gd name="connsiteX12" fmla="*/ 44543 w 114300"/>
                <a:gd name="connsiteY12" fmla="*/ 92879 h 180975"/>
                <a:gd name="connsiteX13" fmla="*/ 77366 w 114300"/>
                <a:gd name="connsiteY13" fmla="*/ 83240 h 180975"/>
                <a:gd name="connsiteX14" fmla="*/ 88586 w 114300"/>
                <a:gd name="connsiteY14" fmla="*/ 55608 h 180975"/>
                <a:gd name="connsiteX15" fmla="*/ 46781 w 114300"/>
                <a:gd name="connsiteY15" fmla="*/ 20679 h 180975"/>
                <a:gd name="connsiteX16" fmla="*/ 22693 w 114300"/>
                <a:gd name="connsiteY16" fmla="*/ 20679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300" h="180975">
                  <a:moveTo>
                    <a:pt x="-920" y="115"/>
                  </a:moveTo>
                  <a:lnTo>
                    <a:pt x="51039" y="115"/>
                  </a:lnTo>
                  <a:cubicBezTo>
                    <a:pt x="70794" y="115"/>
                    <a:pt x="86119" y="4830"/>
                    <a:pt x="97026" y="14250"/>
                  </a:cubicBezTo>
                  <a:cubicBezTo>
                    <a:pt x="107931" y="23680"/>
                    <a:pt x="113380" y="37148"/>
                    <a:pt x="113380" y="54674"/>
                  </a:cubicBezTo>
                  <a:cubicBezTo>
                    <a:pt x="113380" y="72438"/>
                    <a:pt x="107008" y="86821"/>
                    <a:pt x="94254" y="97842"/>
                  </a:cubicBezTo>
                  <a:cubicBezTo>
                    <a:pt x="81500" y="108871"/>
                    <a:pt x="65555" y="114063"/>
                    <a:pt x="46429" y="113443"/>
                  </a:cubicBezTo>
                  <a:lnTo>
                    <a:pt x="22693" y="113443"/>
                  </a:lnTo>
                  <a:lnTo>
                    <a:pt x="22693" y="181090"/>
                  </a:lnTo>
                  <a:lnTo>
                    <a:pt x="-920" y="181090"/>
                  </a:lnTo>
                  <a:lnTo>
                    <a:pt x="-920" y="115"/>
                  </a:lnTo>
                  <a:close/>
                  <a:moveTo>
                    <a:pt x="22693" y="20679"/>
                  </a:moveTo>
                  <a:lnTo>
                    <a:pt x="22693" y="92879"/>
                  </a:lnTo>
                  <a:lnTo>
                    <a:pt x="44543" y="92879"/>
                  </a:lnTo>
                  <a:cubicBezTo>
                    <a:pt x="58944" y="92879"/>
                    <a:pt x="69889" y="89669"/>
                    <a:pt x="77366" y="83240"/>
                  </a:cubicBezTo>
                  <a:cubicBezTo>
                    <a:pt x="84843" y="76820"/>
                    <a:pt x="88586" y="67609"/>
                    <a:pt x="88586" y="55608"/>
                  </a:cubicBezTo>
                  <a:cubicBezTo>
                    <a:pt x="88586" y="32319"/>
                    <a:pt x="74652" y="20679"/>
                    <a:pt x="46781" y="20679"/>
                  </a:cubicBezTo>
                  <a:lnTo>
                    <a:pt x="22693" y="20679"/>
                  </a:lnTo>
                  <a:close/>
                </a:path>
              </a:pathLst>
            </a:custGeom>
            <a:grpFill/>
            <a:ln w="9525" cap="flat">
              <a:noFill/>
              <a:prstDash val="solid"/>
              <a:miter/>
            </a:ln>
          </p:spPr>
          <p:txBody>
            <a:bodyPr rtlCol="0" anchor="ctr">
              <a:noAutofit/>
            </a:bodyPr>
            <a:lstStyle/>
            <a:p>
              <a:endParaRPr lang="zh-CN" altLang="en-US"/>
            </a:p>
          </p:txBody>
        </p:sp>
        <p:sp>
          <p:nvSpPr>
            <p:cNvPr id="13" name="任意多边形: 形状 12"/>
            <p:cNvSpPr/>
            <p:nvPr/>
          </p:nvSpPr>
          <p:spPr>
            <a:xfrm>
              <a:off x="9550400" y="276225"/>
              <a:ext cx="95250" cy="180975"/>
            </a:xfrm>
            <a:custGeom>
              <a:avLst/>
              <a:gdLst>
                <a:gd name="connsiteX0" fmla="*/ -920 w 95250"/>
                <a:gd name="connsiteY0" fmla="*/ 115 h 180975"/>
                <a:gd name="connsiteX1" fmla="*/ 22416 w 95250"/>
                <a:gd name="connsiteY1" fmla="*/ 115 h 180975"/>
                <a:gd name="connsiteX2" fmla="*/ 22416 w 95250"/>
                <a:gd name="connsiteY2" fmla="*/ 160410 h 180975"/>
                <a:gd name="connsiteX3" fmla="*/ 94330 w 95250"/>
                <a:gd name="connsiteY3" fmla="*/ 160410 h 180975"/>
                <a:gd name="connsiteX4" fmla="*/ 94330 w 95250"/>
                <a:gd name="connsiteY4" fmla="*/ 181090 h 180975"/>
                <a:gd name="connsiteX5" fmla="*/ -920 w 95250"/>
                <a:gd name="connsiteY5" fmla="*/ 181090 h 180975"/>
                <a:gd name="connsiteX6" fmla="*/ -920 w 95250"/>
                <a:gd name="connsiteY6" fmla="*/ 115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180975">
                  <a:moveTo>
                    <a:pt x="-920" y="115"/>
                  </a:moveTo>
                  <a:lnTo>
                    <a:pt x="22416" y="115"/>
                  </a:lnTo>
                  <a:lnTo>
                    <a:pt x="22416" y="160410"/>
                  </a:lnTo>
                  <a:lnTo>
                    <a:pt x="94330" y="160410"/>
                  </a:lnTo>
                  <a:lnTo>
                    <a:pt x="94330" y="181090"/>
                  </a:lnTo>
                  <a:lnTo>
                    <a:pt x="-920" y="181090"/>
                  </a:lnTo>
                  <a:lnTo>
                    <a:pt x="-920" y="115"/>
                  </a:lnTo>
                  <a:close/>
                </a:path>
              </a:pathLst>
            </a:custGeom>
            <a:grpFill/>
            <a:ln w="9525" cap="flat">
              <a:noFill/>
              <a:prstDash val="solid"/>
              <a:miter/>
            </a:ln>
          </p:spPr>
          <p:txBody>
            <a:bodyPr rtlCol="0" anchor="ctr">
              <a:noAutofit/>
            </a:bodyPr>
            <a:lstStyle/>
            <a:p>
              <a:endParaRPr lang="zh-CN" altLang="en-US"/>
            </a:p>
          </p:txBody>
        </p:sp>
        <p:sp>
          <p:nvSpPr>
            <p:cNvPr id="14" name="任意多边形: 形状 13"/>
            <p:cNvSpPr/>
            <p:nvPr/>
          </p:nvSpPr>
          <p:spPr>
            <a:xfrm>
              <a:off x="9664700" y="276225"/>
              <a:ext cx="142875" cy="190500"/>
            </a:xfrm>
            <a:custGeom>
              <a:avLst/>
              <a:gdLst>
                <a:gd name="connsiteX0" fmla="*/ -920 w 142875"/>
                <a:gd name="connsiteY0" fmla="*/ 115 h 190500"/>
                <a:gd name="connsiteX1" fmla="*/ 23559 w 142875"/>
                <a:gd name="connsiteY1" fmla="*/ 115 h 190500"/>
                <a:gd name="connsiteX2" fmla="*/ 23559 w 142875"/>
                <a:gd name="connsiteY2" fmla="*/ 112843 h 190500"/>
                <a:gd name="connsiteX3" fmla="*/ 71280 w 142875"/>
                <a:gd name="connsiteY3" fmla="*/ 169086 h 190500"/>
                <a:gd name="connsiteX4" fmla="*/ 117476 w 142875"/>
                <a:gd name="connsiteY4" fmla="*/ 114653 h 190500"/>
                <a:gd name="connsiteX5" fmla="*/ 117476 w 142875"/>
                <a:gd name="connsiteY5" fmla="*/ 115 h 190500"/>
                <a:gd name="connsiteX6" fmla="*/ 141955 w 142875"/>
                <a:gd name="connsiteY6" fmla="*/ 115 h 190500"/>
                <a:gd name="connsiteX7" fmla="*/ 141955 w 142875"/>
                <a:gd name="connsiteY7" fmla="*/ 111148 h 190500"/>
                <a:gd name="connsiteX8" fmla="*/ 68994 w 142875"/>
                <a:gd name="connsiteY8" fmla="*/ 190615 h 190500"/>
                <a:gd name="connsiteX9" fmla="*/ -920 w 142875"/>
                <a:gd name="connsiteY9" fmla="*/ 113929 h 190500"/>
                <a:gd name="connsiteX10" fmla="*/ -920 w 142875"/>
                <a:gd name="connsiteY10" fmla="*/ 11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875" h="190500">
                  <a:moveTo>
                    <a:pt x="-920" y="115"/>
                  </a:moveTo>
                  <a:lnTo>
                    <a:pt x="23559" y="115"/>
                  </a:lnTo>
                  <a:lnTo>
                    <a:pt x="23559" y="112843"/>
                  </a:lnTo>
                  <a:cubicBezTo>
                    <a:pt x="23559" y="150338"/>
                    <a:pt x="39466" y="169086"/>
                    <a:pt x="71280" y="169086"/>
                  </a:cubicBezTo>
                  <a:cubicBezTo>
                    <a:pt x="102046" y="169086"/>
                    <a:pt x="117476" y="150942"/>
                    <a:pt x="117476" y="114653"/>
                  </a:cubicBezTo>
                  <a:lnTo>
                    <a:pt x="117476" y="115"/>
                  </a:lnTo>
                  <a:lnTo>
                    <a:pt x="141955" y="115"/>
                  </a:lnTo>
                  <a:lnTo>
                    <a:pt x="141955" y="111148"/>
                  </a:lnTo>
                  <a:cubicBezTo>
                    <a:pt x="141955" y="164126"/>
                    <a:pt x="117666" y="190615"/>
                    <a:pt x="68994" y="190615"/>
                  </a:cubicBezTo>
                  <a:cubicBezTo>
                    <a:pt x="22416" y="190615"/>
                    <a:pt x="-920" y="165054"/>
                    <a:pt x="-920" y="113929"/>
                  </a:cubicBezTo>
                  <a:lnTo>
                    <a:pt x="-920" y="115"/>
                  </a:lnTo>
                  <a:close/>
                </a:path>
              </a:pathLst>
            </a:custGeom>
            <a:grpFill/>
            <a:ln w="9525" cap="flat">
              <a:noFill/>
              <a:prstDash val="solid"/>
              <a:miter/>
            </a:ln>
          </p:spPr>
          <p:txBody>
            <a:bodyPr rtlCol="0" anchor="ctr">
              <a:noAutofit/>
            </a:bodyPr>
            <a:lstStyle/>
            <a:p>
              <a:endParaRPr lang="zh-CN" altLang="en-US"/>
            </a:p>
          </p:txBody>
        </p:sp>
        <p:sp>
          <p:nvSpPr>
            <p:cNvPr id="15" name="任意多边形: 形状 14"/>
            <p:cNvSpPr/>
            <p:nvPr/>
          </p:nvSpPr>
          <p:spPr>
            <a:xfrm>
              <a:off x="8759825" y="266700"/>
              <a:ext cx="1495425" cy="200025"/>
            </a:xfrm>
            <a:custGeom>
              <a:avLst/>
              <a:gdLst>
                <a:gd name="connsiteX0" fmla="*/ 1231520 w 1495425"/>
                <a:gd name="connsiteY0" fmla="*/ 178615 h 200025"/>
                <a:gd name="connsiteX1" fmla="*/ 1238950 w 1495425"/>
                <a:gd name="connsiteY1" fmla="*/ 181469 h 200025"/>
                <a:gd name="connsiteX2" fmla="*/ 1241902 w 1495425"/>
                <a:gd name="connsiteY2" fmla="*/ 188842 h 200025"/>
                <a:gd name="connsiteX3" fmla="*/ 1238950 w 1495425"/>
                <a:gd name="connsiteY3" fmla="*/ 196216 h 200025"/>
                <a:gd name="connsiteX4" fmla="*/ 1231520 w 1495425"/>
                <a:gd name="connsiteY4" fmla="*/ 199188 h 200025"/>
                <a:gd name="connsiteX5" fmla="*/ 1224376 w 1495425"/>
                <a:gd name="connsiteY5" fmla="*/ 196216 h 200025"/>
                <a:gd name="connsiteX6" fmla="*/ 1221518 w 1495425"/>
                <a:gd name="connsiteY6" fmla="*/ 188842 h 200025"/>
                <a:gd name="connsiteX7" fmla="*/ 1224376 w 1495425"/>
                <a:gd name="connsiteY7" fmla="*/ 181469 h 200025"/>
                <a:gd name="connsiteX8" fmla="*/ 1231520 w 1495425"/>
                <a:gd name="connsiteY8" fmla="*/ 178615 h 200025"/>
                <a:gd name="connsiteX9" fmla="*/ 560884 w 1495425"/>
                <a:gd name="connsiteY9" fmla="*/ 73010 h 200025"/>
                <a:gd name="connsiteX10" fmla="*/ 530756 w 1495425"/>
                <a:gd name="connsiteY10" fmla="*/ 85383 h 200025"/>
                <a:gd name="connsiteX11" fmla="*/ 516050 w 1495425"/>
                <a:gd name="connsiteY11" fmla="*/ 120940 h 200025"/>
                <a:gd name="connsiteX12" fmla="*/ 599060 w 1495425"/>
                <a:gd name="connsiteY12" fmla="*/ 120940 h 200025"/>
                <a:gd name="connsiteX13" fmla="*/ 588316 w 1495425"/>
                <a:gd name="connsiteY13" fmla="*/ 85564 h 200025"/>
                <a:gd name="connsiteX14" fmla="*/ 560884 w 1495425"/>
                <a:gd name="connsiteY14" fmla="*/ 73010 h 200025"/>
                <a:gd name="connsiteX15" fmla="*/ 345142 w 1495425"/>
                <a:gd name="connsiteY15" fmla="*/ 65399 h 200025"/>
                <a:gd name="connsiteX16" fmla="*/ 356696 w 1495425"/>
                <a:gd name="connsiteY16" fmla="*/ 65399 h 200025"/>
                <a:gd name="connsiteX17" fmla="*/ 356696 w 1495425"/>
                <a:gd name="connsiteY17" fmla="*/ 196929 h 200025"/>
                <a:gd name="connsiteX18" fmla="*/ 345142 w 1495425"/>
                <a:gd name="connsiteY18" fmla="*/ 196929 h 200025"/>
                <a:gd name="connsiteX19" fmla="*/ 1451452 w 1495425"/>
                <a:gd name="connsiteY19" fmla="*/ 62189 h 200025"/>
                <a:gd name="connsiteX20" fmla="*/ 1483456 w 1495425"/>
                <a:gd name="connsiteY20" fmla="*/ 76401 h 200025"/>
                <a:gd name="connsiteX21" fmla="*/ 1494505 w 1495425"/>
                <a:gd name="connsiteY21" fmla="*/ 116892 h 200025"/>
                <a:gd name="connsiteX22" fmla="*/ 1494505 w 1495425"/>
                <a:gd name="connsiteY22" fmla="*/ 196929 h 200025"/>
                <a:gd name="connsiteX23" fmla="*/ 1482980 w 1495425"/>
                <a:gd name="connsiteY23" fmla="*/ 196929 h 200025"/>
                <a:gd name="connsiteX24" fmla="*/ 1482980 w 1495425"/>
                <a:gd name="connsiteY24" fmla="*/ 120340 h 200025"/>
                <a:gd name="connsiteX25" fmla="*/ 1449452 w 1495425"/>
                <a:gd name="connsiteY25" fmla="*/ 73010 h 200025"/>
                <a:gd name="connsiteX26" fmla="*/ 1418686 w 1495425"/>
                <a:gd name="connsiteY26" fmla="*/ 86926 h 200025"/>
                <a:gd name="connsiteX27" fmla="*/ 1406685 w 1495425"/>
                <a:gd name="connsiteY27" fmla="*/ 121416 h 200025"/>
                <a:gd name="connsiteX28" fmla="*/ 1406685 w 1495425"/>
                <a:gd name="connsiteY28" fmla="*/ 196929 h 200025"/>
                <a:gd name="connsiteX29" fmla="*/ 1395159 w 1495425"/>
                <a:gd name="connsiteY29" fmla="*/ 196929 h 200025"/>
                <a:gd name="connsiteX30" fmla="*/ 1395159 w 1495425"/>
                <a:gd name="connsiteY30" fmla="*/ 65399 h 200025"/>
                <a:gd name="connsiteX31" fmla="*/ 1406685 w 1495425"/>
                <a:gd name="connsiteY31" fmla="*/ 65399 h 200025"/>
                <a:gd name="connsiteX32" fmla="*/ 1406685 w 1495425"/>
                <a:gd name="connsiteY32" fmla="*/ 89307 h 200025"/>
                <a:gd name="connsiteX33" fmla="*/ 1407256 w 1495425"/>
                <a:gd name="connsiteY33" fmla="*/ 89307 h 200025"/>
                <a:gd name="connsiteX34" fmla="*/ 1451452 w 1495425"/>
                <a:gd name="connsiteY34" fmla="*/ 62189 h 200025"/>
                <a:gd name="connsiteX35" fmla="*/ 1336295 w 1495425"/>
                <a:gd name="connsiteY35" fmla="*/ 62189 h 200025"/>
                <a:gd name="connsiteX36" fmla="*/ 1364870 w 1495425"/>
                <a:gd name="connsiteY36" fmla="*/ 68371 h 200025"/>
                <a:gd name="connsiteX37" fmla="*/ 1364870 w 1495425"/>
                <a:gd name="connsiteY37" fmla="*/ 81697 h 200025"/>
                <a:gd name="connsiteX38" fmla="*/ 1334485 w 1495425"/>
                <a:gd name="connsiteY38" fmla="*/ 73010 h 200025"/>
                <a:gd name="connsiteX39" fmla="*/ 1297718 w 1495425"/>
                <a:gd name="connsiteY39" fmla="*/ 89660 h 200025"/>
                <a:gd name="connsiteX40" fmla="*/ 1283621 w 1495425"/>
                <a:gd name="connsiteY40" fmla="*/ 132713 h 200025"/>
                <a:gd name="connsiteX41" fmla="*/ 1296480 w 1495425"/>
                <a:gd name="connsiteY41" fmla="*/ 173799 h 200025"/>
                <a:gd name="connsiteX42" fmla="*/ 1330676 w 1495425"/>
                <a:gd name="connsiteY42" fmla="*/ 189318 h 200025"/>
                <a:gd name="connsiteX43" fmla="*/ 1364393 w 1495425"/>
                <a:gd name="connsiteY43" fmla="*/ 178853 h 200025"/>
                <a:gd name="connsiteX44" fmla="*/ 1364393 w 1495425"/>
                <a:gd name="connsiteY44" fmla="*/ 191102 h 200025"/>
                <a:gd name="connsiteX45" fmla="*/ 1330103 w 1495425"/>
                <a:gd name="connsiteY45" fmla="*/ 200140 h 200025"/>
                <a:gd name="connsiteX46" fmla="*/ 1287622 w 1495425"/>
                <a:gd name="connsiteY46" fmla="*/ 181707 h 200025"/>
                <a:gd name="connsiteX47" fmla="*/ 1271429 w 1495425"/>
                <a:gd name="connsiteY47" fmla="*/ 133427 h 200025"/>
                <a:gd name="connsiteX48" fmla="*/ 1289622 w 1495425"/>
                <a:gd name="connsiteY48" fmla="*/ 82173 h 200025"/>
                <a:gd name="connsiteX49" fmla="*/ 1336295 w 1495425"/>
                <a:gd name="connsiteY49" fmla="*/ 62189 h 200025"/>
                <a:gd name="connsiteX50" fmla="*/ 561350 w 1495425"/>
                <a:gd name="connsiteY50" fmla="*/ 62189 h 200025"/>
                <a:gd name="connsiteX51" fmla="*/ 598298 w 1495425"/>
                <a:gd name="connsiteY51" fmla="*/ 79439 h 200025"/>
                <a:gd name="connsiteX52" fmla="*/ 611204 w 1495425"/>
                <a:gd name="connsiteY52" fmla="*/ 126407 h 200025"/>
                <a:gd name="connsiteX53" fmla="*/ 611204 w 1495425"/>
                <a:gd name="connsiteY53" fmla="*/ 131646 h 200025"/>
                <a:gd name="connsiteX54" fmla="*/ 515583 w 1495425"/>
                <a:gd name="connsiteY54" fmla="*/ 131646 h 200025"/>
                <a:gd name="connsiteX55" fmla="*/ 527841 w 1495425"/>
                <a:gd name="connsiteY55" fmla="*/ 174037 h 200025"/>
                <a:gd name="connsiteX56" fmla="*/ 561579 w 1495425"/>
                <a:gd name="connsiteY56" fmla="*/ 189318 h 200025"/>
                <a:gd name="connsiteX57" fmla="*/ 603965 w 1495425"/>
                <a:gd name="connsiteY57" fmla="*/ 173026 h 200025"/>
                <a:gd name="connsiteX58" fmla="*/ 603965 w 1495425"/>
                <a:gd name="connsiteY58" fmla="*/ 185632 h 200025"/>
                <a:gd name="connsiteX59" fmla="*/ 559245 w 1495425"/>
                <a:gd name="connsiteY59" fmla="*/ 200140 h 200025"/>
                <a:gd name="connsiteX60" fmla="*/ 518849 w 1495425"/>
                <a:gd name="connsiteY60" fmla="*/ 181885 h 200025"/>
                <a:gd name="connsiteX61" fmla="*/ 503438 w 1495425"/>
                <a:gd name="connsiteY61" fmla="*/ 130455 h 200025"/>
                <a:gd name="connsiteX62" fmla="*/ 519555 w 1495425"/>
                <a:gd name="connsiteY62" fmla="*/ 81935 h 200025"/>
                <a:gd name="connsiteX63" fmla="*/ 561350 w 1495425"/>
                <a:gd name="connsiteY63" fmla="*/ 62189 h 200025"/>
                <a:gd name="connsiteX64" fmla="*/ 453880 w 1495425"/>
                <a:gd name="connsiteY64" fmla="*/ 62189 h 200025"/>
                <a:gd name="connsiteX65" fmla="*/ 482483 w 1495425"/>
                <a:gd name="connsiteY65" fmla="*/ 68371 h 200025"/>
                <a:gd name="connsiteX66" fmla="*/ 482483 w 1495425"/>
                <a:gd name="connsiteY66" fmla="*/ 81697 h 200025"/>
                <a:gd name="connsiteX67" fmla="*/ 452127 w 1495425"/>
                <a:gd name="connsiteY67" fmla="*/ 73010 h 200025"/>
                <a:gd name="connsiteX68" fmla="*/ 415351 w 1495425"/>
                <a:gd name="connsiteY68" fmla="*/ 89660 h 200025"/>
                <a:gd name="connsiteX69" fmla="*/ 401225 w 1495425"/>
                <a:gd name="connsiteY69" fmla="*/ 132713 h 200025"/>
                <a:gd name="connsiteX70" fmla="*/ 414122 w 1495425"/>
                <a:gd name="connsiteY70" fmla="*/ 173799 h 200025"/>
                <a:gd name="connsiteX71" fmla="*/ 448279 w 1495425"/>
                <a:gd name="connsiteY71" fmla="*/ 189318 h 200025"/>
                <a:gd name="connsiteX72" fmla="*/ 482017 w 1495425"/>
                <a:gd name="connsiteY72" fmla="*/ 178853 h 200025"/>
                <a:gd name="connsiteX73" fmla="*/ 482017 w 1495425"/>
                <a:gd name="connsiteY73" fmla="*/ 191102 h 200025"/>
                <a:gd name="connsiteX74" fmla="*/ 447689 w 1495425"/>
                <a:gd name="connsiteY74" fmla="*/ 200140 h 200025"/>
                <a:gd name="connsiteX75" fmla="*/ 405255 w 1495425"/>
                <a:gd name="connsiteY75" fmla="*/ 181707 h 200025"/>
                <a:gd name="connsiteX76" fmla="*/ 389081 w 1495425"/>
                <a:gd name="connsiteY76" fmla="*/ 133427 h 200025"/>
                <a:gd name="connsiteX77" fmla="*/ 407236 w 1495425"/>
                <a:gd name="connsiteY77" fmla="*/ 82173 h 200025"/>
                <a:gd name="connsiteX78" fmla="*/ 453880 w 1495425"/>
                <a:gd name="connsiteY78" fmla="*/ 62189 h 200025"/>
                <a:gd name="connsiteX79" fmla="*/ 84195 w 1495425"/>
                <a:gd name="connsiteY79" fmla="*/ 21280 h 200025"/>
                <a:gd name="connsiteX80" fmla="*/ 32294 w 1495425"/>
                <a:gd name="connsiteY80" fmla="*/ 44530 h 200025"/>
                <a:gd name="connsiteX81" fmla="*/ 11920 w 1495425"/>
                <a:gd name="connsiteY81" fmla="*/ 105357 h 200025"/>
                <a:gd name="connsiteX82" fmla="*/ 31189 w 1495425"/>
                <a:gd name="connsiteY82" fmla="*/ 165950 h 200025"/>
                <a:gd name="connsiteX83" fmla="*/ 82671 w 1495425"/>
                <a:gd name="connsiteY83" fmla="*/ 188486 h 200025"/>
                <a:gd name="connsiteX84" fmla="*/ 135735 w 1495425"/>
                <a:gd name="connsiteY84" fmla="*/ 166188 h 200025"/>
                <a:gd name="connsiteX85" fmla="*/ 155300 w 1495425"/>
                <a:gd name="connsiteY85" fmla="*/ 104052 h 200025"/>
                <a:gd name="connsiteX86" fmla="*/ 136202 w 1495425"/>
                <a:gd name="connsiteY86" fmla="*/ 43168 h 200025"/>
                <a:gd name="connsiteX87" fmla="*/ 84195 w 1495425"/>
                <a:gd name="connsiteY87" fmla="*/ 21280 h 200025"/>
                <a:gd name="connsiteX88" fmla="*/ 350857 w 1495425"/>
                <a:gd name="connsiteY88" fmla="*/ 12717 h 200025"/>
                <a:gd name="connsiteX89" fmla="*/ 357696 w 1495425"/>
                <a:gd name="connsiteY89" fmla="*/ 15279 h 200025"/>
                <a:gd name="connsiteX90" fmla="*/ 360668 w 1495425"/>
                <a:gd name="connsiteY90" fmla="*/ 22232 h 200025"/>
                <a:gd name="connsiteX91" fmla="*/ 357753 w 1495425"/>
                <a:gd name="connsiteY91" fmla="*/ 29309 h 200025"/>
                <a:gd name="connsiteX92" fmla="*/ 350857 w 1495425"/>
                <a:gd name="connsiteY92" fmla="*/ 32224 h 200025"/>
                <a:gd name="connsiteX93" fmla="*/ 344152 w 1495425"/>
                <a:gd name="connsiteY93" fmla="*/ 29433 h 200025"/>
                <a:gd name="connsiteX94" fmla="*/ 341285 w 1495425"/>
                <a:gd name="connsiteY94" fmla="*/ 22232 h 200025"/>
                <a:gd name="connsiteX95" fmla="*/ 344209 w 1495425"/>
                <a:gd name="connsiteY95" fmla="*/ 15393 h 200025"/>
                <a:gd name="connsiteX96" fmla="*/ 350857 w 1495425"/>
                <a:gd name="connsiteY96" fmla="*/ 12717 h 200025"/>
                <a:gd name="connsiteX97" fmla="*/ 86291 w 1495425"/>
                <a:gd name="connsiteY97" fmla="*/ 9630 h 200025"/>
                <a:gd name="connsiteX98" fmla="*/ 145489 w 1495425"/>
                <a:gd name="connsiteY98" fmla="*/ 35138 h 200025"/>
                <a:gd name="connsiteX99" fmla="*/ 168139 w 1495425"/>
                <a:gd name="connsiteY99" fmla="*/ 102032 h 200025"/>
                <a:gd name="connsiteX100" fmla="*/ 144965 w 1495425"/>
                <a:gd name="connsiteY100" fmla="*/ 173918 h 200025"/>
                <a:gd name="connsiteX101" fmla="*/ 82910 w 1495425"/>
                <a:gd name="connsiteY101" fmla="*/ 200140 h 200025"/>
                <a:gd name="connsiteX102" fmla="*/ 21845 w 1495425"/>
                <a:gd name="connsiteY102" fmla="*/ 174215 h 200025"/>
                <a:gd name="connsiteX103" fmla="*/ -920 w 1495425"/>
                <a:gd name="connsiteY103" fmla="*/ 106785 h 200025"/>
                <a:gd name="connsiteX104" fmla="*/ 22436 w 1495425"/>
                <a:gd name="connsiteY104" fmla="*/ 36148 h 200025"/>
                <a:gd name="connsiteX105" fmla="*/ 86291 w 1495425"/>
                <a:gd name="connsiteY105" fmla="*/ 9630 h 200025"/>
                <a:gd name="connsiteX106" fmla="*/ 316520 w 1495425"/>
                <a:gd name="connsiteY106" fmla="*/ 115 h 200025"/>
                <a:gd name="connsiteX107" fmla="*/ 330178 w 1495425"/>
                <a:gd name="connsiteY107" fmla="*/ 2611 h 200025"/>
                <a:gd name="connsiteX108" fmla="*/ 330178 w 1495425"/>
                <a:gd name="connsiteY108" fmla="*/ 14622 h 200025"/>
                <a:gd name="connsiteX109" fmla="*/ 316053 w 1495425"/>
                <a:gd name="connsiteY109" fmla="*/ 10935 h 200025"/>
                <a:gd name="connsiteX110" fmla="*/ 292231 w 1495425"/>
                <a:gd name="connsiteY110" fmla="*/ 43520 h 200025"/>
                <a:gd name="connsiteX111" fmla="*/ 292231 w 1495425"/>
                <a:gd name="connsiteY111" fmla="*/ 65399 h 200025"/>
                <a:gd name="connsiteX112" fmla="*/ 326445 w 1495425"/>
                <a:gd name="connsiteY112" fmla="*/ 65399 h 200025"/>
                <a:gd name="connsiteX113" fmla="*/ 326445 w 1495425"/>
                <a:gd name="connsiteY113" fmla="*/ 76220 h 200025"/>
                <a:gd name="connsiteX114" fmla="*/ 292231 w 1495425"/>
                <a:gd name="connsiteY114" fmla="*/ 76220 h 200025"/>
                <a:gd name="connsiteX115" fmla="*/ 292231 w 1495425"/>
                <a:gd name="connsiteY115" fmla="*/ 196929 h 200025"/>
                <a:gd name="connsiteX116" fmla="*/ 280677 w 1495425"/>
                <a:gd name="connsiteY116" fmla="*/ 196929 h 200025"/>
                <a:gd name="connsiteX117" fmla="*/ 280677 w 1495425"/>
                <a:gd name="connsiteY117" fmla="*/ 76220 h 200025"/>
                <a:gd name="connsiteX118" fmla="*/ 257436 w 1495425"/>
                <a:gd name="connsiteY118" fmla="*/ 76220 h 200025"/>
                <a:gd name="connsiteX119" fmla="*/ 257436 w 1495425"/>
                <a:gd name="connsiteY119" fmla="*/ 65399 h 200025"/>
                <a:gd name="connsiteX120" fmla="*/ 280677 w 1495425"/>
                <a:gd name="connsiteY120" fmla="*/ 65399 h 200025"/>
                <a:gd name="connsiteX121" fmla="*/ 280677 w 1495425"/>
                <a:gd name="connsiteY121" fmla="*/ 42568 h 200025"/>
                <a:gd name="connsiteX122" fmla="*/ 290945 w 1495425"/>
                <a:gd name="connsiteY122" fmla="*/ 10935 h 200025"/>
                <a:gd name="connsiteX123" fmla="*/ 316520 w 1495425"/>
                <a:gd name="connsiteY123" fmla="*/ 115 h 200025"/>
                <a:gd name="connsiteX124" fmla="*/ 245044 w 1495425"/>
                <a:gd name="connsiteY124" fmla="*/ 115 h 200025"/>
                <a:gd name="connsiteX125" fmla="*/ 258703 w 1495425"/>
                <a:gd name="connsiteY125" fmla="*/ 2611 h 200025"/>
                <a:gd name="connsiteX126" fmla="*/ 258703 w 1495425"/>
                <a:gd name="connsiteY126" fmla="*/ 14622 h 200025"/>
                <a:gd name="connsiteX127" fmla="*/ 244577 w 1495425"/>
                <a:gd name="connsiteY127" fmla="*/ 10935 h 200025"/>
                <a:gd name="connsiteX128" fmla="*/ 220755 w 1495425"/>
                <a:gd name="connsiteY128" fmla="*/ 43520 h 200025"/>
                <a:gd name="connsiteX129" fmla="*/ 220755 w 1495425"/>
                <a:gd name="connsiteY129" fmla="*/ 65399 h 200025"/>
                <a:gd name="connsiteX130" fmla="*/ 254969 w 1495425"/>
                <a:gd name="connsiteY130" fmla="*/ 65399 h 200025"/>
                <a:gd name="connsiteX131" fmla="*/ 254969 w 1495425"/>
                <a:gd name="connsiteY131" fmla="*/ 76220 h 200025"/>
                <a:gd name="connsiteX132" fmla="*/ 220755 w 1495425"/>
                <a:gd name="connsiteY132" fmla="*/ 76220 h 200025"/>
                <a:gd name="connsiteX133" fmla="*/ 220755 w 1495425"/>
                <a:gd name="connsiteY133" fmla="*/ 196929 h 200025"/>
                <a:gd name="connsiteX134" fmla="*/ 209201 w 1495425"/>
                <a:gd name="connsiteY134" fmla="*/ 196929 h 200025"/>
                <a:gd name="connsiteX135" fmla="*/ 209201 w 1495425"/>
                <a:gd name="connsiteY135" fmla="*/ 76220 h 200025"/>
                <a:gd name="connsiteX136" fmla="*/ 185970 w 1495425"/>
                <a:gd name="connsiteY136" fmla="*/ 76220 h 200025"/>
                <a:gd name="connsiteX137" fmla="*/ 185970 w 1495425"/>
                <a:gd name="connsiteY137" fmla="*/ 65399 h 200025"/>
                <a:gd name="connsiteX138" fmla="*/ 209201 w 1495425"/>
                <a:gd name="connsiteY138" fmla="*/ 65399 h 200025"/>
                <a:gd name="connsiteX139" fmla="*/ 209201 w 1495425"/>
                <a:gd name="connsiteY139" fmla="*/ 42568 h 200025"/>
                <a:gd name="connsiteX140" fmla="*/ 219469 w 1495425"/>
                <a:gd name="connsiteY140" fmla="*/ 10935 h 200025"/>
                <a:gd name="connsiteX141" fmla="*/ 245044 w 1495425"/>
                <a:gd name="connsiteY141" fmla="*/ 115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495425" h="200025">
                  <a:moveTo>
                    <a:pt x="1231520" y="178615"/>
                  </a:moveTo>
                  <a:cubicBezTo>
                    <a:pt x="1234472" y="178615"/>
                    <a:pt x="1236853" y="179567"/>
                    <a:pt x="1238950" y="181469"/>
                  </a:cubicBezTo>
                  <a:cubicBezTo>
                    <a:pt x="1240950" y="183372"/>
                    <a:pt x="1241902" y="185830"/>
                    <a:pt x="1241902" y="188842"/>
                  </a:cubicBezTo>
                  <a:cubicBezTo>
                    <a:pt x="1241902" y="191776"/>
                    <a:pt x="1240950" y="194234"/>
                    <a:pt x="1238950" y="196216"/>
                  </a:cubicBezTo>
                  <a:cubicBezTo>
                    <a:pt x="1236853" y="198198"/>
                    <a:pt x="1234472" y="199188"/>
                    <a:pt x="1231520" y="199188"/>
                  </a:cubicBezTo>
                  <a:cubicBezTo>
                    <a:pt x="1228662" y="199188"/>
                    <a:pt x="1226281" y="198198"/>
                    <a:pt x="1224376" y="196216"/>
                  </a:cubicBezTo>
                  <a:cubicBezTo>
                    <a:pt x="1222471" y="194234"/>
                    <a:pt x="1221518" y="191776"/>
                    <a:pt x="1221518" y="188842"/>
                  </a:cubicBezTo>
                  <a:cubicBezTo>
                    <a:pt x="1221518" y="185830"/>
                    <a:pt x="1222471" y="183372"/>
                    <a:pt x="1224376" y="181469"/>
                  </a:cubicBezTo>
                  <a:cubicBezTo>
                    <a:pt x="1226281" y="179567"/>
                    <a:pt x="1228662" y="178615"/>
                    <a:pt x="1231520" y="178615"/>
                  </a:cubicBezTo>
                  <a:close/>
                  <a:moveTo>
                    <a:pt x="560884" y="73010"/>
                  </a:moveTo>
                  <a:cubicBezTo>
                    <a:pt x="548739" y="73010"/>
                    <a:pt x="538700" y="77134"/>
                    <a:pt x="530756" y="85383"/>
                  </a:cubicBezTo>
                  <a:cubicBezTo>
                    <a:pt x="522822" y="93622"/>
                    <a:pt x="517916" y="105481"/>
                    <a:pt x="516050" y="120940"/>
                  </a:cubicBezTo>
                  <a:lnTo>
                    <a:pt x="599060" y="120940"/>
                  </a:lnTo>
                  <a:cubicBezTo>
                    <a:pt x="598517" y="105719"/>
                    <a:pt x="594936" y="93927"/>
                    <a:pt x="588316" y="85564"/>
                  </a:cubicBezTo>
                  <a:cubicBezTo>
                    <a:pt x="581706" y="77191"/>
                    <a:pt x="572551" y="73010"/>
                    <a:pt x="560884" y="73010"/>
                  </a:cubicBezTo>
                  <a:close/>
                  <a:moveTo>
                    <a:pt x="345142" y="65399"/>
                  </a:moveTo>
                  <a:lnTo>
                    <a:pt x="356696" y="65399"/>
                  </a:lnTo>
                  <a:lnTo>
                    <a:pt x="356696" y="196929"/>
                  </a:lnTo>
                  <a:lnTo>
                    <a:pt x="345142" y="196929"/>
                  </a:lnTo>
                  <a:close/>
                  <a:moveTo>
                    <a:pt x="1451452" y="62189"/>
                  </a:moveTo>
                  <a:cubicBezTo>
                    <a:pt x="1465358" y="62189"/>
                    <a:pt x="1476027" y="66933"/>
                    <a:pt x="1483456" y="76401"/>
                  </a:cubicBezTo>
                  <a:cubicBezTo>
                    <a:pt x="1490790" y="85878"/>
                    <a:pt x="1494505" y="99375"/>
                    <a:pt x="1494505" y="116892"/>
                  </a:cubicBezTo>
                  <a:lnTo>
                    <a:pt x="1494505" y="196929"/>
                  </a:lnTo>
                  <a:lnTo>
                    <a:pt x="1482980" y="196929"/>
                  </a:lnTo>
                  <a:lnTo>
                    <a:pt x="1482980" y="120340"/>
                  </a:lnTo>
                  <a:cubicBezTo>
                    <a:pt x="1482980" y="88793"/>
                    <a:pt x="1471740" y="73010"/>
                    <a:pt x="1449452" y="73010"/>
                  </a:cubicBezTo>
                  <a:cubicBezTo>
                    <a:pt x="1436974" y="73010"/>
                    <a:pt x="1426782" y="77648"/>
                    <a:pt x="1418686" y="86926"/>
                  </a:cubicBezTo>
                  <a:cubicBezTo>
                    <a:pt x="1410685" y="96203"/>
                    <a:pt x="1406685" y="107700"/>
                    <a:pt x="1406685" y="121416"/>
                  </a:cubicBezTo>
                  <a:lnTo>
                    <a:pt x="1406685" y="196929"/>
                  </a:lnTo>
                  <a:lnTo>
                    <a:pt x="1395159" y="196929"/>
                  </a:lnTo>
                  <a:lnTo>
                    <a:pt x="1395159" y="65399"/>
                  </a:lnTo>
                  <a:lnTo>
                    <a:pt x="1406685" y="65399"/>
                  </a:lnTo>
                  <a:lnTo>
                    <a:pt x="1406685" y="89307"/>
                  </a:lnTo>
                  <a:lnTo>
                    <a:pt x="1407256" y="89307"/>
                  </a:lnTo>
                  <a:cubicBezTo>
                    <a:pt x="1416685" y="71229"/>
                    <a:pt x="1431450" y="62189"/>
                    <a:pt x="1451452" y="62189"/>
                  </a:cubicBezTo>
                  <a:close/>
                  <a:moveTo>
                    <a:pt x="1336295" y="62189"/>
                  </a:moveTo>
                  <a:cubicBezTo>
                    <a:pt x="1346106" y="62189"/>
                    <a:pt x="1355631" y="64256"/>
                    <a:pt x="1364870" y="68371"/>
                  </a:cubicBezTo>
                  <a:lnTo>
                    <a:pt x="1364870" y="81697"/>
                  </a:lnTo>
                  <a:cubicBezTo>
                    <a:pt x="1355631" y="75905"/>
                    <a:pt x="1345534" y="73010"/>
                    <a:pt x="1334485" y="73010"/>
                  </a:cubicBezTo>
                  <a:cubicBezTo>
                    <a:pt x="1319436" y="73010"/>
                    <a:pt x="1307148" y="78563"/>
                    <a:pt x="1297718" y="89660"/>
                  </a:cubicBezTo>
                  <a:cubicBezTo>
                    <a:pt x="1288289" y="100766"/>
                    <a:pt x="1283621" y="115110"/>
                    <a:pt x="1283621" y="132713"/>
                  </a:cubicBezTo>
                  <a:cubicBezTo>
                    <a:pt x="1283621" y="149757"/>
                    <a:pt x="1287908" y="163453"/>
                    <a:pt x="1296480" y="173799"/>
                  </a:cubicBezTo>
                  <a:cubicBezTo>
                    <a:pt x="1305053" y="184146"/>
                    <a:pt x="1316483" y="189318"/>
                    <a:pt x="1330676" y="189318"/>
                  </a:cubicBezTo>
                  <a:cubicBezTo>
                    <a:pt x="1343534" y="189318"/>
                    <a:pt x="1354773" y="185830"/>
                    <a:pt x="1364393" y="178853"/>
                  </a:cubicBezTo>
                  <a:lnTo>
                    <a:pt x="1364393" y="191102"/>
                  </a:lnTo>
                  <a:cubicBezTo>
                    <a:pt x="1354773" y="197127"/>
                    <a:pt x="1343343" y="200140"/>
                    <a:pt x="1330103" y="200140"/>
                  </a:cubicBezTo>
                  <a:cubicBezTo>
                    <a:pt x="1312578" y="200140"/>
                    <a:pt x="1298386" y="193995"/>
                    <a:pt x="1287622" y="181707"/>
                  </a:cubicBezTo>
                  <a:cubicBezTo>
                    <a:pt x="1276859" y="169419"/>
                    <a:pt x="1271429" y="153325"/>
                    <a:pt x="1271429" y="133427"/>
                  </a:cubicBezTo>
                  <a:cubicBezTo>
                    <a:pt x="1271429" y="112577"/>
                    <a:pt x="1277525" y="95489"/>
                    <a:pt x="1289622" y="82173"/>
                  </a:cubicBezTo>
                  <a:cubicBezTo>
                    <a:pt x="1301719" y="68847"/>
                    <a:pt x="1317245" y="62189"/>
                    <a:pt x="1336295" y="62189"/>
                  </a:cubicBezTo>
                  <a:close/>
                  <a:moveTo>
                    <a:pt x="561350" y="62189"/>
                  </a:moveTo>
                  <a:cubicBezTo>
                    <a:pt x="577381" y="62189"/>
                    <a:pt x="589697" y="67943"/>
                    <a:pt x="598298" y="79439"/>
                  </a:cubicBezTo>
                  <a:cubicBezTo>
                    <a:pt x="606899" y="90926"/>
                    <a:pt x="611204" y="106585"/>
                    <a:pt x="611204" y="126407"/>
                  </a:cubicBezTo>
                  <a:lnTo>
                    <a:pt x="611204" y="131646"/>
                  </a:lnTo>
                  <a:lnTo>
                    <a:pt x="515583" y="131646"/>
                  </a:lnTo>
                  <a:cubicBezTo>
                    <a:pt x="515583" y="149718"/>
                    <a:pt x="519669" y="163849"/>
                    <a:pt x="527841" y="174037"/>
                  </a:cubicBezTo>
                  <a:cubicBezTo>
                    <a:pt x="536014" y="184225"/>
                    <a:pt x="547263" y="189318"/>
                    <a:pt x="561579" y="189318"/>
                  </a:cubicBezTo>
                  <a:cubicBezTo>
                    <a:pt x="576057" y="189318"/>
                    <a:pt x="590182" y="183888"/>
                    <a:pt x="603965" y="173026"/>
                  </a:cubicBezTo>
                  <a:lnTo>
                    <a:pt x="603965" y="185632"/>
                  </a:lnTo>
                  <a:cubicBezTo>
                    <a:pt x="590573" y="195304"/>
                    <a:pt x="575666" y="200140"/>
                    <a:pt x="559245" y="200140"/>
                  </a:cubicBezTo>
                  <a:cubicBezTo>
                    <a:pt x="542586" y="200140"/>
                    <a:pt x="529127" y="194055"/>
                    <a:pt x="518849" y="181885"/>
                  </a:cubicBezTo>
                  <a:cubicBezTo>
                    <a:pt x="508572" y="169716"/>
                    <a:pt x="503438" y="152571"/>
                    <a:pt x="503438" y="130455"/>
                  </a:cubicBezTo>
                  <a:cubicBezTo>
                    <a:pt x="503438" y="111262"/>
                    <a:pt x="508811" y="95089"/>
                    <a:pt x="519555" y="81935"/>
                  </a:cubicBezTo>
                  <a:cubicBezTo>
                    <a:pt x="530289" y="68771"/>
                    <a:pt x="544224" y="62189"/>
                    <a:pt x="561350" y="62189"/>
                  </a:cubicBezTo>
                  <a:close/>
                  <a:moveTo>
                    <a:pt x="453880" y="62189"/>
                  </a:moveTo>
                  <a:cubicBezTo>
                    <a:pt x="463767" y="62189"/>
                    <a:pt x="473301" y="64256"/>
                    <a:pt x="482483" y="68371"/>
                  </a:cubicBezTo>
                  <a:lnTo>
                    <a:pt x="482483" y="81697"/>
                  </a:lnTo>
                  <a:cubicBezTo>
                    <a:pt x="473301" y="75905"/>
                    <a:pt x="463176" y="73010"/>
                    <a:pt x="452127" y="73010"/>
                  </a:cubicBezTo>
                  <a:cubicBezTo>
                    <a:pt x="437030" y="73010"/>
                    <a:pt x="424771" y="78563"/>
                    <a:pt x="415351" y="89660"/>
                  </a:cubicBezTo>
                  <a:cubicBezTo>
                    <a:pt x="405931" y="100766"/>
                    <a:pt x="401225" y="115110"/>
                    <a:pt x="401225" y="132713"/>
                  </a:cubicBezTo>
                  <a:cubicBezTo>
                    <a:pt x="401225" y="149757"/>
                    <a:pt x="405521" y="163453"/>
                    <a:pt x="414122" y="173799"/>
                  </a:cubicBezTo>
                  <a:cubicBezTo>
                    <a:pt x="422723" y="184146"/>
                    <a:pt x="434106" y="189318"/>
                    <a:pt x="448279" y="189318"/>
                  </a:cubicBezTo>
                  <a:cubicBezTo>
                    <a:pt x="461195" y="189318"/>
                    <a:pt x="472444" y="185830"/>
                    <a:pt x="482017" y="178853"/>
                  </a:cubicBezTo>
                  <a:lnTo>
                    <a:pt x="482017" y="191102"/>
                  </a:lnTo>
                  <a:cubicBezTo>
                    <a:pt x="472444" y="197127"/>
                    <a:pt x="461004" y="200140"/>
                    <a:pt x="447689" y="200140"/>
                  </a:cubicBezTo>
                  <a:cubicBezTo>
                    <a:pt x="430182" y="200140"/>
                    <a:pt x="416027" y="193995"/>
                    <a:pt x="405255" y="181707"/>
                  </a:cubicBezTo>
                  <a:cubicBezTo>
                    <a:pt x="394472" y="169419"/>
                    <a:pt x="389081" y="153325"/>
                    <a:pt x="389081" y="133427"/>
                  </a:cubicBezTo>
                  <a:cubicBezTo>
                    <a:pt x="389081" y="112577"/>
                    <a:pt x="395130" y="95489"/>
                    <a:pt x="407236" y="82173"/>
                  </a:cubicBezTo>
                  <a:cubicBezTo>
                    <a:pt x="419342" y="68847"/>
                    <a:pt x="434887" y="62189"/>
                    <a:pt x="453880" y="62189"/>
                  </a:cubicBezTo>
                  <a:close/>
                  <a:moveTo>
                    <a:pt x="84195" y="21280"/>
                  </a:moveTo>
                  <a:cubicBezTo>
                    <a:pt x="63174" y="21280"/>
                    <a:pt x="45877" y="29033"/>
                    <a:pt x="32294" y="44530"/>
                  </a:cubicBezTo>
                  <a:cubicBezTo>
                    <a:pt x="18711" y="60027"/>
                    <a:pt x="11920" y="80306"/>
                    <a:pt x="11920" y="105357"/>
                  </a:cubicBezTo>
                  <a:cubicBezTo>
                    <a:pt x="11920" y="130731"/>
                    <a:pt x="18349" y="150926"/>
                    <a:pt x="31189" y="165950"/>
                  </a:cubicBezTo>
                  <a:cubicBezTo>
                    <a:pt x="44028" y="180974"/>
                    <a:pt x="61192" y="188486"/>
                    <a:pt x="82671" y="188486"/>
                  </a:cubicBezTo>
                  <a:cubicBezTo>
                    <a:pt x="105017" y="188486"/>
                    <a:pt x="122705" y="181053"/>
                    <a:pt x="135735" y="166188"/>
                  </a:cubicBezTo>
                  <a:cubicBezTo>
                    <a:pt x="148775" y="151322"/>
                    <a:pt x="155300" y="130607"/>
                    <a:pt x="155300" y="104052"/>
                  </a:cubicBezTo>
                  <a:cubicBezTo>
                    <a:pt x="155300" y="78049"/>
                    <a:pt x="148937" y="57751"/>
                    <a:pt x="136202" y="43168"/>
                  </a:cubicBezTo>
                  <a:cubicBezTo>
                    <a:pt x="123476" y="28576"/>
                    <a:pt x="106141" y="21280"/>
                    <a:pt x="84195" y="21280"/>
                  </a:cubicBezTo>
                  <a:close/>
                  <a:moveTo>
                    <a:pt x="350857" y="12717"/>
                  </a:moveTo>
                  <a:cubicBezTo>
                    <a:pt x="353429" y="12717"/>
                    <a:pt x="355705" y="13574"/>
                    <a:pt x="357696" y="15279"/>
                  </a:cubicBezTo>
                  <a:cubicBezTo>
                    <a:pt x="359677" y="16984"/>
                    <a:pt x="360668" y="19298"/>
                    <a:pt x="360668" y="22232"/>
                  </a:cubicBezTo>
                  <a:cubicBezTo>
                    <a:pt x="360668" y="25013"/>
                    <a:pt x="359696" y="27366"/>
                    <a:pt x="357753" y="29309"/>
                  </a:cubicBezTo>
                  <a:cubicBezTo>
                    <a:pt x="355801" y="31252"/>
                    <a:pt x="353505" y="32224"/>
                    <a:pt x="350857" y="32224"/>
                  </a:cubicBezTo>
                  <a:cubicBezTo>
                    <a:pt x="348295" y="32224"/>
                    <a:pt x="346057" y="31290"/>
                    <a:pt x="344152" y="29433"/>
                  </a:cubicBezTo>
                  <a:cubicBezTo>
                    <a:pt x="342247" y="27566"/>
                    <a:pt x="341285" y="25166"/>
                    <a:pt x="341285" y="22232"/>
                  </a:cubicBezTo>
                  <a:cubicBezTo>
                    <a:pt x="341285" y="19460"/>
                    <a:pt x="342266" y="17184"/>
                    <a:pt x="344209" y="15393"/>
                  </a:cubicBezTo>
                  <a:cubicBezTo>
                    <a:pt x="346152" y="13612"/>
                    <a:pt x="348371" y="12717"/>
                    <a:pt x="350857" y="12717"/>
                  </a:cubicBezTo>
                  <a:close/>
                  <a:moveTo>
                    <a:pt x="86291" y="9630"/>
                  </a:moveTo>
                  <a:cubicBezTo>
                    <a:pt x="110656" y="9630"/>
                    <a:pt x="130392" y="18127"/>
                    <a:pt x="145489" y="35138"/>
                  </a:cubicBezTo>
                  <a:cubicBezTo>
                    <a:pt x="160586" y="52141"/>
                    <a:pt x="168139" y="74439"/>
                    <a:pt x="168139" y="102032"/>
                  </a:cubicBezTo>
                  <a:cubicBezTo>
                    <a:pt x="168139" y="132474"/>
                    <a:pt x="160414" y="156436"/>
                    <a:pt x="144965" y="173918"/>
                  </a:cubicBezTo>
                  <a:cubicBezTo>
                    <a:pt x="129515" y="191399"/>
                    <a:pt x="108827" y="200140"/>
                    <a:pt x="82910" y="200140"/>
                  </a:cubicBezTo>
                  <a:cubicBezTo>
                    <a:pt x="57382" y="200140"/>
                    <a:pt x="37028" y="191498"/>
                    <a:pt x="21845" y="174215"/>
                  </a:cubicBezTo>
                  <a:cubicBezTo>
                    <a:pt x="6671" y="156932"/>
                    <a:pt x="-920" y="134456"/>
                    <a:pt x="-920" y="106785"/>
                  </a:cubicBezTo>
                  <a:cubicBezTo>
                    <a:pt x="-920" y="77372"/>
                    <a:pt x="6862" y="53826"/>
                    <a:pt x="22436" y="36148"/>
                  </a:cubicBezTo>
                  <a:cubicBezTo>
                    <a:pt x="37999" y="18470"/>
                    <a:pt x="59287" y="9630"/>
                    <a:pt x="86291" y="9630"/>
                  </a:cubicBezTo>
                  <a:close/>
                  <a:moveTo>
                    <a:pt x="316520" y="115"/>
                  </a:moveTo>
                  <a:cubicBezTo>
                    <a:pt x="322044" y="115"/>
                    <a:pt x="326597" y="944"/>
                    <a:pt x="330178" y="2611"/>
                  </a:cubicBezTo>
                  <a:lnTo>
                    <a:pt x="330178" y="14622"/>
                  </a:lnTo>
                  <a:cubicBezTo>
                    <a:pt x="327064" y="12164"/>
                    <a:pt x="322359" y="10935"/>
                    <a:pt x="316053" y="10935"/>
                  </a:cubicBezTo>
                  <a:cubicBezTo>
                    <a:pt x="300175" y="10935"/>
                    <a:pt x="292231" y="21794"/>
                    <a:pt x="292231" y="43520"/>
                  </a:cubicBezTo>
                  <a:lnTo>
                    <a:pt x="292231" y="65399"/>
                  </a:lnTo>
                  <a:lnTo>
                    <a:pt x="326445" y="65399"/>
                  </a:lnTo>
                  <a:lnTo>
                    <a:pt x="326445" y="76220"/>
                  </a:lnTo>
                  <a:lnTo>
                    <a:pt x="292231" y="76220"/>
                  </a:lnTo>
                  <a:lnTo>
                    <a:pt x="292231" y="196929"/>
                  </a:lnTo>
                  <a:lnTo>
                    <a:pt x="280677" y="196929"/>
                  </a:lnTo>
                  <a:lnTo>
                    <a:pt x="280677" y="76220"/>
                  </a:lnTo>
                  <a:lnTo>
                    <a:pt x="257436" y="76220"/>
                  </a:lnTo>
                  <a:lnTo>
                    <a:pt x="257436" y="65399"/>
                  </a:lnTo>
                  <a:lnTo>
                    <a:pt x="280677" y="65399"/>
                  </a:lnTo>
                  <a:lnTo>
                    <a:pt x="280677" y="42568"/>
                  </a:lnTo>
                  <a:cubicBezTo>
                    <a:pt x="280677" y="28700"/>
                    <a:pt x="284096" y="18155"/>
                    <a:pt x="290945" y="10935"/>
                  </a:cubicBezTo>
                  <a:cubicBezTo>
                    <a:pt x="297794" y="3725"/>
                    <a:pt x="306318" y="115"/>
                    <a:pt x="316520" y="115"/>
                  </a:cubicBezTo>
                  <a:close/>
                  <a:moveTo>
                    <a:pt x="245044" y="115"/>
                  </a:moveTo>
                  <a:cubicBezTo>
                    <a:pt x="250569" y="115"/>
                    <a:pt x="255121" y="944"/>
                    <a:pt x="258703" y="2611"/>
                  </a:cubicBezTo>
                  <a:lnTo>
                    <a:pt x="258703" y="14622"/>
                  </a:lnTo>
                  <a:cubicBezTo>
                    <a:pt x="255588" y="12164"/>
                    <a:pt x="250883" y="10935"/>
                    <a:pt x="244577" y="10935"/>
                  </a:cubicBezTo>
                  <a:cubicBezTo>
                    <a:pt x="228699" y="10935"/>
                    <a:pt x="220755" y="21794"/>
                    <a:pt x="220755" y="43520"/>
                  </a:cubicBezTo>
                  <a:lnTo>
                    <a:pt x="220755" y="65399"/>
                  </a:lnTo>
                  <a:lnTo>
                    <a:pt x="254969" y="65399"/>
                  </a:lnTo>
                  <a:lnTo>
                    <a:pt x="254969" y="76220"/>
                  </a:lnTo>
                  <a:lnTo>
                    <a:pt x="220755" y="76220"/>
                  </a:lnTo>
                  <a:lnTo>
                    <a:pt x="220755" y="196929"/>
                  </a:lnTo>
                  <a:lnTo>
                    <a:pt x="209201" y="196929"/>
                  </a:lnTo>
                  <a:lnTo>
                    <a:pt x="209201" y="76220"/>
                  </a:lnTo>
                  <a:lnTo>
                    <a:pt x="185970" y="76220"/>
                  </a:lnTo>
                  <a:lnTo>
                    <a:pt x="185970" y="65399"/>
                  </a:lnTo>
                  <a:lnTo>
                    <a:pt x="209201" y="65399"/>
                  </a:lnTo>
                  <a:lnTo>
                    <a:pt x="209201" y="42568"/>
                  </a:lnTo>
                  <a:cubicBezTo>
                    <a:pt x="209201" y="28700"/>
                    <a:pt x="212621" y="18155"/>
                    <a:pt x="219469" y="10935"/>
                  </a:cubicBezTo>
                  <a:cubicBezTo>
                    <a:pt x="226327" y="3725"/>
                    <a:pt x="234843" y="115"/>
                    <a:pt x="245044" y="115"/>
                  </a:cubicBezTo>
                  <a:close/>
                </a:path>
              </a:pathLst>
            </a:custGeom>
            <a:grpFill/>
            <a:ln w="9525" cap="flat">
              <a:noFill/>
              <a:prstDash val="solid"/>
              <a:miter/>
            </a:ln>
          </p:spPr>
          <p:txBody>
            <a:bodyPr rtlCol="0" anchor="ctr">
              <a:noAutofit/>
            </a:bodyPr>
            <a:lstStyle/>
            <a:p>
              <a:endParaRPr lang="zh-CN" altLang="en-US"/>
            </a:p>
          </p:txBody>
        </p:sp>
      </p:grpSp>
      <p:sp>
        <p:nvSpPr>
          <p:cNvPr id="16" name="文本框 15"/>
          <p:cNvSpPr txBox="1"/>
          <p:nvPr userDrawn="1"/>
        </p:nvSpPr>
        <p:spPr>
          <a:xfrm>
            <a:off x="10209866" y="244475"/>
            <a:ext cx="1245534" cy="307777"/>
          </a:xfrm>
          <a:prstGeom prst="rect">
            <a:avLst/>
          </a:prstGeom>
          <a:noFill/>
        </p:spPr>
        <p:txBody>
          <a:bodyPr wrap="none" lIns="0" tIns="0" rIns="0" bIns="0" rtlCol="0">
            <a:noAutofit/>
          </a:bodyPr>
          <a:lstStyle/>
          <a:p>
            <a:r>
              <a:rPr lang="en-US" altLang="zh-CN" sz="1000" cap="all" dirty="0">
                <a:solidFill>
                  <a:schemeClr val="accent1"/>
                </a:solidFill>
              </a:rPr>
              <a:t>Academic report</a:t>
            </a:r>
            <a:endParaRPr lang="en-US" altLang="zh-CN" sz="1000" cap="all" dirty="0">
              <a:solidFill>
                <a:schemeClr val="accent1"/>
              </a:solidFill>
            </a:endParaRPr>
          </a:p>
          <a:p>
            <a:r>
              <a:rPr lang="en-US" altLang="zh-CN" sz="1000" cap="all" dirty="0">
                <a:solidFill>
                  <a:schemeClr val="accent1"/>
                </a:solidFill>
              </a:rPr>
              <a:t>presentation</a:t>
            </a:r>
            <a:endParaRPr lang="zh-CN" altLang="en-US" sz="1000" cap="all" dirty="0">
              <a:solidFill>
                <a:schemeClr val="accent1"/>
              </a:solidFill>
            </a:endParaRPr>
          </a:p>
        </p:txBody>
      </p:sp>
      <p:sp>
        <p:nvSpPr>
          <p:cNvPr id="17" name="文本占位符 16"/>
          <p:cNvSpPr>
            <a:spLocks noGrp="1"/>
          </p:cNvSpPr>
          <p:nvPr>
            <p:ph type="body" sz="quarter" idx="10" hasCustomPrompt="1"/>
          </p:nvPr>
        </p:nvSpPr>
        <p:spPr>
          <a:xfrm>
            <a:off x="736600" y="6239103"/>
            <a:ext cx="471283" cy="230832"/>
          </a:xfrm>
          <a:prstGeom prst="rect">
            <a:avLst/>
          </a:prstGeom>
        </p:spPr>
        <p:txBody>
          <a:bodyPr wrap="none" lIns="0" tIns="0" rIns="0" bIns="0">
            <a:noAutofit/>
          </a:bodyPr>
          <a:lstStyle>
            <a:lvl1pPr marL="0" indent="0" algn="l" defTabSz="914400" rtl="0" eaLnBrk="1" latinLnBrk="0" hangingPunct="1">
              <a:lnSpc>
                <a:spcPct val="100000"/>
              </a:lnSpc>
              <a:spcBef>
                <a:spcPts val="0"/>
              </a:spcBef>
              <a:buNone/>
              <a:defRPr lang="zh-CN" altLang="en-US" sz="1500" kern="1200" dirty="0">
                <a:solidFill>
                  <a:schemeClr val="accent1"/>
                </a:solidFill>
                <a:latin typeface="+mn-lt"/>
                <a:ea typeface="+mn-ea"/>
                <a:cs typeface="+mn-cs"/>
              </a:defRPr>
            </a:lvl1pPr>
          </a:lstStyle>
          <a:p>
            <a:pPr lvl="0"/>
            <a:r>
              <a:rPr lang="en-US" altLang="zh-CN" dirty="0"/>
              <a:t>20XX</a:t>
            </a:r>
            <a:endParaRPr lang="zh-CN" altLang="en-US" dirty="0"/>
          </a:p>
        </p:txBody>
      </p:sp>
      <p:sp>
        <p:nvSpPr>
          <p:cNvPr id="19" name="文本占位符 18"/>
          <p:cNvSpPr>
            <a:spLocks noGrp="1"/>
          </p:cNvSpPr>
          <p:nvPr>
            <p:ph type="body" sz="quarter" idx="11" hasCustomPrompt="1"/>
          </p:nvPr>
        </p:nvSpPr>
        <p:spPr>
          <a:xfrm>
            <a:off x="10480774" y="6239103"/>
            <a:ext cx="974626" cy="230832"/>
          </a:xfrm>
          <a:prstGeom prst="rect">
            <a:avLst/>
          </a:prstGeom>
        </p:spPr>
        <p:txBody>
          <a:bodyPr wrap="none" lIns="0" tIns="0" rIns="0" bIns="0">
            <a:noAutofit/>
          </a:bodyPr>
          <a:lstStyle>
            <a:lvl1pPr marL="0" indent="0" algn="r" defTabSz="914400" rtl="0" eaLnBrk="1" latinLnBrk="0" hangingPunct="1">
              <a:lnSpc>
                <a:spcPct val="100000"/>
              </a:lnSpc>
              <a:spcBef>
                <a:spcPts val="0"/>
              </a:spcBef>
              <a:buNone/>
              <a:defRPr lang="zh-CN" altLang="en-US" sz="1500" kern="1200" dirty="0">
                <a:solidFill>
                  <a:schemeClr val="accent1"/>
                </a:solidFill>
                <a:latin typeface="+mn-lt"/>
                <a:ea typeface="+mn-ea"/>
                <a:cs typeface="+mn-cs"/>
              </a:defRPr>
            </a:lvl1pPr>
          </a:lstStyle>
          <a:p>
            <a:pPr lvl="0"/>
            <a:r>
              <a:rPr lang="en-US" altLang="zh-CN" dirty="0"/>
              <a:t>March·27th</a:t>
            </a:r>
            <a:endParaRPr lang="en-US" altLang="zh-CN" dirty="0"/>
          </a:p>
        </p:txBody>
      </p:sp>
      <p:cxnSp>
        <p:nvCxnSpPr>
          <p:cNvPr id="20" name="直接连接符 19"/>
          <p:cNvCxnSpPr/>
          <p:nvPr userDrawn="1"/>
        </p:nvCxnSpPr>
        <p:spPr>
          <a:xfrm>
            <a:off x="731838" y="6162908"/>
            <a:ext cx="107283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内容页_2">
    <p:bg>
      <p:bgPr>
        <a:solidFill>
          <a:schemeClr val="bg1"/>
        </a:solidFill>
        <a:effectLst/>
      </p:bgPr>
    </p:bg>
    <p:spTree>
      <p:nvGrpSpPr>
        <p:cNvPr id="1" name=""/>
        <p:cNvGrpSpPr/>
        <p:nvPr/>
      </p:nvGrpSpPr>
      <p:grpSpPr>
        <a:xfrm>
          <a:off x="0" y="0"/>
          <a:ext cx="0" cy="0"/>
          <a:chOff x="0" y="0"/>
          <a:chExt cx="0" cy="0"/>
        </a:xfrm>
      </p:grpSpPr>
      <p:grpSp>
        <p:nvGrpSpPr>
          <p:cNvPr id="2" name="组合 1"/>
          <p:cNvGrpSpPr/>
          <p:nvPr userDrawn="1"/>
        </p:nvGrpSpPr>
        <p:grpSpPr>
          <a:xfrm>
            <a:off x="736600" y="266700"/>
            <a:ext cx="1661579" cy="222249"/>
            <a:chOff x="8759825" y="266700"/>
            <a:chExt cx="1495425" cy="200025"/>
          </a:xfrm>
          <a:solidFill>
            <a:srgbClr val="404040"/>
          </a:solidFill>
        </p:grpSpPr>
        <p:sp>
          <p:nvSpPr>
            <p:cNvPr id="3" name="任意多边形: 形状 2"/>
            <p:cNvSpPr/>
            <p:nvPr/>
          </p:nvSpPr>
          <p:spPr>
            <a:xfrm>
              <a:off x="9836150" y="276225"/>
              <a:ext cx="114300" cy="190500"/>
            </a:xfrm>
            <a:custGeom>
              <a:avLst/>
              <a:gdLst>
                <a:gd name="connsiteX0" fmla="*/ 64803 w 114300"/>
                <a:gd name="connsiteY0" fmla="*/ 115 h 190500"/>
                <a:gd name="connsiteX1" fmla="*/ 105475 w 114300"/>
                <a:gd name="connsiteY1" fmla="*/ 6782 h 190500"/>
                <a:gd name="connsiteX2" fmla="*/ 105475 w 114300"/>
                <a:gd name="connsiteY2" fmla="*/ 32719 h 190500"/>
                <a:gd name="connsiteX3" fmla="*/ 62992 w 114300"/>
                <a:gd name="connsiteY3" fmla="*/ 21175 h 190500"/>
                <a:gd name="connsiteX4" fmla="*/ 35180 w 114300"/>
                <a:gd name="connsiteY4" fmla="*/ 28252 h 190500"/>
                <a:gd name="connsiteX5" fmla="*/ 24417 w 114300"/>
                <a:gd name="connsiteY5" fmla="*/ 47950 h 190500"/>
                <a:gd name="connsiteX6" fmla="*/ 31845 w 114300"/>
                <a:gd name="connsiteY6" fmla="*/ 66152 h 190500"/>
                <a:gd name="connsiteX7" fmla="*/ 64135 w 114300"/>
                <a:gd name="connsiteY7" fmla="*/ 85307 h 190500"/>
                <a:gd name="connsiteX8" fmla="*/ 102426 w 114300"/>
                <a:gd name="connsiteY8" fmla="*/ 111253 h 190500"/>
                <a:gd name="connsiteX9" fmla="*/ 113380 w 114300"/>
                <a:gd name="connsiteY9" fmla="*/ 140402 h 190500"/>
                <a:gd name="connsiteX10" fmla="*/ 95568 w 114300"/>
                <a:gd name="connsiteY10" fmla="*/ 177646 h 190500"/>
                <a:gd name="connsiteX11" fmla="*/ 46228 w 114300"/>
                <a:gd name="connsiteY11" fmla="*/ 190615 h 190500"/>
                <a:gd name="connsiteX12" fmla="*/ 20511 w 114300"/>
                <a:gd name="connsiteY12" fmla="*/ 187580 h 190500"/>
                <a:gd name="connsiteX13" fmla="*/ -920 w 114300"/>
                <a:gd name="connsiteY13" fmla="*/ 180025 h 190500"/>
                <a:gd name="connsiteX14" fmla="*/ -920 w 114300"/>
                <a:gd name="connsiteY14" fmla="*/ 152896 h 190500"/>
                <a:gd name="connsiteX15" fmla="*/ 21940 w 114300"/>
                <a:gd name="connsiteY15" fmla="*/ 165033 h 190500"/>
                <a:gd name="connsiteX16" fmla="*/ 48991 w 114300"/>
                <a:gd name="connsiteY16" fmla="*/ 169792 h 190500"/>
                <a:gd name="connsiteX17" fmla="*/ 88139 w 114300"/>
                <a:gd name="connsiteY17" fmla="*/ 142187 h 190500"/>
                <a:gd name="connsiteX18" fmla="*/ 83948 w 114300"/>
                <a:gd name="connsiteY18" fmla="*/ 128264 h 190500"/>
                <a:gd name="connsiteX19" fmla="*/ 72422 w 114300"/>
                <a:gd name="connsiteY19" fmla="*/ 117320 h 190500"/>
                <a:gd name="connsiteX20" fmla="*/ 44990 w 114300"/>
                <a:gd name="connsiteY20" fmla="*/ 102680 h 190500"/>
                <a:gd name="connsiteX21" fmla="*/ 8128 w 114300"/>
                <a:gd name="connsiteY21" fmla="*/ 77039 h 190500"/>
                <a:gd name="connsiteX22" fmla="*/ -825 w 114300"/>
                <a:gd name="connsiteY22" fmla="*/ 49969 h 190500"/>
                <a:gd name="connsiteX23" fmla="*/ 17844 w 114300"/>
                <a:gd name="connsiteY23" fmla="*/ 13564 h 190500"/>
                <a:gd name="connsiteX24" fmla="*/ 64803 w 114300"/>
                <a:gd name="connsiteY24" fmla="*/ 11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4300" h="190500">
                  <a:moveTo>
                    <a:pt x="64803" y="115"/>
                  </a:moveTo>
                  <a:cubicBezTo>
                    <a:pt x="83281" y="115"/>
                    <a:pt x="96807" y="2334"/>
                    <a:pt x="105475" y="6782"/>
                  </a:cubicBezTo>
                  <a:lnTo>
                    <a:pt x="105475" y="32719"/>
                  </a:lnTo>
                  <a:cubicBezTo>
                    <a:pt x="94235" y="25023"/>
                    <a:pt x="80043" y="21175"/>
                    <a:pt x="62992" y="21175"/>
                  </a:cubicBezTo>
                  <a:cubicBezTo>
                    <a:pt x="51563" y="21175"/>
                    <a:pt x="42324" y="23537"/>
                    <a:pt x="35180" y="28252"/>
                  </a:cubicBezTo>
                  <a:cubicBezTo>
                    <a:pt x="28036" y="32976"/>
                    <a:pt x="24417" y="39539"/>
                    <a:pt x="24417" y="47950"/>
                  </a:cubicBezTo>
                  <a:cubicBezTo>
                    <a:pt x="24417" y="55408"/>
                    <a:pt x="26893" y="61475"/>
                    <a:pt x="31845" y="66152"/>
                  </a:cubicBezTo>
                  <a:cubicBezTo>
                    <a:pt x="36799" y="70838"/>
                    <a:pt x="47562" y="77220"/>
                    <a:pt x="64135" y="85307"/>
                  </a:cubicBezTo>
                  <a:cubicBezTo>
                    <a:pt x="82424" y="93955"/>
                    <a:pt x="95187" y="102604"/>
                    <a:pt x="102426" y="111253"/>
                  </a:cubicBezTo>
                  <a:cubicBezTo>
                    <a:pt x="109760" y="119892"/>
                    <a:pt x="113380" y="129617"/>
                    <a:pt x="113380" y="140402"/>
                  </a:cubicBezTo>
                  <a:cubicBezTo>
                    <a:pt x="113380" y="156584"/>
                    <a:pt x="107475" y="168999"/>
                    <a:pt x="95568" y="177646"/>
                  </a:cubicBezTo>
                  <a:cubicBezTo>
                    <a:pt x="83757" y="186292"/>
                    <a:pt x="67279" y="190615"/>
                    <a:pt x="46228" y="190615"/>
                  </a:cubicBezTo>
                  <a:cubicBezTo>
                    <a:pt x="38895" y="190615"/>
                    <a:pt x="30322" y="189603"/>
                    <a:pt x="20511" y="187580"/>
                  </a:cubicBezTo>
                  <a:cubicBezTo>
                    <a:pt x="10700" y="185558"/>
                    <a:pt x="3556" y="183040"/>
                    <a:pt x="-920" y="180025"/>
                  </a:cubicBezTo>
                  <a:lnTo>
                    <a:pt x="-920" y="152896"/>
                  </a:lnTo>
                  <a:cubicBezTo>
                    <a:pt x="4795" y="157814"/>
                    <a:pt x="12415" y="161859"/>
                    <a:pt x="21940" y="165033"/>
                  </a:cubicBezTo>
                  <a:cubicBezTo>
                    <a:pt x="31465" y="168206"/>
                    <a:pt x="40418" y="169792"/>
                    <a:pt x="48991" y="169792"/>
                  </a:cubicBezTo>
                  <a:cubicBezTo>
                    <a:pt x="75089" y="169792"/>
                    <a:pt x="88139" y="160590"/>
                    <a:pt x="88139" y="142187"/>
                  </a:cubicBezTo>
                  <a:cubicBezTo>
                    <a:pt x="88139" y="137030"/>
                    <a:pt x="86805" y="132389"/>
                    <a:pt x="83948" y="128264"/>
                  </a:cubicBezTo>
                  <a:cubicBezTo>
                    <a:pt x="81185" y="124140"/>
                    <a:pt x="77280" y="120492"/>
                    <a:pt x="72422" y="117320"/>
                  </a:cubicBezTo>
                  <a:cubicBezTo>
                    <a:pt x="67564" y="114148"/>
                    <a:pt x="58421" y="109262"/>
                    <a:pt x="44990" y="102680"/>
                  </a:cubicBezTo>
                  <a:cubicBezTo>
                    <a:pt x="26321" y="93479"/>
                    <a:pt x="14034" y="84935"/>
                    <a:pt x="8128" y="77039"/>
                  </a:cubicBezTo>
                  <a:cubicBezTo>
                    <a:pt x="2127" y="69152"/>
                    <a:pt x="-825" y="60123"/>
                    <a:pt x="-825" y="49969"/>
                  </a:cubicBezTo>
                  <a:cubicBezTo>
                    <a:pt x="-825" y="34662"/>
                    <a:pt x="5367" y="22527"/>
                    <a:pt x="17844" y="13564"/>
                  </a:cubicBezTo>
                  <a:cubicBezTo>
                    <a:pt x="30227" y="4601"/>
                    <a:pt x="45848" y="115"/>
                    <a:pt x="64803" y="115"/>
                  </a:cubicBezTo>
                  <a:close/>
                </a:path>
              </a:pathLst>
            </a:custGeom>
            <a:grpFill/>
            <a:ln w="9525" cap="flat">
              <a:noFill/>
              <a:prstDash val="solid"/>
              <a:miter/>
            </a:ln>
          </p:spPr>
          <p:txBody>
            <a:bodyPr rtlCol="0" anchor="ctr">
              <a:noAutofit/>
            </a:bodyPr>
            <a:lstStyle/>
            <a:p>
              <a:endParaRPr lang="zh-CN" altLang="en-US"/>
            </a:p>
          </p:txBody>
        </p:sp>
        <p:sp>
          <p:nvSpPr>
            <p:cNvPr id="4" name="任意多边形: 形状 3"/>
            <p:cNvSpPr/>
            <p:nvPr/>
          </p:nvSpPr>
          <p:spPr>
            <a:xfrm>
              <a:off x="9407525" y="276225"/>
              <a:ext cx="114300" cy="180975"/>
            </a:xfrm>
            <a:custGeom>
              <a:avLst/>
              <a:gdLst>
                <a:gd name="connsiteX0" fmla="*/ -920 w 114300"/>
                <a:gd name="connsiteY0" fmla="*/ 115 h 180975"/>
                <a:gd name="connsiteX1" fmla="*/ 51039 w 114300"/>
                <a:gd name="connsiteY1" fmla="*/ 115 h 180975"/>
                <a:gd name="connsiteX2" fmla="*/ 97026 w 114300"/>
                <a:gd name="connsiteY2" fmla="*/ 14250 h 180975"/>
                <a:gd name="connsiteX3" fmla="*/ 113380 w 114300"/>
                <a:gd name="connsiteY3" fmla="*/ 54674 h 180975"/>
                <a:gd name="connsiteX4" fmla="*/ 94254 w 114300"/>
                <a:gd name="connsiteY4" fmla="*/ 97842 h 180975"/>
                <a:gd name="connsiteX5" fmla="*/ 46429 w 114300"/>
                <a:gd name="connsiteY5" fmla="*/ 113443 h 180975"/>
                <a:gd name="connsiteX6" fmla="*/ 22693 w 114300"/>
                <a:gd name="connsiteY6" fmla="*/ 113443 h 180975"/>
                <a:gd name="connsiteX7" fmla="*/ 22693 w 114300"/>
                <a:gd name="connsiteY7" fmla="*/ 181090 h 180975"/>
                <a:gd name="connsiteX8" fmla="*/ -920 w 114300"/>
                <a:gd name="connsiteY8" fmla="*/ 181090 h 180975"/>
                <a:gd name="connsiteX9" fmla="*/ -920 w 114300"/>
                <a:gd name="connsiteY9" fmla="*/ 115 h 180975"/>
                <a:gd name="connsiteX10" fmla="*/ 22693 w 114300"/>
                <a:gd name="connsiteY10" fmla="*/ 20679 h 180975"/>
                <a:gd name="connsiteX11" fmla="*/ 22693 w 114300"/>
                <a:gd name="connsiteY11" fmla="*/ 92879 h 180975"/>
                <a:gd name="connsiteX12" fmla="*/ 44543 w 114300"/>
                <a:gd name="connsiteY12" fmla="*/ 92879 h 180975"/>
                <a:gd name="connsiteX13" fmla="*/ 77366 w 114300"/>
                <a:gd name="connsiteY13" fmla="*/ 83240 h 180975"/>
                <a:gd name="connsiteX14" fmla="*/ 88586 w 114300"/>
                <a:gd name="connsiteY14" fmla="*/ 55608 h 180975"/>
                <a:gd name="connsiteX15" fmla="*/ 46781 w 114300"/>
                <a:gd name="connsiteY15" fmla="*/ 20679 h 180975"/>
                <a:gd name="connsiteX16" fmla="*/ 22693 w 114300"/>
                <a:gd name="connsiteY16" fmla="*/ 20679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300" h="180975">
                  <a:moveTo>
                    <a:pt x="-920" y="115"/>
                  </a:moveTo>
                  <a:lnTo>
                    <a:pt x="51039" y="115"/>
                  </a:lnTo>
                  <a:cubicBezTo>
                    <a:pt x="70794" y="115"/>
                    <a:pt x="86119" y="4830"/>
                    <a:pt x="97026" y="14250"/>
                  </a:cubicBezTo>
                  <a:cubicBezTo>
                    <a:pt x="107931" y="23680"/>
                    <a:pt x="113380" y="37148"/>
                    <a:pt x="113380" y="54674"/>
                  </a:cubicBezTo>
                  <a:cubicBezTo>
                    <a:pt x="113380" y="72438"/>
                    <a:pt x="107008" y="86821"/>
                    <a:pt x="94254" y="97842"/>
                  </a:cubicBezTo>
                  <a:cubicBezTo>
                    <a:pt x="81500" y="108871"/>
                    <a:pt x="65555" y="114063"/>
                    <a:pt x="46429" y="113443"/>
                  </a:cubicBezTo>
                  <a:lnTo>
                    <a:pt x="22693" y="113443"/>
                  </a:lnTo>
                  <a:lnTo>
                    <a:pt x="22693" y="181090"/>
                  </a:lnTo>
                  <a:lnTo>
                    <a:pt x="-920" y="181090"/>
                  </a:lnTo>
                  <a:lnTo>
                    <a:pt x="-920" y="115"/>
                  </a:lnTo>
                  <a:close/>
                  <a:moveTo>
                    <a:pt x="22693" y="20679"/>
                  </a:moveTo>
                  <a:lnTo>
                    <a:pt x="22693" y="92879"/>
                  </a:lnTo>
                  <a:lnTo>
                    <a:pt x="44543" y="92879"/>
                  </a:lnTo>
                  <a:cubicBezTo>
                    <a:pt x="58944" y="92879"/>
                    <a:pt x="69889" y="89669"/>
                    <a:pt x="77366" y="83240"/>
                  </a:cubicBezTo>
                  <a:cubicBezTo>
                    <a:pt x="84843" y="76820"/>
                    <a:pt x="88586" y="67609"/>
                    <a:pt x="88586" y="55608"/>
                  </a:cubicBezTo>
                  <a:cubicBezTo>
                    <a:pt x="88586" y="32319"/>
                    <a:pt x="74652" y="20679"/>
                    <a:pt x="46781" y="20679"/>
                  </a:cubicBezTo>
                  <a:lnTo>
                    <a:pt x="22693" y="20679"/>
                  </a:lnTo>
                  <a:close/>
                </a:path>
              </a:pathLst>
            </a:custGeom>
            <a:grpFill/>
            <a:ln w="9525" cap="flat">
              <a:noFill/>
              <a:prstDash val="solid"/>
              <a:miter/>
            </a:ln>
          </p:spPr>
          <p:txBody>
            <a:bodyPr rtlCol="0" anchor="ctr">
              <a:noAutofit/>
            </a:bodyPr>
            <a:lstStyle/>
            <a:p>
              <a:endParaRPr lang="zh-CN" altLang="en-US"/>
            </a:p>
          </p:txBody>
        </p:sp>
        <p:sp>
          <p:nvSpPr>
            <p:cNvPr id="5" name="任意多边形: 形状 4"/>
            <p:cNvSpPr/>
            <p:nvPr/>
          </p:nvSpPr>
          <p:spPr>
            <a:xfrm>
              <a:off x="9550400" y="276225"/>
              <a:ext cx="95250" cy="180975"/>
            </a:xfrm>
            <a:custGeom>
              <a:avLst/>
              <a:gdLst>
                <a:gd name="connsiteX0" fmla="*/ -920 w 95250"/>
                <a:gd name="connsiteY0" fmla="*/ 115 h 180975"/>
                <a:gd name="connsiteX1" fmla="*/ 22416 w 95250"/>
                <a:gd name="connsiteY1" fmla="*/ 115 h 180975"/>
                <a:gd name="connsiteX2" fmla="*/ 22416 w 95250"/>
                <a:gd name="connsiteY2" fmla="*/ 160410 h 180975"/>
                <a:gd name="connsiteX3" fmla="*/ 94330 w 95250"/>
                <a:gd name="connsiteY3" fmla="*/ 160410 h 180975"/>
                <a:gd name="connsiteX4" fmla="*/ 94330 w 95250"/>
                <a:gd name="connsiteY4" fmla="*/ 181090 h 180975"/>
                <a:gd name="connsiteX5" fmla="*/ -920 w 95250"/>
                <a:gd name="connsiteY5" fmla="*/ 181090 h 180975"/>
                <a:gd name="connsiteX6" fmla="*/ -920 w 95250"/>
                <a:gd name="connsiteY6" fmla="*/ 115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180975">
                  <a:moveTo>
                    <a:pt x="-920" y="115"/>
                  </a:moveTo>
                  <a:lnTo>
                    <a:pt x="22416" y="115"/>
                  </a:lnTo>
                  <a:lnTo>
                    <a:pt x="22416" y="160410"/>
                  </a:lnTo>
                  <a:lnTo>
                    <a:pt x="94330" y="160410"/>
                  </a:lnTo>
                  <a:lnTo>
                    <a:pt x="94330" y="181090"/>
                  </a:lnTo>
                  <a:lnTo>
                    <a:pt x="-920" y="181090"/>
                  </a:lnTo>
                  <a:lnTo>
                    <a:pt x="-920" y="115"/>
                  </a:lnTo>
                  <a:close/>
                </a:path>
              </a:pathLst>
            </a:custGeom>
            <a:grpFill/>
            <a:ln w="9525" cap="flat">
              <a:noFill/>
              <a:prstDash val="solid"/>
              <a:miter/>
            </a:ln>
          </p:spPr>
          <p:txBody>
            <a:bodyPr rtlCol="0" anchor="ctr">
              <a:noAutofit/>
            </a:bodyPr>
            <a:lstStyle/>
            <a:p>
              <a:endParaRPr lang="zh-CN" altLang="en-US"/>
            </a:p>
          </p:txBody>
        </p:sp>
        <p:sp>
          <p:nvSpPr>
            <p:cNvPr id="6" name="任意多边形: 形状 5"/>
            <p:cNvSpPr/>
            <p:nvPr/>
          </p:nvSpPr>
          <p:spPr>
            <a:xfrm>
              <a:off x="9664700" y="276225"/>
              <a:ext cx="142875" cy="190500"/>
            </a:xfrm>
            <a:custGeom>
              <a:avLst/>
              <a:gdLst>
                <a:gd name="connsiteX0" fmla="*/ -920 w 142875"/>
                <a:gd name="connsiteY0" fmla="*/ 115 h 190500"/>
                <a:gd name="connsiteX1" fmla="*/ 23559 w 142875"/>
                <a:gd name="connsiteY1" fmla="*/ 115 h 190500"/>
                <a:gd name="connsiteX2" fmla="*/ 23559 w 142875"/>
                <a:gd name="connsiteY2" fmla="*/ 112843 h 190500"/>
                <a:gd name="connsiteX3" fmla="*/ 71280 w 142875"/>
                <a:gd name="connsiteY3" fmla="*/ 169086 h 190500"/>
                <a:gd name="connsiteX4" fmla="*/ 117476 w 142875"/>
                <a:gd name="connsiteY4" fmla="*/ 114653 h 190500"/>
                <a:gd name="connsiteX5" fmla="*/ 117476 w 142875"/>
                <a:gd name="connsiteY5" fmla="*/ 115 h 190500"/>
                <a:gd name="connsiteX6" fmla="*/ 141955 w 142875"/>
                <a:gd name="connsiteY6" fmla="*/ 115 h 190500"/>
                <a:gd name="connsiteX7" fmla="*/ 141955 w 142875"/>
                <a:gd name="connsiteY7" fmla="*/ 111148 h 190500"/>
                <a:gd name="connsiteX8" fmla="*/ 68994 w 142875"/>
                <a:gd name="connsiteY8" fmla="*/ 190615 h 190500"/>
                <a:gd name="connsiteX9" fmla="*/ -920 w 142875"/>
                <a:gd name="connsiteY9" fmla="*/ 113929 h 190500"/>
                <a:gd name="connsiteX10" fmla="*/ -920 w 142875"/>
                <a:gd name="connsiteY10" fmla="*/ 11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875" h="190500">
                  <a:moveTo>
                    <a:pt x="-920" y="115"/>
                  </a:moveTo>
                  <a:lnTo>
                    <a:pt x="23559" y="115"/>
                  </a:lnTo>
                  <a:lnTo>
                    <a:pt x="23559" y="112843"/>
                  </a:lnTo>
                  <a:cubicBezTo>
                    <a:pt x="23559" y="150338"/>
                    <a:pt x="39466" y="169086"/>
                    <a:pt x="71280" y="169086"/>
                  </a:cubicBezTo>
                  <a:cubicBezTo>
                    <a:pt x="102046" y="169086"/>
                    <a:pt x="117476" y="150942"/>
                    <a:pt x="117476" y="114653"/>
                  </a:cubicBezTo>
                  <a:lnTo>
                    <a:pt x="117476" y="115"/>
                  </a:lnTo>
                  <a:lnTo>
                    <a:pt x="141955" y="115"/>
                  </a:lnTo>
                  <a:lnTo>
                    <a:pt x="141955" y="111148"/>
                  </a:lnTo>
                  <a:cubicBezTo>
                    <a:pt x="141955" y="164126"/>
                    <a:pt x="117666" y="190615"/>
                    <a:pt x="68994" y="190615"/>
                  </a:cubicBezTo>
                  <a:cubicBezTo>
                    <a:pt x="22416" y="190615"/>
                    <a:pt x="-920" y="165054"/>
                    <a:pt x="-920" y="113929"/>
                  </a:cubicBezTo>
                  <a:lnTo>
                    <a:pt x="-920" y="115"/>
                  </a:lnTo>
                  <a:close/>
                </a:path>
              </a:pathLst>
            </a:custGeom>
            <a:grpFill/>
            <a:ln w="9525" cap="flat">
              <a:noFill/>
              <a:prstDash val="solid"/>
              <a:miter/>
            </a:ln>
          </p:spPr>
          <p:txBody>
            <a:bodyPr rtlCol="0" anchor="ctr">
              <a:noAutofit/>
            </a:bodyPr>
            <a:lstStyle/>
            <a:p>
              <a:endParaRPr lang="zh-CN" altLang="en-US"/>
            </a:p>
          </p:txBody>
        </p:sp>
        <p:sp>
          <p:nvSpPr>
            <p:cNvPr id="7" name="任意多边形: 形状 6"/>
            <p:cNvSpPr/>
            <p:nvPr/>
          </p:nvSpPr>
          <p:spPr>
            <a:xfrm>
              <a:off x="8759825" y="266700"/>
              <a:ext cx="1495425" cy="200025"/>
            </a:xfrm>
            <a:custGeom>
              <a:avLst/>
              <a:gdLst>
                <a:gd name="connsiteX0" fmla="*/ 1231520 w 1495425"/>
                <a:gd name="connsiteY0" fmla="*/ 178615 h 200025"/>
                <a:gd name="connsiteX1" fmla="*/ 1238950 w 1495425"/>
                <a:gd name="connsiteY1" fmla="*/ 181469 h 200025"/>
                <a:gd name="connsiteX2" fmla="*/ 1241902 w 1495425"/>
                <a:gd name="connsiteY2" fmla="*/ 188842 h 200025"/>
                <a:gd name="connsiteX3" fmla="*/ 1238950 w 1495425"/>
                <a:gd name="connsiteY3" fmla="*/ 196216 h 200025"/>
                <a:gd name="connsiteX4" fmla="*/ 1231520 w 1495425"/>
                <a:gd name="connsiteY4" fmla="*/ 199188 h 200025"/>
                <a:gd name="connsiteX5" fmla="*/ 1224376 w 1495425"/>
                <a:gd name="connsiteY5" fmla="*/ 196216 h 200025"/>
                <a:gd name="connsiteX6" fmla="*/ 1221518 w 1495425"/>
                <a:gd name="connsiteY6" fmla="*/ 188842 h 200025"/>
                <a:gd name="connsiteX7" fmla="*/ 1224376 w 1495425"/>
                <a:gd name="connsiteY7" fmla="*/ 181469 h 200025"/>
                <a:gd name="connsiteX8" fmla="*/ 1231520 w 1495425"/>
                <a:gd name="connsiteY8" fmla="*/ 178615 h 200025"/>
                <a:gd name="connsiteX9" fmla="*/ 560884 w 1495425"/>
                <a:gd name="connsiteY9" fmla="*/ 73010 h 200025"/>
                <a:gd name="connsiteX10" fmla="*/ 530756 w 1495425"/>
                <a:gd name="connsiteY10" fmla="*/ 85383 h 200025"/>
                <a:gd name="connsiteX11" fmla="*/ 516050 w 1495425"/>
                <a:gd name="connsiteY11" fmla="*/ 120940 h 200025"/>
                <a:gd name="connsiteX12" fmla="*/ 599060 w 1495425"/>
                <a:gd name="connsiteY12" fmla="*/ 120940 h 200025"/>
                <a:gd name="connsiteX13" fmla="*/ 588316 w 1495425"/>
                <a:gd name="connsiteY13" fmla="*/ 85564 h 200025"/>
                <a:gd name="connsiteX14" fmla="*/ 560884 w 1495425"/>
                <a:gd name="connsiteY14" fmla="*/ 73010 h 200025"/>
                <a:gd name="connsiteX15" fmla="*/ 345142 w 1495425"/>
                <a:gd name="connsiteY15" fmla="*/ 65399 h 200025"/>
                <a:gd name="connsiteX16" fmla="*/ 356696 w 1495425"/>
                <a:gd name="connsiteY16" fmla="*/ 65399 h 200025"/>
                <a:gd name="connsiteX17" fmla="*/ 356696 w 1495425"/>
                <a:gd name="connsiteY17" fmla="*/ 196929 h 200025"/>
                <a:gd name="connsiteX18" fmla="*/ 345142 w 1495425"/>
                <a:gd name="connsiteY18" fmla="*/ 196929 h 200025"/>
                <a:gd name="connsiteX19" fmla="*/ 1451452 w 1495425"/>
                <a:gd name="connsiteY19" fmla="*/ 62189 h 200025"/>
                <a:gd name="connsiteX20" fmla="*/ 1483456 w 1495425"/>
                <a:gd name="connsiteY20" fmla="*/ 76401 h 200025"/>
                <a:gd name="connsiteX21" fmla="*/ 1494505 w 1495425"/>
                <a:gd name="connsiteY21" fmla="*/ 116892 h 200025"/>
                <a:gd name="connsiteX22" fmla="*/ 1494505 w 1495425"/>
                <a:gd name="connsiteY22" fmla="*/ 196929 h 200025"/>
                <a:gd name="connsiteX23" fmla="*/ 1482980 w 1495425"/>
                <a:gd name="connsiteY23" fmla="*/ 196929 h 200025"/>
                <a:gd name="connsiteX24" fmla="*/ 1482980 w 1495425"/>
                <a:gd name="connsiteY24" fmla="*/ 120340 h 200025"/>
                <a:gd name="connsiteX25" fmla="*/ 1449452 w 1495425"/>
                <a:gd name="connsiteY25" fmla="*/ 73010 h 200025"/>
                <a:gd name="connsiteX26" fmla="*/ 1418686 w 1495425"/>
                <a:gd name="connsiteY26" fmla="*/ 86926 h 200025"/>
                <a:gd name="connsiteX27" fmla="*/ 1406685 w 1495425"/>
                <a:gd name="connsiteY27" fmla="*/ 121416 h 200025"/>
                <a:gd name="connsiteX28" fmla="*/ 1406685 w 1495425"/>
                <a:gd name="connsiteY28" fmla="*/ 196929 h 200025"/>
                <a:gd name="connsiteX29" fmla="*/ 1395159 w 1495425"/>
                <a:gd name="connsiteY29" fmla="*/ 196929 h 200025"/>
                <a:gd name="connsiteX30" fmla="*/ 1395159 w 1495425"/>
                <a:gd name="connsiteY30" fmla="*/ 65399 h 200025"/>
                <a:gd name="connsiteX31" fmla="*/ 1406685 w 1495425"/>
                <a:gd name="connsiteY31" fmla="*/ 65399 h 200025"/>
                <a:gd name="connsiteX32" fmla="*/ 1406685 w 1495425"/>
                <a:gd name="connsiteY32" fmla="*/ 89307 h 200025"/>
                <a:gd name="connsiteX33" fmla="*/ 1407256 w 1495425"/>
                <a:gd name="connsiteY33" fmla="*/ 89307 h 200025"/>
                <a:gd name="connsiteX34" fmla="*/ 1451452 w 1495425"/>
                <a:gd name="connsiteY34" fmla="*/ 62189 h 200025"/>
                <a:gd name="connsiteX35" fmla="*/ 1336295 w 1495425"/>
                <a:gd name="connsiteY35" fmla="*/ 62189 h 200025"/>
                <a:gd name="connsiteX36" fmla="*/ 1364870 w 1495425"/>
                <a:gd name="connsiteY36" fmla="*/ 68371 h 200025"/>
                <a:gd name="connsiteX37" fmla="*/ 1364870 w 1495425"/>
                <a:gd name="connsiteY37" fmla="*/ 81697 h 200025"/>
                <a:gd name="connsiteX38" fmla="*/ 1334485 w 1495425"/>
                <a:gd name="connsiteY38" fmla="*/ 73010 h 200025"/>
                <a:gd name="connsiteX39" fmla="*/ 1297718 w 1495425"/>
                <a:gd name="connsiteY39" fmla="*/ 89660 h 200025"/>
                <a:gd name="connsiteX40" fmla="*/ 1283621 w 1495425"/>
                <a:gd name="connsiteY40" fmla="*/ 132713 h 200025"/>
                <a:gd name="connsiteX41" fmla="*/ 1296480 w 1495425"/>
                <a:gd name="connsiteY41" fmla="*/ 173799 h 200025"/>
                <a:gd name="connsiteX42" fmla="*/ 1330676 w 1495425"/>
                <a:gd name="connsiteY42" fmla="*/ 189318 h 200025"/>
                <a:gd name="connsiteX43" fmla="*/ 1364393 w 1495425"/>
                <a:gd name="connsiteY43" fmla="*/ 178853 h 200025"/>
                <a:gd name="connsiteX44" fmla="*/ 1364393 w 1495425"/>
                <a:gd name="connsiteY44" fmla="*/ 191102 h 200025"/>
                <a:gd name="connsiteX45" fmla="*/ 1330103 w 1495425"/>
                <a:gd name="connsiteY45" fmla="*/ 200140 h 200025"/>
                <a:gd name="connsiteX46" fmla="*/ 1287622 w 1495425"/>
                <a:gd name="connsiteY46" fmla="*/ 181707 h 200025"/>
                <a:gd name="connsiteX47" fmla="*/ 1271429 w 1495425"/>
                <a:gd name="connsiteY47" fmla="*/ 133427 h 200025"/>
                <a:gd name="connsiteX48" fmla="*/ 1289622 w 1495425"/>
                <a:gd name="connsiteY48" fmla="*/ 82173 h 200025"/>
                <a:gd name="connsiteX49" fmla="*/ 1336295 w 1495425"/>
                <a:gd name="connsiteY49" fmla="*/ 62189 h 200025"/>
                <a:gd name="connsiteX50" fmla="*/ 561350 w 1495425"/>
                <a:gd name="connsiteY50" fmla="*/ 62189 h 200025"/>
                <a:gd name="connsiteX51" fmla="*/ 598298 w 1495425"/>
                <a:gd name="connsiteY51" fmla="*/ 79439 h 200025"/>
                <a:gd name="connsiteX52" fmla="*/ 611204 w 1495425"/>
                <a:gd name="connsiteY52" fmla="*/ 126407 h 200025"/>
                <a:gd name="connsiteX53" fmla="*/ 611204 w 1495425"/>
                <a:gd name="connsiteY53" fmla="*/ 131646 h 200025"/>
                <a:gd name="connsiteX54" fmla="*/ 515583 w 1495425"/>
                <a:gd name="connsiteY54" fmla="*/ 131646 h 200025"/>
                <a:gd name="connsiteX55" fmla="*/ 527841 w 1495425"/>
                <a:gd name="connsiteY55" fmla="*/ 174037 h 200025"/>
                <a:gd name="connsiteX56" fmla="*/ 561579 w 1495425"/>
                <a:gd name="connsiteY56" fmla="*/ 189318 h 200025"/>
                <a:gd name="connsiteX57" fmla="*/ 603965 w 1495425"/>
                <a:gd name="connsiteY57" fmla="*/ 173026 h 200025"/>
                <a:gd name="connsiteX58" fmla="*/ 603965 w 1495425"/>
                <a:gd name="connsiteY58" fmla="*/ 185632 h 200025"/>
                <a:gd name="connsiteX59" fmla="*/ 559245 w 1495425"/>
                <a:gd name="connsiteY59" fmla="*/ 200140 h 200025"/>
                <a:gd name="connsiteX60" fmla="*/ 518849 w 1495425"/>
                <a:gd name="connsiteY60" fmla="*/ 181885 h 200025"/>
                <a:gd name="connsiteX61" fmla="*/ 503438 w 1495425"/>
                <a:gd name="connsiteY61" fmla="*/ 130455 h 200025"/>
                <a:gd name="connsiteX62" fmla="*/ 519555 w 1495425"/>
                <a:gd name="connsiteY62" fmla="*/ 81935 h 200025"/>
                <a:gd name="connsiteX63" fmla="*/ 561350 w 1495425"/>
                <a:gd name="connsiteY63" fmla="*/ 62189 h 200025"/>
                <a:gd name="connsiteX64" fmla="*/ 453880 w 1495425"/>
                <a:gd name="connsiteY64" fmla="*/ 62189 h 200025"/>
                <a:gd name="connsiteX65" fmla="*/ 482483 w 1495425"/>
                <a:gd name="connsiteY65" fmla="*/ 68371 h 200025"/>
                <a:gd name="connsiteX66" fmla="*/ 482483 w 1495425"/>
                <a:gd name="connsiteY66" fmla="*/ 81697 h 200025"/>
                <a:gd name="connsiteX67" fmla="*/ 452127 w 1495425"/>
                <a:gd name="connsiteY67" fmla="*/ 73010 h 200025"/>
                <a:gd name="connsiteX68" fmla="*/ 415351 w 1495425"/>
                <a:gd name="connsiteY68" fmla="*/ 89660 h 200025"/>
                <a:gd name="connsiteX69" fmla="*/ 401225 w 1495425"/>
                <a:gd name="connsiteY69" fmla="*/ 132713 h 200025"/>
                <a:gd name="connsiteX70" fmla="*/ 414122 w 1495425"/>
                <a:gd name="connsiteY70" fmla="*/ 173799 h 200025"/>
                <a:gd name="connsiteX71" fmla="*/ 448279 w 1495425"/>
                <a:gd name="connsiteY71" fmla="*/ 189318 h 200025"/>
                <a:gd name="connsiteX72" fmla="*/ 482017 w 1495425"/>
                <a:gd name="connsiteY72" fmla="*/ 178853 h 200025"/>
                <a:gd name="connsiteX73" fmla="*/ 482017 w 1495425"/>
                <a:gd name="connsiteY73" fmla="*/ 191102 h 200025"/>
                <a:gd name="connsiteX74" fmla="*/ 447689 w 1495425"/>
                <a:gd name="connsiteY74" fmla="*/ 200140 h 200025"/>
                <a:gd name="connsiteX75" fmla="*/ 405255 w 1495425"/>
                <a:gd name="connsiteY75" fmla="*/ 181707 h 200025"/>
                <a:gd name="connsiteX76" fmla="*/ 389081 w 1495425"/>
                <a:gd name="connsiteY76" fmla="*/ 133427 h 200025"/>
                <a:gd name="connsiteX77" fmla="*/ 407236 w 1495425"/>
                <a:gd name="connsiteY77" fmla="*/ 82173 h 200025"/>
                <a:gd name="connsiteX78" fmla="*/ 453880 w 1495425"/>
                <a:gd name="connsiteY78" fmla="*/ 62189 h 200025"/>
                <a:gd name="connsiteX79" fmla="*/ 84195 w 1495425"/>
                <a:gd name="connsiteY79" fmla="*/ 21280 h 200025"/>
                <a:gd name="connsiteX80" fmla="*/ 32294 w 1495425"/>
                <a:gd name="connsiteY80" fmla="*/ 44530 h 200025"/>
                <a:gd name="connsiteX81" fmla="*/ 11920 w 1495425"/>
                <a:gd name="connsiteY81" fmla="*/ 105357 h 200025"/>
                <a:gd name="connsiteX82" fmla="*/ 31189 w 1495425"/>
                <a:gd name="connsiteY82" fmla="*/ 165950 h 200025"/>
                <a:gd name="connsiteX83" fmla="*/ 82671 w 1495425"/>
                <a:gd name="connsiteY83" fmla="*/ 188486 h 200025"/>
                <a:gd name="connsiteX84" fmla="*/ 135735 w 1495425"/>
                <a:gd name="connsiteY84" fmla="*/ 166188 h 200025"/>
                <a:gd name="connsiteX85" fmla="*/ 155300 w 1495425"/>
                <a:gd name="connsiteY85" fmla="*/ 104052 h 200025"/>
                <a:gd name="connsiteX86" fmla="*/ 136202 w 1495425"/>
                <a:gd name="connsiteY86" fmla="*/ 43168 h 200025"/>
                <a:gd name="connsiteX87" fmla="*/ 84195 w 1495425"/>
                <a:gd name="connsiteY87" fmla="*/ 21280 h 200025"/>
                <a:gd name="connsiteX88" fmla="*/ 350857 w 1495425"/>
                <a:gd name="connsiteY88" fmla="*/ 12717 h 200025"/>
                <a:gd name="connsiteX89" fmla="*/ 357696 w 1495425"/>
                <a:gd name="connsiteY89" fmla="*/ 15279 h 200025"/>
                <a:gd name="connsiteX90" fmla="*/ 360668 w 1495425"/>
                <a:gd name="connsiteY90" fmla="*/ 22232 h 200025"/>
                <a:gd name="connsiteX91" fmla="*/ 357753 w 1495425"/>
                <a:gd name="connsiteY91" fmla="*/ 29309 h 200025"/>
                <a:gd name="connsiteX92" fmla="*/ 350857 w 1495425"/>
                <a:gd name="connsiteY92" fmla="*/ 32224 h 200025"/>
                <a:gd name="connsiteX93" fmla="*/ 344152 w 1495425"/>
                <a:gd name="connsiteY93" fmla="*/ 29433 h 200025"/>
                <a:gd name="connsiteX94" fmla="*/ 341285 w 1495425"/>
                <a:gd name="connsiteY94" fmla="*/ 22232 h 200025"/>
                <a:gd name="connsiteX95" fmla="*/ 344209 w 1495425"/>
                <a:gd name="connsiteY95" fmla="*/ 15393 h 200025"/>
                <a:gd name="connsiteX96" fmla="*/ 350857 w 1495425"/>
                <a:gd name="connsiteY96" fmla="*/ 12717 h 200025"/>
                <a:gd name="connsiteX97" fmla="*/ 86291 w 1495425"/>
                <a:gd name="connsiteY97" fmla="*/ 9630 h 200025"/>
                <a:gd name="connsiteX98" fmla="*/ 145489 w 1495425"/>
                <a:gd name="connsiteY98" fmla="*/ 35138 h 200025"/>
                <a:gd name="connsiteX99" fmla="*/ 168139 w 1495425"/>
                <a:gd name="connsiteY99" fmla="*/ 102032 h 200025"/>
                <a:gd name="connsiteX100" fmla="*/ 144965 w 1495425"/>
                <a:gd name="connsiteY100" fmla="*/ 173918 h 200025"/>
                <a:gd name="connsiteX101" fmla="*/ 82910 w 1495425"/>
                <a:gd name="connsiteY101" fmla="*/ 200140 h 200025"/>
                <a:gd name="connsiteX102" fmla="*/ 21845 w 1495425"/>
                <a:gd name="connsiteY102" fmla="*/ 174215 h 200025"/>
                <a:gd name="connsiteX103" fmla="*/ -920 w 1495425"/>
                <a:gd name="connsiteY103" fmla="*/ 106785 h 200025"/>
                <a:gd name="connsiteX104" fmla="*/ 22436 w 1495425"/>
                <a:gd name="connsiteY104" fmla="*/ 36148 h 200025"/>
                <a:gd name="connsiteX105" fmla="*/ 86291 w 1495425"/>
                <a:gd name="connsiteY105" fmla="*/ 9630 h 200025"/>
                <a:gd name="connsiteX106" fmla="*/ 316520 w 1495425"/>
                <a:gd name="connsiteY106" fmla="*/ 115 h 200025"/>
                <a:gd name="connsiteX107" fmla="*/ 330178 w 1495425"/>
                <a:gd name="connsiteY107" fmla="*/ 2611 h 200025"/>
                <a:gd name="connsiteX108" fmla="*/ 330178 w 1495425"/>
                <a:gd name="connsiteY108" fmla="*/ 14622 h 200025"/>
                <a:gd name="connsiteX109" fmla="*/ 316053 w 1495425"/>
                <a:gd name="connsiteY109" fmla="*/ 10935 h 200025"/>
                <a:gd name="connsiteX110" fmla="*/ 292231 w 1495425"/>
                <a:gd name="connsiteY110" fmla="*/ 43520 h 200025"/>
                <a:gd name="connsiteX111" fmla="*/ 292231 w 1495425"/>
                <a:gd name="connsiteY111" fmla="*/ 65399 h 200025"/>
                <a:gd name="connsiteX112" fmla="*/ 326445 w 1495425"/>
                <a:gd name="connsiteY112" fmla="*/ 65399 h 200025"/>
                <a:gd name="connsiteX113" fmla="*/ 326445 w 1495425"/>
                <a:gd name="connsiteY113" fmla="*/ 76220 h 200025"/>
                <a:gd name="connsiteX114" fmla="*/ 292231 w 1495425"/>
                <a:gd name="connsiteY114" fmla="*/ 76220 h 200025"/>
                <a:gd name="connsiteX115" fmla="*/ 292231 w 1495425"/>
                <a:gd name="connsiteY115" fmla="*/ 196929 h 200025"/>
                <a:gd name="connsiteX116" fmla="*/ 280677 w 1495425"/>
                <a:gd name="connsiteY116" fmla="*/ 196929 h 200025"/>
                <a:gd name="connsiteX117" fmla="*/ 280677 w 1495425"/>
                <a:gd name="connsiteY117" fmla="*/ 76220 h 200025"/>
                <a:gd name="connsiteX118" fmla="*/ 257436 w 1495425"/>
                <a:gd name="connsiteY118" fmla="*/ 76220 h 200025"/>
                <a:gd name="connsiteX119" fmla="*/ 257436 w 1495425"/>
                <a:gd name="connsiteY119" fmla="*/ 65399 h 200025"/>
                <a:gd name="connsiteX120" fmla="*/ 280677 w 1495425"/>
                <a:gd name="connsiteY120" fmla="*/ 65399 h 200025"/>
                <a:gd name="connsiteX121" fmla="*/ 280677 w 1495425"/>
                <a:gd name="connsiteY121" fmla="*/ 42568 h 200025"/>
                <a:gd name="connsiteX122" fmla="*/ 290945 w 1495425"/>
                <a:gd name="connsiteY122" fmla="*/ 10935 h 200025"/>
                <a:gd name="connsiteX123" fmla="*/ 316520 w 1495425"/>
                <a:gd name="connsiteY123" fmla="*/ 115 h 200025"/>
                <a:gd name="connsiteX124" fmla="*/ 245044 w 1495425"/>
                <a:gd name="connsiteY124" fmla="*/ 115 h 200025"/>
                <a:gd name="connsiteX125" fmla="*/ 258703 w 1495425"/>
                <a:gd name="connsiteY125" fmla="*/ 2611 h 200025"/>
                <a:gd name="connsiteX126" fmla="*/ 258703 w 1495425"/>
                <a:gd name="connsiteY126" fmla="*/ 14622 h 200025"/>
                <a:gd name="connsiteX127" fmla="*/ 244577 w 1495425"/>
                <a:gd name="connsiteY127" fmla="*/ 10935 h 200025"/>
                <a:gd name="connsiteX128" fmla="*/ 220755 w 1495425"/>
                <a:gd name="connsiteY128" fmla="*/ 43520 h 200025"/>
                <a:gd name="connsiteX129" fmla="*/ 220755 w 1495425"/>
                <a:gd name="connsiteY129" fmla="*/ 65399 h 200025"/>
                <a:gd name="connsiteX130" fmla="*/ 254969 w 1495425"/>
                <a:gd name="connsiteY130" fmla="*/ 65399 h 200025"/>
                <a:gd name="connsiteX131" fmla="*/ 254969 w 1495425"/>
                <a:gd name="connsiteY131" fmla="*/ 76220 h 200025"/>
                <a:gd name="connsiteX132" fmla="*/ 220755 w 1495425"/>
                <a:gd name="connsiteY132" fmla="*/ 76220 h 200025"/>
                <a:gd name="connsiteX133" fmla="*/ 220755 w 1495425"/>
                <a:gd name="connsiteY133" fmla="*/ 196929 h 200025"/>
                <a:gd name="connsiteX134" fmla="*/ 209201 w 1495425"/>
                <a:gd name="connsiteY134" fmla="*/ 196929 h 200025"/>
                <a:gd name="connsiteX135" fmla="*/ 209201 w 1495425"/>
                <a:gd name="connsiteY135" fmla="*/ 76220 h 200025"/>
                <a:gd name="connsiteX136" fmla="*/ 185970 w 1495425"/>
                <a:gd name="connsiteY136" fmla="*/ 76220 h 200025"/>
                <a:gd name="connsiteX137" fmla="*/ 185970 w 1495425"/>
                <a:gd name="connsiteY137" fmla="*/ 65399 h 200025"/>
                <a:gd name="connsiteX138" fmla="*/ 209201 w 1495425"/>
                <a:gd name="connsiteY138" fmla="*/ 65399 h 200025"/>
                <a:gd name="connsiteX139" fmla="*/ 209201 w 1495425"/>
                <a:gd name="connsiteY139" fmla="*/ 42568 h 200025"/>
                <a:gd name="connsiteX140" fmla="*/ 219469 w 1495425"/>
                <a:gd name="connsiteY140" fmla="*/ 10935 h 200025"/>
                <a:gd name="connsiteX141" fmla="*/ 245044 w 1495425"/>
                <a:gd name="connsiteY141" fmla="*/ 115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495425" h="200025">
                  <a:moveTo>
                    <a:pt x="1231520" y="178615"/>
                  </a:moveTo>
                  <a:cubicBezTo>
                    <a:pt x="1234472" y="178615"/>
                    <a:pt x="1236853" y="179567"/>
                    <a:pt x="1238950" y="181469"/>
                  </a:cubicBezTo>
                  <a:cubicBezTo>
                    <a:pt x="1240950" y="183372"/>
                    <a:pt x="1241902" y="185830"/>
                    <a:pt x="1241902" y="188842"/>
                  </a:cubicBezTo>
                  <a:cubicBezTo>
                    <a:pt x="1241902" y="191776"/>
                    <a:pt x="1240950" y="194234"/>
                    <a:pt x="1238950" y="196216"/>
                  </a:cubicBezTo>
                  <a:cubicBezTo>
                    <a:pt x="1236853" y="198198"/>
                    <a:pt x="1234472" y="199188"/>
                    <a:pt x="1231520" y="199188"/>
                  </a:cubicBezTo>
                  <a:cubicBezTo>
                    <a:pt x="1228662" y="199188"/>
                    <a:pt x="1226281" y="198198"/>
                    <a:pt x="1224376" y="196216"/>
                  </a:cubicBezTo>
                  <a:cubicBezTo>
                    <a:pt x="1222471" y="194234"/>
                    <a:pt x="1221518" y="191776"/>
                    <a:pt x="1221518" y="188842"/>
                  </a:cubicBezTo>
                  <a:cubicBezTo>
                    <a:pt x="1221518" y="185830"/>
                    <a:pt x="1222471" y="183372"/>
                    <a:pt x="1224376" y="181469"/>
                  </a:cubicBezTo>
                  <a:cubicBezTo>
                    <a:pt x="1226281" y="179567"/>
                    <a:pt x="1228662" y="178615"/>
                    <a:pt x="1231520" y="178615"/>
                  </a:cubicBezTo>
                  <a:close/>
                  <a:moveTo>
                    <a:pt x="560884" y="73010"/>
                  </a:moveTo>
                  <a:cubicBezTo>
                    <a:pt x="548739" y="73010"/>
                    <a:pt x="538700" y="77134"/>
                    <a:pt x="530756" y="85383"/>
                  </a:cubicBezTo>
                  <a:cubicBezTo>
                    <a:pt x="522822" y="93622"/>
                    <a:pt x="517916" y="105481"/>
                    <a:pt x="516050" y="120940"/>
                  </a:cubicBezTo>
                  <a:lnTo>
                    <a:pt x="599060" y="120940"/>
                  </a:lnTo>
                  <a:cubicBezTo>
                    <a:pt x="598517" y="105719"/>
                    <a:pt x="594936" y="93927"/>
                    <a:pt x="588316" y="85564"/>
                  </a:cubicBezTo>
                  <a:cubicBezTo>
                    <a:pt x="581706" y="77191"/>
                    <a:pt x="572551" y="73010"/>
                    <a:pt x="560884" y="73010"/>
                  </a:cubicBezTo>
                  <a:close/>
                  <a:moveTo>
                    <a:pt x="345142" y="65399"/>
                  </a:moveTo>
                  <a:lnTo>
                    <a:pt x="356696" y="65399"/>
                  </a:lnTo>
                  <a:lnTo>
                    <a:pt x="356696" y="196929"/>
                  </a:lnTo>
                  <a:lnTo>
                    <a:pt x="345142" y="196929"/>
                  </a:lnTo>
                  <a:close/>
                  <a:moveTo>
                    <a:pt x="1451452" y="62189"/>
                  </a:moveTo>
                  <a:cubicBezTo>
                    <a:pt x="1465358" y="62189"/>
                    <a:pt x="1476027" y="66933"/>
                    <a:pt x="1483456" y="76401"/>
                  </a:cubicBezTo>
                  <a:cubicBezTo>
                    <a:pt x="1490790" y="85878"/>
                    <a:pt x="1494505" y="99375"/>
                    <a:pt x="1494505" y="116892"/>
                  </a:cubicBezTo>
                  <a:lnTo>
                    <a:pt x="1494505" y="196929"/>
                  </a:lnTo>
                  <a:lnTo>
                    <a:pt x="1482980" y="196929"/>
                  </a:lnTo>
                  <a:lnTo>
                    <a:pt x="1482980" y="120340"/>
                  </a:lnTo>
                  <a:cubicBezTo>
                    <a:pt x="1482980" y="88793"/>
                    <a:pt x="1471740" y="73010"/>
                    <a:pt x="1449452" y="73010"/>
                  </a:cubicBezTo>
                  <a:cubicBezTo>
                    <a:pt x="1436974" y="73010"/>
                    <a:pt x="1426782" y="77648"/>
                    <a:pt x="1418686" y="86926"/>
                  </a:cubicBezTo>
                  <a:cubicBezTo>
                    <a:pt x="1410685" y="96203"/>
                    <a:pt x="1406685" y="107700"/>
                    <a:pt x="1406685" y="121416"/>
                  </a:cubicBezTo>
                  <a:lnTo>
                    <a:pt x="1406685" y="196929"/>
                  </a:lnTo>
                  <a:lnTo>
                    <a:pt x="1395159" y="196929"/>
                  </a:lnTo>
                  <a:lnTo>
                    <a:pt x="1395159" y="65399"/>
                  </a:lnTo>
                  <a:lnTo>
                    <a:pt x="1406685" y="65399"/>
                  </a:lnTo>
                  <a:lnTo>
                    <a:pt x="1406685" y="89307"/>
                  </a:lnTo>
                  <a:lnTo>
                    <a:pt x="1407256" y="89307"/>
                  </a:lnTo>
                  <a:cubicBezTo>
                    <a:pt x="1416685" y="71229"/>
                    <a:pt x="1431450" y="62189"/>
                    <a:pt x="1451452" y="62189"/>
                  </a:cubicBezTo>
                  <a:close/>
                  <a:moveTo>
                    <a:pt x="1336295" y="62189"/>
                  </a:moveTo>
                  <a:cubicBezTo>
                    <a:pt x="1346106" y="62189"/>
                    <a:pt x="1355631" y="64256"/>
                    <a:pt x="1364870" y="68371"/>
                  </a:cubicBezTo>
                  <a:lnTo>
                    <a:pt x="1364870" y="81697"/>
                  </a:lnTo>
                  <a:cubicBezTo>
                    <a:pt x="1355631" y="75905"/>
                    <a:pt x="1345534" y="73010"/>
                    <a:pt x="1334485" y="73010"/>
                  </a:cubicBezTo>
                  <a:cubicBezTo>
                    <a:pt x="1319436" y="73010"/>
                    <a:pt x="1307148" y="78563"/>
                    <a:pt x="1297718" y="89660"/>
                  </a:cubicBezTo>
                  <a:cubicBezTo>
                    <a:pt x="1288289" y="100766"/>
                    <a:pt x="1283621" y="115110"/>
                    <a:pt x="1283621" y="132713"/>
                  </a:cubicBezTo>
                  <a:cubicBezTo>
                    <a:pt x="1283621" y="149757"/>
                    <a:pt x="1287908" y="163453"/>
                    <a:pt x="1296480" y="173799"/>
                  </a:cubicBezTo>
                  <a:cubicBezTo>
                    <a:pt x="1305053" y="184146"/>
                    <a:pt x="1316483" y="189318"/>
                    <a:pt x="1330676" y="189318"/>
                  </a:cubicBezTo>
                  <a:cubicBezTo>
                    <a:pt x="1343534" y="189318"/>
                    <a:pt x="1354773" y="185830"/>
                    <a:pt x="1364393" y="178853"/>
                  </a:cubicBezTo>
                  <a:lnTo>
                    <a:pt x="1364393" y="191102"/>
                  </a:lnTo>
                  <a:cubicBezTo>
                    <a:pt x="1354773" y="197127"/>
                    <a:pt x="1343343" y="200140"/>
                    <a:pt x="1330103" y="200140"/>
                  </a:cubicBezTo>
                  <a:cubicBezTo>
                    <a:pt x="1312578" y="200140"/>
                    <a:pt x="1298386" y="193995"/>
                    <a:pt x="1287622" y="181707"/>
                  </a:cubicBezTo>
                  <a:cubicBezTo>
                    <a:pt x="1276859" y="169419"/>
                    <a:pt x="1271429" y="153325"/>
                    <a:pt x="1271429" y="133427"/>
                  </a:cubicBezTo>
                  <a:cubicBezTo>
                    <a:pt x="1271429" y="112577"/>
                    <a:pt x="1277525" y="95489"/>
                    <a:pt x="1289622" y="82173"/>
                  </a:cubicBezTo>
                  <a:cubicBezTo>
                    <a:pt x="1301719" y="68847"/>
                    <a:pt x="1317245" y="62189"/>
                    <a:pt x="1336295" y="62189"/>
                  </a:cubicBezTo>
                  <a:close/>
                  <a:moveTo>
                    <a:pt x="561350" y="62189"/>
                  </a:moveTo>
                  <a:cubicBezTo>
                    <a:pt x="577381" y="62189"/>
                    <a:pt x="589697" y="67943"/>
                    <a:pt x="598298" y="79439"/>
                  </a:cubicBezTo>
                  <a:cubicBezTo>
                    <a:pt x="606899" y="90926"/>
                    <a:pt x="611204" y="106585"/>
                    <a:pt x="611204" y="126407"/>
                  </a:cubicBezTo>
                  <a:lnTo>
                    <a:pt x="611204" y="131646"/>
                  </a:lnTo>
                  <a:lnTo>
                    <a:pt x="515583" y="131646"/>
                  </a:lnTo>
                  <a:cubicBezTo>
                    <a:pt x="515583" y="149718"/>
                    <a:pt x="519669" y="163849"/>
                    <a:pt x="527841" y="174037"/>
                  </a:cubicBezTo>
                  <a:cubicBezTo>
                    <a:pt x="536014" y="184225"/>
                    <a:pt x="547263" y="189318"/>
                    <a:pt x="561579" y="189318"/>
                  </a:cubicBezTo>
                  <a:cubicBezTo>
                    <a:pt x="576057" y="189318"/>
                    <a:pt x="590182" y="183888"/>
                    <a:pt x="603965" y="173026"/>
                  </a:cubicBezTo>
                  <a:lnTo>
                    <a:pt x="603965" y="185632"/>
                  </a:lnTo>
                  <a:cubicBezTo>
                    <a:pt x="590573" y="195304"/>
                    <a:pt x="575666" y="200140"/>
                    <a:pt x="559245" y="200140"/>
                  </a:cubicBezTo>
                  <a:cubicBezTo>
                    <a:pt x="542586" y="200140"/>
                    <a:pt x="529127" y="194055"/>
                    <a:pt x="518849" y="181885"/>
                  </a:cubicBezTo>
                  <a:cubicBezTo>
                    <a:pt x="508572" y="169716"/>
                    <a:pt x="503438" y="152571"/>
                    <a:pt x="503438" y="130455"/>
                  </a:cubicBezTo>
                  <a:cubicBezTo>
                    <a:pt x="503438" y="111262"/>
                    <a:pt x="508811" y="95089"/>
                    <a:pt x="519555" y="81935"/>
                  </a:cubicBezTo>
                  <a:cubicBezTo>
                    <a:pt x="530289" y="68771"/>
                    <a:pt x="544224" y="62189"/>
                    <a:pt x="561350" y="62189"/>
                  </a:cubicBezTo>
                  <a:close/>
                  <a:moveTo>
                    <a:pt x="453880" y="62189"/>
                  </a:moveTo>
                  <a:cubicBezTo>
                    <a:pt x="463767" y="62189"/>
                    <a:pt x="473301" y="64256"/>
                    <a:pt x="482483" y="68371"/>
                  </a:cubicBezTo>
                  <a:lnTo>
                    <a:pt x="482483" y="81697"/>
                  </a:lnTo>
                  <a:cubicBezTo>
                    <a:pt x="473301" y="75905"/>
                    <a:pt x="463176" y="73010"/>
                    <a:pt x="452127" y="73010"/>
                  </a:cubicBezTo>
                  <a:cubicBezTo>
                    <a:pt x="437030" y="73010"/>
                    <a:pt x="424771" y="78563"/>
                    <a:pt x="415351" y="89660"/>
                  </a:cubicBezTo>
                  <a:cubicBezTo>
                    <a:pt x="405931" y="100766"/>
                    <a:pt x="401225" y="115110"/>
                    <a:pt x="401225" y="132713"/>
                  </a:cubicBezTo>
                  <a:cubicBezTo>
                    <a:pt x="401225" y="149757"/>
                    <a:pt x="405521" y="163453"/>
                    <a:pt x="414122" y="173799"/>
                  </a:cubicBezTo>
                  <a:cubicBezTo>
                    <a:pt x="422723" y="184146"/>
                    <a:pt x="434106" y="189318"/>
                    <a:pt x="448279" y="189318"/>
                  </a:cubicBezTo>
                  <a:cubicBezTo>
                    <a:pt x="461195" y="189318"/>
                    <a:pt x="472444" y="185830"/>
                    <a:pt x="482017" y="178853"/>
                  </a:cubicBezTo>
                  <a:lnTo>
                    <a:pt x="482017" y="191102"/>
                  </a:lnTo>
                  <a:cubicBezTo>
                    <a:pt x="472444" y="197127"/>
                    <a:pt x="461004" y="200140"/>
                    <a:pt x="447689" y="200140"/>
                  </a:cubicBezTo>
                  <a:cubicBezTo>
                    <a:pt x="430182" y="200140"/>
                    <a:pt x="416027" y="193995"/>
                    <a:pt x="405255" y="181707"/>
                  </a:cubicBezTo>
                  <a:cubicBezTo>
                    <a:pt x="394472" y="169419"/>
                    <a:pt x="389081" y="153325"/>
                    <a:pt x="389081" y="133427"/>
                  </a:cubicBezTo>
                  <a:cubicBezTo>
                    <a:pt x="389081" y="112577"/>
                    <a:pt x="395130" y="95489"/>
                    <a:pt x="407236" y="82173"/>
                  </a:cubicBezTo>
                  <a:cubicBezTo>
                    <a:pt x="419342" y="68847"/>
                    <a:pt x="434887" y="62189"/>
                    <a:pt x="453880" y="62189"/>
                  </a:cubicBezTo>
                  <a:close/>
                  <a:moveTo>
                    <a:pt x="84195" y="21280"/>
                  </a:moveTo>
                  <a:cubicBezTo>
                    <a:pt x="63174" y="21280"/>
                    <a:pt x="45877" y="29033"/>
                    <a:pt x="32294" y="44530"/>
                  </a:cubicBezTo>
                  <a:cubicBezTo>
                    <a:pt x="18711" y="60027"/>
                    <a:pt x="11920" y="80306"/>
                    <a:pt x="11920" y="105357"/>
                  </a:cubicBezTo>
                  <a:cubicBezTo>
                    <a:pt x="11920" y="130731"/>
                    <a:pt x="18349" y="150926"/>
                    <a:pt x="31189" y="165950"/>
                  </a:cubicBezTo>
                  <a:cubicBezTo>
                    <a:pt x="44028" y="180974"/>
                    <a:pt x="61192" y="188486"/>
                    <a:pt x="82671" y="188486"/>
                  </a:cubicBezTo>
                  <a:cubicBezTo>
                    <a:pt x="105017" y="188486"/>
                    <a:pt x="122705" y="181053"/>
                    <a:pt x="135735" y="166188"/>
                  </a:cubicBezTo>
                  <a:cubicBezTo>
                    <a:pt x="148775" y="151322"/>
                    <a:pt x="155300" y="130607"/>
                    <a:pt x="155300" y="104052"/>
                  </a:cubicBezTo>
                  <a:cubicBezTo>
                    <a:pt x="155300" y="78049"/>
                    <a:pt x="148937" y="57751"/>
                    <a:pt x="136202" y="43168"/>
                  </a:cubicBezTo>
                  <a:cubicBezTo>
                    <a:pt x="123476" y="28576"/>
                    <a:pt x="106141" y="21280"/>
                    <a:pt x="84195" y="21280"/>
                  </a:cubicBezTo>
                  <a:close/>
                  <a:moveTo>
                    <a:pt x="350857" y="12717"/>
                  </a:moveTo>
                  <a:cubicBezTo>
                    <a:pt x="353429" y="12717"/>
                    <a:pt x="355705" y="13574"/>
                    <a:pt x="357696" y="15279"/>
                  </a:cubicBezTo>
                  <a:cubicBezTo>
                    <a:pt x="359677" y="16984"/>
                    <a:pt x="360668" y="19298"/>
                    <a:pt x="360668" y="22232"/>
                  </a:cubicBezTo>
                  <a:cubicBezTo>
                    <a:pt x="360668" y="25013"/>
                    <a:pt x="359696" y="27366"/>
                    <a:pt x="357753" y="29309"/>
                  </a:cubicBezTo>
                  <a:cubicBezTo>
                    <a:pt x="355801" y="31252"/>
                    <a:pt x="353505" y="32224"/>
                    <a:pt x="350857" y="32224"/>
                  </a:cubicBezTo>
                  <a:cubicBezTo>
                    <a:pt x="348295" y="32224"/>
                    <a:pt x="346057" y="31290"/>
                    <a:pt x="344152" y="29433"/>
                  </a:cubicBezTo>
                  <a:cubicBezTo>
                    <a:pt x="342247" y="27566"/>
                    <a:pt x="341285" y="25166"/>
                    <a:pt x="341285" y="22232"/>
                  </a:cubicBezTo>
                  <a:cubicBezTo>
                    <a:pt x="341285" y="19460"/>
                    <a:pt x="342266" y="17184"/>
                    <a:pt x="344209" y="15393"/>
                  </a:cubicBezTo>
                  <a:cubicBezTo>
                    <a:pt x="346152" y="13612"/>
                    <a:pt x="348371" y="12717"/>
                    <a:pt x="350857" y="12717"/>
                  </a:cubicBezTo>
                  <a:close/>
                  <a:moveTo>
                    <a:pt x="86291" y="9630"/>
                  </a:moveTo>
                  <a:cubicBezTo>
                    <a:pt x="110656" y="9630"/>
                    <a:pt x="130392" y="18127"/>
                    <a:pt x="145489" y="35138"/>
                  </a:cubicBezTo>
                  <a:cubicBezTo>
                    <a:pt x="160586" y="52141"/>
                    <a:pt x="168139" y="74439"/>
                    <a:pt x="168139" y="102032"/>
                  </a:cubicBezTo>
                  <a:cubicBezTo>
                    <a:pt x="168139" y="132474"/>
                    <a:pt x="160414" y="156436"/>
                    <a:pt x="144965" y="173918"/>
                  </a:cubicBezTo>
                  <a:cubicBezTo>
                    <a:pt x="129515" y="191399"/>
                    <a:pt x="108827" y="200140"/>
                    <a:pt x="82910" y="200140"/>
                  </a:cubicBezTo>
                  <a:cubicBezTo>
                    <a:pt x="57382" y="200140"/>
                    <a:pt x="37028" y="191498"/>
                    <a:pt x="21845" y="174215"/>
                  </a:cubicBezTo>
                  <a:cubicBezTo>
                    <a:pt x="6671" y="156932"/>
                    <a:pt x="-920" y="134456"/>
                    <a:pt x="-920" y="106785"/>
                  </a:cubicBezTo>
                  <a:cubicBezTo>
                    <a:pt x="-920" y="77372"/>
                    <a:pt x="6862" y="53826"/>
                    <a:pt x="22436" y="36148"/>
                  </a:cubicBezTo>
                  <a:cubicBezTo>
                    <a:pt x="37999" y="18470"/>
                    <a:pt x="59287" y="9630"/>
                    <a:pt x="86291" y="9630"/>
                  </a:cubicBezTo>
                  <a:close/>
                  <a:moveTo>
                    <a:pt x="316520" y="115"/>
                  </a:moveTo>
                  <a:cubicBezTo>
                    <a:pt x="322044" y="115"/>
                    <a:pt x="326597" y="944"/>
                    <a:pt x="330178" y="2611"/>
                  </a:cubicBezTo>
                  <a:lnTo>
                    <a:pt x="330178" y="14622"/>
                  </a:lnTo>
                  <a:cubicBezTo>
                    <a:pt x="327064" y="12164"/>
                    <a:pt x="322359" y="10935"/>
                    <a:pt x="316053" y="10935"/>
                  </a:cubicBezTo>
                  <a:cubicBezTo>
                    <a:pt x="300175" y="10935"/>
                    <a:pt x="292231" y="21794"/>
                    <a:pt x="292231" y="43520"/>
                  </a:cubicBezTo>
                  <a:lnTo>
                    <a:pt x="292231" y="65399"/>
                  </a:lnTo>
                  <a:lnTo>
                    <a:pt x="326445" y="65399"/>
                  </a:lnTo>
                  <a:lnTo>
                    <a:pt x="326445" y="76220"/>
                  </a:lnTo>
                  <a:lnTo>
                    <a:pt x="292231" y="76220"/>
                  </a:lnTo>
                  <a:lnTo>
                    <a:pt x="292231" y="196929"/>
                  </a:lnTo>
                  <a:lnTo>
                    <a:pt x="280677" y="196929"/>
                  </a:lnTo>
                  <a:lnTo>
                    <a:pt x="280677" y="76220"/>
                  </a:lnTo>
                  <a:lnTo>
                    <a:pt x="257436" y="76220"/>
                  </a:lnTo>
                  <a:lnTo>
                    <a:pt x="257436" y="65399"/>
                  </a:lnTo>
                  <a:lnTo>
                    <a:pt x="280677" y="65399"/>
                  </a:lnTo>
                  <a:lnTo>
                    <a:pt x="280677" y="42568"/>
                  </a:lnTo>
                  <a:cubicBezTo>
                    <a:pt x="280677" y="28700"/>
                    <a:pt x="284096" y="18155"/>
                    <a:pt x="290945" y="10935"/>
                  </a:cubicBezTo>
                  <a:cubicBezTo>
                    <a:pt x="297794" y="3725"/>
                    <a:pt x="306318" y="115"/>
                    <a:pt x="316520" y="115"/>
                  </a:cubicBezTo>
                  <a:close/>
                  <a:moveTo>
                    <a:pt x="245044" y="115"/>
                  </a:moveTo>
                  <a:cubicBezTo>
                    <a:pt x="250569" y="115"/>
                    <a:pt x="255121" y="944"/>
                    <a:pt x="258703" y="2611"/>
                  </a:cubicBezTo>
                  <a:lnTo>
                    <a:pt x="258703" y="14622"/>
                  </a:lnTo>
                  <a:cubicBezTo>
                    <a:pt x="255588" y="12164"/>
                    <a:pt x="250883" y="10935"/>
                    <a:pt x="244577" y="10935"/>
                  </a:cubicBezTo>
                  <a:cubicBezTo>
                    <a:pt x="228699" y="10935"/>
                    <a:pt x="220755" y="21794"/>
                    <a:pt x="220755" y="43520"/>
                  </a:cubicBezTo>
                  <a:lnTo>
                    <a:pt x="220755" y="65399"/>
                  </a:lnTo>
                  <a:lnTo>
                    <a:pt x="254969" y="65399"/>
                  </a:lnTo>
                  <a:lnTo>
                    <a:pt x="254969" y="76220"/>
                  </a:lnTo>
                  <a:lnTo>
                    <a:pt x="220755" y="76220"/>
                  </a:lnTo>
                  <a:lnTo>
                    <a:pt x="220755" y="196929"/>
                  </a:lnTo>
                  <a:lnTo>
                    <a:pt x="209201" y="196929"/>
                  </a:lnTo>
                  <a:lnTo>
                    <a:pt x="209201" y="76220"/>
                  </a:lnTo>
                  <a:lnTo>
                    <a:pt x="185970" y="76220"/>
                  </a:lnTo>
                  <a:lnTo>
                    <a:pt x="185970" y="65399"/>
                  </a:lnTo>
                  <a:lnTo>
                    <a:pt x="209201" y="65399"/>
                  </a:lnTo>
                  <a:lnTo>
                    <a:pt x="209201" y="42568"/>
                  </a:lnTo>
                  <a:cubicBezTo>
                    <a:pt x="209201" y="28700"/>
                    <a:pt x="212621" y="18155"/>
                    <a:pt x="219469" y="10935"/>
                  </a:cubicBezTo>
                  <a:cubicBezTo>
                    <a:pt x="226327" y="3725"/>
                    <a:pt x="234843" y="115"/>
                    <a:pt x="245044" y="115"/>
                  </a:cubicBezTo>
                  <a:close/>
                </a:path>
              </a:pathLst>
            </a:custGeom>
            <a:grpFill/>
            <a:ln w="9525" cap="flat">
              <a:noFill/>
              <a:prstDash val="solid"/>
              <a:miter/>
            </a:ln>
          </p:spPr>
          <p:txBody>
            <a:bodyPr rtlCol="0" anchor="ctr">
              <a:noAutofit/>
            </a:bodyPr>
            <a:lstStyle/>
            <a:p>
              <a:endParaRPr lang="zh-CN" altLang="en-US"/>
            </a:p>
          </p:txBody>
        </p:sp>
      </p:grpSp>
      <p:sp>
        <p:nvSpPr>
          <p:cNvPr id="8" name="文本框 7"/>
          <p:cNvSpPr txBox="1"/>
          <p:nvPr userDrawn="1"/>
        </p:nvSpPr>
        <p:spPr>
          <a:xfrm>
            <a:off x="10209866" y="244475"/>
            <a:ext cx="1245534" cy="307777"/>
          </a:xfrm>
          <a:prstGeom prst="rect">
            <a:avLst/>
          </a:prstGeom>
          <a:noFill/>
        </p:spPr>
        <p:txBody>
          <a:bodyPr wrap="none" lIns="0" tIns="0" rIns="0" bIns="0" rtlCol="0">
            <a:noAutofit/>
          </a:bodyPr>
          <a:lstStyle/>
          <a:p>
            <a:r>
              <a:rPr lang="en-US" altLang="zh-CN" sz="1000" cap="all" dirty="0">
                <a:solidFill>
                  <a:schemeClr val="accent1"/>
                </a:solidFill>
              </a:rPr>
              <a:t>Academic report</a:t>
            </a:r>
            <a:endParaRPr lang="en-US" altLang="zh-CN" sz="1000" cap="all" dirty="0">
              <a:solidFill>
                <a:schemeClr val="accent1"/>
              </a:solidFill>
            </a:endParaRPr>
          </a:p>
          <a:p>
            <a:r>
              <a:rPr lang="en-US" altLang="zh-CN" sz="1000" cap="all" dirty="0">
                <a:solidFill>
                  <a:schemeClr val="accent1"/>
                </a:solidFill>
              </a:rPr>
              <a:t>presentation</a:t>
            </a:r>
            <a:endParaRPr lang="zh-CN" altLang="en-US" sz="1000" cap="all" dirty="0">
              <a:solidFill>
                <a:schemeClr val="accent1"/>
              </a:solidFill>
            </a:endParaRPr>
          </a:p>
        </p:txBody>
      </p:sp>
      <p:sp>
        <p:nvSpPr>
          <p:cNvPr id="9" name="文本占位符 8"/>
          <p:cNvSpPr>
            <a:spLocks noGrp="1"/>
          </p:cNvSpPr>
          <p:nvPr>
            <p:ph type="body" sz="quarter" idx="10" hasCustomPrompt="1"/>
          </p:nvPr>
        </p:nvSpPr>
        <p:spPr>
          <a:xfrm>
            <a:off x="736600" y="6239103"/>
            <a:ext cx="471283" cy="230832"/>
          </a:xfrm>
          <a:prstGeom prst="rect">
            <a:avLst/>
          </a:prstGeom>
        </p:spPr>
        <p:txBody>
          <a:bodyPr wrap="none" lIns="0" tIns="0" rIns="0" bIns="0">
            <a:noAutofit/>
          </a:bodyPr>
          <a:lstStyle>
            <a:lvl1pPr marL="0" indent="0" algn="l" defTabSz="914400" rtl="0" eaLnBrk="1" latinLnBrk="0" hangingPunct="1">
              <a:lnSpc>
                <a:spcPct val="100000"/>
              </a:lnSpc>
              <a:spcBef>
                <a:spcPts val="0"/>
              </a:spcBef>
              <a:buNone/>
              <a:defRPr lang="zh-CN" altLang="en-US" sz="1500" kern="1200" dirty="0">
                <a:solidFill>
                  <a:schemeClr val="accent1"/>
                </a:solidFill>
                <a:latin typeface="+mn-lt"/>
                <a:ea typeface="+mn-ea"/>
                <a:cs typeface="+mn-cs"/>
              </a:defRPr>
            </a:lvl1pPr>
          </a:lstStyle>
          <a:p>
            <a:pPr lvl="0"/>
            <a:r>
              <a:rPr lang="en-US" altLang="zh-CN" dirty="0"/>
              <a:t>20XX</a:t>
            </a:r>
            <a:endParaRPr lang="zh-CN" altLang="en-US" dirty="0"/>
          </a:p>
        </p:txBody>
      </p:sp>
      <p:sp>
        <p:nvSpPr>
          <p:cNvPr id="10" name="文本占位符 9"/>
          <p:cNvSpPr>
            <a:spLocks noGrp="1"/>
          </p:cNvSpPr>
          <p:nvPr>
            <p:ph type="body" sz="quarter" idx="11" hasCustomPrompt="1"/>
          </p:nvPr>
        </p:nvSpPr>
        <p:spPr>
          <a:xfrm>
            <a:off x="1423553" y="6239103"/>
            <a:ext cx="974626" cy="230832"/>
          </a:xfrm>
          <a:prstGeom prst="rect">
            <a:avLst/>
          </a:prstGeom>
        </p:spPr>
        <p:txBody>
          <a:bodyPr wrap="none" lIns="0" tIns="0" rIns="0" bIns="0">
            <a:noAutofit/>
          </a:bodyPr>
          <a:lstStyle>
            <a:lvl1pPr marL="0" indent="0" algn="r" defTabSz="914400" rtl="0" eaLnBrk="1" latinLnBrk="0" hangingPunct="1">
              <a:lnSpc>
                <a:spcPct val="100000"/>
              </a:lnSpc>
              <a:spcBef>
                <a:spcPts val="0"/>
              </a:spcBef>
              <a:buNone/>
              <a:defRPr lang="zh-CN" altLang="en-US" sz="1500" kern="1200" dirty="0">
                <a:solidFill>
                  <a:schemeClr val="accent1"/>
                </a:solidFill>
                <a:latin typeface="+mn-lt"/>
                <a:ea typeface="+mn-ea"/>
                <a:cs typeface="+mn-cs"/>
              </a:defRPr>
            </a:lvl1pPr>
          </a:lstStyle>
          <a:p>
            <a:pPr lvl="0"/>
            <a:r>
              <a:rPr lang="en-US" altLang="zh-CN" dirty="0"/>
              <a:t>March·27th</a:t>
            </a:r>
            <a:endParaRPr lang="en-US" altLang="zh-CN" dirty="0"/>
          </a:p>
        </p:txBody>
      </p:sp>
      <p:cxnSp>
        <p:nvCxnSpPr>
          <p:cNvPr id="13" name="直接连接符 12"/>
          <p:cNvCxnSpPr/>
          <p:nvPr userDrawn="1"/>
        </p:nvCxnSpPr>
        <p:spPr>
          <a:xfrm>
            <a:off x="731838" y="6162908"/>
            <a:ext cx="680026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内容页_4">
    <p:bg>
      <p:bgPr>
        <a:solidFill>
          <a:schemeClr val="bg1"/>
        </a:solidFill>
        <a:effectLst/>
      </p:bgPr>
    </p:bg>
    <p:spTree>
      <p:nvGrpSpPr>
        <p:cNvPr id="1" name=""/>
        <p:cNvGrpSpPr/>
        <p:nvPr/>
      </p:nvGrpSpPr>
      <p:grpSpPr>
        <a:xfrm>
          <a:off x="0" y="0"/>
          <a:ext cx="0" cy="0"/>
          <a:chOff x="0" y="0"/>
          <a:chExt cx="0" cy="0"/>
        </a:xfrm>
      </p:grpSpPr>
      <p:sp>
        <p:nvSpPr>
          <p:cNvPr id="12" name="矩形 11"/>
          <p:cNvSpPr/>
          <p:nvPr userDrawn="1"/>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grpSp>
        <p:nvGrpSpPr>
          <p:cNvPr id="2" name="组合 1"/>
          <p:cNvGrpSpPr/>
          <p:nvPr userDrawn="1"/>
        </p:nvGrpSpPr>
        <p:grpSpPr>
          <a:xfrm>
            <a:off x="736600" y="266700"/>
            <a:ext cx="1661579" cy="222249"/>
            <a:chOff x="8759825" y="266700"/>
            <a:chExt cx="1495425" cy="200025"/>
          </a:xfrm>
          <a:solidFill>
            <a:schemeClr val="bg1"/>
          </a:solidFill>
        </p:grpSpPr>
        <p:sp>
          <p:nvSpPr>
            <p:cNvPr id="3" name="任意多边形: 形状 2"/>
            <p:cNvSpPr/>
            <p:nvPr/>
          </p:nvSpPr>
          <p:spPr>
            <a:xfrm>
              <a:off x="9836150" y="276225"/>
              <a:ext cx="114300" cy="190500"/>
            </a:xfrm>
            <a:custGeom>
              <a:avLst/>
              <a:gdLst>
                <a:gd name="connsiteX0" fmla="*/ 64803 w 114300"/>
                <a:gd name="connsiteY0" fmla="*/ 115 h 190500"/>
                <a:gd name="connsiteX1" fmla="*/ 105475 w 114300"/>
                <a:gd name="connsiteY1" fmla="*/ 6782 h 190500"/>
                <a:gd name="connsiteX2" fmla="*/ 105475 w 114300"/>
                <a:gd name="connsiteY2" fmla="*/ 32719 h 190500"/>
                <a:gd name="connsiteX3" fmla="*/ 62992 w 114300"/>
                <a:gd name="connsiteY3" fmla="*/ 21175 h 190500"/>
                <a:gd name="connsiteX4" fmla="*/ 35180 w 114300"/>
                <a:gd name="connsiteY4" fmla="*/ 28252 h 190500"/>
                <a:gd name="connsiteX5" fmla="*/ 24417 w 114300"/>
                <a:gd name="connsiteY5" fmla="*/ 47950 h 190500"/>
                <a:gd name="connsiteX6" fmla="*/ 31845 w 114300"/>
                <a:gd name="connsiteY6" fmla="*/ 66152 h 190500"/>
                <a:gd name="connsiteX7" fmla="*/ 64135 w 114300"/>
                <a:gd name="connsiteY7" fmla="*/ 85307 h 190500"/>
                <a:gd name="connsiteX8" fmla="*/ 102426 w 114300"/>
                <a:gd name="connsiteY8" fmla="*/ 111253 h 190500"/>
                <a:gd name="connsiteX9" fmla="*/ 113380 w 114300"/>
                <a:gd name="connsiteY9" fmla="*/ 140402 h 190500"/>
                <a:gd name="connsiteX10" fmla="*/ 95568 w 114300"/>
                <a:gd name="connsiteY10" fmla="*/ 177646 h 190500"/>
                <a:gd name="connsiteX11" fmla="*/ 46228 w 114300"/>
                <a:gd name="connsiteY11" fmla="*/ 190615 h 190500"/>
                <a:gd name="connsiteX12" fmla="*/ 20511 w 114300"/>
                <a:gd name="connsiteY12" fmla="*/ 187580 h 190500"/>
                <a:gd name="connsiteX13" fmla="*/ -920 w 114300"/>
                <a:gd name="connsiteY13" fmla="*/ 180025 h 190500"/>
                <a:gd name="connsiteX14" fmla="*/ -920 w 114300"/>
                <a:gd name="connsiteY14" fmla="*/ 152896 h 190500"/>
                <a:gd name="connsiteX15" fmla="*/ 21940 w 114300"/>
                <a:gd name="connsiteY15" fmla="*/ 165033 h 190500"/>
                <a:gd name="connsiteX16" fmla="*/ 48991 w 114300"/>
                <a:gd name="connsiteY16" fmla="*/ 169792 h 190500"/>
                <a:gd name="connsiteX17" fmla="*/ 88139 w 114300"/>
                <a:gd name="connsiteY17" fmla="*/ 142187 h 190500"/>
                <a:gd name="connsiteX18" fmla="*/ 83948 w 114300"/>
                <a:gd name="connsiteY18" fmla="*/ 128264 h 190500"/>
                <a:gd name="connsiteX19" fmla="*/ 72422 w 114300"/>
                <a:gd name="connsiteY19" fmla="*/ 117320 h 190500"/>
                <a:gd name="connsiteX20" fmla="*/ 44990 w 114300"/>
                <a:gd name="connsiteY20" fmla="*/ 102680 h 190500"/>
                <a:gd name="connsiteX21" fmla="*/ 8128 w 114300"/>
                <a:gd name="connsiteY21" fmla="*/ 77039 h 190500"/>
                <a:gd name="connsiteX22" fmla="*/ -825 w 114300"/>
                <a:gd name="connsiteY22" fmla="*/ 49969 h 190500"/>
                <a:gd name="connsiteX23" fmla="*/ 17844 w 114300"/>
                <a:gd name="connsiteY23" fmla="*/ 13564 h 190500"/>
                <a:gd name="connsiteX24" fmla="*/ 64803 w 114300"/>
                <a:gd name="connsiteY24" fmla="*/ 11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4300" h="190500">
                  <a:moveTo>
                    <a:pt x="64803" y="115"/>
                  </a:moveTo>
                  <a:cubicBezTo>
                    <a:pt x="83281" y="115"/>
                    <a:pt x="96807" y="2334"/>
                    <a:pt x="105475" y="6782"/>
                  </a:cubicBezTo>
                  <a:lnTo>
                    <a:pt x="105475" y="32719"/>
                  </a:lnTo>
                  <a:cubicBezTo>
                    <a:pt x="94235" y="25023"/>
                    <a:pt x="80043" y="21175"/>
                    <a:pt x="62992" y="21175"/>
                  </a:cubicBezTo>
                  <a:cubicBezTo>
                    <a:pt x="51563" y="21175"/>
                    <a:pt x="42324" y="23537"/>
                    <a:pt x="35180" y="28252"/>
                  </a:cubicBezTo>
                  <a:cubicBezTo>
                    <a:pt x="28036" y="32976"/>
                    <a:pt x="24417" y="39539"/>
                    <a:pt x="24417" y="47950"/>
                  </a:cubicBezTo>
                  <a:cubicBezTo>
                    <a:pt x="24417" y="55408"/>
                    <a:pt x="26893" y="61475"/>
                    <a:pt x="31845" y="66152"/>
                  </a:cubicBezTo>
                  <a:cubicBezTo>
                    <a:pt x="36799" y="70838"/>
                    <a:pt x="47562" y="77220"/>
                    <a:pt x="64135" y="85307"/>
                  </a:cubicBezTo>
                  <a:cubicBezTo>
                    <a:pt x="82424" y="93955"/>
                    <a:pt x="95187" y="102604"/>
                    <a:pt x="102426" y="111253"/>
                  </a:cubicBezTo>
                  <a:cubicBezTo>
                    <a:pt x="109760" y="119892"/>
                    <a:pt x="113380" y="129617"/>
                    <a:pt x="113380" y="140402"/>
                  </a:cubicBezTo>
                  <a:cubicBezTo>
                    <a:pt x="113380" y="156584"/>
                    <a:pt x="107475" y="168999"/>
                    <a:pt x="95568" y="177646"/>
                  </a:cubicBezTo>
                  <a:cubicBezTo>
                    <a:pt x="83757" y="186292"/>
                    <a:pt x="67279" y="190615"/>
                    <a:pt x="46228" y="190615"/>
                  </a:cubicBezTo>
                  <a:cubicBezTo>
                    <a:pt x="38895" y="190615"/>
                    <a:pt x="30322" y="189603"/>
                    <a:pt x="20511" y="187580"/>
                  </a:cubicBezTo>
                  <a:cubicBezTo>
                    <a:pt x="10700" y="185558"/>
                    <a:pt x="3556" y="183040"/>
                    <a:pt x="-920" y="180025"/>
                  </a:cubicBezTo>
                  <a:lnTo>
                    <a:pt x="-920" y="152896"/>
                  </a:lnTo>
                  <a:cubicBezTo>
                    <a:pt x="4795" y="157814"/>
                    <a:pt x="12415" y="161859"/>
                    <a:pt x="21940" y="165033"/>
                  </a:cubicBezTo>
                  <a:cubicBezTo>
                    <a:pt x="31465" y="168206"/>
                    <a:pt x="40418" y="169792"/>
                    <a:pt x="48991" y="169792"/>
                  </a:cubicBezTo>
                  <a:cubicBezTo>
                    <a:pt x="75089" y="169792"/>
                    <a:pt x="88139" y="160590"/>
                    <a:pt x="88139" y="142187"/>
                  </a:cubicBezTo>
                  <a:cubicBezTo>
                    <a:pt x="88139" y="137030"/>
                    <a:pt x="86805" y="132389"/>
                    <a:pt x="83948" y="128264"/>
                  </a:cubicBezTo>
                  <a:cubicBezTo>
                    <a:pt x="81185" y="124140"/>
                    <a:pt x="77280" y="120492"/>
                    <a:pt x="72422" y="117320"/>
                  </a:cubicBezTo>
                  <a:cubicBezTo>
                    <a:pt x="67564" y="114148"/>
                    <a:pt x="58421" y="109262"/>
                    <a:pt x="44990" y="102680"/>
                  </a:cubicBezTo>
                  <a:cubicBezTo>
                    <a:pt x="26321" y="93479"/>
                    <a:pt x="14034" y="84935"/>
                    <a:pt x="8128" y="77039"/>
                  </a:cubicBezTo>
                  <a:cubicBezTo>
                    <a:pt x="2127" y="69152"/>
                    <a:pt x="-825" y="60123"/>
                    <a:pt x="-825" y="49969"/>
                  </a:cubicBezTo>
                  <a:cubicBezTo>
                    <a:pt x="-825" y="34662"/>
                    <a:pt x="5367" y="22527"/>
                    <a:pt x="17844" y="13564"/>
                  </a:cubicBezTo>
                  <a:cubicBezTo>
                    <a:pt x="30227" y="4601"/>
                    <a:pt x="45848" y="115"/>
                    <a:pt x="64803" y="115"/>
                  </a:cubicBezTo>
                  <a:close/>
                </a:path>
              </a:pathLst>
            </a:custGeom>
            <a:grpFill/>
            <a:ln w="9525" cap="flat">
              <a:noFill/>
              <a:prstDash val="solid"/>
              <a:miter/>
            </a:ln>
          </p:spPr>
          <p:txBody>
            <a:bodyPr rtlCol="0" anchor="ctr">
              <a:noAutofit/>
            </a:bodyPr>
            <a:lstStyle/>
            <a:p>
              <a:endParaRPr lang="zh-CN" altLang="en-US"/>
            </a:p>
          </p:txBody>
        </p:sp>
        <p:sp>
          <p:nvSpPr>
            <p:cNvPr id="4" name="任意多边形: 形状 3"/>
            <p:cNvSpPr/>
            <p:nvPr/>
          </p:nvSpPr>
          <p:spPr>
            <a:xfrm>
              <a:off x="9407525" y="276225"/>
              <a:ext cx="114300" cy="180975"/>
            </a:xfrm>
            <a:custGeom>
              <a:avLst/>
              <a:gdLst>
                <a:gd name="connsiteX0" fmla="*/ -920 w 114300"/>
                <a:gd name="connsiteY0" fmla="*/ 115 h 180975"/>
                <a:gd name="connsiteX1" fmla="*/ 51039 w 114300"/>
                <a:gd name="connsiteY1" fmla="*/ 115 h 180975"/>
                <a:gd name="connsiteX2" fmla="*/ 97026 w 114300"/>
                <a:gd name="connsiteY2" fmla="*/ 14250 h 180975"/>
                <a:gd name="connsiteX3" fmla="*/ 113380 w 114300"/>
                <a:gd name="connsiteY3" fmla="*/ 54674 h 180975"/>
                <a:gd name="connsiteX4" fmla="*/ 94254 w 114300"/>
                <a:gd name="connsiteY4" fmla="*/ 97842 h 180975"/>
                <a:gd name="connsiteX5" fmla="*/ 46429 w 114300"/>
                <a:gd name="connsiteY5" fmla="*/ 113443 h 180975"/>
                <a:gd name="connsiteX6" fmla="*/ 22693 w 114300"/>
                <a:gd name="connsiteY6" fmla="*/ 113443 h 180975"/>
                <a:gd name="connsiteX7" fmla="*/ 22693 w 114300"/>
                <a:gd name="connsiteY7" fmla="*/ 181090 h 180975"/>
                <a:gd name="connsiteX8" fmla="*/ -920 w 114300"/>
                <a:gd name="connsiteY8" fmla="*/ 181090 h 180975"/>
                <a:gd name="connsiteX9" fmla="*/ -920 w 114300"/>
                <a:gd name="connsiteY9" fmla="*/ 115 h 180975"/>
                <a:gd name="connsiteX10" fmla="*/ 22693 w 114300"/>
                <a:gd name="connsiteY10" fmla="*/ 20679 h 180975"/>
                <a:gd name="connsiteX11" fmla="*/ 22693 w 114300"/>
                <a:gd name="connsiteY11" fmla="*/ 92879 h 180975"/>
                <a:gd name="connsiteX12" fmla="*/ 44543 w 114300"/>
                <a:gd name="connsiteY12" fmla="*/ 92879 h 180975"/>
                <a:gd name="connsiteX13" fmla="*/ 77366 w 114300"/>
                <a:gd name="connsiteY13" fmla="*/ 83240 h 180975"/>
                <a:gd name="connsiteX14" fmla="*/ 88586 w 114300"/>
                <a:gd name="connsiteY14" fmla="*/ 55608 h 180975"/>
                <a:gd name="connsiteX15" fmla="*/ 46781 w 114300"/>
                <a:gd name="connsiteY15" fmla="*/ 20679 h 180975"/>
                <a:gd name="connsiteX16" fmla="*/ 22693 w 114300"/>
                <a:gd name="connsiteY16" fmla="*/ 20679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300" h="180975">
                  <a:moveTo>
                    <a:pt x="-920" y="115"/>
                  </a:moveTo>
                  <a:lnTo>
                    <a:pt x="51039" y="115"/>
                  </a:lnTo>
                  <a:cubicBezTo>
                    <a:pt x="70794" y="115"/>
                    <a:pt x="86119" y="4830"/>
                    <a:pt x="97026" y="14250"/>
                  </a:cubicBezTo>
                  <a:cubicBezTo>
                    <a:pt x="107931" y="23680"/>
                    <a:pt x="113380" y="37148"/>
                    <a:pt x="113380" y="54674"/>
                  </a:cubicBezTo>
                  <a:cubicBezTo>
                    <a:pt x="113380" y="72438"/>
                    <a:pt x="107008" y="86821"/>
                    <a:pt x="94254" y="97842"/>
                  </a:cubicBezTo>
                  <a:cubicBezTo>
                    <a:pt x="81500" y="108871"/>
                    <a:pt x="65555" y="114063"/>
                    <a:pt x="46429" y="113443"/>
                  </a:cubicBezTo>
                  <a:lnTo>
                    <a:pt x="22693" y="113443"/>
                  </a:lnTo>
                  <a:lnTo>
                    <a:pt x="22693" y="181090"/>
                  </a:lnTo>
                  <a:lnTo>
                    <a:pt x="-920" y="181090"/>
                  </a:lnTo>
                  <a:lnTo>
                    <a:pt x="-920" y="115"/>
                  </a:lnTo>
                  <a:close/>
                  <a:moveTo>
                    <a:pt x="22693" y="20679"/>
                  </a:moveTo>
                  <a:lnTo>
                    <a:pt x="22693" y="92879"/>
                  </a:lnTo>
                  <a:lnTo>
                    <a:pt x="44543" y="92879"/>
                  </a:lnTo>
                  <a:cubicBezTo>
                    <a:pt x="58944" y="92879"/>
                    <a:pt x="69889" y="89669"/>
                    <a:pt x="77366" y="83240"/>
                  </a:cubicBezTo>
                  <a:cubicBezTo>
                    <a:pt x="84843" y="76820"/>
                    <a:pt x="88586" y="67609"/>
                    <a:pt x="88586" y="55608"/>
                  </a:cubicBezTo>
                  <a:cubicBezTo>
                    <a:pt x="88586" y="32319"/>
                    <a:pt x="74652" y="20679"/>
                    <a:pt x="46781" y="20679"/>
                  </a:cubicBezTo>
                  <a:lnTo>
                    <a:pt x="22693" y="20679"/>
                  </a:lnTo>
                  <a:close/>
                </a:path>
              </a:pathLst>
            </a:custGeom>
            <a:grpFill/>
            <a:ln w="9525" cap="flat">
              <a:noFill/>
              <a:prstDash val="solid"/>
              <a:miter/>
            </a:ln>
          </p:spPr>
          <p:txBody>
            <a:bodyPr rtlCol="0" anchor="ctr">
              <a:noAutofit/>
            </a:bodyPr>
            <a:lstStyle/>
            <a:p>
              <a:endParaRPr lang="zh-CN" altLang="en-US"/>
            </a:p>
          </p:txBody>
        </p:sp>
        <p:sp>
          <p:nvSpPr>
            <p:cNvPr id="5" name="任意多边形: 形状 4"/>
            <p:cNvSpPr/>
            <p:nvPr/>
          </p:nvSpPr>
          <p:spPr>
            <a:xfrm>
              <a:off x="9550400" y="276225"/>
              <a:ext cx="95250" cy="180975"/>
            </a:xfrm>
            <a:custGeom>
              <a:avLst/>
              <a:gdLst>
                <a:gd name="connsiteX0" fmla="*/ -920 w 95250"/>
                <a:gd name="connsiteY0" fmla="*/ 115 h 180975"/>
                <a:gd name="connsiteX1" fmla="*/ 22416 w 95250"/>
                <a:gd name="connsiteY1" fmla="*/ 115 h 180975"/>
                <a:gd name="connsiteX2" fmla="*/ 22416 w 95250"/>
                <a:gd name="connsiteY2" fmla="*/ 160410 h 180975"/>
                <a:gd name="connsiteX3" fmla="*/ 94330 w 95250"/>
                <a:gd name="connsiteY3" fmla="*/ 160410 h 180975"/>
                <a:gd name="connsiteX4" fmla="*/ 94330 w 95250"/>
                <a:gd name="connsiteY4" fmla="*/ 181090 h 180975"/>
                <a:gd name="connsiteX5" fmla="*/ -920 w 95250"/>
                <a:gd name="connsiteY5" fmla="*/ 181090 h 180975"/>
                <a:gd name="connsiteX6" fmla="*/ -920 w 95250"/>
                <a:gd name="connsiteY6" fmla="*/ 115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180975">
                  <a:moveTo>
                    <a:pt x="-920" y="115"/>
                  </a:moveTo>
                  <a:lnTo>
                    <a:pt x="22416" y="115"/>
                  </a:lnTo>
                  <a:lnTo>
                    <a:pt x="22416" y="160410"/>
                  </a:lnTo>
                  <a:lnTo>
                    <a:pt x="94330" y="160410"/>
                  </a:lnTo>
                  <a:lnTo>
                    <a:pt x="94330" y="181090"/>
                  </a:lnTo>
                  <a:lnTo>
                    <a:pt x="-920" y="181090"/>
                  </a:lnTo>
                  <a:lnTo>
                    <a:pt x="-920" y="115"/>
                  </a:lnTo>
                  <a:close/>
                </a:path>
              </a:pathLst>
            </a:custGeom>
            <a:grpFill/>
            <a:ln w="9525" cap="flat">
              <a:noFill/>
              <a:prstDash val="solid"/>
              <a:miter/>
            </a:ln>
          </p:spPr>
          <p:txBody>
            <a:bodyPr rtlCol="0" anchor="ctr">
              <a:noAutofit/>
            </a:bodyPr>
            <a:lstStyle/>
            <a:p>
              <a:endParaRPr lang="zh-CN" altLang="en-US"/>
            </a:p>
          </p:txBody>
        </p:sp>
        <p:sp>
          <p:nvSpPr>
            <p:cNvPr id="6" name="任意多边形: 形状 5"/>
            <p:cNvSpPr/>
            <p:nvPr/>
          </p:nvSpPr>
          <p:spPr>
            <a:xfrm>
              <a:off x="9664700" y="276225"/>
              <a:ext cx="142875" cy="190500"/>
            </a:xfrm>
            <a:custGeom>
              <a:avLst/>
              <a:gdLst>
                <a:gd name="connsiteX0" fmla="*/ -920 w 142875"/>
                <a:gd name="connsiteY0" fmla="*/ 115 h 190500"/>
                <a:gd name="connsiteX1" fmla="*/ 23559 w 142875"/>
                <a:gd name="connsiteY1" fmla="*/ 115 h 190500"/>
                <a:gd name="connsiteX2" fmla="*/ 23559 w 142875"/>
                <a:gd name="connsiteY2" fmla="*/ 112843 h 190500"/>
                <a:gd name="connsiteX3" fmla="*/ 71280 w 142875"/>
                <a:gd name="connsiteY3" fmla="*/ 169086 h 190500"/>
                <a:gd name="connsiteX4" fmla="*/ 117476 w 142875"/>
                <a:gd name="connsiteY4" fmla="*/ 114653 h 190500"/>
                <a:gd name="connsiteX5" fmla="*/ 117476 w 142875"/>
                <a:gd name="connsiteY5" fmla="*/ 115 h 190500"/>
                <a:gd name="connsiteX6" fmla="*/ 141955 w 142875"/>
                <a:gd name="connsiteY6" fmla="*/ 115 h 190500"/>
                <a:gd name="connsiteX7" fmla="*/ 141955 w 142875"/>
                <a:gd name="connsiteY7" fmla="*/ 111148 h 190500"/>
                <a:gd name="connsiteX8" fmla="*/ 68994 w 142875"/>
                <a:gd name="connsiteY8" fmla="*/ 190615 h 190500"/>
                <a:gd name="connsiteX9" fmla="*/ -920 w 142875"/>
                <a:gd name="connsiteY9" fmla="*/ 113929 h 190500"/>
                <a:gd name="connsiteX10" fmla="*/ -920 w 142875"/>
                <a:gd name="connsiteY10" fmla="*/ 11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875" h="190500">
                  <a:moveTo>
                    <a:pt x="-920" y="115"/>
                  </a:moveTo>
                  <a:lnTo>
                    <a:pt x="23559" y="115"/>
                  </a:lnTo>
                  <a:lnTo>
                    <a:pt x="23559" y="112843"/>
                  </a:lnTo>
                  <a:cubicBezTo>
                    <a:pt x="23559" y="150338"/>
                    <a:pt x="39466" y="169086"/>
                    <a:pt x="71280" y="169086"/>
                  </a:cubicBezTo>
                  <a:cubicBezTo>
                    <a:pt x="102046" y="169086"/>
                    <a:pt x="117476" y="150942"/>
                    <a:pt x="117476" y="114653"/>
                  </a:cubicBezTo>
                  <a:lnTo>
                    <a:pt x="117476" y="115"/>
                  </a:lnTo>
                  <a:lnTo>
                    <a:pt x="141955" y="115"/>
                  </a:lnTo>
                  <a:lnTo>
                    <a:pt x="141955" y="111148"/>
                  </a:lnTo>
                  <a:cubicBezTo>
                    <a:pt x="141955" y="164126"/>
                    <a:pt x="117666" y="190615"/>
                    <a:pt x="68994" y="190615"/>
                  </a:cubicBezTo>
                  <a:cubicBezTo>
                    <a:pt x="22416" y="190615"/>
                    <a:pt x="-920" y="165054"/>
                    <a:pt x="-920" y="113929"/>
                  </a:cubicBezTo>
                  <a:lnTo>
                    <a:pt x="-920" y="115"/>
                  </a:lnTo>
                  <a:close/>
                </a:path>
              </a:pathLst>
            </a:custGeom>
            <a:grpFill/>
            <a:ln w="9525" cap="flat">
              <a:noFill/>
              <a:prstDash val="solid"/>
              <a:miter/>
            </a:ln>
          </p:spPr>
          <p:txBody>
            <a:bodyPr rtlCol="0" anchor="ctr">
              <a:noAutofit/>
            </a:bodyPr>
            <a:lstStyle/>
            <a:p>
              <a:endParaRPr lang="zh-CN" altLang="en-US"/>
            </a:p>
          </p:txBody>
        </p:sp>
        <p:sp>
          <p:nvSpPr>
            <p:cNvPr id="7" name="任意多边形: 形状 6"/>
            <p:cNvSpPr/>
            <p:nvPr/>
          </p:nvSpPr>
          <p:spPr>
            <a:xfrm>
              <a:off x="8759825" y="266700"/>
              <a:ext cx="1495425" cy="200025"/>
            </a:xfrm>
            <a:custGeom>
              <a:avLst/>
              <a:gdLst>
                <a:gd name="connsiteX0" fmla="*/ 1231520 w 1495425"/>
                <a:gd name="connsiteY0" fmla="*/ 178615 h 200025"/>
                <a:gd name="connsiteX1" fmla="*/ 1238950 w 1495425"/>
                <a:gd name="connsiteY1" fmla="*/ 181469 h 200025"/>
                <a:gd name="connsiteX2" fmla="*/ 1241902 w 1495425"/>
                <a:gd name="connsiteY2" fmla="*/ 188842 h 200025"/>
                <a:gd name="connsiteX3" fmla="*/ 1238950 w 1495425"/>
                <a:gd name="connsiteY3" fmla="*/ 196216 h 200025"/>
                <a:gd name="connsiteX4" fmla="*/ 1231520 w 1495425"/>
                <a:gd name="connsiteY4" fmla="*/ 199188 h 200025"/>
                <a:gd name="connsiteX5" fmla="*/ 1224376 w 1495425"/>
                <a:gd name="connsiteY5" fmla="*/ 196216 h 200025"/>
                <a:gd name="connsiteX6" fmla="*/ 1221518 w 1495425"/>
                <a:gd name="connsiteY6" fmla="*/ 188842 h 200025"/>
                <a:gd name="connsiteX7" fmla="*/ 1224376 w 1495425"/>
                <a:gd name="connsiteY7" fmla="*/ 181469 h 200025"/>
                <a:gd name="connsiteX8" fmla="*/ 1231520 w 1495425"/>
                <a:gd name="connsiteY8" fmla="*/ 178615 h 200025"/>
                <a:gd name="connsiteX9" fmla="*/ 560884 w 1495425"/>
                <a:gd name="connsiteY9" fmla="*/ 73010 h 200025"/>
                <a:gd name="connsiteX10" fmla="*/ 530756 w 1495425"/>
                <a:gd name="connsiteY10" fmla="*/ 85383 h 200025"/>
                <a:gd name="connsiteX11" fmla="*/ 516050 w 1495425"/>
                <a:gd name="connsiteY11" fmla="*/ 120940 h 200025"/>
                <a:gd name="connsiteX12" fmla="*/ 599060 w 1495425"/>
                <a:gd name="connsiteY12" fmla="*/ 120940 h 200025"/>
                <a:gd name="connsiteX13" fmla="*/ 588316 w 1495425"/>
                <a:gd name="connsiteY13" fmla="*/ 85564 h 200025"/>
                <a:gd name="connsiteX14" fmla="*/ 560884 w 1495425"/>
                <a:gd name="connsiteY14" fmla="*/ 73010 h 200025"/>
                <a:gd name="connsiteX15" fmla="*/ 345142 w 1495425"/>
                <a:gd name="connsiteY15" fmla="*/ 65399 h 200025"/>
                <a:gd name="connsiteX16" fmla="*/ 356696 w 1495425"/>
                <a:gd name="connsiteY16" fmla="*/ 65399 h 200025"/>
                <a:gd name="connsiteX17" fmla="*/ 356696 w 1495425"/>
                <a:gd name="connsiteY17" fmla="*/ 196929 h 200025"/>
                <a:gd name="connsiteX18" fmla="*/ 345142 w 1495425"/>
                <a:gd name="connsiteY18" fmla="*/ 196929 h 200025"/>
                <a:gd name="connsiteX19" fmla="*/ 1451452 w 1495425"/>
                <a:gd name="connsiteY19" fmla="*/ 62189 h 200025"/>
                <a:gd name="connsiteX20" fmla="*/ 1483456 w 1495425"/>
                <a:gd name="connsiteY20" fmla="*/ 76401 h 200025"/>
                <a:gd name="connsiteX21" fmla="*/ 1494505 w 1495425"/>
                <a:gd name="connsiteY21" fmla="*/ 116892 h 200025"/>
                <a:gd name="connsiteX22" fmla="*/ 1494505 w 1495425"/>
                <a:gd name="connsiteY22" fmla="*/ 196929 h 200025"/>
                <a:gd name="connsiteX23" fmla="*/ 1482980 w 1495425"/>
                <a:gd name="connsiteY23" fmla="*/ 196929 h 200025"/>
                <a:gd name="connsiteX24" fmla="*/ 1482980 w 1495425"/>
                <a:gd name="connsiteY24" fmla="*/ 120340 h 200025"/>
                <a:gd name="connsiteX25" fmla="*/ 1449452 w 1495425"/>
                <a:gd name="connsiteY25" fmla="*/ 73010 h 200025"/>
                <a:gd name="connsiteX26" fmla="*/ 1418686 w 1495425"/>
                <a:gd name="connsiteY26" fmla="*/ 86926 h 200025"/>
                <a:gd name="connsiteX27" fmla="*/ 1406685 w 1495425"/>
                <a:gd name="connsiteY27" fmla="*/ 121416 h 200025"/>
                <a:gd name="connsiteX28" fmla="*/ 1406685 w 1495425"/>
                <a:gd name="connsiteY28" fmla="*/ 196929 h 200025"/>
                <a:gd name="connsiteX29" fmla="*/ 1395159 w 1495425"/>
                <a:gd name="connsiteY29" fmla="*/ 196929 h 200025"/>
                <a:gd name="connsiteX30" fmla="*/ 1395159 w 1495425"/>
                <a:gd name="connsiteY30" fmla="*/ 65399 h 200025"/>
                <a:gd name="connsiteX31" fmla="*/ 1406685 w 1495425"/>
                <a:gd name="connsiteY31" fmla="*/ 65399 h 200025"/>
                <a:gd name="connsiteX32" fmla="*/ 1406685 w 1495425"/>
                <a:gd name="connsiteY32" fmla="*/ 89307 h 200025"/>
                <a:gd name="connsiteX33" fmla="*/ 1407256 w 1495425"/>
                <a:gd name="connsiteY33" fmla="*/ 89307 h 200025"/>
                <a:gd name="connsiteX34" fmla="*/ 1451452 w 1495425"/>
                <a:gd name="connsiteY34" fmla="*/ 62189 h 200025"/>
                <a:gd name="connsiteX35" fmla="*/ 1336295 w 1495425"/>
                <a:gd name="connsiteY35" fmla="*/ 62189 h 200025"/>
                <a:gd name="connsiteX36" fmla="*/ 1364870 w 1495425"/>
                <a:gd name="connsiteY36" fmla="*/ 68371 h 200025"/>
                <a:gd name="connsiteX37" fmla="*/ 1364870 w 1495425"/>
                <a:gd name="connsiteY37" fmla="*/ 81697 h 200025"/>
                <a:gd name="connsiteX38" fmla="*/ 1334485 w 1495425"/>
                <a:gd name="connsiteY38" fmla="*/ 73010 h 200025"/>
                <a:gd name="connsiteX39" fmla="*/ 1297718 w 1495425"/>
                <a:gd name="connsiteY39" fmla="*/ 89660 h 200025"/>
                <a:gd name="connsiteX40" fmla="*/ 1283621 w 1495425"/>
                <a:gd name="connsiteY40" fmla="*/ 132713 h 200025"/>
                <a:gd name="connsiteX41" fmla="*/ 1296480 w 1495425"/>
                <a:gd name="connsiteY41" fmla="*/ 173799 h 200025"/>
                <a:gd name="connsiteX42" fmla="*/ 1330676 w 1495425"/>
                <a:gd name="connsiteY42" fmla="*/ 189318 h 200025"/>
                <a:gd name="connsiteX43" fmla="*/ 1364393 w 1495425"/>
                <a:gd name="connsiteY43" fmla="*/ 178853 h 200025"/>
                <a:gd name="connsiteX44" fmla="*/ 1364393 w 1495425"/>
                <a:gd name="connsiteY44" fmla="*/ 191102 h 200025"/>
                <a:gd name="connsiteX45" fmla="*/ 1330103 w 1495425"/>
                <a:gd name="connsiteY45" fmla="*/ 200140 h 200025"/>
                <a:gd name="connsiteX46" fmla="*/ 1287622 w 1495425"/>
                <a:gd name="connsiteY46" fmla="*/ 181707 h 200025"/>
                <a:gd name="connsiteX47" fmla="*/ 1271429 w 1495425"/>
                <a:gd name="connsiteY47" fmla="*/ 133427 h 200025"/>
                <a:gd name="connsiteX48" fmla="*/ 1289622 w 1495425"/>
                <a:gd name="connsiteY48" fmla="*/ 82173 h 200025"/>
                <a:gd name="connsiteX49" fmla="*/ 1336295 w 1495425"/>
                <a:gd name="connsiteY49" fmla="*/ 62189 h 200025"/>
                <a:gd name="connsiteX50" fmla="*/ 561350 w 1495425"/>
                <a:gd name="connsiteY50" fmla="*/ 62189 h 200025"/>
                <a:gd name="connsiteX51" fmla="*/ 598298 w 1495425"/>
                <a:gd name="connsiteY51" fmla="*/ 79439 h 200025"/>
                <a:gd name="connsiteX52" fmla="*/ 611204 w 1495425"/>
                <a:gd name="connsiteY52" fmla="*/ 126407 h 200025"/>
                <a:gd name="connsiteX53" fmla="*/ 611204 w 1495425"/>
                <a:gd name="connsiteY53" fmla="*/ 131646 h 200025"/>
                <a:gd name="connsiteX54" fmla="*/ 515583 w 1495425"/>
                <a:gd name="connsiteY54" fmla="*/ 131646 h 200025"/>
                <a:gd name="connsiteX55" fmla="*/ 527841 w 1495425"/>
                <a:gd name="connsiteY55" fmla="*/ 174037 h 200025"/>
                <a:gd name="connsiteX56" fmla="*/ 561579 w 1495425"/>
                <a:gd name="connsiteY56" fmla="*/ 189318 h 200025"/>
                <a:gd name="connsiteX57" fmla="*/ 603965 w 1495425"/>
                <a:gd name="connsiteY57" fmla="*/ 173026 h 200025"/>
                <a:gd name="connsiteX58" fmla="*/ 603965 w 1495425"/>
                <a:gd name="connsiteY58" fmla="*/ 185632 h 200025"/>
                <a:gd name="connsiteX59" fmla="*/ 559245 w 1495425"/>
                <a:gd name="connsiteY59" fmla="*/ 200140 h 200025"/>
                <a:gd name="connsiteX60" fmla="*/ 518849 w 1495425"/>
                <a:gd name="connsiteY60" fmla="*/ 181885 h 200025"/>
                <a:gd name="connsiteX61" fmla="*/ 503438 w 1495425"/>
                <a:gd name="connsiteY61" fmla="*/ 130455 h 200025"/>
                <a:gd name="connsiteX62" fmla="*/ 519555 w 1495425"/>
                <a:gd name="connsiteY62" fmla="*/ 81935 h 200025"/>
                <a:gd name="connsiteX63" fmla="*/ 561350 w 1495425"/>
                <a:gd name="connsiteY63" fmla="*/ 62189 h 200025"/>
                <a:gd name="connsiteX64" fmla="*/ 453880 w 1495425"/>
                <a:gd name="connsiteY64" fmla="*/ 62189 h 200025"/>
                <a:gd name="connsiteX65" fmla="*/ 482483 w 1495425"/>
                <a:gd name="connsiteY65" fmla="*/ 68371 h 200025"/>
                <a:gd name="connsiteX66" fmla="*/ 482483 w 1495425"/>
                <a:gd name="connsiteY66" fmla="*/ 81697 h 200025"/>
                <a:gd name="connsiteX67" fmla="*/ 452127 w 1495425"/>
                <a:gd name="connsiteY67" fmla="*/ 73010 h 200025"/>
                <a:gd name="connsiteX68" fmla="*/ 415351 w 1495425"/>
                <a:gd name="connsiteY68" fmla="*/ 89660 h 200025"/>
                <a:gd name="connsiteX69" fmla="*/ 401225 w 1495425"/>
                <a:gd name="connsiteY69" fmla="*/ 132713 h 200025"/>
                <a:gd name="connsiteX70" fmla="*/ 414122 w 1495425"/>
                <a:gd name="connsiteY70" fmla="*/ 173799 h 200025"/>
                <a:gd name="connsiteX71" fmla="*/ 448279 w 1495425"/>
                <a:gd name="connsiteY71" fmla="*/ 189318 h 200025"/>
                <a:gd name="connsiteX72" fmla="*/ 482017 w 1495425"/>
                <a:gd name="connsiteY72" fmla="*/ 178853 h 200025"/>
                <a:gd name="connsiteX73" fmla="*/ 482017 w 1495425"/>
                <a:gd name="connsiteY73" fmla="*/ 191102 h 200025"/>
                <a:gd name="connsiteX74" fmla="*/ 447689 w 1495425"/>
                <a:gd name="connsiteY74" fmla="*/ 200140 h 200025"/>
                <a:gd name="connsiteX75" fmla="*/ 405255 w 1495425"/>
                <a:gd name="connsiteY75" fmla="*/ 181707 h 200025"/>
                <a:gd name="connsiteX76" fmla="*/ 389081 w 1495425"/>
                <a:gd name="connsiteY76" fmla="*/ 133427 h 200025"/>
                <a:gd name="connsiteX77" fmla="*/ 407236 w 1495425"/>
                <a:gd name="connsiteY77" fmla="*/ 82173 h 200025"/>
                <a:gd name="connsiteX78" fmla="*/ 453880 w 1495425"/>
                <a:gd name="connsiteY78" fmla="*/ 62189 h 200025"/>
                <a:gd name="connsiteX79" fmla="*/ 84195 w 1495425"/>
                <a:gd name="connsiteY79" fmla="*/ 21280 h 200025"/>
                <a:gd name="connsiteX80" fmla="*/ 32294 w 1495425"/>
                <a:gd name="connsiteY80" fmla="*/ 44530 h 200025"/>
                <a:gd name="connsiteX81" fmla="*/ 11920 w 1495425"/>
                <a:gd name="connsiteY81" fmla="*/ 105357 h 200025"/>
                <a:gd name="connsiteX82" fmla="*/ 31189 w 1495425"/>
                <a:gd name="connsiteY82" fmla="*/ 165950 h 200025"/>
                <a:gd name="connsiteX83" fmla="*/ 82671 w 1495425"/>
                <a:gd name="connsiteY83" fmla="*/ 188486 h 200025"/>
                <a:gd name="connsiteX84" fmla="*/ 135735 w 1495425"/>
                <a:gd name="connsiteY84" fmla="*/ 166188 h 200025"/>
                <a:gd name="connsiteX85" fmla="*/ 155300 w 1495425"/>
                <a:gd name="connsiteY85" fmla="*/ 104052 h 200025"/>
                <a:gd name="connsiteX86" fmla="*/ 136202 w 1495425"/>
                <a:gd name="connsiteY86" fmla="*/ 43168 h 200025"/>
                <a:gd name="connsiteX87" fmla="*/ 84195 w 1495425"/>
                <a:gd name="connsiteY87" fmla="*/ 21280 h 200025"/>
                <a:gd name="connsiteX88" fmla="*/ 350857 w 1495425"/>
                <a:gd name="connsiteY88" fmla="*/ 12717 h 200025"/>
                <a:gd name="connsiteX89" fmla="*/ 357696 w 1495425"/>
                <a:gd name="connsiteY89" fmla="*/ 15279 h 200025"/>
                <a:gd name="connsiteX90" fmla="*/ 360668 w 1495425"/>
                <a:gd name="connsiteY90" fmla="*/ 22232 h 200025"/>
                <a:gd name="connsiteX91" fmla="*/ 357753 w 1495425"/>
                <a:gd name="connsiteY91" fmla="*/ 29309 h 200025"/>
                <a:gd name="connsiteX92" fmla="*/ 350857 w 1495425"/>
                <a:gd name="connsiteY92" fmla="*/ 32224 h 200025"/>
                <a:gd name="connsiteX93" fmla="*/ 344152 w 1495425"/>
                <a:gd name="connsiteY93" fmla="*/ 29433 h 200025"/>
                <a:gd name="connsiteX94" fmla="*/ 341285 w 1495425"/>
                <a:gd name="connsiteY94" fmla="*/ 22232 h 200025"/>
                <a:gd name="connsiteX95" fmla="*/ 344209 w 1495425"/>
                <a:gd name="connsiteY95" fmla="*/ 15393 h 200025"/>
                <a:gd name="connsiteX96" fmla="*/ 350857 w 1495425"/>
                <a:gd name="connsiteY96" fmla="*/ 12717 h 200025"/>
                <a:gd name="connsiteX97" fmla="*/ 86291 w 1495425"/>
                <a:gd name="connsiteY97" fmla="*/ 9630 h 200025"/>
                <a:gd name="connsiteX98" fmla="*/ 145489 w 1495425"/>
                <a:gd name="connsiteY98" fmla="*/ 35138 h 200025"/>
                <a:gd name="connsiteX99" fmla="*/ 168139 w 1495425"/>
                <a:gd name="connsiteY99" fmla="*/ 102032 h 200025"/>
                <a:gd name="connsiteX100" fmla="*/ 144965 w 1495425"/>
                <a:gd name="connsiteY100" fmla="*/ 173918 h 200025"/>
                <a:gd name="connsiteX101" fmla="*/ 82910 w 1495425"/>
                <a:gd name="connsiteY101" fmla="*/ 200140 h 200025"/>
                <a:gd name="connsiteX102" fmla="*/ 21845 w 1495425"/>
                <a:gd name="connsiteY102" fmla="*/ 174215 h 200025"/>
                <a:gd name="connsiteX103" fmla="*/ -920 w 1495425"/>
                <a:gd name="connsiteY103" fmla="*/ 106785 h 200025"/>
                <a:gd name="connsiteX104" fmla="*/ 22436 w 1495425"/>
                <a:gd name="connsiteY104" fmla="*/ 36148 h 200025"/>
                <a:gd name="connsiteX105" fmla="*/ 86291 w 1495425"/>
                <a:gd name="connsiteY105" fmla="*/ 9630 h 200025"/>
                <a:gd name="connsiteX106" fmla="*/ 316520 w 1495425"/>
                <a:gd name="connsiteY106" fmla="*/ 115 h 200025"/>
                <a:gd name="connsiteX107" fmla="*/ 330178 w 1495425"/>
                <a:gd name="connsiteY107" fmla="*/ 2611 h 200025"/>
                <a:gd name="connsiteX108" fmla="*/ 330178 w 1495425"/>
                <a:gd name="connsiteY108" fmla="*/ 14622 h 200025"/>
                <a:gd name="connsiteX109" fmla="*/ 316053 w 1495425"/>
                <a:gd name="connsiteY109" fmla="*/ 10935 h 200025"/>
                <a:gd name="connsiteX110" fmla="*/ 292231 w 1495425"/>
                <a:gd name="connsiteY110" fmla="*/ 43520 h 200025"/>
                <a:gd name="connsiteX111" fmla="*/ 292231 w 1495425"/>
                <a:gd name="connsiteY111" fmla="*/ 65399 h 200025"/>
                <a:gd name="connsiteX112" fmla="*/ 326445 w 1495425"/>
                <a:gd name="connsiteY112" fmla="*/ 65399 h 200025"/>
                <a:gd name="connsiteX113" fmla="*/ 326445 w 1495425"/>
                <a:gd name="connsiteY113" fmla="*/ 76220 h 200025"/>
                <a:gd name="connsiteX114" fmla="*/ 292231 w 1495425"/>
                <a:gd name="connsiteY114" fmla="*/ 76220 h 200025"/>
                <a:gd name="connsiteX115" fmla="*/ 292231 w 1495425"/>
                <a:gd name="connsiteY115" fmla="*/ 196929 h 200025"/>
                <a:gd name="connsiteX116" fmla="*/ 280677 w 1495425"/>
                <a:gd name="connsiteY116" fmla="*/ 196929 h 200025"/>
                <a:gd name="connsiteX117" fmla="*/ 280677 w 1495425"/>
                <a:gd name="connsiteY117" fmla="*/ 76220 h 200025"/>
                <a:gd name="connsiteX118" fmla="*/ 257436 w 1495425"/>
                <a:gd name="connsiteY118" fmla="*/ 76220 h 200025"/>
                <a:gd name="connsiteX119" fmla="*/ 257436 w 1495425"/>
                <a:gd name="connsiteY119" fmla="*/ 65399 h 200025"/>
                <a:gd name="connsiteX120" fmla="*/ 280677 w 1495425"/>
                <a:gd name="connsiteY120" fmla="*/ 65399 h 200025"/>
                <a:gd name="connsiteX121" fmla="*/ 280677 w 1495425"/>
                <a:gd name="connsiteY121" fmla="*/ 42568 h 200025"/>
                <a:gd name="connsiteX122" fmla="*/ 290945 w 1495425"/>
                <a:gd name="connsiteY122" fmla="*/ 10935 h 200025"/>
                <a:gd name="connsiteX123" fmla="*/ 316520 w 1495425"/>
                <a:gd name="connsiteY123" fmla="*/ 115 h 200025"/>
                <a:gd name="connsiteX124" fmla="*/ 245044 w 1495425"/>
                <a:gd name="connsiteY124" fmla="*/ 115 h 200025"/>
                <a:gd name="connsiteX125" fmla="*/ 258703 w 1495425"/>
                <a:gd name="connsiteY125" fmla="*/ 2611 h 200025"/>
                <a:gd name="connsiteX126" fmla="*/ 258703 w 1495425"/>
                <a:gd name="connsiteY126" fmla="*/ 14622 h 200025"/>
                <a:gd name="connsiteX127" fmla="*/ 244577 w 1495425"/>
                <a:gd name="connsiteY127" fmla="*/ 10935 h 200025"/>
                <a:gd name="connsiteX128" fmla="*/ 220755 w 1495425"/>
                <a:gd name="connsiteY128" fmla="*/ 43520 h 200025"/>
                <a:gd name="connsiteX129" fmla="*/ 220755 w 1495425"/>
                <a:gd name="connsiteY129" fmla="*/ 65399 h 200025"/>
                <a:gd name="connsiteX130" fmla="*/ 254969 w 1495425"/>
                <a:gd name="connsiteY130" fmla="*/ 65399 h 200025"/>
                <a:gd name="connsiteX131" fmla="*/ 254969 w 1495425"/>
                <a:gd name="connsiteY131" fmla="*/ 76220 h 200025"/>
                <a:gd name="connsiteX132" fmla="*/ 220755 w 1495425"/>
                <a:gd name="connsiteY132" fmla="*/ 76220 h 200025"/>
                <a:gd name="connsiteX133" fmla="*/ 220755 w 1495425"/>
                <a:gd name="connsiteY133" fmla="*/ 196929 h 200025"/>
                <a:gd name="connsiteX134" fmla="*/ 209201 w 1495425"/>
                <a:gd name="connsiteY134" fmla="*/ 196929 h 200025"/>
                <a:gd name="connsiteX135" fmla="*/ 209201 w 1495425"/>
                <a:gd name="connsiteY135" fmla="*/ 76220 h 200025"/>
                <a:gd name="connsiteX136" fmla="*/ 185970 w 1495425"/>
                <a:gd name="connsiteY136" fmla="*/ 76220 h 200025"/>
                <a:gd name="connsiteX137" fmla="*/ 185970 w 1495425"/>
                <a:gd name="connsiteY137" fmla="*/ 65399 h 200025"/>
                <a:gd name="connsiteX138" fmla="*/ 209201 w 1495425"/>
                <a:gd name="connsiteY138" fmla="*/ 65399 h 200025"/>
                <a:gd name="connsiteX139" fmla="*/ 209201 w 1495425"/>
                <a:gd name="connsiteY139" fmla="*/ 42568 h 200025"/>
                <a:gd name="connsiteX140" fmla="*/ 219469 w 1495425"/>
                <a:gd name="connsiteY140" fmla="*/ 10935 h 200025"/>
                <a:gd name="connsiteX141" fmla="*/ 245044 w 1495425"/>
                <a:gd name="connsiteY141" fmla="*/ 115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495425" h="200025">
                  <a:moveTo>
                    <a:pt x="1231520" y="178615"/>
                  </a:moveTo>
                  <a:cubicBezTo>
                    <a:pt x="1234472" y="178615"/>
                    <a:pt x="1236853" y="179567"/>
                    <a:pt x="1238950" y="181469"/>
                  </a:cubicBezTo>
                  <a:cubicBezTo>
                    <a:pt x="1240950" y="183372"/>
                    <a:pt x="1241902" y="185830"/>
                    <a:pt x="1241902" y="188842"/>
                  </a:cubicBezTo>
                  <a:cubicBezTo>
                    <a:pt x="1241902" y="191776"/>
                    <a:pt x="1240950" y="194234"/>
                    <a:pt x="1238950" y="196216"/>
                  </a:cubicBezTo>
                  <a:cubicBezTo>
                    <a:pt x="1236853" y="198198"/>
                    <a:pt x="1234472" y="199188"/>
                    <a:pt x="1231520" y="199188"/>
                  </a:cubicBezTo>
                  <a:cubicBezTo>
                    <a:pt x="1228662" y="199188"/>
                    <a:pt x="1226281" y="198198"/>
                    <a:pt x="1224376" y="196216"/>
                  </a:cubicBezTo>
                  <a:cubicBezTo>
                    <a:pt x="1222471" y="194234"/>
                    <a:pt x="1221518" y="191776"/>
                    <a:pt x="1221518" y="188842"/>
                  </a:cubicBezTo>
                  <a:cubicBezTo>
                    <a:pt x="1221518" y="185830"/>
                    <a:pt x="1222471" y="183372"/>
                    <a:pt x="1224376" y="181469"/>
                  </a:cubicBezTo>
                  <a:cubicBezTo>
                    <a:pt x="1226281" y="179567"/>
                    <a:pt x="1228662" y="178615"/>
                    <a:pt x="1231520" y="178615"/>
                  </a:cubicBezTo>
                  <a:close/>
                  <a:moveTo>
                    <a:pt x="560884" y="73010"/>
                  </a:moveTo>
                  <a:cubicBezTo>
                    <a:pt x="548739" y="73010"/>
                    <a:pt x="538700" y="77134"/>
                    <a:pt x="530756" y="85383"/>
                  </a:cubicBezTo>
                  <a:cubicBezTo>
                    <a:pt x="522822" y="93622"/>
                    <a:pt x="517916" y="105481"/>
                    <a:pt x="516050" y="120940"/>
                  </a:cubicBezTo>
                  <a:lnTo>
                    <a:pt x="599060" y="120940"/>
                  </a:lnTo>
                  <a:cubicBezTo>
                    <a:pt x="598517" y="105719"/>
                    <a:pt x="594936" y="93927"/>
                    <a:pt x="588316" y="85564"/>
                  </a:cubicBezTo>
                  <a:cubicBezTo>
                    <a:pt x="581706" y="77191"/>
                    <a:pt x="572551" y="73010"/>
                    <a:pt x="560884" y="73010"/>
                  </a:cubicBezTo>
                  <a:close/>
                  <a:moveTo>
                    <a:pt x="345142" y="65399"/>
                  </a:moveTo>
                  <a:lnTo>
                    <a:pt x="356696" y="65399"/>
                  </a:lnTo>
                  <a:lnTo>
                    <a:pt x="356696" y="196929"/>
                  </a:lnTo>
                  <a:lnTo>
                    <a:pt x="345142" y="196929"/>
                  </a:lnTo>
                  <a:close/>
                  <a:moveTo>
                    <a:pt x="1451452" y="62189"/>
                  </a:moveTo>
                  <a:cubicBezTo>
                    <a:pt x="1465358" y="62189"/>
                    <a:pt x="1476027" y="66933"/>
                    <a:pt x="1483456" y="76401"/>
                  </a:cubicBezTo>
                  <a:cubicBezTo>
                    <a:pt x="1490790" y="85878"/>
                    <a:pt x="1494505" y="99375"/>
                    <a:pt x="1494505" y="116892"/>
                  </a:cubicBezTo>
                  <a:lnTo>
                    <a:pt x="1494505" y="196929"/>
                  </a:lnTo>
                  <a:lnTo>
                    <a:pt x="1482980" y="196929"/>
                  </a:lnTo>
                  <a:lnTo>
                    <a:pt x="1482980" y="120340"/>
                  </a:lnTo>
                  <a:cubicBezTo>
                    <a:pt x="1482980" y="88793"/>
                    <a:pt x="1471740" y="73010"/>
                    <a:pt x="1449452" y="73010"/>
                  </a:cubicBezTo>
                  <a:cubicBezTo>
                    <a:pt x="1436974" y="73010"/>
                    <a:pt x="1426782" y="77648"/>
                    <a:pt x="1418686" y="86926"/>
                  </a:cubicBezTo>
                  <a:cubicBezTo>
                    <a:pt x="1410685" y="96203"/>
                    <a:pt x="1406685" y="107700"/>
                    <a:pt x="1406685" y="121416"/>
                  </a:cubicBezTo>
                  <a:lnTo>
                    <a:pt x="1406685" y="196929"/>
                  </a:lnTo>
                  <a:lnTo>
                    <a:pt x="1395159" y="196929"/>
                  </a:lnTo>
                  <a:lnTo>
                    <a:pt x="1395159" y="65399"/>
                  </a:lnTo>
                  <a:lnTo>
                    <a:pt x="1406685" y="65399"/>
                  </a:lnTo>
                  <a:lnTo>
                    <a:pt x="1406685" y="89307"/>
                  </a:lnTo>
                  <a:lnTo>
                    <a:pt x="1407256" y="89307"/>
                  </a:lnTo>
                  <a:cubicBezTo>
                    <a:pt x="1416685" y="71229"/>
                    <a:pt x="1431450" y="62189"/>
                    <a:pt x="1451452" y="62189"/>
                  </a:cubicBezTo>
                  <a:close/>
                  <a:moveTo>
                    <a:pt x="1336295" y="62189"/>
                  </a:moveTo>
                  <a:cubicBezTo>
                    <a:pt x="1346106" y="62189"/>
                    <a:pt x="1355631" y="64256"/>
                    <a:pt x="1364870" y="68371"/>
                  </a:cubicBezTo>
                  <a:lnTo>
                    <a:pt x="1364870" y="81697"/>
                  </a:lnTo>
                  <a:cubicBezTo>
                    <a:pt x="1355631" y="75905"/>
                    <a:pt x="1345534" y="73010"/>
                    <a:pt x="1334485" y="73010"/>
                  </a:cubicBezTo>
                  <a:cubicBezTo>
                    <a:pt x="1319436" y="73010"/>
                    <a:pt x="1307148" y="78563"/>
                    <a:pt x="1297718" y="89660"/>
                  </a:cubicBezTo>
                  <a:cubicBezTo>
                    <a:pt x="1288289" y="100766"/>
                    <a:pt x="1283621" y="115110"/>
                    <a:pt x="1283621" y="132713"/>
                  </a:cubicBezTo>
                  <a:cubicBezTo>
                    <a:pt x="1283621" y="149757"/>
                    <a:pt x="1287908" y="163453"/>
                    <a:pt x="1296480" y="173799"/>
                  </a:cubicBezTo>
                  <a:cubicBezTo>
                    <a:pt x="1305053" y="184146"/>
                    <a:pt x="1316483" y="189318"/>
                    <a:pt x="1330676" y="189318"/>
                  </a:cubicBezTo>
                  <a:cubicBezTo>
                    <a:pt x="1343534" y="189318"/>
                    <a:pt x="1354773" y="185830"/>
                    <a:pt x="1364393" y="178853"/>
                  </a:cubicBezTo>
                  <a:lnTo>
                    <a:pt x="1364393" y="191102"/>
                  </a:lnTo>
                  <a:cubicBezTo>
                    <a:pt x="1354773" y="197127"/>
                    <a:pt x="1343343" y="200140"/>
                    <a:pt x="1330103" y="200140"/>
                  </a:cubicBezTo>
                  <a:cubicBezTo>
                    <a:pt x="1312578" y="200140"/>
                    <a:pt x="1298386" y="193995"/>
                    <a:pt x="1287622" y="181707"/>
                  </a:cubicBezTo>
                  <a:cubicBezTo>
                    <a:pt x="1276859" y="169419"/>
                    <a:pt x="1271429" y="153325"/>
                    <a:pt x="1271429" y="133427"/>
                  </a:cubicBezTo>
                  <a:cubicBezTo>
                    <a:pt x="1271429" y="112577"/>
                    <a:pt x="1277525" y="95489"/>
                    <a:pt x="1289622" y="82173"/>
                  </a:cubicBezTo>
                  <a:cubicBezTo>
                    <a:pt x="1301719" y="68847"/>
                    <a:pt x="1317245" y="62189"/>
                    <a:pt x="1336295" y="62189"/>
                  </a:cubicBezTo>
                  <a:close/>
                  <a:moveTo>
                    <a:pt x="561350" y="62189"/>
                  </a:moveTo>
                  <a:cubicBezTo>
                    <a:pt x="577381" y="62189"/>
                    <a:pt x="589697" y="67943"/>
                    <a:pt x="598298" y="79439"/>
                  </a:cubicBezTo>
                  <a:cubicBezTo>
                    <a:pt x="606899" y="90926"/>
                    <a:pt x="611204" y="106585"/>
                    <a:pt x="611204" y="126407"/>
                  </a:cubicBezTo>
                  <a:lnTo>
                    <a:pt x="611204" y="131646"/>
                  </a:lnTo>
                  <a:lnTo>
                    <a:pt x="515583" y="131646"/>
                  </a:lnTo>
                  <a:cubicBezTo>
                    <a:pt x="515583" y="149718"/>
                    <a:pt x="519669" y="163849"/>
                    <a:pt x="527841" y="174037"/>
                  </a:cubicBezTo>
                  <a:cubicBezTo>
                    <a:pt x="536014" y="184225"/>
                    <a:pt x="547263" y="189318"/>
                    <a:pt x="561579" y="189318"/>
                  </a:cubicBezTo>
                  <a:cubicBezTo>
                    <a:pt x="576057" y="189318"/>
                    <a:pt x="590182" y="183888"/>
                    <a:pt x="603965" y="173026"/>
                  </a:cubicBezTo>
                  <a:lnTo>
                    <a:pt x="603965" y="185632"/>
                  </a:lnTo>
                  <a:cubicBezTo>
                    <a:pt x="590573" y="195304"/>
                    <a:pt x="575666" y="200140"/>
                    <a:pt x="559245" y="200140"/>
                  </a:cubicBezTo>
                  <a:cubicBezTo>
                    <a:pt x="542586" y="200140"/>
                    <a:pt x="529127" y="194055"/>
                    <a:pt x="518849" y="181885"/>
                  </a:cubicBezTo>
                  <a:cubicBezTo>
                    <a:pt x="508572" y="169716"/>
                    <a:pt x="503438" y="152571"/>
                    <a:pt x="503438" y="130455"/>
                  </a:cubicBezTo>
                  <a:cubicBezTo>
                    <a:pt x="503438" y="111262"/>
                    <a:pt x="508811" y="95089"/>
                    <a:pt x="519555" y="81935"/>
                  </a:cubicBezTo>
                  <a:cubicBezTo>
                    <a:pt x="530289" y="68771"/>
                    <a:pt x="544224" y="62189"/>
                    <a:pt x="561350" y="62189"/>
                  </a:cubicBezTo>
                  <a:close/>
                  <a:moveTo>
                    <a:pt x="453880" y="62189"/>
                  </a:moveTo>
                  <a:cubicBezTo>
                    <a:pt x="463767" y="62189"/>
                    <a:pt x="473301" y="64256"/>
                    <a:pt x="482483" y="68371"/>
                  </a:cubicBezTo>
                  <a:lnTo>
                    <a:pt x="482483" y="81697"/>
                  </a:lnTo>
                  <a:cubicBezTo>
                    <a:pt x="473301" y="75905"/>
                    <a:pt x="463176" y="73010"/>
                    <a:pt x="452127" y="73010"/>
                  </a:cubicBezTo>
                  <a:cubicBezTo>
                    <a:pt x="437030" y="73010"/>
                    <a:pt x="424771" y="78563"/>
                    <a:pt x="415351" y="89660"/>
                  </a:cubicBezTo>
                  <a:cubicBezTo>
                    <a:pt x="405931" y="100766"/>
                    <a:pt x="401225" y="115110"/>
                    <a:pt x="401225" y="132713"/>
                  </a:cubicBezTo>
                  <a:cubicBezTo>
                    <a:pt x="401225" y="149757"/>
                    <a:pt x="405521" y="163453"/>
                    <a:pt x="414122" y="173799"/>
                  </a:cubicBezTo>
                  <a:cubicBezTo>
                    <a:pt x="422723" y="184146"/>
                    <a:pt x="434106" y="189318"/>
                    <a:pt x="448279" y="189318"/>
                  </a:cubicBezTo>
                  <a:cubicBezTo>
                    <a:pt x="461195" y="189318"/>
                    <a:pt x="472444" y="185830"/>
                    <a:pt x="482017" y="178853"/>
                  </a:cubicBezTo>
                  <a:lnTo>
                    <a:pt x="482017" y="191102"/>
                  </a:lnTo>
                  <a:cubicBezTo>
                    <a:pt x="472444" y="197127"/>
                    <a:pt x="461004" y="200140"/>
                    <a:pt x="447689" y="200140"/>
                  </a:cubicBezTo>
                  <a:cubicBezTo>
                    <a:pt x="430182" y="200140"/>
                    <a:pt x="416027" y="193995"/>
                    <a:pt x="405255" y="181707"/>
                  </a:cubicBezTo>
                  <a:cubicBezTo>
                    <a:pt x="394472" y="169419"/>
                    <a:pt x="389081" y="153325"/>
                    <a:pt x="389081" y="133427"/>
                  </a:cubicBezTo>
                  <a:cubicBezTo>
                    <a:pt x="389081" y="112577"/>
                    <a:pt x="395130" y="95489"/>
                    <a:pt x="407236" y="82173"/>
                  </a:cubicBezTo>
                  <a:cubicBezTo>
                    <a:pt x="419342" y="68847"/>
                    <a:pt x="434887" y="62189"/>
                    <a:pt x="453880" y="62189"/>
                  </a:cubicBezTo>
                  <a:close/>
                  <a:moveTo>
                    <a:pt x="84195" y="21280"/>
                  </a:moveTo>
                  <a:cubicBezTo>
                    <a:pt x="63174" y="21280"/>
                    <a:pt x="45877" y="29033"/>
                    <a:pt x="32294" y="44530"/>
                  </a:cubicBezTo>
                  <a:cubicBezTo>
                    <a:pt x="18711" y="60027"/>
                    <a:pt x="11920" y="80306"/>
                    <a:pt x="11920" y="105357"/>
                  </a:cubicBezTo>
                  <a:cubicBezTo>
                    <a:pt x="11920" y="130731"/>
                    <a:pt x="18349" y="150926"/>
                    <a:pt x="31189" y="165950"/>
                  </a:cubicBezTo>
                  <a:cubicBezTo>
                    <a:pt x="44028" y="180974"/>
                    <a:pt x="61192" y="188486"/>
                    <a:pt x="82671" y="188486"/>
                  </a:cubicBezTo>
                  <a:cubicBezTo>
                    <a:pt x="105017" y="188486"/>
                    <a:pt x="122705" y="181053"/>
                    <a:pt x="135735" y="166188"/>
                  </a:cubicBezTo>
                  <a:cubicBezTo>
                    <a:pt x="148775" y="151322"/>
                    <a:pt x="155300" y="130607"/>
                    <a:pt x="155300" y="104052"/>
                  </a:cubicBezTo>
                  <a:cubicBezTo>
                    <a:pt x="155300" y="78049"/>
                    <a:pt x="148937" y="57751"/>
                    <a:pt x="136202" y="43168"/>
                  </a:cubicBezTo>
                  <a:cubicBezTo>
                    <a:pt x="123476" y="28576"/>
                    <a:pt x="106141" y="21280"/>
                    <a:pt x="84195" y="21280"/>
                  </a:cubicBezTo>
                  <a:close/>
                  <a:moveTo>
                    <a:pt x="350857" y="12717"/>
                  </a:moveTo>
                  <a:cubicBezTo>
                    <a:pt x="353429" y="12717"/>
                    <a:pt x="355705" y="13574"/>
                    <a:pt x="357696" y="15279"/>
                  </a:cubicBezTo>
                  <a:cubicBezTo>
                    <a:pt x="359677" y="16984"/>
                    <a:pt x="360668" y="19298"/>
                    <a:pt x="360668" y="22232"/>
                  </a:cubicBezTo>
                  <a:cubicBezTo>
                    <a:pt x="360668" y="25013"/>
                    <a:pt x="359696" y="27366"/>
                    <a:pt x="357753" y="29309"/>
                  </a:cubicBezTo>
                  <a:cubicBezTo>
                    <a:pt x="355801" y="31252"/>
                    <a:pt x="353505" y="32224"/>
                    <a:pt x="350857" y="32224"/>
                  </a:cubicBezTo>
                  <a:cubicBezTo>
                    <a:pt x="348295" y="32224"/>
                    <a:pt x="346057" y="31290"/>
                    <a:pt x="344152" y="29433"/>
                  </a:cubicBezTo>
                  <a:cubicBezTo>
                    <a:pt x="342247" y="27566"/>
                    <a:pt x="341285" y="25166"/>
                    <a:pt x="341285" y="22232"/>
                  </a:cubicBezTo>
                  <a:cubicBezTo>
                    <a:pt x="341285" y="19460"/>
                    <a:pt x="342266" y="17184"/>
                    <a:pt x="344209" y="15393"/>
                  </a:cubicBezTo>
                  <a:cubicBezTo>
                    <a:pt x="346152" y="13612"/>
                    <a:pt x="348371" y="12717"/>
                    <a:pt x="350857" y="12717"/>
                  </a:cubicBezTo>
                  <a:close/>
                  <a:moveTo>
                    <a:pt x="86291" y="9630"/>
                  </a:moveTo>
                  <a:cubicBezTo>
                    <a:pt x="110656" y="9630"/>
                    <a:pt x="130392" y="18127"/>
                    <a:pt x="145489" y="35138"/>
                  </a:cubicBezTo>
                  <a:cubicBezTo>
                    <a:pt x="160586" y="52141"/>
                    <a:pt x="168139" y="74439"/>
                    <a:pt x="168139" y="102032"/>
                  </a:cubicBezTo>
                  <a:cubicBezTo>
                    <a:pt x="168139" y="132474"/>
                    <a:pt x="160414" y="156436"/>
                    <a:pt x="144965" y="173918"/>
                  </a:cubicBezTo>
                  <a:cubicBezTo>
                    <a:pt x="129515" y="191399"/>
                    <a:pt x="108827" y="200140"/>
                    <a:pt x="82910" y="200140"/>
                  </a:cubicBezTo>
                  <a:cubicBezTo>
                    <a:pt x="57382" y="200140"/>
                    <a:pt x="37028" y="191498"/>
                    <a:pt x="21845" y="174215"/>
                  </a:cubicBezTo>
                  <a:cubicBezTo>
                    <a:pt x="6671" y="156932"/>
                    <a:pt x="-920" y="134456"/>
                    <a:pt x="-920" y="106785"/>
                  </a:cubicBezTo>
                  <a:cubicBezTo>
                    <a:pt x="-920" y="77372"/>
                    <a:pt x="6862" y="53826"/>
                    <a:pt x="22436" y="36148"/>
                  </a:cubicBezTo>
                  <a:cubicBezTo>
                    <a:pt x="37999" y="18470"/>
                    <a:pt x="59287" y="9630"/>
                    <a:pt x="86291" y="9630"/>
                  </a:cubicBezTo>
                  <a:close/>
                  <a:moveTo>
                    <a:pt x="316520" y="115"/>
                  </a:moveTo>
                  <a:cubicBezTo>
                    <a:pt x="322044" y="115"/>
                    <a:pt x="326597" y="944"/>
                    <a:pt x="330178" y="2611"/>
                  </a:cubicBezTo>
                  <a:lnTo>
                    <a:pt x="330178" y="14622"/>
                  </a:lnTo>
                  <a:cubicBezTo>
                    <a:pt x="327064" y="12164"/>
                    <a:pt x="322359" y="10935"/>
                    <a:pt x="316053" y="10935"/>
                  </a:cubicBezTo>
                  <a:cubicBezTo>
                    <a:pt x="300175" y="10935"/>
                    <a:pt x="292231" y="21794"/>
                    <a:pt x="292231" y="43520"/>
                  </a:cubicBezTo>
                  <a:lnTo>
                    <a:pt x="292231" y="65399"/>
                  </a:lnTo>
                  <a:lnTo>
                    <a:pt x="326445" y="65399"/>
                  </a:lnTo>
                  <a:lnTo>
                    <a:pt x="326445" y="76220"/>
                  </a:lnTo>
                  <a:lnTo>
                    <a:pt x="292231" y="76220"/>
                  </a:lnTo>
                  <a:lnTo>
                    <a:pt x="292231" y="196929"/>
                  </a:lnTo>
                  <a:lnTo>
                    <a:pt x="280677" y="196929"/>
                  </a:lnTo>
                  <a:lnTo>
                    <a:pt x="280677" y="76220"/>
                  </a:lnTo>
                  <a:lnTo>
                    <a:pt x="257436" y="76220"/>
                  </a:lnTo>
                  <a:lnTo>
                    <a:pt x="257436" y="65399"/>
                  </a:lnTo>
                  <a:lnTo>
                    <a:pt x="280677" y="65399"/>
                  </a:lnTo>
                  <a:lnTo>
                    <a:pt x="280677" y="42568"/>
                  </a:lnTo>
                  <a:cubicBezTo>
                    <a:pt x="280677" y="28700"/>
                    <a:pt x="284096" y="18155"/>
                    <a:pt x="290945" y="10935"/>
                  </a:cubicBezTo>
                  <a:cubicBezTo>
                    <a:pt x="297794" y="3725"/>
                    <a:pt x="306318" y="115"/>
                    <a:pt x="316520" y="115"/>
                  </a:cubicBezTo>
                  <a:close/>
                  <a:moveTo>
                    <a:pt x="245044" y="115"/>
                  </a:moveTo>
                  <a:cubicBezTo>
                    <a:pt x="250569" y="115"/>
                    <a:pt x="255121" y="944"/>
                    <a:pt x="258703" y="2611"/>
                  </a:cubicBezTo>
                  <a:lnTo>
                    <a:pt x="258703" y="14622"/>
                  </a:lnTo>
                  <a:cubicBezTo>
                    <a:pt x="255588" y="12164"/>
                    <a:pt x="250883" y="10935"/>
                    <a:pt x="244577" y="10935"/>
                  </a:cubicBezTo>
                  <a:cubicBezTo>
                    <a:pt x="228699" y="10935"/>
                    <a:pt x="220755" y="21794"/>
                    <a:pt x="220755" y="43520"/>
                  </a:cubicBezTo>
                  <a:lnTo>
                    <a:pt x="220755" y="65399"/>
                  </a:lnTo>
                  <a:lnTo>
                    <a:pt x="254969" y="65399"/>
                  </a:lnTo>
                  <a:lnTo>
                    <a:pt x="254969" y="76220"/>
                  </a:lnTo>
                  <a:lnTo>
                    <a:pt x="220755" y="76220"/>
                  </a:lnTo>
                  <a:lnTo>
                    <a:pt x="220755" y="196929"/>
                  </a:lnTo>
                  <a:lnTo>
                    <a:pt x="209201" y="196929"/>
                  </a:lnTo>
                  <a:lnTo>
                    <a:pt x="209201" y="76220"/>
                  </a:lnTo>
                  <a:lnTo>
                    <a:pt x="185970" y="76220"/>
                  </a:lnTo>
                  <a:lnTo>
                    <a:pt x="185970" y="65399"/>
                  </a:lnTo>
                  <a:lnTo>
                    <a:pt x="209201" y="65399"/>
                  </a:lnTo>
                  <a:lnTo>
                    <a:pt x="209201" y="42568"/>
                  </a:lnTo>
                  <a:cubicBezTo>
                    <a:pt x="209201" y="28700"/>
                    <a:pt x="212621" y="18155"/>
                    <a:pt x="219469" y="10935"/>
                  </a:cubicBezTo>
                  <a:cubicBezTo>
                    <a:pt x="226327" y="3725"/>
                    <a:pt x="234843" y="115"/>
                    <a:pt x="245044" y="115"/>
                  </a:cubicBezTo>
                  <a:close/>
                </a:path>
              </a:pathLst>
            </a:custGeom>
            <a:grpFill/>
            <a:ln w="9525" cap="flat">
              <a:noFill/>
              <a:prstDash val="solid"/>
              <a:miter/>
            </a:ln>
          </p:spPr>
          <p:txBody>
            <a:bodyPr rtlCol="0" anchor="ctr">
              <a:noAutofit/>
            </a:bodyPr>
            <a:lstStyle/>
            <a:p>
              <a:endParaRPr lang="zh-CN" altLang="en-US"/>
            </a:p>
          </p:txBody>
        </p:sp>
      </p:grpSp>
      <p:sp>
        <p:nvSpPr>
          <p:cNvPr id="8" name="文本框 7"/>
          <p:cNvSpPr txBox="1"/>
          <p:nvPr userDrawn="1"/>
        </p:nvSpPr>
        <p:spPr>
          <a:xfrm>
            <a:off x="10209866" y="244475"/>
            <a:ext cx="1245534" cy="307777"/>
          </a:xfrm>
          <a:prstGeom prst="rect">
            <a:avLst/>
          </a:prstGeom>
          <a:noFill/>
        </p:spPr>
        <p:txBody>
          <a:bodyPr wrap="none" lIns="0" tIns="0" rIns="0" bIns="0" rtlCol="0">
            <a:noAutofit/>
          </a:bodyPr>
          <a:lstStyle/>
          <a:p>
            <a:r>
              <a:rPr lang="en-US" altLang="zh-CN" sz="1000" cap="all" dirty="0">
                <a:solidFill>
                  <a:schemeClr val="accent1"/>
                </a:solidFill>
              </a:rPr>
              <a:t>Academic report</a:t>
            </a:r>
            <a:endParaRPr lang="en-US" altLang="zh-CN" sz="1000" cap="all" dirty="0">
              <a:solidFill>
                <a:schemeClr val="accent1"/>
              </a:solidFill>
            </a:endParaRPr>
          </a:p>
          <a:p>
            <a:r>
              <a:rPr lang="en-US" altLang="zh-CN" sz="1000" cap="all" dirty="0">
                <a:solidFill>
                  <a:schemeClr val="accent1"/>
                </a:solidFill>
              </a:rPr>
              <a:t>presentation</a:t>
            </a:r>
            <a:endParaRPr lang="zh-CN" altLang="en-US" sz="1000" cap="all" dirty="0">
              <a:solidFill>
                <a:schemeClr val="accent1"/>
              </a:solidFill>
            </a:endParaRPr>
          </a:p>
        </p:txBody>
      </p:sp>
      <p:sp>
        <p:nvSpPr>
          <p:cNvPr id="9" name="文本占位符 8"/>
          <p:cNvSpPr>
            <a:spLocks noGrp="1"/>
          </p:cNvSpPr>
          <p:nvPr>
            <p:ph type="body" sz="quarter" idx="10" hasCustomPrompt="1"/>
          </p:nvPr>
        </p:nvSpPr>
        <p:spPr>
          <a:xfrm>
            <a:off x="736600" y="6239103"/>
            <a:ext cx="471283" cy="230832"/>
          </a:xfrm>
          <a:prstGeom prst="rect">
            <a:avLst/>
          </a:prstGeom>
        </p:spPr>
        <p:txBody>
          <a:bodyPr wrap="none" lIns="0" tIns="0" rIns="0" bIns="0">
            <a:noAutofit/>
          </a:bodyPr>
          <a:lstStyle>
            <a:lvl1pPr marL="0" indent="0" algn="l" defTabSz="914400" rtl="0" eaLnBrk="1" latinLnBrk="0" hangingPunct="1">
              <a:lnSpc>
                <a:spcPct val="100000"/>
              </a:lnSpc>
              <a:spcBef>
                <a:spcPts val="0"/>
              </a:spcBef>
              <a:buNone/>
              <a:defRPr lang="zh-CN" altLang="en-US" sz="1500" kern="1200" dirty="0">
                <a:solidFill>
                  <a:schemeClr val="bg1"/>
                </a:solidFill>
                <a:latin typeface="+mn-lt"/>
                <a:ea typeface="+mn-ea"/>
                <a:cs typeface="+mn-cs"/>
              </a:defRPr>
            </a:lvl1pPr>
          </a:lstStyle>
          <a:p>
            <a:pPr lvl="0"/>
            <a:r>
              <a:rPr lang="en-US" altLang="zh-CN" dirty="0"/>
              <a:t>20XX</a:t>
            </a:r>
            <a:endParaRPr lang="zh-CN" altLang="en-US" dirty="0"/>
          </a:p>
        </p:txBody>
      </p:sp>
      <p:sp>
        <p:nvSpPr>
          <p:cNvPr id="10" name="文本占位符 9"/>
          <p:cNvSpPr>
            <a:spLocks noGrp="1"/>
          </p:cNvSpPr>
          <p:nvPr>
            <p:ph type="body" sz="quarter" idx="11" hasCustomPrompt="1"/>
          </p:nvPr>
        </p:nvSpPr>
        <p:spPr>
          <a:xfrm>
            <a:off x="1423553" y="6239103"/>
            <a:ext cx="974626" cy="230832"/>
          </a:xfrm>
          <a:prstGeom prst="rect">
            <a:avLst/>
          </a:prstGeom>
        </p:spPr>
        <p:txBody>
          <a:bodyPr wrap="none" lIns="0" tIns="0" rIns="0" bIns="0">
            <a:noAutofit/>
          </a:bodyPr>
          <a:lstStyle>
            <a:lvl1pPr marL="0" indent="0" algn="r" defTabSz="914400" rtl="0" eaLnBrk="1" latinLnBrk="0" hangingPunct="1">
              <a:lnSpc>
                <a:spcPct val="100000"/>
              </a:lnSpc>
              <a:spcBef>
                <a:spcPts val="0"/>
              </a:spcBef>
              <a:buNone/>
              <a:defRPr lang="zh-CN" altLang="en-US" sz="1500" kern="1200" dirty="0">
                <a:solidFill>
                  <a:schemeClr val="bg1"/>
                </a:solidFill>
                <a:latin typeface="+mn-lt"/>
                <a:ea typeface="+mn-ea"/>
                <a:cs typeface="+mn-cs"/>
              </a:defRPr>
            </a:lvl1pPr>
          </a:lstStyle>
          <a:p>
            <a:pPr lvl="0"/>
            <a:r>
              <a:rPr lang="en-US" altLang="zh-CN" dirty="0"/>
              <a:t>March·27th</a:t>
            </a:r>
            <a:endParaRPr lang="en-US" altLang="zh-CN" dirty="0"/>
          </a:p>
        </p:txBody>
      </p:sp>
      <p:cxnSp>
        <p:nvCxnSpPr>
          <p:cNvPr id="11" name="直接连接符 10"/>
          <p:cNvCxnSpPr/>
          <p:nvPr userDrawn="1"/>
        </p:nvCxnSpPr>
        <p:spPr>
          <a:xfrm>
            <a:off x="731838" y="6162908"/>
            <a:ext cx="166634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内容页_3">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a:xfrm>
            <a:off x="0" y="-1"/>
            <a:ext cx="12192000" cy="2725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grpSp>
        <p:nvGrpSpPr>
          <p:cNvPr id="10" name="组合 9"/>
          <p:cNvGrpSpPr/>
          <p:nvPr userDrawn="1"/>
        </p:nvGrpSpPr>
        <p:grpSpPr>
          <a:xfrm>
            <a:off x="736600" y="266700"/>
            <a:ext cx="1661579" cy="222249"/>
            <a:chOff x="8759825" y="266700"/>
            <a:chExt cx="1495425" cy="200025"/>
          </a:xfrm>
          <a:solidFill>
            <a:schemeClr val="bg1"/>
          </a:solidFill>
        </p:grpSpPr>
        <p:sp>
          <p:nvSpPr>
            <p:cNvPr id="11" name="任意多边形: 形状 10"/>
            <p:cNvSpPr/>
            <p:nvPr/>
          </p:nvSpPr>
          <p:spPr>
            <a:xfrm>
              <a:off x="9836150" y="276225"/>
              <a:ext cx="114300" cy="190500"/>
            </a:xfrm>
            <a:custGeom>
              <a:avLst/>
              <a:gdLst>
                <a:gd name="connsiteX0" fmla="*/ 64803 w 114300"/>
                <a:gd name="connsiteY0" fmla="*/ 115 h 190500"/>
                <a:gd name="connsiteX1" fmla="*/ 105475 w 114300"/>
                <a:gd name="connsiteY1" fmla="*/ 6782 h 190500"/>
                <a:gd name="connsiteX2" fmla="*/ 105475 w 114300"/>
                <a:gd name="connsiteY2" fmla="*/ 32719 h 190500"/>
                <a:gd name="connsiteX3" fmla="*/ 62992 w 114300"/>
                <a:gd name="connsiteY3" fmla="*/ 21175 h 190500"/>
                <a:gd name="connsiteX4" fmla="*/ 35180 w 114300"/>
                <a:gd name="connsiteY4" fmla="*/ 28252 h 190500"/>
                <a:gd name="connsiteX5" fmla="*/ 24417 w 114300"/>
                <a:gd name="connsiteY5" fmla="*/ 47950 h 190500"/>
                <a:gd name="connsiteX6" fmla="*/ 31845 w 114300"/>
                <a:gd name="connsiteY6" fmla="*/ 66152 h 190500"/>
                <a:gd name="connsiteX7" fmla="*/ 64135 w 114300"/>
                <a:gd name="connsiteY7" fmla="*/ 85307 h 190500"/>
                <a:gd name="connsiteX8" fmla="*/ 102426 w 114300"/>
                <a:gd name="connsiteY8" fmla="*/ 111253 h 190500"/>
                <a:gd name="connsiteX9" fmla="*/ 113380 w 114300"/>
                <a:gd name="connsiteY9" fmla="*/ 140402 h 190500"/>
                <a:gd name="connsiteX10" fmla="*/ 95568 w 114300"/>
                <a:gd name="connsiteY10" fmla="*/ 177646 h 190500"/>
                <a:gd name="connsiteX11" fmla="*/ 46228 w 114300"/>
                <a:gd name="connsiteY11" fmla="*/ 190615 h 190500"/>
                <a:gd name="connsiteX12" fmla="*/ 20511 w 114300"/>
                <a:gd name="connsiteY12" fmla="*/ 187580 h 190500"/>
                <a:gd name="connsiteX13" fmla="*/ -920 w 114300"/>
                <a:gd name="connsiteY13" fmla="*/ 180025 h 190500"/>
                <a:gd name="connsiteX14" fmla="*/ -920 w 114300"/>
                <a:gd name="connsiteY14" fmla="*/ 152896 h 190500"/>
                <a:gd name="connsiteX15" fmla="*/ 21940 w 114300"/>
                <a:gd name="connsiteY15" fmla="*/ 165033 h 190500"/>
                <a:gd name="connsiteX16" fmla="*/ 48991 w 114300"/>
                <a:gd name="connsiteY16" fmla="*/ 169792 h 190500"/>
                <a:gd name="connsiteX17" fmla="*/ 88139 w 114300"/>
                <a:gd name="connsiteY17" fmla="*/ 142187 h 190500"/>
                <a:gd name="connsiteX18" fmla="*/ 83948 w 114300"/>
                <a:gd name="connsiteY18" fmla="*/ 128264 h 190500"/>
                <a:gd name="connsiteX19" fmla="*/ 72422 w 114300"/>
                <a:gd name="connsiteY19" fmla="*/ 117320 h 190500"/>
                <a:gd name="connsiteX20" fmla="*/ 44990 w 114300"/>
                <a:gd name="connsiteY20" fmla="*/ 102680 h 190500"/>
                <a:gd name="connsiteX21" fmla="*/ 8128 w 114300"/>
                <a:gd name="connsiteY21" fmla="*/ 77039 h 190500"/>
                <a:gd name="connsiteX22" fmla="*/ -825 w 114300"/>
                <a:gd name="connsiteY22" fmla="*/ 49969 h 190500"/>
                <a:gd name="connsiteX23" fmla="*/ 17844 w 114300"/>
                <a:gd name="connsiteY23" fmla="*/ 13564 h 190500"/>
                <a:gd name="connsiteX24" fmla="*/ 64803 w 114300"/>
                <a:gd name="connsiteY24" fmla="*/ 11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4300" h="190500">
                  <a:moveTo>
                    <a:pt x="64803" y="115"/>
                  </a:moveTo>
                  <a:cubicBezTo>
                    <a:pt x="83281" y="115"/>
                    <a:pt x="96807" y="2334"/>
                    <a:pt x="105475" y="6782"/>
                  </a:cubicBezTo>
                  <a:lnTo>
                    <a:pt x="105475" y="32719"/>
                  </a:lnTo>
                  <a:cubicBezTo>
                    <a:pt x="94235" y="25023"/>
                    <a:pt x="80043" y="21175"/>
                    <a:pt x="62992" y="21175"/>
                  </a:cubicBezTo>
                  <a:cubicBezTo>
                    <a:pt x="51563" y="21175"/>
                    <a:pt x="42324" y="23537"/>
                    <a:pt x="35180" y="28252"/>
                  </a:cubicBezTo>
                  <a:cubicBezTo>
                    <a:pt x="28036" y="32976"/>
                    <a:pt x="24417" y="39539"/>
                    <a:pt x="24417" y="47950"/>
                  </a:cubicBezTo>
                  <a:cubicBezTo>
                    <a:pt x="24417" y="55408"/>
                    <a:pt x="26893" y="61475"/>
                    <a:pt x="31845" y="66152"/>
                  </a:cubicBezTo>
                  <a:cubicBezTo>
                    <a:pt x="36799" y="70838"/>
                    <a:pt x="47562" y="77220"/>
                    <a:pt x="64135" y="85307"/>
                  </a:cubicBezTo>
                  <a:cubicBezTo>
                    <a:pt x="82424" y="93955"/>
                    <a:pt x="95187" y="102604"/>
                    <a:pt x="102426" y="111253"/>
                  </a:cubicBezTo>
                  <a:cubicBezTo>
                    <a:pt x="109760" y="119892"/>
                    <a:pt x="113380" y="129617"/>
                    <a:pt x="113380" y="140402"/>
                  </a:cubicBezTo>
                  <a:cubicBezTo>
                    <a:pt x="113380" y="156584"/>
                    <a:pt x="107475" y="168999"/>
                    <a:pt x="95568" y="177646"/>
                  </a:cubicBezTo>
                  <a:cubicBezTo>
                    <a:pt x="83757" y="186292"/>
                    <a:pt x="67279" y="190615"/>
                    <a:pt x="46228" y="190615"/>
                  </a:cubicBezTo>
                  <a:cubicBezTo>
                    <a:pt x="38895" y="190615"/>
                    <a:pt x="30322" y="189603"/>
                    <a:pt x="20511" y="187580"/>
                  </a:cubicBezTo>
                  <a:cubicBezTo>
                    <a:pt x="10700" y="185558"/>
                    <a:pt x="3556" y="183040"/>
                    <a:pt x="-920" y="180025"/>
                  </a:cubicBezTo>
                  <a:lnTo>
                    <a:pt x="-920" y="152896"/>
                  </a:lnTo>
                  <a:cubicBezTo>
                    <a:pt x="4795" y="157814"/>
                    <a:pt x="12415" y="161859"/>
                    <a:pt x="21940" y="165033"/>
                  </a:cubicBezTo>
                  <a:cubicBezTo>
                    <a:pt x="31465" y="168206"/>
                    <a:pt x="40418" y="169792"/>
                    <a:pt x="48991" y="169792"/>
                  </a:cubicBezTo>
                  <a:cubicBezTo>
                    <a:pt x="75089" y="169792"/>
                    <a:pt x="88139" y="160590"/>
                    <a:pt x="88139" y="142187"/>
                  </a:cubicBezTo>
                  <a:cubicBezTo>
                    <a:pt x="88139" y="137030"/>
                    <a:pt x="86805" y="132389"/>
                    <a:pt x="83948" y="128264"/>
                  </a:cubicBezTo>
                  <a:cubicBezTo>
                    <a:pt x="81185" y="124140"/>
                    <a:pt x="77280" y="120492"/>
                    <a:pt x="72422" y="117320"/>
                  </a:cubicBezTo>
                  <a:cubicBezTo>
                    <a:pt x="67564" y="114148"/>
                    <a:pt x="58421" y="109262"/>
                    <a:pt x="44990" y="102680"/>
                  </a:cubicBezTo>
                  <a:cubicBezTo>
                    <a:pt x="26321" y="93479"/>
                    <a:pt x="14034" y="84935"/>
                    <a:pt x="8128" y="77039"/>
                  </a:cubicBezTo>
                  <a:cubicBezTo>
                    <a:pt x="2127" y="69152"/>
                    <a:pt x="-825" y="60123"/>
                    <a:pt x="-825" y="49969"/>
                  </a:cubicBezTo>
                  <a:cubicBezTo>
                    <a:pt x="-825" y="34662"/>
                    <a:pt x="5367" y="22527"/>
                    <a:pt x="17844" y="13564"/>
                  </a:cubicBezTo>
                  <a:cubicBezTo>
                    <a:pt x="30227" y="4601"/>
                    <a:pt x="45848" y="115"/>
                    <a:pt x="64803" y="115"/>
                  </a:cubicBezTo>
                  <a:close/>
                </a:path>
              </a:pathLst>
            </a:custGeom>
            <a:grpFill/>
            <a:ln w="9525" cap="flat">
              <a:noFill/>
              <a:prstDash val="solid"/>
              <a:miter/>
            </a:ln>
          </p:spPr>
          <p:txBody>
            <a:bodyPr rtlCol="0" anchor="ctr">
              <a:noAutofit/>
            </a:bodyPr>
            <a:lstStyle/>
            <a:p>
              <a:endParaRPr lang="zh-CN" altLang="en-US"/>
            </a:p>
          </p:txBody>
        </p:sp>
        <p:sp>
          <p:nvSpPr>
            <p:cNvPr id="12" name="任意多边形: 形状 11"/>
            <p:cNvSpPr/>
            <p:nvPr/>
          </p:nvSpPr>
          <p:spPr>
            <a:xfrm>
              <a:off x="9407525" y="276225"/>
              <a:ext cx="114300" cy="180975"/>
            </a:xfrm>
            <a:custGeom>
              <a:avLst/>
              <a:gdLst>
                <a:gd name="connsiteX0" fmla="*/ -920 w 114300"/>
                <a:gd name="connsiteY0" fmla="*/ 115 h 180975"/>
                <a:gd name="connsiteX1" fmla="*/ 51039 w 114300"/>
                <a:gd name="connsiteY1" fmla="*/ 115 h 180975"/>
                <a:gd name="connsiteX2" fmla="*/ 97026 w 114300"/>
                <a:gd name="connsiteY2" fmla="*/ 14250 h 180975"/>
                <a:gd name="connsiteX3" fmla="*/ 113380 w 114300"/>
                <a:gd name="connsiteY3" fmla="*/ 54674 h 180975"/>
                <a:gd name="connsiteX4" fmla="*/ 94254 w 114300"/>
                <a:gd name="connsiteY4" fmla="*/ 97842 h 180975"/>
                <a:gd name="connsiteX5" fmla="*/ 46429 w 114300"/>
                <a:gd name="connsiteY5" fmla="*/ 113443 h 180975"/>
                <a:gd name="connsiteX6" fmla="*/ 22693 w 114300"/>
                <a:gd name="connsiteY6" fmla="*/ 113443 h 180975"/>
                <a:gd name="connsiteX7" fmla="*/ 22693 w 114300"/>
                <a:gd name="connsiteY7" fmla="*/ 181090 h 180975"/>
                <a:gd name="connsiteX8" fmla="*/ -920 w 114300"/>
                <a:gd name="connsiteY8" fmla="*/ 181090 h 180975"/>
                <a:gd name="connsiteX9" fmla="*/ -920 w 114300"/>
                <a:gd name="connsiteY9" fmla="*/ 115 h 180975"/>
                <a:gd name="connsiteX10" fmla="*/ 22693 w 114300"/>
                <a:gd name="connsiteY10" fmla="*/ 20679 h 180975"/>
                <a:gd name="connsiteX11" fmla="*/ 22693 w 114300"/>
                <a:gd name="connsiteY11" fmla="*/ 92879 h 180975"/>
                <a:gd name="connsiteX12" fmla="*/ 44543 w 114300"/>
                <a:gd name="connsiteY12" fmla="*/ 92879 h 180975"/>
                <a:gd name="connsiteX13" fmla="*/ 77366 w 114300"/>
                <a:gd name="connsiteY13" fmla="*/ 83240 h 180975"/>
                <a:gd name="connsiteX14" fmla="*/ 88586 w 114300"/>
                <a:gd name="connsiteY14" fmla="*/ 55608 h 180975"/>
                <a:gd name="connsiteX15" fmla="*/ 46781 w 114300"/>
                <a:gd name="connsiteY15" fmla="*/ 20679 h 180975"/>
                <a:gd name="connsiteX16" fmla="*/ 22693 w 114300"/>
                <a:gd name="connsiteY16" fmla="*/ 20679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300" h="180975">
                  <a:moveTo>
                    <a:pt x="-920" y="115"/>
                  </a:moveTo>
                  <a:lnTo>
                    <a:pt x="51039" y="115"/>
                  </a:lnTo>
                  <a:cubicBezTo>
                    <a:pt x="70794" y="115"/>
                    <a:pt x="86119" y="4830"/>
                    <a:pt x="97026" y="14250"/>
                  </a:cubicBezTo>
                  <a:cubicBezTo>
                    <a:pt x="107931" y="23680"/>
                    <a:pt x="113380" y="37148"/>
                    <a:pt x="113380" y="54674"/>
                  </a:cubicBezTo>
                  <a:cubicBezTo>
                    <a:pt x="113380" y="72438"/>
                    <a:pt x="107008" y="86821"/>
                    <a:pt x="94254" y="97842"/>
                  </a:cubicBezTo>
                  <a:cubicBezTo>
                    <a:pt x="81500" y="108871"/>
                    <a:pt x="65555" y="114063"/>
                    <a:pt x="46429" y="113443"/>
                  </a:cubicBezTo>
                  <a:lnTo>
                    <a:pt x="22693" y="113443"/>
                  </a:lnTo>
                  <a:lnTo>
                    <a:pt x="22693" y="181090"/>
                  </a:lnTo>
                  <a:lnTo>
                    <a:pt x="-920" y="181090"/>
                  </a:lnTo>
                  <a:lnTo>
                    <a:pt x="-920" y="115"/>
                  </a:lnTo>
                  <a:close/>
                  <a:moveTo>
                    <a:pt x="22693" y="20679"/>
                  </a:moveTo>
                  <a:lnTo>
                    <a:pt x="22693" y="92879"/>
                  </a:lnTo>
                  <a:lnTo>
                    <a:pt x="44543" y="92879"/>
                  </a:lnTo>
                  <a:cubicBezTo>
                    <a:pt x="58944" y="92879"/>
                    <a:pt x="69889" y="89669"/>
                    <a:pt x="77366" y="83240"/>
                  </a:cubicBezTo>
                  <a:cubicBezTo>
                    <a:pt x="84843" y="76820"/>
                    <a:pt x="88586" y="67609"/>
                    <a:pt x="88586" y="55608"/>
                  </a:cubicBezTo>
                  <a:cubicBezTo>
                    <a:pt x="88586" y="32319"/>
                    <a:pt x="74652" y="20679"/>
                    <a:pt x="46781" y="20679"/>
                  </a:cubicBezTo>
                  <a:lnTo>
                    <a:pt x="22693" y="20679"/>
                  </a:lnTo>
                  <a:close/>
                </a:path>
              </a:pathLst>
            </a:custGeom>
            <a:grpFill/>
            <a:ln w="9525" cap="flat">
              <a:noFill/>
              <a:prstDash val="solid"/>
              <a:miter/>
            </a:ln>
          </p:spPr>
          <p:txBody>
            <a:bodyPr rtlCol="0" anchor="ctr">
              <a:noAutofit/>
            </a:bodyPr>
            <a:lstStyle/>
            <a:p>
              <a:endParaRPr lang="zh-CN" altLang="en-US"/>
            </a:p>
          </p:txBody>
        </p:sp>
        <p:sp>
          <p:nvSpPr>
            <p:cNvPr id="13" name="任意多边形: 形状 12"/>
            <p:cNvSpPr/>
            <p:nvPr/>
          </p:nvSpPr>
          <p:spPr>
            <a:xfrm>
              <a:off x="9550400" y="276225"/>
              <a:ext cx="95250" cy="180975"/>
            </a:xfrm>
            <a:custGeom>
              <a:avLst/>
              <a:gdLst>
                <a:gd name="connsiteX0" fmla="*/ -920 w 95250"/>
                <a:gd name="connsiteY0" fmla="*/ 115 h 180975"/>
                <a:gd name="connsiteX1" fmla="*/ 22416 w 95250"/>
                <a:gd name="connsiteY1" fmla="*/ 115 h 180975"/>
                <a:gd name="connsiteX2" fmla="*/ 22416 w 95250"/>
                <a:gd name="connsiteY2" fmla="*/ 160410 h 180975"/>
                <a:gd name="connsiteX3" fmla="*/ 94330 w 95250"/>
                <a:gd name="connsiteY3" fmla="*/ 160410 h 180975"/>
                <a:gd name="connsiteX4" fmla="*/ 94330 w 95250"/>
                <a:gd name="connsiteY4" fmla="*/ 181090 h 180975"/>
                <a:gd name="connsiteX5" fmla="*/ -920 w 95250"/>
                <a:gd name="connsiteY5" fmla="*/ 181090 h 180975"/>
                <a:gd name="connsiteX6" fmla="*/ -920 w 95250"/>
                <a:gd name="connsiteY6" fmla="*/ 115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180975">
                  <a:moveTo>
                    <a:pt x="-920" y="115"/>
                  </a:moveTo>
                  <a:lnTo>
                    <a:pt x="22416" y="115"/>
                  </a:lnTo>
                  <a:lnTo>
                    <a:pt x="22416" y="160410"/>
                  </a:lnTo>
                  <a:lnTo>
                    <a:pt x="94330" y="160410"/>
                  </a:lnTo>
                  <a:lnTo>
                    <a:pt x="94330" y="181090"/>
                  </a:lnTo>
                  <a:lnTo>
                    <a:pt x="-920" y="181090"/>
                  </a:lnTo>
                  <a:lnTo>
                    <a:pt x="-920" y="115"/>
                  </a:lnTo>
                  <a:close/>
                </a:path>
              </a:pathLst>
            </a:custGeom>
            <a:grpFill/>
            <a:ln w="9525" cap="flat">
              <a:noFill/>
              <a:prstDash val="solid"/>
              <a:miter/>
            </a:ln>
          </p:spPr>
          <p:txBody>
            <a:bodyPr rtlCol="0" anchor="ctr">
              <a:noAutofit/>
            </a:bodyPr>
            <a:lstStyle/>
            <a:p>
              <a:endParaRPr lang="zh-CN" altLang="en-US"/>
            </a:p>
          </p:txBody>
        </p:sp>
        <p:sp>
          <p:nvSpPr>
            <p:cNvPr id="14" name="任意多边形: 形状 13"/>
            <p:cNvSpPr/>
            <p:nvPr/>
          </p:nvSpPr>
          <p:spPr>
            <a:xfrm>
              <a:off x="9664700" y="276225"/>
              <a:ext cx="142875" cy="190500"/>
            </a:xfrm>
            <a:custGeom>
              <a:avLst/>
              <a:gdLst>
                <a:gd name="connsiteX0" fmla="*/ -920 w 142875"/>
                <a:gd name="connsiteY0" fmla="*/ 115 h 190500"/>
                <a:gd name="connsiteX1" fmla="*/ 23559 w 142875"/>
                <a:gd name="connsiteY1" fmla="*/ 115 h 190500"/>
                <a:gd name="connsiteX2" fmla="*/ 23559 w 142875"/>
                <a:gd name="connsiteY2" fmla="*/ 112843 h 190500"/>
                <a:gd name="connsiteX3" fmla="*/ 71280 w 142875"/>
                <a:gd name="connsiteY3" fmla="*/ 169086 h 190500"/>
                <a:gd name="connsiteX4" fmla="*/ 117476 w 142875"/>
                <a:gd name="connsiteY4" fmla="*/ 114653 h 190500"/>
                <a:gd name="connsiteX5" fmla="*/ 117476 w 142875"/>
                <a:gd name="connsiteY5" fmla="*/ 115 h 190500"/>
                <a:gd name="connsiteX6" fmla="*/ 141955 w 142875"/>
                <a:gd name="connsiteY6" fmla="*/ 115 h 190500"/>
                <a:gd name="connsiteX7" fmla="*/ 141955 w 142875"/>
                <a:gd name="connsiteY7" fmla="*/ 111148 h 190500"/>
                <a:gd name="connsiteX8" fmla="*/ 68994 w 142875"/>
                <a:gd name="connsiteY8" fmla="*/ 190615 h 190500"/>
                <a:gd name="connsiteX9" fmla="*/ -920 w 142875"/>
                <a:gd name="connsiteY9" fmla="*/ 113929 h 190500"/>
                <a:gd name="connsiteX10" fmla="*/ -920 w 142875"/>
                <a:gd name="connsiteY10" fmla="*/ 11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875" h="190500">
                  <a:moveTo>
                    <a:pt x="-920" y="115"/>
                  </a:moveTo>
                  <a:lnTo>
                    <a:pt x="23559" y="115"/>
                  </a:lnTo>
                  <a:lnTo>
                    <a:pt x="23559" y="112843"/>
                  </a:lnTo>
                  <a:cubicBezTo>
                    <a:pt x="23559" y="150338"/>
                    <a:pt x="39466" y="169086"/>
                    <a:pt x="71280" y="169086"/>
                  </a:cubicBezTo>
                  <a:cubicBezTo>
                    <a:pt x="102046" y="169086"/>
                    <a:pt x="117476" y="150942"/>
                    <a:pt x="117476" y="114653"/>
                  </a:cubicBezTo>
                  <a:lnTo>
                    <a:pt x="117476" y="115"/>
                  </a:lnTo>
                  <a:lnTo>
                    <a:pt x="141955" y="115"/>
                  </a:lnTo>
                  <a:lnTo>
                    <a:pt x="141955" y="111148"/>
                  </a:lnTo>
                  <a:cubicBezTo>
                    <a:pt x="141955" y="164126"/>
                    <a:pt x="117666" y="190615"/>
                    <a:pt x="68994" y="190615"/>
                  </a:cubicBezTo>
                  <a:cubicBezTo>
                    <a:pt x="22416" y="190615"/>
                    <a:pt x="-920" y="165054"/>
                    <a:pt x="-920" y="113929"/>
                  </a:cubicBezTo>
                  <a:lnTo>
                    <a:pt x="-920" y="115"/>
                  </a:lnTo>
                  <a:close/>
                </a:path>
              </a:pathLst>
            </a:custGeom>
            <a:grpFill/>
            <a:ln w="9525" cap="flat">
              <a:noFill/>
              <a:prstDash val="solid"/>
              <a:miter/>
            </a:ln>
          </p:spPr>
          <p:txBody>
            <a:bodyPr rtlCol="0" anchor="ctr">
              <a:noAutofit/>
            </a:bodyPr>
            <a:lstStyle/>
            <a:p>
              <a:endParaRPr lang="zh-CN" altLang="en-US"/>
            </a:p>
          </p:txBody>
        </p:sp>
        <p:sp>
          <p:nvSpPr>
            <p:cNvPr id="15" name="任意多边形: 形状 14"/>
            <p:cNvSpPr/>
            <p:nvPr/>
          </p:nvSpPr>
          <p:spPr>
            <a:xfrm>
              <a:off x="8759825" y="266700"/>
              <a:ext cx="1495425" cy="200025"/>
            </a:xfrm>
            <a:custGeom>
              <a:avLst/>
              <a:gdLst>
                <a:gd name="connsiteX0" fmla="*/ 1231520 w 1495425"/>
                <a:gd name="connsiteY0" fmla="*/ 178615 h 200025"/>
                <a:gd name="connsiteX1" fmla="*/ 1238950 w 1495425"/>
                <a:gd name="connsiteY1" fmla="*/ 181469 h 200025"/>
                <a:gd name="connsiteX2" fmla="*/ 1241902 w 1495425"/>
                <a:gd name="connsiteY2" fmla="*/ 188842 h 200025"/>
                <a:gd name="connsiteX3" fmla="*/ 1238950 w 1495425"/>
                <a:gd name="connsiteY3" fmla="*/ 196216 h 200025"/>
                <a:gd name="connsiteX4" fmla="*/ 1231520 w 1495425"/>
                <a:gd name="connsiteY4" fmla="*/ 199188 h 200025"/>
                <a:gd name="connsiteX5" fmla="*/ 1224376 w 1495425"/>
                <a:gd name="connsiteY5" fmla="*/ 196216 h 200025"/>
                <a:gd name="connsiteX6" fmla="*/ 1221518 w 1495425"/>
                <a:gd name="connsiteY6" fmla="*/ 188842 h 200025"/>
                <a:gd name="connsiteX7" fmla="*/ 1224376 w 1495425"/>
                <a:gd name="connsiteY7" fmla="*/ 181469 h 200025"/>
                <a:gd name="connsiteX8" fmla="*/ 1231520 w 1495425"/>
                <a:gd name="connsiteY8" fmla="*/ 178615 h 200025"/>
                <a:gd name="connsiteX9" fmla="*/ 560884 w 1495425"/>
                <a:gd name="connsiteY9" fmla="*/ 73010 h 200025"/>
                <a:gd name="connsiteX10" fmla="*/ 530756 w 1495425"/>
                <a:gd name="connsiteY10" fmla="*/ 85383 h 200025"/>
                <a:gd name="connsiteX11" fmla="*/ 516050 w 1495425"/>
                <a:gd name="connsiteY11" fmla="*/ 120940 h 200025"/>
                <a:gd name="connsiteX12" fmla="*/ 599060 w 1495425"/>
                <a:gd name="connsiteY12" fmla="*/ 120940 h 200025"/>
                <a:gd name="connsiteX13" fmla="*/ 588316 w 1495425"/>
                <a:gd name="connsiteY13" fmla="*/ 85564 h 200025"/>
                <a:gd name="connsiteX14" fmla="*/ 560884 w 1495425"/>
                <a:gd name="connsiteY14" fmla="*/ 73010 h 200025"/>
                <a:gd name="connsiteX15" fmla="*/ 345142 w 1495425"/>
                <a:gd name="connsiteY15" fmla="*/ 65399 h 200025"/>
                <a:gd name="connsiteX16" fmla="*/ 356696 w 1495425"/>
                <a:gd name="connsiteY16" fmla="*/ 65399 h 200025"/>
                <a:gd name="connsiteX17" fmla="*/ 356696 w 1495425"/>
                <a:gd name="connsiteY17" fmla="*/ 196929 h 200025"/>
                <a:gd name="connsiteX18" fmla="*/ 345142 w 1495425"/>
                <a:gd name="connsiteY18" fmla="*/ 196929 h 200025"/>
                <a:gd name="connsiteX19" fmla="*/ 1451452 w 1495425"/>
                <a:gd name="connsiteY19" fmla="*/ 62189 h 200025"/>
                <a:gd name="connsiteX20" fmla="*/ 1483456 w 1495425"/>
                <a:gd name="connsiteY20" fmla="*/ 76401 h 200025"/>
                <a:gd name="connsiteX21" fmla="*/ 1494505 w 1495425"/>
                <a:gd name="connsiteY21" fmla="*/ 116892 h 200025"/>
                <a:gd name="connsiteX22" fmla="*/ 1494505 w 1495425"/>
                <a:gd name="connsiteY22" fmla="*/ 196929 h 200025"/>
                <a:gd name="connsiteX23" fmla="*/ 1482980 w 1495425"/>
                <a:gd name="connsiteY23" fmla="*/ 196929 h 200025"/>
                <a:gd name="connsiteX24" fmla="*/ 1482980 w 1495425"/>
                <a:gd name="connsiteY24" fmla="*/ 120340 h 200025"/>
                <a:gd name="connsiteX25" fmla="*/ 1449452 w 1495425"/>
                <a:gd name="connsiteY25" fmla="*/ 73010 h 200025"/>
                <a:gd name="connsiteX26" fmla="*/ 1418686 w 1495425"/>
                <a:gd name="connsiteY26" fmla="*/ 86926 h 200025"/>
                <a:gd name="connsiteX27" fmla="*/ 1406685 w 1495425"/>
                <a:gd name="connsiteY27" fmla="*/ 121416 h 200025"/>
                <a:gd name="connsiteX28" fmla="*/ 1406685 w 1495425"/>
                <a:gd name="connsiteY28" fmla="*/ 196929 h 200025"/>
                <a:gd name="connsiteX29" fmla="*/ 1395159 w 1495425"/>
                <a:gd name="connsiteY29" fmla="*/ 196929 h 200025"/>
                <a:gd name="connsiteX30" fmla="*/ 1395159 w 1495425"/>
                <a:gd name="connsiteY30" fmla="*/ 65399 h 200025"/>
                <a:gd name="connsiteX31" fmla="*/ 1406685 w 1495425"/>
                <a:gd name="connsiteY31" fmla="*/ 65399 h 200025"/>
                <a:gd name="connsiteX32" fmla="*/ 1406685 w 1495425"/>
                <a:gd name="connsiteY32" fmla="*/ 89307 h 200025"/>
                <a:gd name="connsiteX33" fmla="*/ 1407256 w 1495425"/>
                <a:gd name="connsiteY33" fmla="*/ 89307 h 200025"/>
                <a:gd name="connsiteX34" fmla="*/ 1451452 w 1495425"/>
                <a:gd name="connsiteY34" fmla="*/ 62189 h 200025"/>
                <a:gd name="connsiteX35" fmla="*/ 1336295 w 1495425"/>
                <a:gd name="connsiteY35" fmla="*/ 62189 h 200025"/>
                <a:gd name="connsiteX36" fmla="*/ 1364870 w 1495425"/>
                <a:gd name="connsiteY36" fmla="*/ 68371 h 200025"/>
                <a:gd name="connsiteX37" fmla="*/ 1364870 w 1495425"/>
                <a:gd name="connsiteY37" fmla="*/ 81697 h 200025"/>
                <a:gd name="connsiteX38" fmla="*/ 1334485 w 1495425"/>
                <a:gd name="connsiteY38" fmla="*/ 73010 h 200025"/>
                <a:gd name="connsiteX39" fmla="*/ 1297718 w 1495425"/>
                <a:gd name="connsiteY39" fmla="*/ 89660 h 200025"/>
                <a:gd name="connsiteX40" fmla="*/ 1283621 w 1495425"/>
                <a:gd name="connsiteY40" fmla="*/ 132713 h 200025"/>
                <a:gd name="connsiteX41" fmla="*/ 1296480 w 1495425"/>
                <a:gd name="connsiteY41" fmla="*/ 173799 h 200025"/>
                <a:gd name="connsiteX42" fmla="*/ 1330676 w 1495425"/>
                <a:gd name="connsiteY42" fmla="*/ 189318 h 200025"/>
                <a:gd name="connsiteX43" fmla="*/ 1364393 w 1495425"/>
                <a:gd name="connsiteY43" fmla="*/ 178853 h 200025"/>
                <a:gd name="connsiteX44" fmla="*/ 1364393 w 1495425"/>
                <a:gd name="connsiteY44" fmla="*/ 191102 h 200025"/>
                <a:gd name="connsiteX45" fmla="*/ 1330103 w 1495425"/>
                <a:gd name="connsiteY45" fmla="*/ 200140 h 200025"/>
                <a:gd name="connsiteX46" fmla="*/ 1287622 w 1495425"/>
                <a:gd name="connsiteY46" fmla="*/ 181707 h 200025"/>
                <a:gd name="connsiteX47" fmla="*/ 1271429 w 1495425"/>
                <a:gd name="connsiteY47" fmla="*/ 133427 h 200025"/>
                <a:gd name="connsiteX48" fmla="*/ 1289622 w 1495425"/>
                <a:gd name="connsiteY48" fmla="*/ 82173 h 200025"/>
                <a:gd name="connsiteX49" fmla="*/ 1336295 w 1495425"/>
                <a:gd name="connsiteY49" fmla="*/ 62189 h 200025"/>
                <a:gd name="connsiteX50" fmla="*/ 561350 w 1495425"/>
                <a:gd name="connsiteY50" fmla="*/ 62189 h 200025"/>
                <a:gd name="connsiteX51" fmla="*/ 598298 w 1495425"/>
                <a:gd name="connsiteY51" fmla="*/ 79439 h 200025"/>
                <a:gd name="connsiteX52" fmla="*/ 611204 w 1495425"/>
                <a:gd name="connsiteY52" fmla="*/ 126407 h 200025"/>
                <a:gd name="connsiteX53" fmla="*/ 611204 w 1495425"/>
                <a:gd name="connsiteY53" fmla="*/ 131646 h 200025"/>
                <a:gd name="connsiteX54" fmla="*/ 515583 w 1495425"/>
                <a:gd name="connsiteY54" fmla="*/ 131646 h 200025"/>
                <a:gd name="connsiteX55" fmla="*/ 527841 w 1495425"/>
                <a:gd name="connsiteY55" fmla="*/ 174037 h 200025"/>
                <a:gd name="connsiteX56" fmla="*/ 561579 w 1495425"/>
                <a:gd name="connsiteY56" fmla="*/ 189318 h 200025"/>
                <a:gd name="connsiteX57" fmla="*/ 603965 w 1495425"/>
                <a:gd name="connsiteY57" fmla="*/ 173026 h 200025"/>
                <a:gd name="connsiteX58" fmla="*/ 603965 w 1495425"/>
                <a:gd name="connsiteY58" fmla="*/ 185632 h 200025"/>
                <a:gd name="connsiteX59" fmla="*/ 559245 w 1495425"/>
                <a:gd name="connsiteY59" fmla="*/ 200140 h 200025"/>
                <a:gd name="connsiteX60" fmla="*/ 518849 w 1495425"/>
                <a:gd name="connsiteY60" fmla="*/ 181885 h 200025"/>
                <a:gd name="connsiteX61" fmla="*/ 503438 w 1495425"/>
                <a:gd name="connsiteY61" fmla="*/ 130455 h 200025"/>
                <a:gd name="connsiteX62" fmla="*/ 519555 w 1495425"/>
                <a:gd name="connsiteY62" fmla="*/ 81935 h 200025"/>
                <a:gd name="connsiteX63" fmla="*/ 561350 w 1495425"/>
                <a:gd name="connsiteY63" fmla="*/ 62189 h 200025"/>
                <a:gd name="connsiteX64" fmla="*/ 453880 w 1495425"/>
                <a:gd name="connsiteY64" fmla="*/ 62189 h 200025"/>
                <a:gd name="connsiteX65" fmla="*/ 482483 w 1495425"/>
                <a:gd name="connsiteY65" fmla="*/ 68371 h 200025"/>
                <a:gd name="connsiteX66" fmla="*/ 482483 w 1495425"/>
                <a:gd name="connsiteY66" fmla="*/ 81697 h 200025"/>
                <a:gd name="connsiteX67" fmla="*/ 452127 w 1495425"/>
                <a:gd name="connsiteY67" fmla="*/ 73010 h 200025"/>
                <a:gd name="connsiteX68" fmla="*/ 415351 w 1495425"/>
                <a:gd name="connsiteY68" fmla="*/ 89660 h 200025"/>
                <a:gd name="connsiteX69" fmla="*/ 401225 w 1495425"/>
                <a:gd name="connsiteY69" fmla="*/ 132713 h 200025"/>
                <a:gd name="connsiteX70" fmla="*/ 414122 w 1495425"/>
                <a:gd name="connsiteY70" fmla="*/ 173799 h 200025"/>
                <a:gd name="connsiteX71" fmla="*/ 448279 w 1495425"/>
                <a:gd name="connsiteY71" fmla="*/ 189318 h 200025"/>
                <a:gd name="connsiteX72" fmla="*/ 482017 w 1495425"/>
                <a:gd name="connsiteY72" fmla="*/ 178853 h 200025"/>
                <a:gd name="connsiteX73" fmla="*/ 482017 w 1495425"/>
                <a:gd name="connsiteY73" fmla="*/ 191102 h 200025"/>
                <a:gd name="connsiteX74" fmla="*/ 447689 w 1495425"/>
                <a:gd name="connsiteY74" fmla="*/ 200140 h 200025"/>
                <a:gd name="connsiteX75" fmla="*/ 405255 w 1495425"/>
                <a:gd name="connsiteY75" fmla="*/ 181707 h 200025"/>
                <a:gd name="connsiteX76" fmla="*/ 389081 w 1495425"/>
                <a:gd name="connsiteY76" fmla="*/ 133427 h 200025"/>
                <a:gd name="connsiteX77" fmla="*/ 407236 w 1495425"/>
                <a:gd name="connsiteY77" fmla="*/ 82173 h 200025"/>
                <a:gd name="connsiteX78" fmla="*/ 453880 w 1495425"/>
                <a:gd name="connsiteY78" fmla="*/ 62189 h 200025"/>
                <a:gd name="connsiteX79" fmla="*/ 84195 w 1495425"/>
                <a:gd name="connsiteY79" fmla="*/ 21280 h 200025"/>
                <a:gd name="connsiteX80" fmla="*/ 32294 w 1495425"/>
                <a:gd name="connsiteY80" fmla="*/ 44530 h 200025"/>
                <a:gd name="connsiteX81" fmla="*/ 11920 w 1495425"/>
                <a:gd name="connsiteY81" fmla="*/ 105357 h 200025"/>
                <a:gd name="connsiteX82" fmla="*/ 31189 w 1495425"/>
                <a:gd name="connsiteY82" fmla="*/ 165950 h 200025"/>
                <a:gd name="connsiteX83" fmla="*/ 82671 w 1495425"/>
                <a:gd name="connsiteY83" fmla="*/ 188486 h 200025"/>
                <a:gd name="connsiteX84" fmla="*/ 135735 w 1495425"/>
                <a:gd name="connsiteY84" fmla="*/ 166188 h 200025"/>
                <a:gd name="connsiteX85" fmla="*/ 155300 w 1495425"/>
                <a:gd name="connsiteY85" fmla="*/ 104052 h 200025"/>
                <a:gd name="connsiteX86" fmla="*/ 136202 w 1495425"/>
                <a:gd name="connsiteY86" fmla="*/ 43168 h 200025"/>
                <a:gd name="connsiteX87" fmla="*/ 84195 w 1495425"/>
                <a:gd name="connsiteY87" fmla="*/ 21280 h 200025"/>
                <a:gd name="connsiteX88" fmla="*/ 350857 w 1495425"/>
                <a:gd name="connsiteY88" fmla="*/ 12717 h 200025"/>
                <a:gd name="connsiteX89" fmla="*/ 357696 w 1495425"/>
                <a:gd name="connsiteY89" fmla="*/ 15279 h 200025"/>
                <a:gd name="connsiteX90" fmla="*/ 360668 w 1495425"/>
                <a:gd name="connsiteY90" fmla="*/ 22232 h 200025"/>
                <a:gd name="connsiteX91" fmla="*/ 357753 w 1495425"/>
                <a:gd name="connsiteY91" fmla="*/ 29309 h 200025"/>
                <a:gd name="connsiteX92" fmla="*/ 350857 w 1495425"/>
                <a:gd name="connsiteY92" fmla="*/ 32224 h 200025"/>
                <a:gd name="connsiteX93" fmla="*/ 344152 w 1495425"/>
                <a:gd name="connsiteY93" fmla="*/ 29433 h 200025"/>
                <a:gd name="connsiteX94" fmla="*/ 341285 w 1495425"/>
                <a:gd name="connsiteY94" fmla="*/ 22232 h 200025"/>
                <a:gd name="connsiteX95" fmla="*/ 344209 w 1495425"/>
                <a:gd name="connsiteY95" fmla="*/ 15393 h 200025"/>
                <a:gd name="connsiteX96" fmla="*/ 350857 w 1495425"/>
                <a:gd name="connsiteY96" fmla="*/ 12717 h 200025"/>
                <a:gd name="connsiteX97" fmla="*/ 86291 w 1495425"/>
                <a:gd name="connsiteY97" fmla="*/ 9630 h 200025"/>
                <a:gd name="connsiteX98" fmla="*/ 145489 w 1495425"/>
                <a:gd name="connsiteY98" fmla="*/ 35138 h 200025"/>
                <a:gd name="connsiteX99" fmla="*/ 168139 w 1495425"/>
                <a:gd name="connsiteY99" fmla="*/ 102032 h 200025"/>
                <a:gd name="connsiteX100" fmla="*/ 144965 w 1495425"/>
                <a:gd name="connsiteY100" fmla="*/ 173918 h 200025"/>
                <a:gd name="connsiteX101" fmla="*/ 82910 w 1495425"/>
                <a:gd name="connsiteY101" fmla="*/ 200140 h 200025"/>
                <a:gd name="connsiteX102" fmla="*/ 21845 w 1495425"/>
                <a:gd name="connsiteY102" fmla="*/ 174215 h 200025"/>
                <a:gd name="connsiteX103" fmla="*/ -920 w 1495425"/>
                <a:gd name="connsiteY103" fmla="*/ 106785 h 200025"/>
                <a:gd name="connsiteX104" fmla="*/ 22436 w 1495425"/>
                <a:gd name="connsiteY104" fmla="*/ 36148 h 200025"/>
                <a:gd name="connsiteX105" fmla="*/ 86291 w 1495425"/>
                <a:gd name="connsiteY105" fmla="*/ 9630 h 200025"/>
                <a:gd name="connsiteX106" fmla="*/ 316520 w 1495425"/>
                <a:gd name="connsiteY106" fmla="*/ 115 h 200025"/>
                <a:gd name="connsiteX107" fmla="*/ 330178 w 1495425"/>
                <a:gd name="connsiteY107" fmla="*/ 2611 h 200025"/>
                <a:gd name="connsiteX108" fmla="*/ 330178 w 1495425"/>
                <a:gd name="connsiteY108" fmla="*/ 14622 h 200025"/>
                <a:gd name="connsiteX109" fmla="*/ 316053 w 1495425"/>
                <a:gd name="connsiteY109" fmla="*/ 10935 h 200025"/>
                <a:gd name="connsiteX110" fmla="*/ 292231 w 1495425"/>
                <a:gd name="connsiteY110" fmla="*/ 43520 h 200025"/>
                <a:gd name="connsiteX111" fmla="*/ 292231 w 1495425"/>
                <a:gd name="connsiteY111" fmla="*/ 65399 h 200025"/>
                <a:gd name="connsiteX112" fmla="*/ 326445 w 1495425"/>
                <a:gd name="connsiteY112" fmla="*/ 65399 h 200025"/>
                <a:gd name="connsiteX113" fmla="*/ 326445 w 1495425"/>
                <a:gd name="connsiteY113" fmla="*/ 76220 h 200025"/>
                <a:gd name="connsiteX114" fmla="*/ 292231 w 1495425"/>
                <a:gd name="connsiteY114" fmla="*/ 76220 h 200025"/>
                <a:gd name="connsiteX115" fmla="*/ 292231 w 1495425"/>
                <a:gd name="connsiteY115" fmla="*/ 196929 h 200025"/>
                <a:gd name="connsiteX116" fmla="*/ 280677 w 1495425"/>
                <a:gd name="connsiteY116" fmla="*/ 196929 h 200025"/>
                <a:gd name="connsiteX117" fmla="*/ 280677 w 1495425"/>
                <a:gd name="connsiteY117" fmla="*/ 76220 h 200025"/>
                <a:gd name="connsiteX118" fmla="*/ 257436 w 1495425"/>
                <a:gd name="connsiteY118" fmla="*/ 76220 h 200025"/>
                <a:gd name="connsiteX119" fmla="*/ 257436 w 1495425"/>
                <a:gd name="connsiteY119" fmla="*/ 65399 h 200025"/>
                <a:gd name="connsiteX120" fmla="*/ 280677 w 1495425"/>
                <a:gd name="connsiteY120" fmla="*/ 65399 h 200025"/>
                <a:gd name="connsiteX121" fmla="*/ 280677 w 1495425"/>
                <a:gd name="connsiteY121" fmla="*/ 42568 h 200025"/>
                <a:gd name="connsiteX122" fmla="*/ 290945 w 1495425"/>
                <a:gd name="connsiteY122" fmla="*/ 10935 h 200025"/>
                <a:gd name="connsiteX123" fmla="*/ 316520 w 1495425"/>
                <a:gd name="connsiteY123" fmla="*/ 115 h 200025"/>
                <a:gd name="connsiteX124" fmla="*/ 245044 w 1495425"/>
                <a:gd name="connsiteY124" fmla="*/ 115 h 200025"/>
                <a:gd name="connsiteX125" fmla="*/ 258703 w 1495425"/>
                <a:gd name="connsiteY125" fmla="*/ 2611 h 200025"/>
                <a:gd name="connsiteX126" fmla="*/ 258703 w 1495425"/>
                <a:gd name="connsiteY126" fmla="*/ 14622 h 200025"/>
                <a:gd name="connsiteX127" fmla="*/ 244577 w 1495425"/>
                <a:gd name="connsiteY127" fmla="*/ 10935 h 200025"/>
                <a:gd name="connsiteX128" fmla="*/ 220755 w 1495425"/>
                <a:gd name="connsiteY128" fmla="*/ 43520 h 200025"/>
                <a:gd name="connsiteX129" fmla="*/ 220755 w 1495425"/>
                <a:gd name="connsiteY129" fmla="*/ 65399 h 200025"/>
                <a:gd name="connsiteX130" fmla="*/ 254969 w 1495425"/>
                <a:gd name="connsiteY130" fmla="*/ 65399 h 200025"/>
                <a:gd name="connsiteX131" fmla="*/ 254969 w 1495425"/>
                <a:gd name="connsiteY131" fmla="*/ 76220 h 200025"/>
                <a:gd name="connsiteX132" fmla="*/ 220755 w 1495425"/>
                <a:gd name="connsiteY132" fmla="*/ 76220 h 200025"/>
                <a:gd name="connsiteX133" fmla="*/ 220755 w 1495425"/>
                <a:gd name="connsiteY133" fmla="*/ 196929 h 200025"/>
                <a:gd name="connsiteX134" fmla="*/ 209201 w 1495425"/>
                <a:gd name="connsiteY134" fmla="*/ 196929 h 200025"/>
                <a:gd name="connsiteX135" fmla="*/ 209201 w 1495425"/>
                <a:gd name="connsiteY135" fmla="*/ 76220 h 200025"/>
                <a:gd name="connsiteX136" fmla="*/ 185970 w 1495425"/>
                <a:gd name="connsiteY136" fmla="*/ 76220 h 200025"/>
                <a:gd name="connsiteX137" fmla="*/ 185970 w 1495425"/>
                <a:gd name="connsiteY137" fmla="*/ 65399 h 200025"/>
                <a:gd name="connsiteX138" fmla="*/ 209201 w 1495425"/>
                <a:gd name="connsiteY138" fmla="*/ 65399 h 200025"/>
                <a:gd name="connsiteX139" fmla="*/ 209201 w 1495425"/>
                <a:gd name="connsiteY139" fmla="*/ 42568 h 200025"/>
                <a:gd name="connsiteX140" fmla="*/ 219469 w 1495425"/>
                <a:gd name="connsiteY140" fmla="*/ 10935 h 200025"/>
                <a:gd name="connsiteX141" fmla="*/ 245044 w 1495425"/>
                <a:gd name="connsiteY141" fmla="*/ 115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495425" h="200025">
                  <a:moveTo>
                    <a:pt x="1231520" y="178615"/>
                  </a:moveTo>
                  <a:cubicBezTo>
                    <a:pt x="1234472" y="178615"/>
                    <a:pt x="1236853" y="179567"/>
                    <a:pt x="1238950" y="181469"/>
                  </a:cubicBezTo>
                  <a:cubicBezTo>
                    <a:pt x="1240950" y="183372"/>
                    <a:pt x="1241902" y="185830"/>
                    <a:pt x="1241902" y="188842"/>
                  </a:cubicBezTo>
                  <a:cubicBezTo>
                    <a:pt x="1241902" y="191776"/>
                    <a:pt x="1240950" y="194234"/>
                    <a:pt x="1238950" y="196216"/>
                  </a:cubicBezTo>
                  <a:cubicBezTo>
                    <a:pt x="1236853" y="198198"/>
                    <a:pt x="1234472" y="199188"/>
                    <a:pt x="1231520" y="199188"/>
                  </a:cubicBezTo>
                  <a:cubicBezTo>
                    <a:pt x="1228662" y="199188"/>
                    <a:pt x="1226281" y="198198"/>
                    <a:pt x="1224376" y="196216"/>
                  </a:cubicBezTo>
                  <a:cubicBezTo>
                    <a:pt x="1222471" y="194234"/>
                    <a:pt x="1221518" y="191776"/>
                    <a:pt x="1221518" y="188842"/>
                  </a:cubicBezTo>
                  <a:cubicBezTo>
                    <a:pt x="1221518" y="185830"/>
                    <a:pt x="1222471" y="183372"/>
                    <a:pt x="1224376" y="181469"/>
                  </a:cubicBezTo>
                  <a:cubicBezTo>
                    <a:pt x="1226281" y="179567"/>
                    <a:pt x="1228662" y="178615"/>
                    <a:pt x="1231520" y="178615"/>
                  </a:cubicBezTo>
                  <a:close/>
                  <a:moveTo>
                    <a:pt x="560884" y="73010"/>
                  </a:moveTo>
                  <a:cubicBezTo>
                    <a:pt x="548739" y="73010"/>
                    <a:pt x="538700" y="77134"/>
                    <a:pt x="530756" y="85383"/>
                  </a:cubicBezTo>
                  <a:cubicBezTo>
                    <a:pt x="522822" y="93622"/>
                    <a:pt x="517916" y="105481"/>
                    <a:pt x="516050" y="120940"/>
                  </a:cubicBezTo>
                  <a:lnTo>
                    <a:pt x="599060" y="120940"/>
                  </a:lnTo>
                  <a:cubicBezTo>
                    <a:pt x="598517" y="105719"/>
                    <a:pt x="594936" y="93927"/>
                    <a:pt x="588316" y="85564"/>
                  </a:cubicBezTo>
                  <a:cubicBezTo>
                    <a:pt x="581706" y="77191"/>
                    <a:pt x="572551" y="73010"/>
                    <a:pt x="560884" y="73010"/>
                  </a:cubicBezTo>
                  <a:close/>
                  <a:moveTo>
                    <a:pt x="345142" y="65399"/>
                  </a:moveTo>
                  <a:lnTo>
                    <a:pt x="356696" y="65399"/>
                  </a:lnTo>
                  <a:lnTo>
                    <a:pt x="356696" y="196929"/>
                  </a:lnTo>
                  <a:lnTo>
                    <a:pt x="345142" y="196929"/>
                  </a:lnTo>
                  <a:close/>
                  <a:moveTo>
                    <a:pt x="1451452" y="62189"/>
                  </a:moveTo>
                  <a:cubicBezTo>
                    <a:pt x="1465358" y="62189"/>
                    <a:pt x="1476027" y="66933"/>
                    <a:pt x="1483456" y="76401"/>
                  </a:cubicBezTo>
                  <a:cubicBezTo>
                    <a:pt x="1490790" y="85878"/>
                    <a:pt x="1494505" y="99375"/>
                    <a:pt x="1494505" y="116892"/>
                  </a:cubicBezTo>
                  <a:lnTo>
                    <a:pt x="1494505" y="196929"/>
                  </a:lnTo>
                  <a:lnTo>
                    <a:pt x="1482980" y="196929"/>
                  </a:lnTo>
                  <a:lnTo>
                    <a:pt x="1482980" y="120340"/>
                  </a:lnTo>
                  <a:cubicBezTo>
                    <a:pt x="1482980" y="88793"/>
                    <a:pt x="1471740" y="73010"/>
                    <a:pt x="1449452" y="73010"/>
                  </a:cubicBezTo>
                  <a:cubicBezTo>
                    <a:pt x="1436974" y="73010"/>
                    <a:pt x="1426782" y="77648"/>
                    <a:pt x="1418686" y="86926"/>
                  </a:cubicBezTo>
                  <a:cubicBezTo>
                    <a:pt x="1410685" y="96203"/>
                    <a:pt x="1406685" y="107700"/>
                    <a:pt x="1406685" y="121416"/>
                  </a:cubicBezTo>
                  <a:lnTo>
                    <a:pt x="1406685" y="196929"/>
                  </a:lnTo>
                  <a:lnTo>
                    <a:pt x="1395159" y="196929"/>
                  </a:lnTo>
                  <a:lnTo>
                    <a:pt x="1395159" y="65399"/>
                  </a:lnTo>
                  <a:lnTo>
                    <a:pt x="1406685" y="65399"/>
                  </a:lnTo>
                  <a:lnTo>
                    <a:pt x="1406685" y="89307"/>
                  </a:lnTo>
                  <a:lnTo>
                    <a:pt x="1407256" y="89307"/>
                  </a:lnTo>
                  <a:cubicBezTo>
                    <a:pt x="1416685" y="71229"/>
                    <a:pt x="1431450" y="62189"/>
                    <a:pt x="1451452" y="62189"/>
                  </a:cubicBezTo>
                  <a:close/>
                  <a:moveTo>
                    <a:pt x="1336295" y="62189"/>
                  </a:moveTo>
                  <a:cubicBezTo>
                    <a:pt x="1346106" y="62189"/>
                    <a:pt x="1355631" y="64256"/>
                    <a:pt x="1364870" y="68371"/>
                  </a:cubicBezTo>
                  <a:lnTo>
                    <a:pt x="1364870" y="81697"/>
                  </a:lnTo>
                  <a:cubicBezTo>
                    <a:pt x="1355631" y="75905"/>
                    <a:pt x="1345534" y="73010"/>
                    <a:pt x="1334485" y="73010"/>
                  </a:cubicBezTo>
                  <a:cubicBezTo>
                    <a:pt x="1319436" y="73010"/>
                    <a:pt x="1307148" y="78563"/>
                    <a:pt x="1297718" y="89660"/>
                  </a:cubicBezTo>
                  <a:cubicBezTo>
                    <a:pt x="1288289" y="100766"/>
                    <a:pt x="1283621" y="115110"/>
                    <a:pt x="1283621" y="132713"/>
                  </a:cubicBezTo>
                  <a:cubicBezTo>
                    <a:pt x="1283621" y="149757"/>
                    <a:pt x="1287908" y="163453"/>
                    <a:pt x="1296480" y="173799"/>
                  </a:cubicBezTo>
                  <a:cubicBezTo>
                    <a:pt x="1305053" y="184146"/>
                    <a:pt x="1316483" y="189318"/>
                    <a:pt x="1330676" y="189318"/>
                  </a:cubicBezTo>
                  <a:cubicBezTo>
                    <a:pt x="1343534" y="189318"/>
                    <a:pt x="1354773" y="185830"/>
                    <a:pt x="1364393" y="178853"/>
                  </a:cubicBezTo>
                  <a:lnTo>
                    <a:pt x="1364393" y="191102"/>
                  </a:lnTo>
                  <a:cubicBezTo>
                    <a:pt x="1354773" y="197127"/>
                    <a:pt x="1343343" y="200140"/>
                    <a:pt x="1330103" y="200140"/>
                  </a:cubicBezTo>
                  <a:cubicBezTo>
                    <a:pt x="1312578" y="200140"/>
                    <a:pt x="1298386" y="193995"/>
                    <a:pt x="1287622" y="181707"/>
                  </a:cubicBezTo>
                  <a:cubicBezTo>
                    <a:pt x="1276859" y="169419"/>
                    <a:pt x="1271429" y="153325"/>
                    <a:pt x="1271429" y="133427"/>
                  </a:cubicBezTo>
                  <a:cubicBezTo>
                    <a:pt x="1271429" y="112577"/>
                    <a:pt x="1277525" y="95489"/>
                    <a:pt x="1289622" y="82173"/>
                  </a:cubicBezTo>
                  <a:cubicBezTo>
                    <a:pt x="1301719" y="68847"/>
                    <a:pt x="1317245" y="62189"/>
                    <a:pt x="1336295" y="62189"/>
                  </a:cubicBezTo>
                  <a:close/>
                  <a:moveTo>
                    <a:pt x="561350" y="62189"/>
                  </a:moveTo>
                  <a:cubicBezTo>
                    <a:pt x="577381" y="62189"/>
                    <a:pt x="589697" y="67943"/>
                    <a:pt x="598298" y="79439"/>
                  </a:cubicBezTo>
                  <a:cubicBezTo>
                    <a:pt x="606899" y="90926"/>
                    <a:pt x="611204" y="106585"/>
                    <a:pt x="611204" y="126407"/>
                  </a:cubicBezTo>
                  <a:lnTo>
                    <a:pt x="611204" y="131646"/>
                  </a:lnTo>
                  <a:lnTo>
                    <a:pt x="515583" y="131646"/>
                  </a:lnTo>
                  <a:cubicBezTo>
                    <a:pt x="515583" y="149718"/>
                    <a:pt x="519669" y="163849"/>
                    <a:pt x="527841" y="174037"/>
                  </a:cubicBezTo>
                  <a:cubicBezTo>
                    <a:pt x="536014" y="184225"/>
                    <a:pt x="547263" y="189318"/>
                    <a:pt x="561579" y="189318"/>
                  </a:cubicBezTo>
                  <a:cubicBezTo>
                    <a:pt x="576057" y="189318"/>
                    <a:pt x="590182" y="183888"/>
                    <a:pt x="603965" y="173026"/>
                  </a:cubicBezTo>
                  <a:lnTo>
                    <a:pt x="603965" y="185632"/>
                  </a:lnTo>
                  <a:cubicBezTo>
                    <a:pt x="590573" y="195304"/>
                    <a:pt x="575666" y="200140"/>
                    <a:pt x="559245" y="200140"/>
                  </a:cubicBezTo>
                  <a:cubicBezTo>
                    <a:pt x="542586" y="200140"/>
                    <a:pt x="529127" y="194055"/>
                    <a:pt x="518849" y="181885"/>
                  </a:cubicBezTo>
                  <a:cubicBezTo>
                    <a:pt x="508572" y="169716"/>
                    <a:pt x="503438" y="152571"/>
                    <a:pt x="503438" y="130455"/>
                  </a:cubicBezTo>
                  <a:cubicBezTo>
                    <a:pt x="503438" y="111262"/>
                    <a:pt x="508811" y="95089"/>
                    <a:pt x="519555" y="81935"/>
                  </a:cubicBezTo>
                  <a:cubicBezTo>
                    <a:pt x="530289" y="68771"/>
                    <a:pt x="544224" y="62189"/>
                    <a:pt x="561350" y="62189"/>
                  </a:cubicBezTo>
                  <a:close/>
                  <a:moveTo>
                    <a:pt x="453880" y="62189"/>
                  </a:moveTo>
                  <a:cubicBezTo>
                    <a:pt x="463767" y="62189"/>
                    <a:pt x="473301" y="64256"/>
                    <a:pt x="482483" y="68371"/>
                  </a:cubicBezTo>
                  <a:lnTo>
                    <a:pt x="482483" y="81697"/>
                  </a:lnTo>
                  <a:cubicBezTo>
                    <a:pt x="473301" y="75905"/>
                    <a:pt x="463176" y="73010"/>
                    <a:pt x="452127" y="73010"/>
                  </a:cubicBezTo>
                  <a:cubicBezTo>
                    <a:pt x="437030" y="73010"/>
                    <a:pt x="424771" y="78563"/>
                    <a:pt x="415351" y="89660"/>
                  </a:cubicBezTo>
                  <a:cubicBezTo>
                    <a:pt x="405931" y="100766"/>
                    <a:pt x="401225" y="115110"/>
                    <a:pt x="401225" y="132713"/>
                  </a:cubicBezTo>
                  <a:cubicBezTo>
                    <a:pt x="401225" y="149757"/>
                    <a:pt x="405521" y="163453"/>
                    <a:pt x="414122" y="173799"/>
                  </a:cubicBezTo>
                  <a:cubicBezTo>
                    <a:pt x="422723" y="184146"/>
                    <a:pt x="434106" y="189318"/>
                    <a:pt x="448279" y="189318"/>
                  </a:cubicBezTo>
                  <a:cubicBezTo>
                    <a:pt x="461195" y="189318"/>
                    <a:pt x="472444" y="185830"/>
                    <a:pt x="482017" y="178853"/>
                  </a:cubicBezTo>
                  <a:lnTo>
                    <a:pt x="482017" y="191102"/>
                  </a:lnTo>
                  <a:cubicBezTo>
                    <a:pt x="472444" y="197127"/>
                    <a:pt x="461004" y="200140"/>
                    <a:pt x="447689" y="200140"/>
                  </a:cubicBezTo>
                  <a:cubicBezTo>
                    <a:pt x="430182" y="200140"/>
                    <a:pt x="416027" y="193995"/>
                    <a:pt x="405255" y="181707"/>
                  </a:cubicBezTo>
                  <a:cubicBezTo>
                    <a:pt x="394472" y="169419"/>
                    <a:pt x="389081" y="153325"/>
                    <a:pt x="389081" y="133427"/>
                  </a:cubicBezTo>
                  <a:cubicBezTo>
                    <a:pt x="389081" y="112577"/>
                    <a:pt x="395130" y="95489"/>
                    <a:pt x="407236" y="82173"/>
                  </a:cubicBezTo>
                  <a:cubicBezTo>
                    <a:pt x="419342" y="68847"/>
                    <a:pt x="434887" y="62189"/>
                    <a:pt x="453880" y="62189"/>
                  </a:cubicBezTo>
                  <a:close/>
                  <a:moveTo>
                    <a:pt x="84195" y="21280"/>
                  </a:moveTo>
                  <a:cubicBezTo>
                    <a:pt x="63174" y="21280"/>
                    <a:pt x="45877" y="29033"/>
                    <a:pt x="32294" y="44530"/>
                  </a:cubicBezTo>
                  <a:cubicBezTo>
                    <a:pt x="18711" y="60027"/>
                    <a:pt x="11920" y="80306"/>
                    <a:pt x="11920" y="105357"/>
                  </a:cubicBezTo>
                  <a:cubicBezTo>
                    <a:pt x="11920" y="130731"/>
                    <a:pt x="18349" y="150926"/>
                    <a:pt x="31189" y="165950"/>
                  </a:cubicBezTo>
                  <a:cubicBezTo>
                    <a:pt x="44028" y="180974"/>
                    <a:pt x="61192" y="188486"/>
                    <a:pt x="82671" y="188486"/>
                  </a:cubicBezTo>
                  <a:cubicBezTo>
                    <a:pt x="105017" y="188486"/>
                    <a:pt x="122705" y="181053"/>
                    <a:pt x="135735" y="166188"/>
                  </a:cubicBezTo>
                  <a:cubicBezTo>
                    <a:pt x="148775" y="151322"/>
                    <a:pt x="155300" y="130607"/>
                    <a:pt x="155300" y="104052"/>
                  </a:cubicBezTo>
                  <a:cubicBezTo>
                    <a:pt x="155300" y="78049"/>
                    <a:pt x="148937" y="57751"/>
                    <a:pt x="136202" y="43168"/>
                  </a:cubicBezTo>
                  <a:cubicBezTo>
                    <a:pt x="123476" y="28576"/>
                    <a:pt x="106141" y="21280"/>
                    <a:pt x="84195" y="21280"/>
                  </a:cubicBezTo>
                  <a:close/>
                  <a:moveTo>
                    <a:pt x="350857" y="12717"/>
                  </a:moveTo>
                  <a:cubicBezTo>
                    <a:pt x="353429" y="12717"/>
                    <a:pt x="355705" y="13574"/>
                    <a:pt x="357696" y="15279"/>
                  </a:cubicBezTo>
                  <a:cubicBezTo>
                    <a:pt x="359677" y="16984"/>
                    <a:pt x="360668" y="19298"/>
                    <a:pt x="360668" y="22232"/>
                  </a:cubicBezTo>
                  <a:cubicBezTo>
                    <a:pt x="360668" y="25013"/>
                    <a:pt x="359696" y="27366"/>
                    <a:pt x="357753" y="29309"/>
                  </a:cubicBezTo>
                  <a:cubicBezTo>
                    <a:pt x="355801" y="31252"/>
                    <a:pt x="353505" y="32224"/>
                    <a:pt x="350857" y="32224"/>
                  </a:cubicBezTo>
                  <a:cubicBezTo>
                    <a:pt x="348295" y="32224"/>
                    <a:pt x="346057" y="31290"/>
                    <a:pt x="344152" y="29433"/>
                  </a:cubicBezTo>
                  <a:cubicBezTo>
                    <a:pt x="342247" y="27566"/>
                    <a:pt x="341285" y="25166"/>
                    <a:pt x="341285" y="22232"/>
                  </a:cubicBezTo>
                  <a:cubicBezTo>
                    <a:pt x="341285" y="19460"/>
                    <a:pt x="342266" y="17184"/>
                    <a:pt x="344209" y="15393"/>
                  </a:cubicBezTo>
                  <a:cubicBezTo>
                    <a:pt x="346152" y="13612"/>
                    <a:pt x="348371" y="12717"/>
                    <a:pt x="350857" y="12717"/>
                  </a:cubicBezTo>
                  <a:close/>
                  <a:moveTo>
                    <a:pt x="86291" y="9630"/>
                  </a:moveTo>
                  <a:cubicBezTo>
                    <a:pt x="110656" y="9630"/>
                    <a:pt x="130392" y="18127"/>
                    <a:pt x="145489" y="35138"/>
                  </a:cubicBezTo>
                  <a:cubicBezTo>
                    <a:pt x="160586" y="52141"/>
                    <a:pt x="168139" y="74439"/>
                    <a:pt x="168139" y="102032"/>
                  </a:cubicBezTo>
                  <a:cubicBezTo>
                    <a:pt x="168139" y="132474"/>
                    <a:pt x="160414" y="156436"/>
                    <a:pt x="144965" y="173918"/>
                  </a:cubicBezTo>
                  <a:cubicBezTo>
                    <a:pt x="129515" y="191399"/>
                    <a:pt x="108827" y="200140"/>
                    <a:pt x="82910" y="200140"/>
                  </a:cubicBezTo>
                  <a:cubicBezTo>
                    <a:pt x="57382" y="200140"/>
                    <a:pt x="37028" y="191498"/>
                    <a:pt x="21845" y="174215"/>
                  </a:cubicBezTo>
                  <a:cubicBezTo>
                    <a:pt x="6671" y="156932"/>
                    <a:pt x="-920" y="134456"/>
                    <a:pt x="-920" y="106785"/>
                  </a:cubicBezTo>
                  <a:cubicBezTo>
                    <a:pt x="-920" y="77372"/>
                    <a:pt x="6862" y="53826"/>
                    <a:pt x="22436" y="36148"/>
                  </a:cubicBezTo>
                  <a:cubicBezTo>
                    <a:pt x="37999" y="18470"/>
                    <a:pt x="59287" y="9630"/>
                    <a:pt x="86291" y="9630"/>
                  </a:cubicBezTo>
                  <a:close/>
                  <a:moveTo>
                    <a:pt x="316520" y="115"/>
                  </a:moveTo>
                  <a:cubicBezTo>
                    <a:pt x="322044" y="115"/>
                    <a:pt x="326597" y="944"/>
                    <a:pt x="330178" y="2611"/>
                  </a:cubicBezTo>
                  <a:lnTo>
                    <a:pt x="330178" y="14622"/>
                  </a:lnTo>
                  <a:cubicBezTo>
                    <a:pt x="327064" y="12164"/>
                    <a:pt x="322359" y="10935"/>
                    <a:pt x="316053" y="10935"/>
                  </a:cubicBezTo>
                  <a:cubicBezTo>
                    <a:pt x="300175" y="10935"/>
                    <a:pt x="292231" y="21794"/>
                    <a:pt x="292231" y="43520"/>
                  </a:cubicBezTo>
                  <a:lnTo>
                    <a:pt x="292231" y="65399"/>
                  </a:lnTo>
                  <a:lnTo>
                    <a:pt x="326445" y="65399"/>
                  </a:lnTo>
                  <a:lnTo>
                    <a:pt x="326445" y="76220"/>
                  </a:lnTo>
                  <a:lnTo>
                    <a:pt x="292231" y="76220"/>
                  </a:lnTo>
                  <a:lnTo>
                    <a:pt x="292231" y="196929"/>
                  </a:lnTo>
                  <a:lnTo>
                    <a:pt x="280677" y="196929"/>
                  </a:lnTo>
                  <a:lnTo>
                    <a:pt x="280677" y="76220"/>
                  </a:lnTo>
                  <a:lnTo>
                    <a:pt x="257436" y="76220"/>
                  </a:lnTo>
                  <a:lnTo>
                    <a:pt x="257436" y="65399"/>
                  </a:lnTo>
                  <a:lnTo>
                    <a:pt x="280677" y="65399"/>
                  </a:lnTo>
                  <a:lnTo>
                    <a:pt x="280677" y="42568"/>
                  </a:lnTo>
                  <a:cubicBezTo>
                    <a:pt x="280677" y="28700"/>
                    <a:pt x="284096" y="18155"/>
                    <a:pt x="290945" y="10935"/>
                  </a:cubicBezTo>
                  <a:cubicBezTo>
                    <a:pt x="297794" y="3725"/>
                    <a:pt x="306318" y="115"/>
                    <a:pt x="316520" y="115"/>
                  </a:cubicBezTo>
                  <a:close/>
                  <a:moveTo>
                    <a:pt x="245044" y="115"/>
                  </a:moveTo>
                  <a:cubicBezTo>
                    <a:pt x="250569" y="115"/>
                    <a:pt x="255121" y="944"/>
                    <a:pt x="258703" y="2611"/>
                  </a:cubicBezTo>
                  <a:lnTo>
                    <a:pt x="258703" y="14622"/>
                  </a:lnTo>
                  <a:cubicBezTo>
                    <a:pt x="255588" y="12164"/>
                    <a:pt x="250883" y="10935"/>
                    <a:pt x="244577" y="10935"/>
                  </a:cubicBezTo>
                  <a:cubicBezTo>
                    <a:pt x="228699" y="10935"/>
                    <a:pt x="220755" y="21794"/>
                    <a:pt x="220755" y="43520"/>
                  </a:cubicBezTo>
                  <a:lnTo>
                    <a:pt x="220755" y="65399"/>
                  </a:lnTo>
                  <a:lnTo>
                    <a:pt x="254969" y="65399"/>
                  </a:lnTo>
                  <a:lnTo>
                    <a:pt x="254969" y="76220"/>
                  </a:lnTo>
                  <a:lnTo>
                    <a:pt x="220755" y="76220"/>
                  </a:lnTo>
                  <a:lnTo>
                    <a:pt x="220755" y="196929"/>
                  </a:lnTo>
                  <a:lnTo>
                    <a:pt x="209201" y="196929"/>
                  </a:lnTo>
                  <a:lnTo>
                    <a:pt x="209201" y="76220"/>
                  </a:lnTo>
                  <a:lnTo>
                    <a:pt x="185970" y="76220"/>
                  </a:lnTo>
                  <a:lnTo>
                    <a:pt x="185970" y="65399"/>
                  </a:lnTo>
                  <a:lnTo>
                    <a:pt x="209201" y="65399"/>
                  </a:lnTo>
                  <a:lnTo>
                    <a:pt x="209201" y="42568"/>
                  </a:lnTo>
                  <a:cubicBezTo>
                    <a:pt x="209201" y="28700"/>
                    <a:pt x="212621" y="18155"/>
                    <a:pt x="219469" y="10935"/>
                  </a:cubicBezTo>
                  <a:cubicBezTo>
                    <a:pt x="226327" y="3725"/>
                    <a:pt x="234843" y="115"/>
                    <a:pt x="245044" y="115"/>
                  </a:cubicBezTo>
                  <a:close/>
                </a:path>
              </a:pathLst>
            </a:custGeom>
            <a:grpFill/>
            <a:ln w="9525" cap="flat">
              <a:noFill/>
              <a:prstDash val="solid"/>
              <a:miter/>
            </a:ln>
          </p:spPr>
          <p:txBody>
            <a:bodyPr rtlCol="0" anchor="ctr">
              <a:noAutofit/>
            </a:bodyPr>
            <a:lstStyle/>
            <a:p>
              <a:endParaRPr lang="zh-CN" altLang="en-US"/>
            </a:p>
          </p:txBody>
        </p:sp>
      </p:grpSp>
      <p:sp>
        <p:nvSpPr>
          <p:cNvPr id="16" name="文本框 15"/>
          <p:cNvSpPr txBox="1"/>
          <p:nvPr userDrawn="1"/>
        </p:nvSpPr>
        <p:spPr>
          <a:xfrm>
            <a:off x="10209866" y="244475"/>
            <a:ext cx="1245534" cy="307777"/>
          </a:xfrm>
          <a:prstGeom prst="rect">
            <a:avLst/>
          </a:prstGeom>
          <a:noFill/>
        </p:spPr>
        <p:txBody>
          <a:bodyPr wrap="none" lIns="0" tIns="0" rIns="0" bIns="0" rtlCol="0">
            <a:noAutofit/>
          </a:bodyPr>
          <a:lstStyle/>
          <a:p>
            <a:r>
              <a:rPr lang="en-US" altLang="zh-CN" sz="1000" cap="all" dirty="0">
                <a:solidFill>
                  <a:schemeClr val="bg1"/>
                </a:solidFill>
              </a:rPr>
              <a:t>Academic report</a:t>
            </a:r>
            <a:endParaRPr lang="en-US" altLang="zh-CN" sz="1000" cap="all" dirty="0">
              <a:solidFill>
                <a:schemeClr val="bg1"/>
              </a:solidFill>
            </a:endParaRPr>
          </a:p>
          <a:p>
            <a:r>
              <a:rPr lang="en-US" altLang="zh-CN" sz="1000" cap="all" dirty="0">
                <a:solidFill>
                  <a:schemeClr val="bg1"/>
                </a:solidFill>
              </a:rPr>
              <a:t>presentation</a:t>
            </a:r>
            <a:endParaRPr lang="zh-CN" altLang="en-US" sz="1000" cap="all" dirty="0">
              <a:solidFill>
                <a:schemeClr val="bg1"/>
              </a:solidFill>
            </a:endParaRPr>
          </a:p>
        </p:txBody>
      </p:sp>
      <p:sp>
        <p:nvSpPr>
          <p:cNvPr id="17" name="文本占位符 16"/>
          <p:cNvSpPr>
            <a:spLocks noGrp="1"/>
          </p:cNvSpPr>
          <p:nvPr>
            <p:ph type="body" sz="quarter" idx="10" hasCustomPrompt="1"/>
          </p:nvPr>
        </p:nvSpPr>
        <p:spPr>
          <a:xfrm>
            <a:off x="736600" y="6239103"/>
            <a:ext cx="471283" cy="230832"/>
          </a:xfrm>
          <a:prstGeom prst="rect">
            <a:avLst/>
          </a:prstGeom>
        </p:spPr>
        <p:txBody>
          <a:bodyPr wrap="none" lIns="0" tIns="0" rIns="0" bIns="0">
            <a:noAutofit/>
          </a:bodyPr>
          <a:lstStyle>
            <a:lvl1pPr marL="0" indent="0" algn="l" defTabSz="914400" rtl="0" eaLnBrk="1" latinLnBrk="0" hangingPunct="1">
              <a:lnSpc>
                <a:spcPct val="100000"/>
              </a:lnSpc>
              <a:spcBef>
                <a:spcPts val="0"/>
              </a:spcBef>
              <a:buNone/>
              <a:defRPr lang="zh-CN" altLang="en-US" sz="1500" kern="1200" dirty="0">
                <a:solidFill>
                  <a:schemeClr val="accent1"/>
                </a:solidFill>
                <a:latin typeface="+mn-lt"/>
                <a:ea typeface="+mn-ea"/>
                <a:cs typeface="+mn-cs"/>
              </a:defRPr>
            </a:lvl1pPr>
          </a:lstStyle>
          <a:p>
            <a:pPr lvl="0"/>
            <a:r>
              <a:rPr lang="en-US" altLang="zh-CN" dirty="0"/>
              <a:t>20XX</a:t>
            </a:r>
            <a:endParaRPr lang="zh-CN" altLang="en-US" dirty="0"/>
          </a:p>
        </p:txBody>
      </p:sp>
      <p:sp>
        <p:nvSpPr>
          <p:cNvPr id="19" name="文本占位符 18"/>
          <p:cNvSpPr>
            <a:spLocks noGrp="1"/>
          </p:cNvSpPr>
          <p:nvPr>
            <p:ph type="body" sz="quarter" idx="11" hasCustomPrompt="1"/>
          </p:nvPr>
        </p:nvSpPr>
        <p:spPr>
          <a:xfrm>
            <a:off x="10480774" y="6239103"/>
            <a:ext cx="974626" cy="230832"/>
          </a:xfrm>
          <a:prstGeom prst="rect">
            <a:avLst/>
          </a:prstGeom>
        </p:spPr>
        <p:txBody>
          <a:bodyPr wrap="none" lIns="0" tIns="0" rIns="0" bIns="0">
            <a:noAutofit/>
          </a:bodyPr>
          <a:lstStyle>
            <a:lvl1pPr marL="0" indent="0" algn="r" defTabSz="914400" rtl="0" eaLnBrk="1" latinLnBrk="0" hangingPunct="1">
              <a:lnSpc>
                <a:spcPct val="100000"/>
              </a:lnSpc>
              <a:spcBef>
                <a:spcPts val="0"/>
              </a:spcBef>
              <a:buNone/>
              <a:defRPr lang="zh-CN" altLang="en-US" sz="1500" kern="1200" dirty="0">
                <a:solidFill>
                  <a:schemeClr val="accent1"/>
                </a:solidFill>
                <a:latin typeface="+mn-lt"/>
                <a:ea typeface="+mn-ea"/>
                <a:cs typeface="+mn-cs"/>
              </a:defRPr>
            </a:lvl1pPr>
          </a:lstStyle>
          <a:p>
            <a:pPr lvl="0"/>
            <a:r>
              <a:rPr lang="en-US" altLang="zh-CN" dirty="0"/>
              <a:t>March·27th</a:t>
            </a:r>
            <a:endParaRPr lang="en-US" altLang="zh-CN" dirty="0"/>
          </a:p>
        </p:txBody>
      </p:sp>
      <p:cxnSp>
        <p:nvCxnSpPr>
          <p:cNvPr id="20" name="直接连接符 19"/>
          <p:cNvCxnSpPr/>
          <p:nvPr userDrawn="1"/>
        </p:nvCxnSpPr>
        <p:spPr>
          <a:xfrm>
            <a:off x="731838" y="6162908"/>
            <a:ext cx="107283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C5610D-D3BB-48E8-B638-5938ABB9CFD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F05AE2-E521-4071-B027-062C254CFD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3.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7.xml"/><Relationship Id="rId4" Type="http://schemas.openxmlformats.org/officeDocument/2006/relationships/image" Target="../media/image1.png"/><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6.xml"/><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7.xml"/><Relationship Id="rId2" Type="http://schemas.openxmlformats.org/officeDocument/2006/relationships/image" Target="../media/image1.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7.xml"/><Relationship Id="rId2" Type="http://schemas.openxmlformats.org/officeDocument/2006/relationships/image" Target="../media/image1.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7.xml"/><Relationship Id="rId2" Type="http://schemas.openxmlformats.org/officeDocument/2006/relationships/image" Target="../media/image1.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8.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8.xml"/><Relationship Id="rId4" Type="http://schemas.openxmlformats.org/officeDocument/2006/relationships/image" Target="../media/image1.png"/><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4.xml"/><Relationship Id="rId2" Type="http://schemas.openxmlformats.org/officeDocument/2006/relationships/image" Target="../media/image1.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577610" y="2495329"/>
            <a:ext cx="4426313" cy="4435894"/>
          </a:xfrm>
          <a:prstGeom prst="rect">
            <a:avLst/>
          </a:prstGeom>
        </p:spPr>
      </p:pic>
      <p:sp>
        <p:nvSpPr>
          <p:cNvPr id="24" name="文本框 23"/>
          <p:cNvSpPr txBox="1"/>
          <p:nvPr/>
        </p:nvSpPr>
        <p:spPr>
          <a:xfrm>
            <a:off x="1114241" y="1448889"/>
            <a:ext cx="9963517" cy="1354217"/>
          </a:xfrm>
          <a:prstGeom prst="rect">
            <a:avLst/>
          </a:prstGeom>
          <a:noFill/>
        </p:spPr>
        <p:txBody>
          <a:bodyPr wrap="square" lIns="0" tIns="0" rIns="0" bIns="0" rtlCol="0">
            <a:spAutoFit/>
          </a:bodyPr>
          <a:lstStyle/>
          <a:p>
            <a:pPr algn="ctr"/>
            <a:r>
              <a:rPr lang="zh-CN" altLang="en-US" sz="4800" b="1" dirty="0">
                <a:solidFill>
                  <a:schemeClr val="accent1"/>
                </a:solidFill>
                <a:latin typeface="+mj-ea"/>
                <a:ea typeface="+mj-ea"/>
              </a:rPr>
              <a:t>基于变构调控的条件性</a:t>
            </a:r>
            <a:r>
              <a:rPr lang="en-US" altLang="zh-CN" sz="4800" b="1" dirty="0">
                <a:solidFill>
                  <a:schemeClr val="accent1"/>
                </a:solidFill>
                <a:latin typeface="+mj-ea"/>
                <a:ea typeface="+mj-ea"/>
              </a:rPr>
              <a:t>RNA</a:t>
            </a:r>
            <a:r>
              <a:rPr lang="zh-CN" altLang="en-US" sz="4800" b="1" dirty="0">
                <a:solidFill>
                  <a:schemeClr val="accent1"/>
                </a:solidFill>
                <a:latin typeface="+mj-ea"/>
                <a:ea typeface="+mj-ea"/>
              </a:rPr>
              <a:t>切割系统</a:t>
            </a:r>
            <a:endParaRPr lang="en-US" altLang="zh-CN" sz="4800" b="1" dirty="0">
              <a:solidFill>
                <a:schemeClr val="accent1"/>
              </a:solidFill>
              <a:latin typeface="+mj-ea"/>
              <a:ea typeface="+mj-ea"/>
            </a:endParaRPr>
          </a:p>
          <a:p>
            <a:pPr algn="ctr"/>
            <a:r>
              <a:rPr lang="zh-CN" altLang="en-US" sz="4000" b="1" dirty="0">
                <a:solidFill>
                  <a:schemeClr val="accent1"/>
                </a:solidFill>
                <a:latin typeface="+mj-ea"/>
                <a:ea typeface="+mj-ea"/>
              </a:rPr>
              <a:t>用于亨廷顿病异常</a:t>
            </a:r>
            <a:r>
              <a:rPr lang="en-US" altLang="zh-CN" sz="4000" b="1" dirty="0">
                <a:solidFill>
                  <a:schemeClr val="accent1"/>
                </a:solidFill>
                <a:latin typeface="+mj-ea"/>
                <a:ea typeface="+mj-ea"/>
              </a:rPr>
              <a:t>mRNA</a:t>
            </a:r>
            <a:r>
              <a:rPr lang="zh-CN" altLang="en-US" sz="4000" b="1" dirty="0">
                <a:solidFill>
                  <a:schemeClr val="accent1"/>
                </a:solidFill>
                <a:latin typeface="+mj-ea"/>
                <a:ea typeface="+mj-ea"/>
              </a:rPr>
              <a:t>的选择性精准治疗</a:t>
            </a:r>
            <a:endParaRPr lang="zh-CN" altLang="en-US" sz="4000" b="1" dirty="0">
              <a:solidFill>
                <a:schemeClr val="accent1"/>
              </a:solidFill>
              <a:latin typeface="+mj-ea"/>
              <a:ea typeface="+mj-ea"/>
            </a:endParaRPr>
          </a:p>
        </p:txBody>
      </p:sp>
      <p:sp>
        <p:nvSpPr>
          <p:cNvPr id="25" name="文本框 24"/>
          <p:cNvSpPr txBox="1"/>
          <p:nvPr/>
        </p:nvSpPr>
        <p:spPr>
          <a:xfrm>
            <a:off x="1341120" y="3081417"/>
            <a:ext cx="8010654" cy="1107996"/>
          </a:xfrm>
          <a:prstGeom prst="rect">
            <a:avLst/>
          </a:prstGeom>
          <a:noFill/>
        </p:spPr>
        <p:txBody>
          <a:bodyPr wrap="none" lIns="0" tIns="0" rIns="0" bIns="0" rtlCol="0">
            <a:spAutoFit/>
          </a:bodyPr>
          <a:lstStyle/>
          <a:p>
            <a:r>
              <a:rPr lang="en-US" altLang="zh-CN" sz="2400" dirty="0">
                <a:solidFill>
                  <a:schemeClr val="accent1"/>
                </a:solidFill>
                <a:latin typeface="+mj-lt"/>
                <a:ea typeface="+mj-ea"/>
              </a:rPr>
              <a:t>An Allosterically Regulated Conditional RNA Cleavage System</a:t>
            </a:r>
            <a:endParaRPr lang="en-US" altLang="zh-CN" sz="2400" dirty="0">
              <a:solidFill>
                <a:schemeClr val="accent1"/>
              </a:solidFill>
              <a:latin typeface="+mj-lt"/>
              <a:ea typeface="+mj-ea"/>
            </a:endParaRPr>
          </a:p>
          <a:p>
            <a:r>
              <a:rPr lang="en-US" altLang="zh-CN" sz="2400" dirty="0">
                <a:solidFill>
                  <a:schemeClr val="accent1"/>
                </a:solidFill>
                <a:latin typeface="+mj-lt"/>
                <a:ea typeface="+mj-ea"/>
              </a:rPr>
              <a:t>for Selective Treatment of Pathogenic mRNA</a:t>
            </a:r>
            <a:endParaRPr lang="en-US" altLang="zh-CN" sz="2400" dirty="0">
              <a:solidFill>
                <a:schemeClr val="accent1"/>
              </a:solidFill>
              <a:latin typeface="+mj-lt"/>
              <a:ea typeface="+mj-ea"/>
            </a:endParaRPr>
          </a:p>
          <a:p>
            <a:r>
              <a:rPr lang="en-US" altLang="zh-CN" sz="2400" dirty="0">
                <a:solidFill>
                  <a:schemeClr val="accent1"/>
                </a:solidFill>
                <a:latin typeface="+mj-lt"/>
                <a:ea typeface="+mj-ea"/>
              </a:rPr>
              <a:t>in Huntington’s Disease</a:t>
            </a:r>
            <a:endParaRPr lang="zh-CN" altLang="en-US" sz="2400" dirty="0">
              <a:solidFill>
                <a:schemeClr val="accent1"/>
              </a:solidFill>
              <a:latin typeface="+mj-lt"/>
              <a:ea typeface="+mj-ea"/>
            </a:endParaRPr>
          </a:p>
        </p:txBody>
      </p:sp>
      <p:sp>
        <p:nvSpPr>
          <p:cNvPr id="8" name="文本框 7"/>
          <p:cNvSpPr txBox="1"/>
          <p:nvPr/>
        </p:nvSpPr>
        <p:spPr>
          <a:xfrm>
            <a:off x="1341120" y="4796862"/>
            <a:ext cx="554639" cy="153888"/>
          </a:xfrm>
          <a:prstGeom prst="rect">
            <a:avLst/>
          </a:prstGeom>
          <a:noFill/>
        </p:spPr>
        <p:txBody>
          <a:bodyPr wrap="none" lIns="0" tIns="0" rIns="0" bIns="0" rtlCol="0">
            <a:spAutoFit/>
          </a:bodyPr>
          <a:lstStyle/>
          <a:p>
            <a:r>
              <a:rPr lang="zh-CN" altLang="en-US" sz="1000" b="1" dirty="0">
                <a:solidFill>
                  <a:schemeClr val="accent1"/>
                </a:solidFill>
                <a:latin typeface="+mn-ea"/>
              </a:rPr>
              <a:t>项目赛道</a:t>
            </a:r>
            <a:r>
              <a:rPr kumimoji="0" lang="zh-CN" altLang="en-US" sz="1000" b="1" i="0" u="none" strike="noStrike" kern="1200" cap="none" spc="0" normalizeH="0" baseline="0" noProof="0" dirty="0">
                <a:ln>
                  <a:noFill/>
                </a:ln>
                <a:solidFill>
                  <a:schemeClr val="accent1"/>
                </a:solidFill>
                <a:effectLst/>
                <a:uLnTx/>
                <a:uFillTx/>
                <a:latin typeface="+mn-ea"/>
                <a:cs typeface="+mn-cs"/>
              </a:rPr>
              <a:t> </a:t>
            </a:r>
            <a:endParaRPr lang="zh-CN" altLang="en-US" sz="1000" b="1" dirty="0">
              <a:solidFill>
                <a:schemeClr val="accent1"/>
              </a:solidFill>
              <a:latin typeface="+mn-ea"/>
            </a:endParaRPr>
          </a:p>
        </p:txBody>
      </p:sp>
      <p:sp>
        <p:nvSpPr>
          <p:cNvPr id="9" name="文本框 8"/>
          <p:cNvSpPr txBox="1"/>
          <p:nvPr/>
        </p:nvSpPr>
        <p:spPr>
          <a:xfrm>
            <a:off x="1341120" y="4977837"/>
            <a:ext cx="961802" cy="230832"/>
          </a:xfrm>
          <a:prstGeom prst="rect">
            <a:avLst/>
          </a:prstGeom>
          <a:noFill/>
        </p:spPr>
        <p:txBody>
          <a:bodyPr wrap="none" lIns="0" tIns="0" rIns="0" bIns="0" rtlCol="0">
            <a:spAutoFit/>
          </a:bodyPr>
          <a:lstStyle/>
          <a:p>
            <a:r>
              <a:rPr kumimoji="0" lang="zh-CN" altLang="en-US" sz="1500" b="0" i="0" u="none" strike="noStrike" kern="1200" cap="none" spc="0" normalizeH="0" baseline="0" noProof="0" dirty="0">
                <a:ln>
                  <a:noFill/>
                </a:ln>
                <a:solidFill>
                  <a:schemeClr val="accent1"/>
                </a:solidFill>
                <a:effectLst/>
                <a:uLnTx/>
                <a:uFillTx/>
                <a:latin typeface="+mn-ea"/>
                <a:cs typeface="+mn-cs"/>
              </a:rPr>
              <a:t>医疗健康类</a:t>
            </a:r>
            <a:endParaRPr lang="zh-CN" altLang="en-US" sz="1500" dirty="0">
              <a:solidFill>
                <a:schemeClr val="accent1"/>
              </a:solidFill>
              <a:latin typeface="+mn-ea"/>
            </a:endParaRPr>
          </a:p>
        </p:txBody>
      </p:sp>
      <p:sp>
        <p:nvSpPr>
          <p:cNvPr id="10" name="文本框 9"/>
          <p:cNvSpPr txBox="1"/>
          <p:nvPr/>
        </p:nvSpPr>
        <p:spPr>
          <a:xfrm>
            <a:off x="2677795" y="4796862"/>
            <a:ext cx="641201" cy="153888"/>
          </a:xfrm>
          <a:prstGeom prst="rect">
            <a:avLst/>
          </a:prstGeom>
          <a:noFill/>
        </p:spPr>
        <p:txBody>
          <a:bodyPr wrap="none" lIns="0" tIns="0" rIns="0" bIns="0" rtlCol="0">
            <a:spAutoFit/>
          </a:bodyPr>
          <a:lstStyle/>
          <a:p>
            <a:r>
              <a:rPr lang="zh-CN" altLang="en-US" sz="1000" b="1" dirty="0">
                <a:solidFill>
                  <a:schemeClr val="accent1"/>
                </a:solidFill>
                <a:latin typeface="+mn-ea"/>
              </a:rPr>
              <a:t>项目负责人</a:t>
            </a:r>
            <a:endParaRPr lang="zh-CN" altLang="en-US" sz="1000" b="1" dirty="0">
              <a:solidFill>
                <a:schemeClr val="accent1"/>
              </a:solidFill>
              <a:latin typeface="+mn-ea"/>
            </a:endParaRPr>
          </a:p>
        </p:txBody>
      </p:sp>
      <p:sp>
        <p:nvSpPr>
          <p:cNvPr id="11" name="文本框 10"/>
          <p:cNvSpPr txBox="1"/>
          <p:nvPr/>
        </p:nvSpPr>
        <p:spPr>
          <a:xfrm>
            <a:off x="2677795" y="4977837"/>
            <a:ext cx="577081" cy="230832"/>
          </a:xfrm>
          <a:prstGeom prst="rect">
            <a:avLst/>
          </a:prstGeom>
          <a:noFill/>
        </p:spPr>
        <p:txBody>
          <a:bodyPr wrap="none" lIns="0" tIns="0" rIns="0" bIns="0" rtlCol="0">
            <a:spAutoFit/>
          </a:bodyPr>
          <a:lstStyle/>
          <a:p>
            <a:r>
              <a:rPr kumimoji="0" lang="zh-CN" altLang="en-US" sz="1500" b="0" i="0" u="none" strike="noStrike" kern="1200" cap="none" spc="0" normalizeH="0" baseline="0" noProof="0" dirty="0">
                <a:ln>
                  <a:noFill/>
                </a:ln>
                <a:solidFill>
                  <a:schemeClr val="accent1"/>
                </a:solidFill>
                <a:effectLst/>
                <a:uLnTx/>
                <a:uFillTx/>
                <a:latin typeface="+mn-ea"/>
                <a:cs typeface="+mn-cs"/>
              </a:rPr>
              <a:t>黄文翔</a:t>
            </a:r>
            <a:endParaRPr lang="zh-CN" altLang="en-US" sz="1500" dirty="0">
              <a:solidFill>
                <a:schemeClr val="accent1"/>
              </a:solidFill>
              <a:latin typeface="+mn-ea"/>
            </a:endParaRPr>
          </a:p>
        </p:txBody>
      </p:sp>
      <p:cxnSp>
        <p:nvCxnSpPr>
          <p:cNvPr id="3" name="直接连接符 2"/>
          <p:cNvCxnSpPr/>
          <p:nvPr/>
        </p:nvCxnSpPr>
        <p:spPr>
          <a:xfrm>
            <a:off x="2484648" y="4817930"/>
            <a:ext cx="0" cy="35877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341120" y="5413069"/>
            <a:ext cx="955390" cy="230832"/>
          </a:xfrm>
          <a:prstGeom prst="rect">
            <a:avLst/>
          </a:prstGeom>
          <a:noFill/>
        </p:spPr>
        <p:txBody>
          <a:bodyPr wrap="none" lIns="0" tIns="0" rIns="0" bIns="0" rtlCol="0">
            <a:spAutoFit/>
          </a:bodyPr>
          <a:lstStyle/>
          <a:p>
            <a:r>
              <a:rPr lang="en-US" altLang="zh-CN" sz="1500" dirty="0">
                <a:solidFill>
                  <a:schemeClr val="accent1"/>
                </a:solidFill>
              </a:rPr>
              <a:t>2026·05·17</a:t>
            </a:r>
            <a:endParaRPr lang="zh-CN" altLang="en-US" sz="1500" dirty="0">
              <a:solidFill>
                <a:schemeClr val="accent1"/>
              </a:solidFill>
            </a:endParaRPr>
          </a:p>
        </p:txBody>
      </p:sp>
      <p:sp>
        <p:nvSpPr>
          <p:cNvPr id="21" name="文本框 20"/>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chemeClr val="bg1"/>
                </a:solidFill>
              </a:rPr>
              <a:t>Southern University of </a:t>
            </a:r>
            <a:endParaRPr lang="en-US" altLang="zh-CN" sz="1000" cap="all" dirty="0">
              <a:solidFill>
                <a:schemeClr val="bg1"/>
              </a:solidFill>
            </a:endParaRPr>
          </a:p>
          <a:p>
            <a:pPr algn="r"/>
            <a:r>
              <a:rPr lang="en-US" altLang="zh-CN" sz="1000" cap="all" dirty="0">
                <a:solidFill>
                  <a:schemeClr val="bg1"/>
                </a:solidFill>
              </a:rPr>
              <a:t>science and technology</a:t>
            </a:r>
            <a:endParaRPr lang="zh-CN" altLang="en-US" sz="1000" cap="all" dirty="0">
              <a:solidFill>
                <a:schemeClr val="bg1"/>
              </a:solidFill>
            </a:endParaRPr>
          </a:p>
        </p:txBody>
      </p:sp>
      <p:sp>
        <p:nvSpPr>
          <p:cNvPr id="2" name="文本框 1"/>
          <p:cNvSpPr txBox="1"/>
          <p:nvPr/>
        </p:nvSpPr>
        <p:spPr>
          <a:xfrm>
            <a:off x="3693869" y="4796862"/>
            <a:ext cx="512961" cy="153888"/>
          </a:xfrm>
          <a:prstGeom prst="rect">
            <a:avLst/>
          </a:prstGeom>
          <a:noFill/>
        </p:spPr>
        <p:txBody>
          <a:bodyPr wrap="none" lIns="0" tIns="0" rIns="0" bIns="0" rtlCol="0">
            <a:spAutoFit/>
          </a:bodyPr>
          <a:lstStyle/>
          <a:p>
            <a:r>
              <a:rPr lang="zh-CN" altLang="en-US" sz="1000" b="1" dirty="0">
                <a:solidFill>
                  <a:schemeClr val="accent1"/>
                </a:solidFill>
                <a:latin typeface="+mn-ea"/>
              </a:rPr>
              <a:t>指导教师</a:t>
            </a:r>
            <a:endParaRPr lang="zh-CN" altLang="en-US" sz="1000" b="1" dirty="0">
              <a:solidFill>
                <a:schemeClr val="accent1"/>
              </a:solidFill>
              <a:latin typeface="+mn-ea"/>
            </a:endParaRPr>
          </a:p>
        </p:txBody>
      </p:sp>
      <p:sp>
        <p:nvSpPr>
          <p:cNvPr id="4" name="文本框 3"/>
          <p:cNvSpPr txBox="1"/>
          <p:nvPr/>
        </p:nvSpPr>
        <p:spPr>
          <a:xfrm>
            <a:off x="3693869" y="4977837"/>
            <a:ext cx="577081" cy="230832"/>
          </a:xfrm>
          <a:prstGeom prst="rect">
            <a:avLst/>
          </a:prstGeom>
          <a:noFill/>
        </p:spPr>
        <p:txBody>
          <a:bodyPr wrap="none" lIns="0" tIns="0" rIns="0" bIns="0" rtlCol="0">
            <a:spAutoFit/>
          </a:bodyPr>
          <a:lstStyle/>
          <a:p>
            <a:r>
              <a:rPr lang="zh-CN" altLang="en-US" sz="1500" dirty="0">
                <a:solidFill>
                  <a:schemeClr val="accent1"/>
                </a:solidFill>
                <a:latin typeface="+mn-ea"/>
              </a:rPr>
              <a:t>王泽峰</a:t>
            </a:r>
            <a:endParaRPr lang="zh-CN" altLang="en-US" sz="1500" dirty="0">
              <a:solidFill>
                <a:schemeClr val="accent1"/>
              </a:solidFill>
              <a:latin typeface="+mn-ea"/>
            </a:endParaRPr>
          </a:p>
        </p:txBody>
      </p:sp>
      <p:cxnSp>
        <p:nvCxnSpPr>
          <p:cNvPr id="5" name="直接连接符 4"/>
          <p:cNvCxnSpPr/>
          <p:nvPr/>
        </p:nvCxnSpPr>
        <p:spPr>
          <a:xfrm>
            <a:off x="3500722" y="4817930"/>
            <a:ext cx="0" cy="35877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5221490" y="244475"/>
            <a:ext cx="1749020" cy="307340"/>
          </a:xfrm>
          <a:prstGeom prst="rect">
            <a:avLst/>
          </a:prstGeom>
          <a:noFill/>
        </p:spPr>
        <p:txBody>
          <a:bodyPr wrap="square" lIns="0" tIns="0" rIns="0" bIns="0" rtlCol="0">
            <a:spAutoFit/>
          </a:bodyPr>
          <a:lstStyle/>
          <a:p>
            <a:r>
              <a:rPr lang="zh-CN" altLang="en-US" sz="2000" dirty="0">
                <a:solidFill>
                  <a:schemeClr val="bg1"/>
                </a:solidFill>
                <a:highlight>
                  <a:srgbClr val="FF0000"/>
                </a:highlight>
                <a:latin typeface="+mj-lt"/>
                <a:ea typeface="+mj-ea"/>
              </a:rPr>
              <a:t> </a:t>
            </a:r>
            <a:endParaRPr lang="zh-CN" altLang="en-US" sz="2000" dirty="0">
              <a:solidFill>
                <a:schemeClr val="bg1"/>
              </a:solidFill>
              <a:highlight>
                <a:srgbClr val="FF0000"/>
              </a:highlight>
              <a:latin typeface="+mj-lt"/>
              <a:ea typeface="+mj-ea"/>
            </a:endParaRPr>
          </a:p>
        </p:txBody>
      </p:sp>
      <p:sp>
        <p:nvSpPr>
          <p:cNvPr id="7" name="文本框 6"/>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4965AA"/>
                </a:highlight>
                <a:latin typeface="Eras Bold ITC" panose="020B0907030504020204" pitchFamily="34" charset="0"/>
              </a:rPr>
              <a:t>SUSTech</a:t>
            </a:r>
            <a:r>
              <a:rPr lang="en-US" altLang="zh-CN" sz="3000" dirty="0">
                <a:solidFill>
                  <a:srgbClr val="EFA7A7"/>
                </a:solidFill>
                <a:highlight>
                  <a:srgbClr val="4965AA"/>
                </a:highlight>
                <a:latin typeface="Eras Bold ITC" panose="020B0907030504020204" pitchFamily="34" charset="0"/>
              </a:rPr>
              <a:t>-BIO</a:t>
            </a:r>
            <a:endParaRPr lang="zh-CN" altLang="en-US" sz="3000" dirty="0">
              <a:solidFill>
                <a:srgbClr val="EFA7A7"/>
              </a:solidFill>
              <a:highlight>
                <a:srgbClr val="4965AA"/>
              </a:highlight>
              <a:latin typeface="Eras Bold ITC" panose="020B0907030504020204" pitchFamily="34" charset="0"/>
            </a:endParaRPr>
          </a:p>
        </p:txBody>
      </p:sp>
      <p:grpSp>
        <p:nvGrpSpPr>
          <p:cNvPr id="12" name="组合 11"/>
          <p:cNvGrpSpPr/>
          <p:nvPr/>
        </p:nvGrpSpPr>
        <p:grpSpPr>
          <a:xfrm>
            <a:off x="9647057" y="109176"/>
            <a:ext cx="2497153" cy="713649"/>
            <a:chOff x="9647057" y="109176"/>
            <a:chExt cx="2497153" cy="713649"/>
          </a:xfrm>
        </p:grpSpPr>
        <p:sp>
          <p:nvSpPr>
            <p:cNvPr id="14" name="矩形 13"/>
            <p:cNvSpPr/>
            <p:nvPr/>
          </p:nvSpPr>
          <p:spPr>
            <a:xfrm>
              <a:off x="9799713" y="197831"/>
              <a:ext cx="2117376" cy="53634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9647057" y="244473"/>
              <a:ext cx="1577355" cy="307777"/>
            </a:xfrm>
            <a:prstGeom prst="rect">
              <a:avLst/>
            </a:prstGeom>
            <a:noFill/>
          </p:spPr>
          <p:txBody>
            <a:bodyPr wrap="square" lIns="0" tIns="0" rIns="0" bIns="0" rtlCol="0">
              <a:spAutoFit/>
            </a:bodyPr>
            <a:lstStyle/>
            <a:p>
              <a:pPr algn="r"/>
              <a:r>
                <a:rPr lang="en-US" altLang="zh-CN" sz="1000" cap="all" dirty="0">
                  <a:solidFill>
                    <a:schemeClr val="bg1"/>
                  </a:solidFill>
                  <a:highlight>
                    <a:srgbClr val="4965AA"/>
                  </a:highlight>
                </a:rPr>
                <a:t>Southern University of </a:t>
              </a:r>
              <a:endParaRPr lang="en-US" altLang="zh-CN" sz="1000" cap="all" dirty="0">
                <a:solidFill>
                  <a:schemeClr val="bg1"/>
                </a:solidFill>
                <a:highlight>
                  <a:srgbClr val="4965AA"/>
                </a:highlight>
              </a:endParaRPr>
            </a:p>
            <a:p>
              <a:pPr algn="r"/>
              <a:r>
                <a:rPr lang="en-US" altLang="zh-CN" sz="1000" cap="all" dirty="0">
                  <a:solidFill>
                    <a:schemeClr val="bg1"/>
                  </a:solidFill>
                  <a:highlight>
                    <a:srgbClr val="4965AA"/>
                  </a:highlight>
                </a:rPr>
                <a:t>science and technology</a:t>
              </a:r>
              <a:endParaRPr lang="zh-CN" altLang="en-US" sz="1000" cap="all" dirty="0">
                <a:solidFill>
                  <a:schemeClr val="bg1"/>
                </a:solidFill>
                <a:highlight>
                  <a:srgbClr val="4965AA"/>
                </a:highlight>
              </a:endParaRPr>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04713" y="109176"/>
              <a:ext cx="739497" cy="713649"/>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12" name="组合 11"/>
          <p:cNvGrpSpPr/>
          <p:nvPr/>
        </p:nvGrpSpPr>
        <p:grpSpPr>
          <a:xfrm>
            <a:off x="2813731" y="914401"/>
            <a:ext cx="8772813" cy="5390534"/>
            <a:chOff x="2813731" y="914401"/>
            <a:chExt cx="8772813" cy="5140712"/>
          </a:xfrm>
        </p:grpSpPr>
        <p:sp>
          <p:nvSpPr>
            <p:cNvPr id="24" name="矩形 23"/>
            <p:cNvSpPr/>
            <p:nvPr/>
          </p:nvSpPr>
          <p:spPr>
            <a:xfrm>
              <a:off x="2940112" y="1025913"/>
              <a:ext cx="8646432" cy="5029200"/>
            </a:xfrm>
            <a:prstGeom prst="rect">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11" name="组合 10"/>
            <p:cNvGrpSpPr/>
            <p:nvPr/>
          </p:nvGrpSpPr>
          <p:grpSpPr>
            <a:xfrm>
              <a:off x="2813731" y="914401"/>
              <a:ext cx="8646432" cy="5029200"/>
              <a:chOff x="2813731" y="914401"/>
              <a:chExt cx="8646432" cy="5029200"/>
            </a:xfrm>
          </p:grpSpPr>
          <p:sp>
            <p:nvSpPr>
              <p:cNvPr id="21" name="矩形 20"/>
              <p:cNvSpPr/>
              <p:nvPr/>
            </p:nvSpPr>
            <p:spPr>
              <a:xfrm>
                <a:off x="2813731" y="914401"/>
                <a:ext cx="8646432" cy="5029200"/>
              </a:xfrm>
              <a:prstGeom prst="rect">
                <a:avLst/>
              </a:prstGeom>
              <a:solidFill>
                <a:schemeClr val="bg1"/>
              </a:solidFill>
              <a:ln>
                <a:solidFill>
                  <a:schemeClr val="accent1"/>
                </a:solidFill>
              </a:ln>
              <a:effectLst>
                <a:outerShdw blurRad="342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3" name="矩形 22"/>
              <p:cNvSpPr/>
              <p:nvPr/>
            </p:nvSpPr>
            <p:spPr>
              <a:xfrm>
                <a:off x="2940112" y="1025914"/>
                <a:ext cx="8520051" cy="4917686"/>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grpSp>
        <p:nvGrpSpPr>
          <p:cNvPr id="6" name="组合 5"/>
          <p:cNvGrpSpPr/>
          <p:nvPr/>
        </p:nvGrpSpPr>
        <p:grpSpPr>
          <a:xfrm>
            <a:off x="3605935" y="1261233"/>
            <a:ext cx="3480368" cy="778494"/>
            <a:chOff x="4653066" y="1261233"/>
            <a:chExt cx="3480368" cy="778494"/>
          </a:xfrm>
        </p:grpSpPr>
        <p:sp>
          <p:nvSpPr>
            <p:cNvPr id="45" name="文本框 44"/>
            <p:cNvSpPr txBox="1"/>
            <p:nvPr/>
          </p:nvSpPr>
          <p:spPr>
            <a:xfrm>
              <a:off x="5564397" y="1808895"/>
              <a:ext cx="2569037" cy="230832"/>
            </a:xfrm>
            <a:prstGeom prst="rect">
              <a:avLst/>
            </a:prstGeom>
            <a:noFill/>
          </p:spPr>
          <p:txBody>
            <a:bodyPr wrap="none" lIns="0" tIns="0" rIns="0" bIns="0" rtlCol="0">
              <a:spAutoFit/>
            </a:bodyPr>
            <a:lstStyle/>
            <a:p>
              <a:r>
                <a:rPr lang="en-US" altLang="zh-CN" sz="1500" dirty="0">
                  <a:solidFill>
                    <a:schemeClr val="accent1"/>
                  </a:solidFill>
                </a:rPr>
                <a:t>Background of Topic Selection</a:t>
              </a:r>
              <a:endParaRPr lang="en-US" altLang="zh-CN" sz="1500" dirty="0">
                <a:solidFill>
                  <a:schemeClr val="accent1"/>
                </a:solidFill>
              </a:endParaRPr>
            </a:p>
          </p:txBody>
        </p:sp>
        <p:grpSp>
          <p:nvGrpSpPr>
            <p:cNvPr id="2" name="组合 1"/>
            <p:cNvGrpSpPr/>
            <p:nvPr/>
          </p:nvGrpSpPr>
          <p:grpSpPr>
            <a:xfrm>
              <a:off x="4653066" y="1261233"/>
              <a:ext cx="2450214" cy="538609"/>
              <a:chOff x="4653066" y="1261233"/>
              <a:chExt cx="2450214" cy="538609"/>
            </a:xfrm>
          </p:grpSpPr>
          <p:sp>
            <p:nvSpPr>
              <p:cNvPr id="17" name="文本框 16"/>
              <p:cNvSpPr txBox="1"/>
              <p:nvPr/>
            </p:nvSpPr>
            <p:spPr>
              <a:xfrm>
                <a:off x="5564397" y="1291026"/>
                <a:ext cx="1538883" cy="461665"/>
              </a:xfrm>
              <a:prstGeom prst="rect">
                <a:avLst/>
              </a:prstGeom>
              <a:noFill/>
            </p:spPr>
            <p:txBody>
              <a:bodyPr wrap="none" lIns="0" tIns="0" rIns="0" bIns="0" rtlCol="0">
                <a:spAutoFit/>
              </a:bodyPr>
              <a:lstStyle/>
              <a:p>
                <a:r>
                  <a:rPr lang="zh-CN" altLang="en-US" sz="3000" dirty="0">
                    <a:solidFill>
                      <a:schemeClr val="accent1"/>
                    </a:solidFill>
                  </a:rPr>
                  <a:t>科学问题</a:t>
                </a:r>
                <a:endParaRPr lang="zh-CN" altLang="en-US" sz="3000" dirty="0">
                  <a:solidFill>
                    <a:schemeClr val="accent1"/>
                  </a:solidFill>
                </a:endParaRPr>
              </a:p>
            </p:txBody>
          </p:sp>
          <p:sp>
            <p:nvSpPr>
              <p:cNvPr id="78" name="文本框 77"/>
              <p:cNvSpPr txBox="1"/>
              <p:nvPr/>
            </p:nvSpPr>
            <p:spPr>
              <a:xfrm>
                <a:off x="4653066" y="1261233"/>
                <a:ext cx="750205" cy="538609"/>
              </a:xfrm>
              <a:prstGeom prst="rect">
                <a:avLst/>
              </a:prstGeom>
              <a:noFill/>
            </p:spPr>
            <p:txBody>
              <a:bodyPr wrap="none" lIns="0" tIns="0" rIns="0" bIns="0" rtlCol="0">
                <a:spAutoFit/>
              </a:bodyPr>
              <a:lstStyle/>
              <a:p>
                <a:r>
                  <a:rPr lang="en-US" altLang="zh-CN" sz="3500" dirty="0">
                    <a:solidFill>
                      <a:schemeClr val="accent1"/>
                    </a:solidFill>
                  </a:rPr>
                  <a:t>#01</a:t>
                </a:r>
                <a:endParaRPr lang="zh-CN" altLang="en-US" sz="3500" dirty="0">
                  <a:solidFill>
                    <a:schemeClr val="accent1"/>
                  </a:solidFill>
                </a:endParaRPr>
              </a:p>
            </p:txBody>
          </p:sp>
        </p:grpSp>
      </p:grpSp>
      <p:grpSp>
        <p:nvGrpSpPr>
          <p:cNvPr id="3" name="组合 2"/>
          <p:cNvGrpSpPr/>
          <p:nvPr/>
        </p:nvGrpSpPr>
        <p:grpSpPr>
          <a:xfrm>
            <a:off x="3605935" y="2222252"/>
            <a:ext cx="2834935" cy="778494"/>
            <a:chOff x="4653066" y="2390318"/>
            <a:chExt cx="2834935" cy="778494"/>
          </a:xfrm>
        </p:grpSpPr>
        <p:sp>
          <p:nvSpPr>
            <p:cNvPr id="68" name="文本框 67"/>
            <p:cNvSpPr txBox="1"/>
            <p:nvPr/>
          </p:nvSpPr>
          <p:spPr>
            <a:xfrm>
              <a:off x="5564397" y="2420111"/>
              <a:ext cx="1923604" cy="461665"/>
            </a:xfrm>
            <a:prstGeom prst="rect">
              <a:avLst/>
            </a:prstGeom>
            <a:noFill/>
          </p:spPr>
          <p:txBody>
            <a:bodyPr wrap="none" lIns="0" tIns="0" rIns="0" bIns="0" rtlCol="0">
              <a:spAutoFit/>
            </a:bodyPr>
            <a:lstStyle/>
            <a:p>
              <a:r>
                <a:rPr lang="zh-CN" altLang="en-US" sz="3000" dirty="0">
                  <a:solidFill>
                    <a:schemeClr val="accent1"/>
                  </a:solidFill>
                </a:rPr>
                <a:t>核心创新点</a:t>
              </a:r>
              <a:endParaRPr lang="zh-CN" altLang="en-US" sz="3000" dirty="0">
                <a:solidFill>
                  <a:schemeClr val="accent1"/>
                </a:solidFill>
              </a:endParaRPr>
            </a:p>
          </p:txBody>
        </p:sp>
        <p:sp>
          <p:nvSpPr>
            <p:cNvPr id="69" name="文本框 68"/>
            <p:cNvSpPr txBox="1"/>
            <p:nvPr/>
          </p:nvSpPr>
          <p:spPr>
            <a:xfrm>
              <a:off x="5564397" y="2937980"/>
              <a:ext cx="1317540" cy="230832"/>
            </a:xfrm>
            <a:prstGeom prst="rect">
              <a:avLst/>
            </a:prstGeom>
            <a:noFill/>
          </p:spPr>
          <p:txBody>
            <a:bodyPr wrap="none" lIns="0" tIns="0" rIns="0" bIns="0" rtlCol="0">
              <a:spAutoFit/>
            </a:bodyPr>
            <a:lstStyle/>
            <a:p>
              <a:r>
                <a:rPr lang="en-US" altLang="zh-CN" sz="1500" dirty="0">
                  <a:solidFill>
                    <a:schemeClr val="accent1"/>
                  </a:solidFill>
                </a:rPr>
                <a:t>Core Innovation</a:t>
              </a:r>
              <a:endParaRPr lang="en-US" altLang="zh-CN" sz="1500" dirty="0">
                <a:solidFill>
                  <a:schemeClr val="accent1"/>
                </a:solidFill>
              </a:endParaRPr>
            </a:p>
          </p:txBody>
        </p:sp>
        <p:sp>
          <p:nvSpPr>
            <p:cNvPr id="83" name="文本框 82"/>
            <p:cNvSpPr txBox="1"/>
            <p:nvPr/>
          </p:nvSpPr>
          <p:spPr>
            <a:xfrm>
              <a:off x="4653066" y="2390318"/>
              <a:ext cx="750205" cy="538609"/>
            </a:xfrm>
            <a:prstGeom prst="rect">
              <a:avLst/>
            </a:prstGeom>
            <a:noFill/>
          </p:spPr>
          <p:txBody>
            <a:bodyPr wrap="none" lIns="0" tIns="0" rIns="0" bIns="0" rtlCol="0">
              <a:spAutoFit/>
            </a:bodyPr>
            <a:lstStyle/>
            <a:p>
              <a:r>
                <a:rPr lang="en-US" altLang="zh-CN" sz="3500" dirty="0">
                  <a:solidFill>
                    <a:schemeClr val="accent1"/>
                  </a:solidFill>
                </a:rPr>
                <a:t>#02</a:t>
              </a:r>
              <a:endParaRPr lang="zh-CN" altLang="en-US" sz="3500" dirty="0">
                <a:solidFill>
                  <a:schemeClr val="accent1"/>
                </a:solidFill>
              </a:endParaRPr>
            </a:p>
          </p:txBody>
        </p:sp>
      </p:grpSp>
      <p:grpSp>
        <p:nvGrpSpPr>
          <p:cNvPr id="4" name="组合 3"/>
          <p:cNvGrpSpPr/>
          <p:nvPr/>
        </p:nvGrpSpPr>
        <p:grpSpPr>
          <a:xfrm>
            <a:off x="3605935" y="3183271"/>
            <a:ext cx="4492376" cy="778494"/>
            <a:chOff x="4653066" y="3519403"/>
            <a:chExt cx="4492376" cy="778494"/>
          </a:xfrm>
        </p:grpSpPr>
        <p:sp>
          <p:nvSpPr>
            <p:cNvPr id="70" name="文本框 69"/>
            <p:cNvSpPr txBox="1"/>
            <p:nvPr/>
          </p:nvSpPr>
          <p:spPr>
            <a:xfrm>
              <a:off x="5564397" y="3549196"/>
              <a:ext cx="3581045" cy="461665"/>
            </a:xfrm>
            <a:prstGeom prst="rect">
              <a:avLst/>
            </a:prstGeom>
            <a:noFill/>
          </p:spPr>
          <p:txBody>
            <a:bodyPr wrap="none" lIns="0" tIns="0" rIns="0" bIns="0" rtlCol="0">
              <a:spAutoFit/>
            </a:bodyPr>
            <a:lstStyle/>
            <a:p>
              <a:r>
                <a:rPr lang="zh-CN" altLang="en-US" sz="3000" dirty="0">
                  <a:solidFill>
                    <a:schemeClr val="accent1"/>
                  </a:solidFill>
                </a:rPr>
                <a:t>系统设计与机制解析</a:t>
              </a:r>
              <a:endParaRPr lang="zh-CN" altLang="en-US" sz="3000" dirty="0">
                <a:solidFill>
                  <a:schemeClr val="accent1"/>
                </a:solidFill>
              </a:endParaRPr>
            </a:p>
          </p:txBody>
        </p:sp>
        <p:sp>
          <p:nvSpPr>
            <p:cNvPr id="71" name="文本框 70"/>
            <p:cNvSpPr txBox="1"/>
            <p:nvPr/>
          </p:nvSpPr>
          <p:spPr>
            <a:xfrm>
              <a:off x="5564397" y="4067065"/>
              <a:ext cx="2523640" cy="230832"/>
            </a:xfrm>
            <a:prstGeom prst="rect">
              <a:avLst/>
            </a:prstGeom>
            <a:noFill/>
          </p:spPr>
          <p:txBody>
            <a:bodyPr wrap="none" lIns="0" tIns="0" rIns="0" bIns="0" rtlCol="0">
              <a:spAutoFit/>
            </a:bodyPr>
            <a:lstStyle/>
            <a:p>
              <a:r>
                <a:rPr lang="en-US" altLang="zh-CN" sz="1500" dirty="0">
                  <a:solidFill>
                    <a:schemeClr val="accent1"/>
                  </a:solidFill>
                </a:rPr>
                <a:t>System Design and Mechanism</a:t>
              </a:r>
              <a:endParaRPr lang="en-US" altLang="zh-CN" sz="1500" dirty="0">
                <a:solidFill>
                  <a:schemeClr val="accent1"/>
                </a:solidFill>
              </a:endParaRPr>
            </a:p>
          </p:txBody>
        </p:sp>
        <p:sp>
          <p:nvSpPr>
            <p:cNvPr id="87" name="文本框 86"/>
            <p:cNvSpPr txBox="1"/>
            <p:nvPr/>
          </p:nvSpPr>
          <p:spPr>
            <a:xfrm>
              <a:off x="4653066" y="3519403"/>
              <a:ext cx="750205" cy="538609"/>
            </a:xfrm>
            <a:prstGeom prst="rect">
              <a:avLst/>
            </a:prstGeom>
            <a:noFill/>
          </p:spPr>
          <p:txBody>
            <a:bodyPr wrap="none" lIns="0" tIns="0" rIns="0" bIns="0" rtlCol="0">
              <a:spAutoFit/>
            </a:bodyPr>
            <a:lstStyle/>
            <a:p>
              <a:r>
                <a:rPr lang="en-US" altLang="zh-CN" sz="3500" dirty="0">
                  <a:solidFill>
                    <a:schemeClr val="accent1"/>
                  </a:solidFill>
                </a:rPr>
                <a:t>#03</a:t>
              </a:r>
              <a:endParaRPr lang="zh-CN" altLang="en-US" sz="3500" dirty="0">
                <a:solidFill>
                  <a:schemeClr val="accent1"/>
                </a:solidFill>
              </a:endParaRPr>
            </a:p>
          </p:txBody>
        </p:sp>
      </p:grpSp>
      <p:grpSp>
        <p:nvGrpSpPr>
          <p:cNvPr id="5" name="组合 4"/>
          <p:cNvGrpSpPr/>
          <p:nvPr/>
        </p:nvGrpSpPr>
        <p:grpSpPr>
          <a:xfrm>
            <a:off x="3605935" y="4144290"/>
            <a:ext cx="3230940" cy="778494"/>
            <a:chOff x="4653066" y="4648488"/>
            <a:chExt cx="3230940" cy="778494"/>
          </a:xfrm>
        </p:grpSpPr>
        <p:sp>
          <p:nvSpPr>
            <p:cNvPr id="72" name="文本框 71"/>
            <p:cNvSpPr txBox="1"/>
            <p:nvPr/>
          </p:nvSpPr>
          <p:spPr>
            <a:xfrm>
              <a:off x="5564397" y="4678281"/>
              <a:ext cx="2319609" cy="461665"/>
            </a:xfrm>
            <a:prstGeom prst="rect">
              <a:avLst/>
            </a:prstGeom>
            <a:noFill/>
          </p:spPr>
          <p:txBody>
            <a:bodyPr wrap="none" lIns="0" tIns="0" rIns="0" bIns="0" rtlCol="0">
              <a:spAutoFit/>
            </a:bodyPr>
            <a:lstStyle/>
            <a:p>
              <a:r>
                <a:rPr lang="zh-CN" altLang="en-US" sz="3000" dirty="0">
                  <a:solidFill>
                    <a:schemeClr val="accent1"/>
                  </a:solidFill>
                </a:rPr>
                <a:t>预期结果分析</a:t>
              </a:r>
              <a:endParaRPr lang="zh-CN" altLang="en-US" sz="3000" dirty="0">
                <a:solidFill>
                  <a:schemeClr val="accent1"/>
                </a:solidFill>
              </a:endParaRPr>
            </a:p>
          </p:txBody>
        </p:sp>
        <p:sp>
          <p:nvSpPr>
            <p:cNvPr id="73" name="文本框 72"/>
            <p:cNvSpPr txBox="1"/>
            <p:nvPr/>
          </p:nvSpPr>
          <p:spPr>
            <a:xfrm>
              <a:off x="5564397" y="5196150"/>
              <a:ext cx="2262222" cy="230832"/>
            </a:xfrm>
            <a:prstGeom prst="rect">
              <a:avLst/>
            </a:prstGeom>
            <a:noFill/>
          </p:spPr>
          <p:txBody>
            <a:bodyPr wrap="none" lIns="0" tIns="0" rIns="0" bIns="0" rtlCol="0">
              <a:spAutoFit/>
            </a:bodyPr>
            <a:lstStyle/>
            <a:p>
              <a:r>
                <a:rPr lang="en-US" altLang="zh-CN" sz="1500" dirty="0">
                  <a:solidFill>
                    <a:schemeClr val="accent1"/>
                  </a:solidFill>
                </a:rPr>
                <a:t>Expected Outcome Analysis</a:t>
              </a:r>
              <a:endParaRPr lang="en-US" altLang="zh-CN" sz="1500" dirty="0">
                <a:solidFill>
                  <a:schemeClr val="accent1"/>
                </a:solidFill>
              </a:endParaRPr>
            </a:p>
          </p:txBody>
        </p:sp>
        <p:sp>
          <p:nvSpPr>
            <p:cNvPr id="91" name="文本框 90"/>
            <p:cNvSpPr txBox="1"/>
            <p:nvPr/>
          </p:nvSpPr>
          <p:spPr>
            <a:xfrm>
              <a:off x="4653066" y="4648488"/>
              <a:ext cx="750205" cy="538609"/>
            </a:xfrm>
            <a:prstGeom prst="rect">
              <a:avLst/>
            </a:prstGeom>
            <a:noFill/>
          </p:spPr>
          <p:txBody>
            <a:bodyPr wrap="none" lIns="0" tIns="0" rIns="0" bIns="0" rtlCol="0">
              <a:spAutoFit/>
            </a:bodyPr>
            <a:lstStyle/>
            <a:p>
              <a:r>
                <a:rPr lang="en-US" altLang="zh-CN" sz="3500" dirty="0">
                  <a:solidFill>
                    <a:schemeClr val="accent1"/>
                  </a:solidFill>
                </a:rPr>
                <a:t>#04</a:t>
              </a:r>
              <a:endParaRPr lang="zh-CN" altLang="en-US" sz="3500" dirty="0">
                <a:solidFill>
                  <a:schemeClr val="accent1"/>
                </a:solidFill>
              </a:endParaRPr>
            </a:p>
          </p:txBody>
        </p:sp>
      </p:grpSp>
      <p:sp>
        <p:nvSpPr>
          <p:cNvPr id="19" name="文本框 18"/>
          <p:cNvSpPr txBox="1"/>
          <p:nvPr/>
        </p:nvSpPr>
        <p:spPr>
          <a:xfrm>
            <a:off x="665213" y="1325362"/>
            <a:ext cx="1288814" cy="769441"/>
          </a:xfrm>
          <a:prstGeom prst="rect">
            <a:avLst/>
          </a:prstGeom>
          <a:noFill/>
        </p:spPr>
        <p:txBody>
          <a:bodyPr wrap="none" lIns="0" tIns="0" rIns="0" bIns="0" rtlCol="0">
            <a:spAutoFit/>
          </a:bodyPr>
          <a:lstStyle/>
          <a:p>
            <a:r>
              <a:rPr lang="zh-CN" altLang="en-US" sz="5000" b="1" dirty="0">
                <a:solidFill>
                  <a:schemeClr val="bg1"/>
                </a:solidFill>
              </a:rPr>
              <a:t>目录</a:t>
            </a:r>
            <a:endParaRPr lang="zh-CN" altLang="en-US" sz="5000" b="1" dirty="0">
              <a:solidFill>
                <a:schemeClr val="bg1"/>
              </a:solidFill>
            </a:endParaRPr>
          </a:p>
        </p:txBody>
      </p:sp>
      <p:sp>
        <p:nvSpPr>
          <p:cNvPr id="20" name="文本框 19"/>
          <p:cNvSpPr txBox="1"/>
          <p:nvPr/>
        </p:nvSpPr>
        <p:spPr>
          <a:xfrm>
            <a:off x="747964" y="1025913"/>
            <a:ext cx="1585370" cy="307777"/>
          </a:xfrm>
          <a:prstGeom prst="rect">
            <a:avLst/>
          </a:prstGeom>
          <a:noFill/>
        </p:spPr>
        <p:txBody>
          <a:bodyPr wrap="none" lIns="0" tIns="0" rIns="0" bIns="0" rtlCol="0">
            <a:spAutoFit/>
          </a:bodyPr>
          <a:lstStyle/>
          <a:p>
            <a:pPr algn="l"/>
            <a:r>
              <a:rPr lang="en-US" altLang="zh-CN" sz="2000" b="1" dirty="0">
                <a:solidFill>
                  <a:schemeClr val="bg1"/>
                </a:solidFill>
              </a:rPr>
              <a:t>CONTENTES</a:t>
            </a:r>
            <a:endParaRPr lang="zh-CN" altLang="en-US" sz="2000" b="1" dirty="0">
              <a:solidFill>
                <a:schemeClr val="bg1"/>
              </a:solidFill>
            </a:endParaRPr>
          </a:p>
        </p:txBody>
      </p:sp>
      <p:grpSp>
        <p:nvGrpSpPr>
          <p:cNvPr id="7" name="组合 6"/>
          <p:cNvGrpSpPr/>
          <p:nvPr/>
        </p:nvGrpSpPr>
        <p:grpSpPr>
          <a:xfrm>
            <a:off x="3605935" y="5105310"/>
            <a:ext cx="3093403" cy="778494"/>
            <a:chOff x="4653066" y="4648488"/>
            <a:chExt cx="3093403" cy="778494"/>
          </a:xfrm>
        </p:grpSpPr>
        <p:sp>
          <p:nvSpPr>
            <p:cNvPr id="8" name="文本框 7"/>
            <p:cNvSpPr txBox="1"/>
            <p:nvPr/>
          </p:nvSpPr>
          <p:spPr>
            <a:xfrm>
              <a:off x="5564397" y="4678281"/>
              <a:ext cx="1923604" cy="461665"/>
            </a:xfrm>
            <a:prstGeom prst="rect">
              <a:avLst/>
            </a:prstGeom>
            <a:noFill/>
          </p:spPr>
          <p:txBody>
            <a:bodyPr wrap="none" lIns="0" tIns="0" rIns="0" bIns="0" rtlCol="0">
              <a:spAutoFit/>
            </a:bodyPr>
            <a:lstStyle/>
            <a:p>
              <a:r>
                <a:rPr lang="zh-CN" altLang="en-US" sz="3000" dirty="0">
                  <a:solidFill>
                    <a:schemeClr val="accent1"/>
                  </a:solidFill>
                </a:rPr>
                <a:t>意义与展望</a:t>
              </a:r>
              <a:endParaRPr lang="zh-CN" altLang="en-US" sz="3000" dirty="0">
                <a:solidFill>
                  <a:schemeClr val="accent1"/>
                </a:solidFill>
              </a:endParaRPr>
            </a:p>
          </p:txBody>
        </p:sp>
        <p:sp>
          <p:nvSpPr>
            <p:cNvPr id="9" name="文本框 8"/>
            <p:cNvSpPr txBox="1"/>
            <p:nvPr/>
          </p:nvSpPr>
          <p:spPr>
            <a:xfrm>
              <a:off x="5564397" y="5196150"/>
              <a:ext cx="2182072" cy="230832"/>
            </a:xfrm>
            <a:prstGeom prst="rect">
              <a:avLst/>
            </a:prstGeom>
            <a:noFill/>
          </p:spPr>
          <p:txBody>
            <a:bodyPr wrap="none" lIns="0" tIns="0" rIns="0" bIns="0" rtlCol="0">
              <a:spAutoFit/>
            </a:bodyPr>
            <a:lstStyle/>
            <a:p>
              <a:r>
                <a:rPr lang="en-US" altLang="zh-CN" sz="1500" dirty="0">
                  <a:solidFill>
                    <a:schemeClr val="accent1"/>
                  </a:solidFill>
                </a:rPr>
                <a:t>Significance and</a:t>
              </a:r>
              <a:r>
                <a:rPr lang="zh-CN" altLang="en-US" sz="1500" dirty="0">
                  <a:solidFill>
                    <a:schemeClr val="accent1"/>
                  </a:solidFill>
                </a:rPr>
                <a:t> </a:t>
              </a:r>
              <a:r>
                <a:rPr lang="en-US" altLang="zh-CN" sz="1500" dirty="0">
                  <a:solidFill>
                    <a:schemeClr val="accent1"/>
                  </a:solidFill>
                </a:rPr>
                <a:t>Prospects</a:t>
              </a:r>
              <a:endParaRPr lang="en-US" altLang="zh-CN" sz="1500" dirty="0">
                <a:solidFill>
                  <a:schemeClr val="accent1"/>
                </a:solidFill>
              </a:endParaRPr>
            </a:p>
          </p:txBody>
        </p:sp>
        <p:sp>
          <p:nvSpPr>
            <p:cNvPr id="10" name="文本框 9"/>
            <p:cNvSpPr txBox="1"/>
            <p:nvPr/>
          </p:nvSpPr>
          <p:spPr>
            <a:xfrm>
              <a:off x="4653066" y="4648488"/>
              <a:ext cx="774251" cy="538609"/>
            </a:xfrm>
            <a:prstGeom prst="rect">
              <a:avLst/>
            </a:prstGeom>
            <a:noFill/>
          </p:spPr>
          <p:txBody>
            <a:bodyPr wrap="none" lIns="0" tIns="0" rIns="0" bIns="0" rtlCol="0">
              <a:spAutoFit/>
            </a:bodyPr>
            <a:lstStyle/>
            <a:p>
              <a:r>
                <a:rPr lang="en-US" altLang="zh-CN" sz="3500" dirty="0">
                  <a:solidFill>
                    <a:schemeClr val="accent1"/>
                  </a:solidFill>
                </a:rPr>
                <a:t>#05</a:t>
              </a:r>
              <a:endParaRPr lang="zh-CN" altLang="en-US" sz="3500" dirty="0">
                <a:solidFill>
                  <a:schemeClr val="accent1"/>
                </a:solidFill>
              </a:endParaRPr>
            </a:p>
          </p:txBody>
        </p:sp>
      </p:grpSp>
      <p:sp>
        <p:nvSpPr>
          <p:cNvPr id="13" name="文本框 12"/>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4965AA"/>
                </a:highlight>
                <a:latin typeface="Eras Bold ITC" panose="020B0907030504020204" pitchFamily="34" charset="0"/>
              </a:rPr>
              <a:t>SUSTech</a:t>
            </a:r>
            <a:r>
              <a:rPr lang="en-US" altLang="zh-CN" sz="3000" dirty="0">
                <a:solidFill>
                  <a:srgbClr val="EFA7A7"/>
                </a:solidFill>
                <a:highlight>
                  <a:srgbClr val="4965AA"/>
                </a:highlight>
                <a:latin typeface="Eras Bold ITC" panose="020B0907030504020204" pitchFamily="34" charset="0"/>
              </a:rPr>
              <a:t>-BIO</a:t>
            </a:r>
            <a:endParaRPr lang="zh-CN" altLang="en-US" sz="3000" dirty="0">
              <a:solidFill>
                <a:srgbClr val="EFA7A7"/>
              </a:solidFill>
              <a:highlight>
                <a:srgbClr val="4965AA"/>
              </a:highlight>
              <a:latin typeface="Eras Bold ITC" panose="020B0907030504020204" pitchFamily="34" charset="0"/>
            </a:endParaRPr>
          </a:p>
        </p:txBody>
      </p:sp>
      <p:sp>
        <p:nvSpPr>
          <p:cNvPr id="15" name="文本框 14"/>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chemeClr val="bg1"/>
                </a:solidFill>
              </a:rPr>
              <a:t>Southern University of </a:t>
            </a:r>
            <a:endParaRPr lang="en-US" altLang="zh-CN" sz="1000" cap="all" dirty="0">
              <a:solidFill>
                <a:schemeClr val="bg1"/>
              </a:solidFill>
            </a:endParaRPr>
          </a:p>
          <a:p>
            <a:pPr algn="r"/>
            <a:r>
              <a:rPr lang="en-US" altLang="zh-CN" sz="1000" cap="all" dirty="0">
                <a:solidFill>
                  <a:schemeClr val="bg1"/>
                </a:solidFill>
              </a:rPr>
              <a:t>science and technology</a:t>
            </a:r>
            <a:endParaRPr lang="zh-CN" altLang="en-US" sz="1000" cap="all" dirty="0">
              <a:solidFill>
                <a:schemeClr val="bg1"/>
              </a:solidFill>
            </a:endParaRPr>
          </a:p>
        </p:txBody>
      </p:sp>
      <p:pic>
        <p:nvPicPr>
          <p:cNvPr id="22" name="图片 2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577610" y="2495329"/>
            <a:ext cx="4426313" cy="4435894"/>
          </a:xfrm>
          <a:prstGeom prst="rect">
            <a:avLst/>
          </a:prstGeom>
        </p:spPr>
      </p:pic>
      <p:grpSp>
        <p:nvGrpSpPr>
          <p:cNvPr id="14" name="组合 13"/>
          <p:cNvGrpSpPr/>
          <p:nvPr/>
        </p:nvGrpSpPr>
        <p:grpSpPr>
          <a:xfrm>
            <a:off x="9647057" y="109178"/>
            <a:ext cx="2408906" cy="713649"/>
            <a:chOff x="9647057" y="109178"/>
            <a:chExt cx="2408906" cy="713649"/>
          </a:xfrm>
        </p:grpSpPr>
        <p:sp>
          <p:nvSpPr>
            <p:cNvPr id="16" name="矩形 15"/>
            <p:cNvSpPr/>
            <p:nvPr/>
          </p:nvSpPr>
          <p:spPr>
            <a:xfrm>
              <a:off x="9799713" y="197831"/>
              <a:ext cx="2117376" cy="53634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9647057" y="244473"/>
              <a:ext cx="1577355" cy="307777"/>
            </a:xfrm>
            <a:prstGeom prst="rect">
              <a:avLst/>
            </a:prstGeom>
            <a:noFill/>
          </p:spPr>
          <p:txBody>
            <a:bodyPr wrap="square" lIns="0" tIns="0" rIns="0" bIns="0" rtlCol="0">
              <a:spAutoFit/>
            </a:bodyPr>
            <a:lstStyle/>
            <a:p>
              <a:pPr algn="r"/>
              <a:r>
                <a:rPr lang="en-US" altLang="zh-CN" sz="1000" cap="all" dirty="0">
                  <a:solidFill>
                    <a:schemeClr val="bg1"/>
                  </a:solidFill>
                  <a:highlight>
                    <a:srgbClr val="4965AA"/>
                  </a:highlight>
                </a:rPr>
                <a:t>Southern University of </a:t>
              </a:r>
              <a:endParaRPr lang="en-US" altLang="zh-CN" sz="1000" cap="all" dirty="0">
                <a:solidFill>
                  <a:schemeClr val="bg1"/>
                </a:solidFill>
                <a:highlight>
                  <a:srgbClr val="4965AA"/>
                </a:highlight>
              </a:endParaRPr>
            </a:p>
            <a:p>
              <a:pPr algn="r"/>
              <a:r>
                <a:rPr lang="en-US" altLang="zh-CN" sz="1000" cap="all" dirty="0">
                  <a:solidFill>
                    <a:schemeClr val="bg1"/>
                  </a:solidFill>
                  <a:highlight>
                    <a:srgbClr val="4965AA"/>
                  </a:highlight>
                </a:rPr>
                <a:t>science and technology</a:t>
              </a:r>
              <a:endParaRPr lang="zh-CN" altLang="en-US" sz="1000" cap="all" dirty="0">
                <a:solidFill>
                  <a:schemeClr val="bg1"/>
                </a:solidFill>
                <a:highlight>
                  <a:srgbClr val="4965AA"/>
                </a:highlight>
              </a:endParaRPr>
            </a:p>
          </p:txBody>
        </p:sp>
        <p:pic>
          <p:nvPicPr>
            <p:cNvPr id="2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239738" y="2754066"/>
            <a:ext cx="5645200" cy="615553"/>
          </a:xfrm>
          <a:prstGeom prst="rect">
            <a:avLst/>
          </a:prstGeom>
          <a:noFill/>
        </p:spPr>
        <p:txBody>
          <a:bodyPr wrap="none" lIns="0" tIns="0" rIns="0" bIns="0" rtlCol="0">
            <a:spAutoFit/>
          </a:bodyPr>
          <a:lstStyle/>
          <a:p>
            <a:pPr algn="ctr"/>
            <a:r>
              <a:rPr lang="zh-CN" altLang="en-US" sz="4000" dirty="0">
                <a:solidFill>
                  <a:schemeClr val="bg1"/>
                </a:solidFill>
              </a:rPr>
              <a:t>科学问题：</a:t>
            </a:r>
            <a:r>
              <a:rPr lang="en-US" altLang="zh-CN" sz="4000" dirty="0">
                <a:solidFill>
                  <a:schemeClr val="bg1"/>
                </a:solidFill>
              </a:rPr>
              <a:t>RNA</a:t>
            </a:r>
            <a:r>
              <a:rPr lang="zh-CN" altLang="en-US" sz="4000" dirty="0">
                <a:solidFill>
                  <a:schemeClr val="bg1"/>
                </a:solidFill>
              </a:rPr>
              <a:t>技术困境</a:t>
            </a:r>
            <a:endParaRPr lang="zh-CN" altLang="en-US" sz="4000" dirty="0">
              <a:solidFill>
                <a:schemeClr val="bg1"/>
              </a:solidFill>
            </a:endParaRPr>
          </a:p>
        </p:txBody>
      </p:sp>
      <p:sp>
        <p:nvSpPr>
          <p:cNvPr id="5" name="文本框 4"/>
          <p:cNvSpPr txBox="1"/>
          <p:nvPr/>
        </p:nvSpPr>
        <p:spPr>
          <a:xfrm>
            <a:off x="4615498" y="3457789"/>
            <a:ext cx="2961003" cy="276999"/>
          </a:xfrm>
          <a:prstGeom prst="rect">
            <a:avLst/>
          </a:prstGeom>
          <a:noFill/>
        </p:spPr>
        <p:txBody>
          <a:bodyPr wrap="none" lIns="0" tIns="0" rIns="0" bIns="0" rtlCol="0">
            <a:spAutoFit/>
          </a:bodyPr>
          <a:lstStyle/>
          <a:p>
            <a:pPr algn="ctr"/>
            <a:r>
              <a:rPr lang="en-US" altLang="zh-CN" dirty="0">
                <a:solidFill>
                  <a:schemeClr val="bg1"/>
                </a:solidFill>
              </a:rPr>
              <a:t>Background of Topic Selection</a:t>
            </a:r>
            <a:endParaRPr lang="en-US" altLang="zh-CN" dirty="0">
              <a:solidFill>
                <a:schemeClr val="bg1"/>
              </a:solidFill>
            </a:endParaRPr>
          </a:p>
        </p:txBody>
      </p:sp>
      <p:sp>
        <p:nvSpPr>
          <p:cNvPr id="6" name="文本框 5"/>
          <p:cNvSpPr txBox="1"/>
          <p:nvPr/>
        </p:nvSpPr>
        <p:spPr>
          <a:xfrm>
            <a:off x="5633028" y="2040170"/>
            <a:ext cx="750205" cy="538609"/>
          </a:xfrm>
          <a:prstGeom prst="rect">
            <a:avLst/>
          </a:prstGeom>
          <a:noFill/>
        </p:spPr>
        <p:txBody>
          <a:bodyPr wrap="none" lIns="0" tIns="0" rIns="0" bIns="0" rtlCol="0">
            <a:spAutoFit/>
          </a:bodyPr>
          <a:lstStyle/>
          <a:p>
            <a:pPr algn="ctr"/>
            <a:r>
              <a:rPr lang="en-US" altLang="zh-CN" sz="4000" dirty="0">
                <a:solidFill>
                  <a:schemeClr val="bg1"/>
                </a:solidFill>
              </a:rPr>
              <a:t>#01</a:t>
            </a:r>
            <a:endParaRPr lang="zh-CN" altLang="en-US" sz="4000" dirty="0">
              <a:solidFill>
                <a:schemeClr val="bg1"/>
              </a:solidFill>
            </a:endParaRPr>
          </a:p>
        </p:txBody>
      </p:sp>
      <p:cxnSp>
        <p:nvCxnSpPr>
          <p:cNvPr id="3" name="直接连接符 2"/>
          <p:cNvCxnSpPr/>
          <p:nvPr/>
        </p:nvCxnSpPr>
        <p:spPr>
          <a:xfrm>
            <a:off x="731838" y="6162908"/>
            <a:ext cx="107283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2462338" y="1811959"/>
            <a:ext cx="7200000" cy="2373156"/>
            <a:chOff x="3396114" y="1811959"/>
            <a:chExt cx="5482323" cy="2373156"/>
          </a:xfrm>
        </p:grpSpPr>
        <p:sp>
          <p:nvSpPr>
            <p:cNvPr id="9" name="矩形 8"/>
            <p:cNvSpPr/>
            <p:nvPr/>
          </p:nvSpPr>
          <p:spPr>
            <a:xfrm>
              <a:off x="3396114" y="1811959"/>
              <a:ext cx="5399773" cy="22715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7" name="矩形 26"/>
            <p:cNvSpPr/>
            <p:nvPr/>
          </p:nvSpPr>
          <p:spPr>
            <a:xfrm>
              <a:off x="3478664" y="1913559"/>
              <a:ext cx="5399773" cy="22715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3" name="文本占位符 12"/>
          <p:cNvSpPr>
            <a:spLocks noGrp="1"/>
          </p:cNvSpPr>
          <p:nvPr>
            <p:ph type="body" sz="quarter" idx="10"/>
          </p:nvPr>
        </p:nvSpPr>
        <p:spPr>
          <a:xfrm>
            <a:off x="736600" y="6239103"/>
            <a:ext cx="423193" cy="230832"/>
          </a:xfrm>
        </p:spPr>
        <p:txBody>
          <a:bodyPr>
            <a:spAutoFit/>
          </a:bodyPr>
          <a:lstStyle/>
          <a:p>
            <a:r>
              <a:rPr lang="en-US" altLang="zh-CN" dirty="0"/>
              <a:t>2026</a:t>
            </a:r>
            <a:endParaRPr lang="zh-CN" altLang="en-US" dirty="0"/>
          </a:p>
        </p:txBody>
      </p:sp>
      <p:sp>
        <p:nvSpPr>
          <p:cNvPr id="15" name="文本占位符 14"/>
          <p:cNvSpPr>
            <a:spLocks noGrp="1"/>
          </p:cNvSpPr>
          <p:nvPr>
            <p:ph type="body" sz="quarter" idx="11"/>
          </p:nvPr>
        </p:nvSpPr>
        <p:spPr>
          <a:xfrm>
            <a:off x="10686535" y="6239103"/>
            <a:ext cx="768865" cy="230832"/>
          </a:xfrm>
        </p:spPr>
        <p:txBody>
          <a:bodyPr>
            <a:spAutoFit/>
          </a:bodyPr>
          <a:lstStyle/>
          <a:p>
            <a:r>
              <a:rPr lang="en-US" altLang="zh-CN" sz="1500" dirty="0">
                <a:solidFill>
                  <a:schemeClr val="bg1"/>
                </a:solidFill>
              </a:rPr>
              <a:t>May 17th</a:t>
            </a:r>
            <a:endParaRPr lang="zh-CN" altLang="en-US" sz="1500" dirty="0">
              <a:solidFill>
                <a:schemeClr val="bg1"/>
              </a:solidFill>
            </a:endParaRPr>
          </a:p>
        </p:txBody>
      </p:sp>
      <p:grpSp>
        <p:nvGrpSpPr>
          <p:cNvPr id="29" name="组合 28"/>
          <p:cNvGrpSpPr/>
          <p:nvPr/>
        </p:nvGrpSpPr>
        <p:grpSpPr>
          <a:xfrm>
            <a:off x="3083183" y="6260069"/>
            <a:ext cx="6025634" cy="184666"/>
            <a:chOff x="3692753" y="6260069"/>
            <a:chExt cx="6025634" cy="184666"/>
          </a:xfrm>
        </p:grpSpPr>
        <p:grpSp>
          <p:nvGrpSpPr>
            <p:cNvPr id="10" name="组合 9"/>
            <p:cNvGrpSpPr/>
            <p:nvPr/>
          </p:nvGrpSpPr>
          <p:grpSpPr>
            <a:xfrm>
              <a:off x="4682111" y="6260069"/>
              <a:ext cx="897875" cy="184666"/>
              <a:chOff x="4914007" y="6260069"/>
              <a:chExt cx="897875" cy="184666"/>
            </a:xfrm>
          </p:grpSpPr>
          <p:sp>
            <p:nvSpPr>
              <p:cNvPr id="11" name="文本框 10"/>
              <p:cNvSpPr txBox="1"/>
              <p:nvPr/>
            </p:nvSpPr>
            <p:spPr>
              <a:xfrm>
                <a:off x="5042441" y="6260069"/>
                <a:ext cx="769441" cy="184666"/>
              </a:xfrm>
              <a:prstGeom prst="rect">
                <a:avLst/>
              </a:prstGeom>
              <a:noFill/>
            </p:spPr>
            <p:txBody>
              <a:bodyPr wrap="none" lIns="0" tIns="0" rIns="0" bIns="0" rtlCol="0">
                <a:spAutoFit/>
              </a:bodyPr>
              <a:lstStyle/>
              <a:p>
                <a:r>
                  <a:rPr lang="zh-CN" altLang="en-US" sz="1200" dirty="0">
                    <a:solidFill>
                      <a:schemeClr val="bg1">
                        <a:alpha val="50000"/>
                      </a:schemeClr>
                    </a:solidFill>
                  </a:rPr>
                  <a:t>核心创新点</a:t>
                </a:r>
                <a:endParaRPr lang="zh-CN" altLang="en-US" sz="1200" dirty="0">
                  <a:solidFill>
                    <a:schemeClr val="bg1">
                      <a:alpha val="50000"/>
                    </a:schemeClr>
                  </a:solidFill>
                </a:endParaRPr>
              </a:p>
            </p:txBody>
          </p:sp>
          <p:sp>
            <p:nvSpPr>
              <p:cNvPr id="19" name="椭圆 18"/>
              <p:cNvSpPr/>
              <p:nvPr/>
            </p:nvSpPr>
            <p:spPr>
              <a:xfrm>
                <a:off x="4914007"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2" name="组合 11"/>
            <p:cNvGrpSpPr/>
            <p:nvPr/>
          </p:nvGrpSpPr>
          <p:grpSpPr>
            <a:xfrm>
              <a:off x="5787892" y="6260069"/>
              <a:ext cx="1565046" cy="184666"/>
              <a:chOff x="6097796" y="6260069"/>
              <a:chExt cx="1565046" cy="184666"/>
            </a:xfrm>
          </p:grpSpPr>
          <p:sp>
            <p:nvSpPr>
              <p:cNvPr id="14" name="文本框 13"/>
              <p:cNvSpPr txBox="1"/>
              <p:nvPr/>
            </p:nvSpPr>
            <p:spPr>
              <a:xfrm>
                <a:off x="6226230" y="6260069"/>
                <a:ext cx="1436612" cy="184666"/>
              </a:xfrm>
              <a:prstGeom prst="rect">
                <a:avLst/>
              </a:prstGeom>
              <a:noFill/>
            </p:spPr>
            <p:txBody>
              <a:bodyPr wrap="none" lIns="0" tIns="0" rIns="0" bIns="0" rtlCol="0">
                <a:spAutoFit/>
              </a:bodyPr>
              <a:lstStyle/>
              <a:p>
                <a:r>
                  <a:rPr lang="zh-CN" altLang="en-US" sz="1200" dirty="0">
                    <a:solidFill>
                      <a:schemeClr val="bg1">
                        <a:alpha val="50000"/>
                      </a:schemeClr>
                    </a:solidFill>
                  </a:rPr>
                  <a:t>系统设计与机制解析</a:t>
                </a:r>
                <a:endParaRPr lang="zh-CN" altLang="en-US" sz="1200" dirty="0">
                  <a:solidFill>
                    <a:schemeClr val="bg1">
                      <a:alpha val="50000"/>
                    </a:schemeClr>
                  </a:solidFill>
                </a:endParaRPr>
              </a:p>
            </p:txBody>
          </p:sp>
          <p:sp>
            <p:nvSpPr>
              <p:cNvPr id="20" name="椭圆 19"/>
              <p:cNvSpPr/>
              <p:nvPr/>
            </p:nvSpPr>
            <p:spPr>
              <a:xfrm>
                <a:off x="6097796"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6" name="组合 15"/>
            <p:cNvGrpSpPr/>
            <p:nvPr/>
          </p:nvGrpSpPr>
          <p:grpSpPr>
            <a:xfrm>
              <a:off x="7560844" y="6260069"/>
              <a:ext cx="1051763" cy="184666"/>
              <a:chOff x="7589362" y="6260069"/>
              <a:chExt cx="1051763" cy="184666"/>
            </a:xfrm>
          </p:grpSpPr>
          <p:sp>
            <p:nvSpPr>
              <p:cNvPr id="17" name="文本框 16"/>
              <p:cNvSpPr txBox="1"/>
              <p:nvPr/>
            </p:nvSpPr>
            <p:spPr>
              <a:xfrm>
                <a:off x="7717795" y="6260069"/>
                <a:ext cx="923330" cy="184666"/>
              </a:xfrm>
              <a:prstGeom prst="rect">
                <a:avLst/>
              </a:prstGeom>
              <a:noFill/>
            </p:spPr>
            <p:txBody>
              <a:bodyPr wrap="none" lIns="0" tIns="0" rIns="0" bIns="0" rtlCol="0">
                <a:spAutoFit/>
              </a:bodyPr>
              <a:lstStyle/>
              <a:p>
                <a:r>
                  <a:rPr lang="zh-CN" altLang="en-US" sz="1200" dirty="0">
                    <a:solidFill>
                      <a:schemeClr val="bg1">
                        <a:alpha val="50000"/>
                      </a:schemeClr>
                    </a:solidFill>
                  </a:rPr>
                  <a:t>预期结果分析</a:t>
                </a:r>
                <a:endParaRPr lang="zh-CN" altLang="en-US" sz="1200" dirty="0">
                  <a:solidFill>
                    <a:schemeClr val="bg1">
                      <a:alpha val="50000"/>
                    </a:schemeClr>
                  </a:solidFill>
                </a:endParaRPr>
              </a:p>
            </p:txBody>
          </p:sp>
          <p:sp>
            <p:nvSpPr>
              <p:cNvPr id="21" name="椭圆 20"/>
              <p:cNvSpPr/>
              <p:nvPr/>
            </p:nvSpPr>
            <p:spPr>
              <a:xfrm>
                <a:off x="7589362"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7" name="组合 6"/>
            <p:cNvGrpSpPr/>
            <p:nvPr/>
          </p:nvGrpSpPr>
          <p:grpSpPr>
            <a:xfrm>
              <a:off x="3730218" y="6260069"/>
              <a:ext cx="743987" cy="184666"/>
              <a:chOff x="3730218" y="6260069"/>
              <a:chExt cx="743987" cy="184666"/>
            </a:xfrm>
          </p:grpSpPr>
          <p:sp>
            <p:nvSpPr>
              <p:cNvPr id="8" name="文本框 7"/>
              <p:cNvSpPr txBox="1"/>
              <p:nvPr/>
            </p:nvSpPr>
            <p:spPr>
              <a:xfrm>
                <a:off x="3858652" y="6260069"/>
                <a:ext cx="615553" cy="184666"/>
              </a:xfrm>
              <a:prstGeom prst="rect">
                <a:avLst/>
              </a:prstGeom>
              <a:noFill/>
            </p:spPr>
            <p:txBody>
              <a:bodyPr wrap="none" lIns="0" tIns="0" rIns="0" bIns="0" rtlCol="0">
                <a:spAutoFit/>
              </a:bodyPr>
              <a:lstStyle/>
              <a:p>
                <a:r>
                  <a:rPr lang="zh-CN" altLang="en-US" sz="1200" b="1" dirty="0">
                    <a:solidFill>
                      <a:schemeClr val="bg1"/>
                    </a:solidFill>
                  </a:rPr>
                  <a:t>科学问题</a:t>
                </a:r>
                <a:endParaRPr lang="zh-CN" altLang="en-US" sz="1200" b="1" dirty="0">
                  <a:solidFill>
                    <a:schemeClr val="bg1"/>
                  </a:solidFill>
                </a:endParaRPr>
              </a:p>
            </p:txBody>
          </p:sp>
          <p:sp>
            <p:nvSpPr>
              <p:cNvPr id="22" name="椭圆 21"/>
              <p:cNvSpPr/>
              <p:nvPr/>
            </p:nvSpPr>
            <p:spPr>
              <a:xfrm>
                <a:off x="3730218"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23" name="椭圆 22"/>
            <p:cNvSpPr/>
            <p:nvPr/>
          </p:nvSpPr>
          <p:spPr>
            <a:xfrm>
              <a:off x="3692753" y="6301988"/>
              <a:ext cx="120650" cy="120650"/>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25" name="组合 24"/>
            <p:cNvGrpSpPr/>
            <p:nvPr/>
          </p:nvGrpSpPr>
          <p:grpSpPr>
            <a:xfrm>
              <a:off x="8820513" y="6260069"/>
              <a:ext cx="897874" cy="184666"/>
              <a:chOff x="7589362" y="6260069"/>
              <a:chExt cx="897874" cy="184666"/>
            </a:xfrm>
          </p:grpSpPr>
          <p:sp>
            <p:nvSpPr>
              <p:cNvPr id="26" name="文本框 25"/>
              <p:cNvSpPr txBox="1"/>
              <p:nvPr/>
            </p:nvSpPr>
            <p:spPr>
              <a:xfrm>
                <a:off x="7717795" y="6260069"/>
                <a:ext cx="769441" cy="184666"/>
              </a:xfrm>
              <a:prstGeom prst="rect">
                <a:avLst/>
              </a:prstGeom>
              <a:noFill/>
            </p:spPr>
            <p:txBody>
              <a:bodyPr wrap="none" lIns="0" tIns="0" rIns="0" bIns="0" rtlCol="0">
                <a:spAutoFit/>
              </a:bodyPr>
              <a:lstStyle/>
              <a:p>
                <a:r>
                  <a:rPr lang="zh-CN" altLang="en-US" sz="1200" dirty="0">
                    <a:solidFill>
                      <a:schemeClr val="bg1">
                        <a:alpha val="50000"/>
                      </a:schemeClr>
                    </a:solidFill>
                  </a:rPr>
                  <a:t>意义与展望</a:t>
                </a:r>
                <a:endParaRPr lang="zh-CN" altLang="en-US" sz="1200" dirty="0">
                  <a:solidFill>
                    <a:schemeClr val="bg1">
                      <a:alpha val="50000"/>
                    </a:schemeClr>
                  </a:solidFill>
                </a:endParaRPr>
              </a:p>
            </p:txBody>
          </p:sp>
          <p:sp>
            <p:nvSpPr>
              <p:cNvPr id="28" name="椭圆 27"/>
              <p:cNvSpPr/>
              <p:nvPr/>
            </p:nvSpPr>
            <p:spPr>
              <a:xfrm>
                <a:off x="7589362"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sp>
        <p:nvSpPr>
          <p:cNvPr id="32" name="文本框 31"/>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chemeClr val="bg1"/>
                </a:solidFill>
                <a:highlight>
                  <a:srgbClr val="4965AA"/>
                </a:highlight>
              </a:rPr>
              <a:t>Southern University of </a:t>
            </a:r>
            <a:endParaRPr lang="en-US" altLang="zh-CN" sz="1000" cap="all" dirty="0">
              <a:solidFill>
                <a:schemeClr val="bg1"/>
              </a:solidFill>
              <a:highlight>
                <a:srgbClr val="4965AA"/>
              </a:highlight>
            </a:endParaRPr>
          </a:p>
          <a:p>
            <a:pPr algn="r"/>
            <a:r>
              <a:rPr lang="en-US" altLang="zh-CN" sz="1000" cap="all" dirty="0">
                <a:solidFill>
                  <a:schemeClr val="bg1"/>
                </a:solidFill>
                <a:highlight>
                  <a:srgbClr val="4965AA"/>
                </a:highlight>
              </a:rPr>
              <a:t>science and technology</a:t>
            </a:r>
            <a:endParaRPr lang="zh-CN" altLang="en-US" sz="1000" cap="all" dirty="0">
              <a:solidFill>
                <a:schemeClr val="bg1"/>
              </a:solidFill>
              <a:highlight>
                <a:srgbClr val="4965AA"/>
              </a:highlight>
            </a:endParaRPr>
          </a:p>
        </p:txBody>
      </p:sp>
      <p:grpSp>
        <p:nvGrpSpPr>
          <p:cNvPr id="18" name="组合 17"/>
          <p:cNvGrpSpPr/>
          <p:nvPr/>
        </p:nvGrpSpPr>
        <p:grpSpPr>
          <a:xfrm>
            <a:off x="9799713" y="109178"/>
            <a:ext cx="2256250" cy="713649"/>
            <a:chOff x="9799713" y="109178"/>
            <a:chExt cx="2256250" cy="713649"/>
          </a:xfrm>
        </p:grpSpPr>
        <p:sp>
          <p:nvSpPr>
            <p:cNvPr id="24" name="矩形 23"/>
            <p:cNvSpPr/>
            <p:nvPr/>
          </p:nvSpPr>
          <p:spPr>
            <a:xfrm>
              <a:off x="9799713" y="197831"/>
              <a:ext cx="2117376" cy="53634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pic>
        <p:nvPicPr>
          <p:cNvPr id="37" name="图片 3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6510" y="-379570"/>
            <a:ext cx="1662864" cy="1666463"/>
          </a:xfrm>
          <a:prstGeom prst="rect">
            <a:avLst/>
          </a:prstGeom>
        </p:spPr>
      </p:pic>
      <p:sp>
        <p:nvSpPr>
          <p:cNvPr id="38" name="文本框 37"/>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4965AA"/>
                </a:highlight>
                <a:latin typeface="Eras Bold ITC" panose="020B0907030504020204" pitchFamily="34" charset="0"/>
              </a:rPr>
              <a:t>SUSTech</a:t>
            </a:r>
            <a:r>
              <a:rPr lang="en-US" altLang="zh-CN" sz="3000" dirty="0">
                <a:solidFill>
                  <a:srgbClr val="EFA7A7"/>
                </a:solidFill>
                <a:highlight>
                  <a:srgbClr val="4965AA"/>
                </a:highlight>
                <a:latin typeface="Eras Bold ITC" panose="020B0907030504020204" pitchFamily="34" charset="0"/>
              </a:rPr>
              <a:t>-BIO</a:t>
            </a:r>
            <a:endParaRPr lang="zh-CN" altLang="en-US" sz="3000" dirty="0">
              <a:solidFill>
                <a:srgbClr val="EFA7A7"/>
              </a:solidFill>
              <a:highlight>
                <a:srgbClr val="4965AA"/>
              </a:highlight>
              <a:latin typeface="Eras Bold ITC" panose="020B0907030504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5756876" y="0"/>
            <a:ext cx="6435124"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711202" y="5989320"/>
            <a:ext cx="1847175" cy="3200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nvSpPr>
        <p:spPr>
          <a:xfrm>
            <a:off x="463046" y="749346"/>
            <a:ext cx="1641475" cy="492443"/>
          </a:xfrm>
          <a:prstGeom prst="rect">
            <a:avLst/>
          </a:prstGeom>
          <a:noFill/>
        </p:spPr>
        <p:txBody>
          <a:bodyPr wrap="none" lIns="0" tIns="0" rIns="0" bIns="0" rtlCol="0">
            <a:spAutoFit/>
          </a:bodyPr>
          <a:lstStyle/>
          <a:p>
            <a:r>
              <a:rPr lang="zh-CN" altLang="en-US" sz="3200" b="1" dirty="0">
                <a:solidFill>
                  <a:schemeClr val="bg1"/>
                </a:solidFill>
                <a:latin typeface="+mj-ea"/>
                <a:ea typeface="+mj-ea"/>
              </a:rPr>
              <a:t>科学问题</a:t>
            </a:r>
            <a:endParaRPr lang="zh-CN" altLang="en-US" sz="3200" b="1" dirty="0">
              <a:solidFill>
                <a:schemeClr val="bg1"/>
              </a:solidFill>
              <a:latin typeface="+mj-ea"/>
              <a:ea typeface="+mj-ea"/>
            </a:endParaRPr>
          </a:p>
        </p:txBody>
      </p:sp>
      <p:sp>
        <p:nvSpPr>
          <p:cNvPr id="75" name="文本框 74"/>
          <p:cNvSpPr txBox="1"/>
          <p:nvPr/>
        </p:nvSpPr>
        <p:spPr>
          <a:xfrm>
            <a:off x="3892341" y="2824782"/>
            <a:ext cx="1806585" cy="307777"/>
          </a:xfrm>
          <a:prstGeom prst="rect">
            <a:avLst/>
          </a:prstGeom>
          <a:noFill/>
        </p:spPr>
        <p:txBody>
          <a:bodyPr wrap="none" lIns="0" tIns="0" rIns="0" bIns="0" rtlCol="0">
            <a:spAutoFit/>
          </a:bodyPr>
          <a:lstStyle/>
          <a:p>
            <a:r>
              <a:rPr lang="zh-CN" altLang="en-US" sz="2000" b="1" dirty="0">
                <a:solidFill>
                  <a:schemeClr val="accent1"/>
                </a:solidFill>
              </a:rPr>
              <a:t>具有前瞻性</a:t>
            </a:r>
            <a:endParaRPr lang="zh-CN" altLang="en-US" sz="2000" b="1" dirty="0">
              <a:solidFill>
                <a:schemeClr val="accent1"/>
              </a:solidFill>
            </a:endParaRPr>
          </a:p>
        </p:txBody>
      </p:sp>
      <p:sp>
        <p:nvSpPr>
          <p:cNvPr id="71" name="文本框 70"/>
          <p:cNvSpPr txBox="1"/>
          <p:nvPr/>
        </p:nvSpPr>
        <p:spPr>
          <a:xfrm>
            <a:off x="1052667" y="3986232"/>
            <a:ext cx="2386988" cy="825932"/>
          </a:xfrm>
          <a:prstGeom prst="rect">
            <a:avLst/>
          </a:prstGeom>
          <a:noFill/>
        </p:spPr>
        <p:txBody>
          <a:bodyPr wrap="square" lIns="0" tIns="0" rIns="0" bIns="0" rtlCol="0">
            <a:spAutoFit/>
          </a:bodyPr>
          <a:lstStyle/>
          <a:p>
            <a:pPr>
              <a:lnSpc>
                <a:spcPct val="125000"/>
              </a:lnSpc>
            </a:pPr>
            <a:endParaRPr lang="zh-CN" altLang="en-US" sz="1500" dirty="0">
              <a:solidFill>
                <a:schemeClr val="bg1"/>
              </a:solidFill>
              <a:latin typeface="+mn-ea"/>
            </a:endParaRPr>
          </a:p>
        </p:txBody>
      </p:sp>
      <p:sp>
        <p:nvSpPr>
          <p:cNvPr id="83" name="文本框 82"/>
          <p:cNvSpPr txBox="1"/>
          <p:nvPr/>
        </p:nvSpPr>
        <p:spPr>
          <a:xfrm>
            <a:off x="4899070" y="2188535"/>
            <a:ext cx="1290418" cy="307777"/>
          </a:xfrm>
          <a:prstGeom prst="rect">
            <a:avLst/>
          </a:prstGeom>
          <a:noFill/>
        </p:spPr>
        <p:txBody>
          <a:bodyPr wrap="none" lIns="0" tIns="0" rIns="0" bIns="0" rtlCol="0">
            <a:spAutoFit/>
          </a:bodyPr>
          <a:lstStyle/>
          <a:p>
            <a:endParaRPr lang="zh-CN" altLang="en-US" sz="2000" b="1" dirty="0">
              <a:solidFill>
                <a:schemeClr val="bg1"/>
              </a:solidFill>
            </a:endParaRPr>
          </a:p>
        </p:txBody>
      </p:sp>
      <p:sp>
        <p:nvSpPr>
          <p:cNvPr id="84" name="文本框 83"/>
          <p:cNvSpPr txBox="1"/>
          <p:nvPr/>
        </p:nvSpPr>
        <p:spPr>
          <a:xfrm>
            <a:off x="8748910" y="2188535"/>
            <a:ext cx="1806585" cy="307777"/>
          </a:xfrm>
          <a:prstGeom prst="rect">
            <a:avLst/>
          </a:prstGeom>
          <a:noFill/>
        </p:spPr>
        <p:txBody>
          <a:bodyPr wrap="none" lIns="0" tIns="0" rIns="0" bIns="0" rtlCol="0">
            <a:spAutoFit/>
          </a:bodyPr>
          <a:lstStyle/>
          <a:p>
            <a:endParaRPr lang="zh-CN" altLang="en-US" sz="2000" b="1" dirty="0">
              <a:solidFill>
                <a:schemeClr val="bg1"/>
              </a:solidFill>
            </a:endParaRPr>
          </a:p>
        </p:txBody>
      </p:sp>
      <p:grpSp>
        <p:nvGrpSpPr>
          <p:cNvPr id="16" name="组合 15"/>
          <p:cNvGrpSpPr/>
          <p:nvPr/>
        </p:nvGrpSpPr>
        <p:grpSpPr>
          <a:xfrm>
            <a:off x="4899070" y="4102022"/>
            <a:ext cx="6887977" cy="2268000"/>
            <a:chOff x="3632797" y="4321744"/>
            <a:chExt cx="7256183" cy="2268000"/>
          </a:xfrm>
        </p:grpSpPr>
        <p:sp>
          <p:nvSpPr>
            <p:cNvPr id="79" name="矩形 78"/>
            <p:cNvSpPr/>
            <p:nvPr/>
          </p:nvSpPr>
          <p:spPr>
            <a:xfrm>
              <a:off x="3632797" y="4321744"/>
              <a:ext cx="7256183" cy="2268000"/>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80" name="文本框 79"/>
            <p:cNvSpPr txBox="1"/>
            <p:nvPr/>
          </p:nvSpPr>
          <p:spPr>
            <a:xfrm>
              <a:off x="3892341" y="4514016"/>
              <a:ext cx="6612452" cy="369332"/>
            </a:xfrm>
            <a:prstGeom prst="rect">
              <a:avLst/>
            </a:prstGeom>
            <a:noFill/>
          </p:spPr>
          <p:txBody>
            <a:bodyPr wrap="none" lIns="0" tIns="0" rIns="0" bIns="0" rtlCol="0">
              <a:spAutoFit/>
            </a:bodyPr>
            <a:lstStyle/>
            <a:p>
              <a:r>
                <a:rPr lang="zh-CN" altLang="en-US" sz="2400" b="1" dirty="0">
                  <a:solidFill>
                    <a:schemeClr val="accent1"/>
                  </a:solidFill>
                </a:rPr>
                <a:t>同源 </a:t>
              </a:r>
              <a:r>
                <a:rPr lang="en-US" altLang="zh-CN" sz="2400" b="1" dirty="0">
                  <a:solidFill>
                    <a:schemeClr val="accent1"/>
                  </a:solidFill>
                </a:rPr>
                <a:t>RNA </a:t>
              </a:r>
              <a:r>
                <a:rPr lang="zh-CN" altLang="en-US" sz="2400" b="1" dirty="0">
                  <a:solidFill>
                    <a:schemeClr val="accent1"/>
                  </a:solidFill>
                </a:rPr>
                <a:t>区分困境 </a:t>
              </a:r>
              <a:r>
                <a:rPr lang="en-US" altLang="zh-CN" sz="2400" b="1" dirty="0">
                  <a:solidFill>
                    <a:schemeClr val="accent1"/>
                  </a:solidFill>
                </a:rPr>
                <a:t>&amp; RNA</a:t>
              </a:r>
              <a:r>
                <a:rPr lang="zh-CN" altLang="en-US" sz="2400" b="1" dirty="0">
                  <a:solidFill>
                    <a:schemeClr val="accent1"/>
                  </a:solidFill>
                </a:rPr>
                <a:t>毒性</a:t>
              </a:r>
              <a:r>
                <a:rPr lang="en-US" altLang="zh-CN" sz="2400" baseline="30000" dirty="0">
                  <a:solidFill>
                    <a:schemeClr val="accent1"/>
                  </a:solidFill>
                </a:rPr>
                <a:t>[2]</a:t>
              </a:r>
              <a:r>
                <a:rPr lang="zh-CN" altLang="en-US" sz="2400" b="1" dirty="0">
                  <a:solidFill>
                    <a:schemeClr val="accent1"/>
                  </a:solidFill>
                </a:rPr>
                <a:t>高级结构发现</a:t>
              </a:r>
              <a:endParaRPr lang="zh-CN" altLang="en-US" sz="2400" b="1" dirty="0">
                <a:solidFill>
                  <a:schemeClr val="accent1"/>
                </a:solidFill>
              </a:endParaRPr>
            </a:p>
          </p:txBody>
        </p:sp>
        <p:sp>
          <p:nvSpPr>
            <p:cNvPr id="81" name="文本框 80"/>
            <p:cNvSpPr txBox="1"/>
            <p:nvPr/>
          </p:nvSpPr>
          <p:spPr>
            <a:xfrm>
              <a:off x="3892341" y="5090215"/>
              <a:ext cx="6674019" cy="1310743"/>
            </a:xfrm>
            <a:prstGeom prst="rect">
              <a:avLst/>
            </a:prstGeom>
            <a:noFill/>
          </p:spPr>
          <p:txBody>
            <a:bodyPr wrap="square" lIns="0" tIns="0" rIns="0" bIns="0" rtlCol="0">
              <a:spAutoFit/>
            </a:bodyPr>
            <a:lstStyle/>
            <a:p>
              <a:pPr>
                <a:lnSpc>
                  <a:spcPts val="2600"/>
                </a:lnSpc>
              </a:pPr>
              <a:r>
                <a:rPr lang="en-US" altLang="zh-CN" sz="2000" b="1" dirty="0">
                  <a:solidFill>
                    <a:schemeClr val="tx1">
                      <a:lumMod val="85000"/>
                      <a:lumOff val="15000"/>
                    </a:schemeClr>
                  </a:solidFill>
                  <a:latin typeface="+mn-ea"/>
                </a:rPr>
                <a:t>·</a:t>
              </a:r>
              <a:r>
                <a:rPr lang="zh-CN" altLang="zh-CN" sz="2000" dirty="0"/>
                <a:t>亨廷顿病致病与野生</a:t>
              </a:r>
              <a:r>
                <a:rPr lang="en-US" altLang="zh-CN" sz="2000" dirty="0"/>
                <a:t>RNA</a:t>
              </a:r>
              <a:r>
                <a:rPr lang="zh-CN" altLang="zh-CN" sz="2000" dirty="0"/>
                <a:t>序列</a:t>
              </a:r>
              <a:r>
                <a:rPr lang="zh-CN" altLang="zh-CN" sz="2000" b="1" dirty="0"/>
                <a:t>高度同源</a:t>
              </a:r>
              <a:r>
                <a:rPr lang="zh-CN" altLang="en-US" sz="2000" b="1" dirty="0"/>
                <a:t>，难以区分</a:t>
              </a:r>
              <a:endParaRPr lang="en-US" altLang="zh-CN" sz="2000" b="1" dirty="0"/>
            </a:p>
            <a:p>
              <a:pPr>
                <a:lnSpc>
                  <a:spcPts val="2600"/>
                </a:lnSpc>
              </a:pPr>
              <a:r>
                <a:rPr lang="en-US" altLang="zh-CN" sz="2000" b="1" dirty="0">
                  <a:solidFill>
                    <a:schemeClr val="tx1">
                      <a:lumMod val="85000"/>
                      <a:lumOff val="15000"/>
                    </a:schemeClr>
                  </a:solidFill>
                  <a:latin typeface="+mn-ea"/>
                </a:rPr>
                <a:t>·</a:t>
              </a:r>
              <a:r>
                <a:rPr lang="zh-CN" altLang="zh-CN" sz="2000" dirty="0"/>
                <a:t>突变</a:t>
              </a:r>
              <a:r>
                <a:rPr lang="en-US" altLang="zh-CN" sz="2000" dirty="0"/>
                <a:t>RNA</a:t>
              </a:r>
              <a:r>
                <a:rPr lang="zh-CN" altLang="zh-CN" sz="2000" b="1" dirty="0"/>
                <a:t>特异性异常发夹二级结构</a:t>
              </a:r>
              <a:r>
                <a:rPr lang="zh-CN" altLang="zh-CN" sz="2000" dirty="0"/>
                <a:t>可作为精准靶点</a:t>
              </a:r>
              <a:endParaRPr lang="en-US" altLang="zh-CN" sz="2000" dirty="0"/>
            </a:p>
            <a:p>
              <a:pPr>
                <a:lnSpc>
                  <a:spcPts val="2600"/>
                </a:lnSpc>
              </a:pPr>
              <a:r>
                <a:rPr lang="en-US" altLang="zh-CN" sz="2000" b="1" dirty="0">
                  <a:solidFill>
                    <a:schemeClr val="tx1">
                      <a:lumMod val="85000"/>
                      <a:lumOff val="15000"/>
                    </a:schemeClr>
                  </a:solidFill>
                  <a:latin typeface="+mn-ea"/>
                </a:rPr>
                <a:t>·</a:t>
              </a:r>
              <a:r>
                <a:rPr lang="zh-CN" altLang="zh-CN" sz="2000" dirty="0"/>
                <a:t>据此设计</a:t>
              </a:r>
              <a:r>
                <a:rPr lang="zh-CN" altLang="zh-CN" sz="2000" b="1" dirty="0"/>
                <a:t>结构响应型变构</a:t>
              </a:r>
              <a:r>
                <a:rPr lang="en-US" altLang="zh-CN" sz="2000" b="1" dirty="0"/>
                <a:t>Linker</a:t>
              </a:r>
              <a:r>
                <a:rPr lang="zh-CN" altLang="zh-CN" sz="2000" dirty="0"/>
                <a:t>，仅识别致病</a:t>
              </a:r>
              <a:r>
                <a:rPr lang="en-US" altLang="zh-CN" sz="2000" dirty="0"/>
                <a:t>RNA</a:t>
              </a:r>
              <a:r>
                <a:rPr lang="zh-CN" altLang="zh-CN" sz="2000" dirty="0"/>
                <a:t>后</a:t>
              </a:r>
              <a:r>
                <a:rPr lang="en-US" altLang="zh-CN" sz="2000" dirty="0"/>
                <a:t>   </a:t>
              </a:r>
              <a:endParaRPr lang="en-US" altLang="zh-CN" sz="2000" dirty="0"/>
            </a:p>
            <a:p>
              <a:pPr>
                <a:lnSpc>
                  <a:spcPts val="2600"/>
                </a:lnSpc>
              </a:pPr>
              <a:r>
                <a:rPr lang="en-US" altLang="zh-CN" sz="2000" dirty="0"/>
                <a:t>     </a:t>
              </a:r>
              <a:r>
                <a:rPr lang="zh-CN" altLang="zh-CN" sz="2000" dirty="0"/>
                <a:t>激活，实现同源</a:t>
              </a:r>
              <a:r>
                <a:rPr lang="en-US" altLang="zh-CN" sz="2000" dirty="0"/>
                <a:t>RNA</a:t>
              </a:r>
              <a:r>
                <a:rPr lang="zh-CN" altLang="zh-CN" sz="2000" dirty="0"/>
                <a:t>精准区分</a:t>
              </a:r>
              <a:endParaRPr lang="zh-CN" altLang="zh-CN" sz="2000" dirty="0"/>
            </a:p>
          </p:txBody>
        </p:sp>
        <p:cxnSp>
          <p:nvCxnSpPr>
            <p:cNvPr id="86" name="直接连接符 85"/>
            <p:cNvCxnSpPr/>
            <p:nvPr/>
          </p:nvCxnSpPr>
          <p:spPr>
            <a:xfrm>
              <a:off x="3892341" y="4913438"/>
              <a:ext cx="2775159"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580546" y="1430950"/>
            <a:ext cx="222232" cy="225426"/>
            <a:chOff x="1029398" y="1482433"/>
            <a:chExt cx="222232" cy="225426"/>
          </a:xfrm>
        </p:grpSpPr>
        <p:sp>
          <p:nvSpPr>
            <p:cNvPr id="88" name="矩形 87"/>
            <p:cNvSpPr/>
            <p:nvPr/>
          </p:nvSpPr>
          <p:spPr>
            <a:xfrm>
              <a:off x="1029398" y="1482433"/>
              <a:ext cx="183151" cy="1831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89" name="矩形 88"/>
            <p:cNvSpPr/>
            <p:nvPr/>
          </p:nvSpPr>
          <p:spPr>
            <a:xfrm>
              <a:off x="1068478" y="1524708"/>
              <a:ext cx="183152" cy="1831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5" name="组合 14"/>
          <p:cNvGrpSpPr/>
          <p:nvPr/>
        </p:nvGrpSpPr>
        <p:grpSpPr>
          <a:xfrm>
            <a:off x="2558378" y="898315"/>
            <a:ext cx="9492653" cy="3057999"/>
            <a:chOff x="2558378" y="1020235"/>
            <a:chExt cx="9492653" cy="3057999"/>
          </a:xfrm>
        </p:grpSpPr>
        <p:grpSp>
          <p:nvGrpSpPr>
            <p:cNvPr id="5" name="组合 4"/>
            <p:cNvGrpSpPr/>
            <p:nvPr/>
          </p:nvGrpSpPr>
          <p:grpSpPr>
            <a:xfrm>
              <a:off x="2558378" y="1020235"/>
              <a:ext cx="9228670" cy="3057999"/>
              <a:chOff x="3632798" y="1020235"/>
              <a:chExt cx="9228670" cy="3057999"/>
            </a:xfrm>
          </p:grpSpPr>
          <p:sp>
            <p:nvSpPr>
              <p:cNvPr id="7" name="矩形 6"/>
              <p:cNvSpPr/>
              <p:nvPr/>
            </p:nvSpPr>
            <p:spPr>
              <a:xfrm>
                <a:off x="3632798" y="1020235"/>
                <a:ext cx="9228670" cy="2983039"/>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66" name="文本框 65"/>
              <p:cNvSpPr txBox="1"/>
              <p:nvPr/>
            </p:nvSpPr>
            <p:spPr>
              <a:xfrm>
                <a:off x="3892341" y="1135548"/>
                <a:ext cx="2453172" cy="369332"/>
              </a:xfrm>
              <a:prstGeom prst="rect">
                <a:avLst/>
              </a:prstGeom>
              <a:noFill/>
            </p:spPr>
            <p:txBody>
              <a:bodyPr wrap="none" lIns="0" tIns="0" rIns="0" bIns="0" rtlCol="0">
                <a:spAutoFit/>
              </a:bodyPr>
              <a:lstStyle/>
              <a:p>
                <a:r>
                  <a:rPr lang="en-US" altLang="zh-CN" sz="2400" b="1" dirty="0">
                    <a:solidFill>
                      <a:schemeClr val="accent1"/>
                    </a:solidFill>
                  </a:rPr>
                  <a:t>RNA</a:t>
                </a:r>
                <a:r>
                  <a:rPr lang="zh-CN" altLang="en-US" sz="2400" b="1" dirty="0">
                    <a:solidFill>
                      <a:schemeClr val="accent1"/>
                    </a:solidFill>
                  </a:rPr>
                  <a:t>编辑技术瓶颈</a:t>
                </a:r>
                <a:endParaRPr lang="zh-CN" altLang="en-US" sz="2400" b="1" dirty="0">
                  <a:solidFill>
                    <a:schemeClr val="accent1"/>
                  </a:solidFill>
                </a:endParaRPr>
              </a:p>
            </p:txBody>
          </p:sp>
          <p:cxnSp>
            <p:nvCxnSpPr>
              <p:cNvPr id="11" name="直接连接符 10"/>
              <p:cNvCxnSpPr/>
              <p:nvPr/>
            </p:nvCxnSpPr>
            <p:spPr>
              <a:xfrm>
                <a:off x="3892341" y="1534970"/>
                <a:ext cx="2775159" cy="0"/>
              </a:xfrm>
              <a:prstGeom prst="line">
                <a:avLst/>
              </a:prstGeom>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3892341" y="1766704"/>
                <a:ext cx="3712883" cy="2311530"/>
              </a:xfrm>
              <a:prstGeom prst="rect">
                <a:avLst/>
              </a:prstGeom>
              <a:noFill/>
            </p:spPr>
            <p:txBody>
              <a:bodyPr wrap="square" lIns="0" tIns="0" rIns="0" bIns="0" rtlCol="0">
                <a:spAutoFit/>
              </a:bodyPr>
              <a:lstStyle/>
              <a:p>
                <a:pPr>
                  <a:lnSpc>
                    <a:spcPts val="2600"/>
                  </a:lnSpc>
                </a:pPr>
                <a:r>
                  <a:rPr lang="en-US" altLang="zh-CN" sz="2000" b="1" dirty="0">
                    <a:solidFill>
                      <a:schemeClr val="tx1">
                        <a:lumMod val="85000"/>
                        <a:lumOff val="15000"/>
                      </a:schemeClr>
                    </a:solidFill>
                    <a:latin typeface="+mn-ea"/>
                  </a:rPr>
                  <a:t>·</a:t>
                </a:r>
                <a:r>
                  <a:rPr lang="zh-CN" altLang="en-US" sz="2000" b="1" dirty="0">
                    <a:solidFill>
                      <a:schemeClr val="tx1">
                        <a:lumMod val="85000"/>
                        <a:lumOff val="15000"/>
                      </a:schemeClr>
                    </a:solidFill>
                    <a:latin typeface="+mn-ea"/>
                  </a:rPr>
                  <a:t>旁观者效应 </a:t>
                </a:r>
                <a:r>
                  <a:rPr lang="en-US" altLang="zh-CN" sz="2000" b="1" dirty="0">
                    <a:solidFill>
                      <a:schemeClr val="tx1">
                        <a:lumMod val="85000"/>
                        <a:lumOff val="15000"/>
                      </a:schemeClr>
                    </a:solidFill>
                    <a:latin typeface="+mn-ea"/>
                  </a:rPr>
                  <a:t>&amp; </a:t>
                </a:r>
                <a:r>
                  <a:rPr lang="zh-CN" altLang="en-US" sz="2000" b="1" dirty="0">
                    <a:solidFill>
                      <a:schemeClr val="tx1">
                        <a:lumMod val="85000"/>
                        <a:lumOff val="15000"/>
                      </a:schemeClr>
                    </a:solidFill>
                    <a:latin typeface="+mn-ea"/>
                  </a:rPr>
                  <a:t>脱靶问题</a:t>
                </a:r>
                <a:r>
                  <a:rPr lang="en-US" altLang="zh-CN" sz="2000" baseline="30000" dirty="0">
                    <a:solidFill>
                      <a:schemeClr val="tx1">
                        <a:lumMod val="85000"/>
                        <a:lumOff val="15000"/>
                      </a:schemeClr>
                    </a:solidFill>
                    <a:latin typeface="+mn-ea"/>
                  </a:rPr>
                  <a:t>[1]</a:t>
                </a:r>
                <a:r>
                  <a:rPr lang="zh-CN" altLang="en-US" sz="2000" b="1" dirty="0">
                    <a:solidFill>
                      <a:schemeClr val="tx1">
                        <a:lumMod val="85000"/>
                        <a:lumOff val="15000"/>
                      </a:schemeClr>
                    </a:solidFill>
                    <a:latin typeface="+mn-ea"/>
                  </a:rPr>
                  <a:t>：</a:t>
                </a:r>
                <a:endParaRPr lang="en-US" altLang="zh-CN" sz="2000" b="1" dirty="0">
                  <a:solidFill>
                    <a:schemeClr val="tx1">
                      <a:lumMod val="85000"/>
                      <a:lumOff val="15000"/>
                    </a:schemeClr>
                  </a:solidFill>
                  <a:latin typeface="+mn-ea"/>
                </a:endParaRPr>
              </a:p>
              <a:p>
                <a:pPr>
                  <a:lnSpc>
                    <a:spcPts val="2600"/>
                  </a:lnSpc>
                </a:pPr>
                <a:r>
                  <a:rPr lang="en-US" altLang="zh-CN" sz="2000" dirty="0">
                    <a:solidFill>
                      <a:schemeClr val="tx1">
                        <a:lumMod val="85000"/>
                        <a:lumOff val="15000"/>
                      </a:schemeClr>
                    </a:solidFill>
                    <a:latin typeface="+mn-ea"/>
                  </a:rPr>
                  <a:t>Linker</a:t>
                </a:r>
                <a:r>
                  <a:rPr lang="zh-CN" altLang="en-US" sz="2000" dirty="0">
                    <a:solidFill>
                      <a:schemeClr val="tx1">
                        <a:lumMod val="85000"/>
                        <a:lumOff val="15000"/>
                      </a:schemeClr>
                    </a:solidFill>
                    <a:latin typeface="+mn-ea"/>
                  </a:rPr>
                  <a:t>元件依赖试错与静态不可控，效应蛋白自由度与催化窗口过大，引发大量非特异性编辑，</a:t>
                </a:r>
                <a:endParaRPr lang="en-US" altLang="zh-CN" sz="2000" dirty="0">
                  <a:solidFill>
                    <a:schemeClr val="tx1">
                      <a:lumMod val="85000"/>
                      <a:lumOff val="15000"/>
                    </a:schemeClr>
                  </a:solidFill>
                  <a:latin typeface="+mn-ea"/>
                </a:endParaRPr>
              </a:p>
              <a:p>
                <a:pPr>
                  <a:lnSpc>
                    <a:spcPts val="2600"/>
                  </a:lnSpc>
                </a:pPr>
                <a:r>
                  <a:rPr lang="zh-CN" altLang="en-US" sz="2000" dirty="0">
                    <a:solidFill>
                      <a:schemeClr val="tx1">
                        <a:lumMod val="85000"/>
                        <a:lumOff val="15000"/>
                      </a:schemeClr>
                    </a:solidFill>
                    <a:latin typeface="+mn-ea"/>
                  </a:rPr>
                  <a:t>导致现有系统虽能实现靶向编辑，但成药性受限</a:t>
                </a:r>
                <a:endParaRPr lang="zh-CN" altLang="en-US" sz="2000" dirty="0">
                  <a:solidFill>
                    <a:schemeClr val="tx1">
                      <a:lumMod val="85000"/>
                      <a:lumOff val="15000"/>
                    </a:schemeClr>
                  </a:solidFill>
                  <a:latin typeface="+mn-ea"/>
                </a:endParaRPr>
              </a:p>
              <a:p>
                <a:pPr>
                  <a:lnSpc>
                    <a:spcPts val="2600"/>
                  </a:lnSpc>
                </a:pPr>
                <a:endParaRPr lang="zh-CN" altLang="en-US" sz="2000" dirty="0">
                  <a:solidFill>
                    <a:schemeClr val="tx1">
                      <a:lumMod val="85000"/>
                      <a:lumOff val="15000"/>
                    </a:schemeClr>
                  </a:solidFill>
                  <a:latin typeface="+mn-ea"/>
                </a:endParaRPr>
              </a:p>
            </p:txBody>
          </p:sp>
        </p:grpSp>
        <p:pic>
          <p:nvPicPr>
            <p:cNvPr id="2" name="图片 1"/>
            <p:cNvPicPr>
              <a:picLocks noChangeAspect="1"/>
            </p:cNvPicPr>
            <p:nvPr/>
          </p:nvPicPr>
          <p:blipFill>
            <a:blip r:embed="rId1"/>
            <a:srcRect l="669" r="2458"/>
            <a:stretch>
              <a:fillRect/>
            </a:stretch>
          </p:blipFill>
          <p:spPr>
            <a:xfrm>
              <a:off x="6530804" y="1032868"/>
              <a:ext cx="5145917" cy="2562722"/>
            </a:xfrm>
            <a:prstGeom prst="rect">
              <a:avLst/>
            </a:prstGeom>
            <a:noFill/>
            <a:ln>
              <a:noFill/>
            </a:ln>
          </p:spPr>
        </p:pic>
        <p:sp>
          <p:nvSpPr>
            <p:cNvPr id="9" name="文本框 8"/>
            <p:cNvSpPr txBox="1"/>
            <p:nvPr/>
          </p:nvSpPr>
          <p:spPr>
            <a:xfrm>
              <a:off x="6730405" y="3635922"/>
              <a:ext cx="5320626" cy="227113"/>
            </a:xfrm>
            <a:prstGeom prst="rect">
              <a:avLst/>
            </a:prstGeom>
            <a:noFill/>
          </p:spPr>
          <p:txBody>
            <a:bodyPr wrap="square" lIns="0" tIns="0" rIns="0" bIns="0" rtlCol="0">
              <a:spAutoFit/>
            </a:bodyPr>
            <a:lstStyle/>
            <a:p>
              <a:pPr>
                <a:lnSpc>
                  <a:spcPct val="125000"/>
                </a:lnSpc>
              </a:pPr>
              <a:r>
                <a:rPr lang="zh-CN" altLang="en-US" sz="1300" dirty="0">
                  <a:solidFill>
                    <a:schemeClr val="tx1">
                      <a:lumMod val="85000"/>
                      <a:lumOff val="15000"/>
                    </a:schemeClr>
                  </a:solidFill>
                  <a:latin typeface="+mn-ea"/>
                </a:rPr>
                <a:t>图</a:t>
              </a:r>
              <a:r>
                <a:rPr lang="en-US" altLang="zh-CN" sz="1300" dirty="0">
                  <a:solidFill>
                    <a:schemeClr val="tx1">
                      <a:lumMod val="85000"/>
                      <a:lumOff val="15000"/>
                    </a:schemeClr>
                  </a:solidFill>
                  <a:latin typeface="+mn-ea"/>
                </a:rPr>
                <a:t>1</a:t>
              </a:r>
              <a:r>
                <a:rPr lang="zh-CN" altLang="en-US" sz="1300" dirty="0">
                  <a:solidFill>
                    <a:schemeClr val="tx1">
                      <a:lumMod val="85000"/>
                      <a:lumOff val="15000"/>
                    </a:schemeClr>
                  </a:solidFill>
                  <a:latin typeface="+mn-ea"/>
                </a:rPr>
                <a:t>：基于</a:t>
              </a:r>
              <a:r>
                <a:rPr lang="en-US" altLang="zh-CN" sz="1300" dirty="0">
                  <a:solidFill>
                    <a:schemeClr val="tx1">
                      <a:lumMod val="85000"/>
                      <a:lumOff val="15000"/>
                    </a:schemeClr>
                  </a:solidFill>
                  <a:latin typeface="+mn-ea"/>
                </a:rPr>
                <a:t>PUF-APOBEC</a:t>
              </a:r>
              <a:r>
                <a:rPr lang="zh-CN" altLang="en-US" sz="1300" dirty="0">
                  <a:solidFill>
                    <a:schemeClr val="tx1">
                      <a:lumMod val="85000"/>
                      <a:lumOff val="15000"/>
                    </a:schemeClr>
                  </a:solidFill>
                  <a:latin typeface="+mn-ea"/>
                </a:rPr>
                <a:t>的</a:t>
              </a:r>
              <a:r>
                <a:rPr lang="en-US" altLang="zh-CN" sz="1300" dirty="0">
                  <a:solidFill>
                    <a:schemeClr val="tx1">
                      <a:lumMod val="85000"/>
                      <a:lumOff val="15000"/>
                    </a:schemeClr>
                  </a:solidFill>
                  <a:latin typeface="+mn-ea"/>
                </a:rPr>
                <a:t>RNA</a:t>
              </a:r>
              <a:r>
                <a:rPr lang="zh-CN" altLang="en-US" sz="1300" dirty="0">
                  <a:solidFill>
                    <a:schemeClr val="tx1">
                      <a:lumMod val="85000"/>
                      <a:lumOff val="15000"/>
                    </a:schemeClr>
                  </a:solidFill>
                  <a:latin typeface="+mn-ea"/>
                </a:rPr>
                <a:t>编辑系统及其脱靶效应示意图</a:t>
              </a:r>
              <a:r>
                <a:rPr lang="en-US" altLang="zh-CN" sz="1300" dirty="0">
                  <a:solidFill>
                    <a:schemeClr val="tx1">
                      <a:lumMod val="85000"/>
                      <a:lumOff val="15000"/>
                    </a:schemeClr>
                  </a:solidFill>
                  <a:latin typeface="+mn-ea"/>
                </a:rPr>
                <a:t>[2]</a:t>
              </a:r>
              <a:endParaRPr lang="zh-CN" altLang="en-US" sz="1300" dirty="0">
                <a:solidFill>
                  <a:schemeClr val="tx1">
                    <a:lumMod val="85000"/>
                    <a:lumOff val="15000"/>
                  </a:schemeClr>
                </a:solidFill>
                <a:latin typeface="+mn-ea"/>
              </a:endParaRPr>
            </a:p>
          </p:txBody>
        </p:sp>
      </p:grpSp>
      <p:pic>
        <p:nvPicPr>
          <p:cNvPr id="19" name="图片 18"/>
          <p:cNvPicPr/>
          <p:nvPr/>
        </p:nvPicPr>
        <p:blipFill>
          <a:blip r:embed="rId2"/>
          <a:srcRect l="39318" t="5354" r="8852" b="1"/>
          <a:stretch>
            <a:fillRect/>
          </a:stretch>
        </p:blipFill>
        <p:spPr>
          <a:xfrm>
            <a:off x="2365803" y="4208600"/>
            <a:ext cx="2316653" cy="1320734"/>
          </a:xfrm>
          <a:prstGeom prst="rect">
            <a:avLst/>
          </a:prstGeom>
          <a:noFill/>
          <a:ln>
            <a:noFill/>
          </a:ln>
          <a:effectLst>
            <a:outerShdw blurRad="50800" dist="38100" dir="2700000" sx="102000" sy="102000" algn="tl" rotWithShape="0">
              <a:prstClr val="black">
                <a:alpha val="40000"/>
              </a:prstClr>
            </a:outerShdw>
          </a:effectLst>
        </p:spPr>
      </p:pic>
      <p:sp>
        <p:nvSpPr>
          <p:cNvPr id="20" name="文本框 19"/>
          <p:cNvSpPr txBox="1"/>
          <p:nvPr/>
        </p:nvSpPr>
        <p:spPr>
          <a:xfrm>
            <a:off x="262406" y="3252455"/>
            <a:ext cx="2239187" cy="977319"/>
          </a:xfrm>
          <a:prstGeom prst="rect">
            <a:avLst/>
          </a:prstGeom>
          <a:noFill/>
        </p:spPr>
        <p:txBody>
          <a:bodyPr wrap="square" lIns="0" tIns="0" rIns="0" bIns="0" rtlCol="0">
            <a:spAutoFit/>
          </a:bodyPr>
          <a:lstStyle/>
          <a:p>
            <a:pPr>
              <a:lnSpc>
                <a:spcPct val="125000"/>
              </a:lnSpc>
            </a:pPr>
            <a:r>
              <a:rPr lang="zh-CN" altLang="en-US" sz="1300" dirty="0">
                <a:solidFill>
                  <a:schemeClr val="bg1"/>
                </a:solidFill>
                <a:latin typeface="+mn-ea"/>
              </a:rPr>
              <a:t>图</a:t>
            </a:r>
            <a:r>
              <a:rPr lang="en-US" altLang="zh-CN" sz="1300" dirty="0">
                <a:solidFill>
                  <a:schemeClr val="bg1"/>
                </a:solidFill>
                <a:latin typeface="+mn-ea"/>
              </a:rPr>
              <a:t>2</a:t>
            </a:r>
            <a:r>
              <a:rPr lang="zh-CN" altLang="en-US" sz="1300" dirty="0">
                <a:solidFill>
                  <a:schemeClr val="bg1"/>
                </a:solidFill>
                <a:latin typeface="+mn-ea"/>
              </a:rPr>
              <a:t>：</a:t>
            </a:r>
            <a:endParaRPr lang="en-US" altLang="zh-CN" sz="1300" dirty="0">
              <a:solidFill>
                <a:schemeClr val="bg1"/>
              </a:solidFill>
              <a:latin typeface="+mn-ea"/>
            </a:endParaRPr>
          </a:p>
          <a:p>
            <a:pPr>
              <a:lnSpc>
                <a:spcPct val="125000"/>
              </a:lnSpc>
            </a:pPr>
            <a:r>
              <a:rPr lang="zh-CN" altLang="en-US" sz="1300" dirty="0">
                <a:solidFill>
                  <a:schemeClr val="bg1"/>
                </a:solidFill>
                <a:latin typeface="+mn-ea"/>
              </a:rPr>
              <a:t>正常</a:t>
            </a:r>
            <a:r>
              <a:rPr lang="en-US" altLang="zh-CN" sz="1300" dirty="0">
                <a:solidFill>
                  <a:schemeClr val="bg1"/>
                </a:solidFill>
                <a:latin typeface="+mn-ea"/>
              </a:rPr>
              <a:t>HTT</a:t>
            </a:r>
            <a:r>
              <a:rPr lang="zh-CN" altLang="en-US" sz="1300" dirty="0">
                <a:solidFill>
                  <a:schemeClr val="bg1"/>
                </a:solidFill>
                <a:latin typeface="+mn-ea"/>
              </a:rPr>
              <a:t>转录与致病性超长</a:t>
            </a:r>
            <a:r>
              <a:rPr lang="en-US" altLang="zh-CN" sz="1300" dirty="0">
                <a:solidFill>
                  <a:schemeClr val="bg1"/>
                </a:solidFill>
                <a:latin typeface="+mn-ea"/>
              </a:rPr>
              <a:t>CAG </a:t>
            </a:r>
            <a:r>
              <a:rPr lang="zh-CN" altLang="en-US" sz="1300" dirty="0">
                <a:solidFill>
                  <a:schemeClr val="bg1"/>
                </a:solidFill>
                <a:latin typeface="+mn-ea"/>
              </a:rPr>
              <a:t>重复引发的异常发夹</a:t>
            </a:r>
            <a:endParaRPr lang="en-US" altLang="zh-CN" sz="1300" dirty="0">
              <a:solidFill>
                <a:schemeClr val="bg1"/>
              </a:solidFill>
              <a:latin typeface="+mn-ea"/>
            </a:endParaRPr>
          </a:p>
          <a:p>
            <a:pPr>
              <a:lnSpc>
                <a:spcPct val="125000"/>
              </a:lnSpc>
            </a:pPr>
            <a:r>
              <a:rPr lang="zh-CN" altLang="en-US" sz="1300" dirty="0">
                <a:solidFill>
                  <a:schemeClr val="bg1"/>
                </a:solidFill>
                <a:latin typeface="+mn-ea"/>
              </a:rPr>
              <a:t>二级结构对比</a:t>
            </a:r>
            <a:r>
              <a:rPr lang="en-US" altLang="zh-CN" sz="1300" baseline="30000" dirty="0">
                <a:solidFill>
                  <a:schemeClr val="bg1"/>
                </a:solidFill>
                <a:latin typeface="+mn-ea"/>
              </a:rPr>
              <a:t>[2]</a:t>
            </a:r>
            <a:endParaRPr lang="zh-CN" altLang="en-US" sz="1300" baseline="30000" dirty="0">
              <a:solidFill>
                <a:schemeClr val="bg1"/>
              </a:solidFill>
              <a:latin typeface="+mn-ea"/>
            </a:endParaRPr>
          </a:p>
        </p:txBody>
      </p:sp>
      <p:pic>
        <p:nvPicPr>
          <p:cNvPr id="18" name="图片 17"/>
          <p:cNvPicPr/>
          <p:nvPr/>
        </p:nvPicPr>
        <p:blipFill>
          <a:blip r:embed="rId2"/>
          <a:srcRect l="2614" t="20195" r="58910" b="1265"/>
          <a:stretch>
            <a:fillRect/>
          </a:stretch>
        </p:blipFill>
        <p:spPr>
          <a:xfrm>
            <a:off x="262406" y="4364553"/>
            <a:ext cx="1857023" cy="1164781"/>
          </a:xfrm>
          <a:prstGeom prst="rect">
            <a:avLst/>
          </a:prstGeom>
          <a:noFill/>
          <a:ln>
            <a:noFill/>
          </a:ln>
          <a:effectLst>
            <a:outerShdw blurRad="50800" dist="38100" dir="2700000" sx="102000" sy="102000" algn="tl" rotWithShape="0">
              <a:prstClr val="black">
                <a:alpha val="40000"/>
              </a:prstClr>
            </a:outerShdw>
          </a:effectLst>
        </p:spPr>
      </p:pic>
      <p:sp>
        <p:nvSpPr>
          <p:cNvPr id="4" name="文本框 3"/>
          <p:cNvSpPr txBox="1"/>
          <p:nvPr/>
        </p:nvSpPr>
        <p:spPr>
          <a:xfrm>
            <a:off x="262406" y="5913831"/>
            <a:ext cx="4256254" cy="944169"/>
          </a:xfrm>
          <a:prstGeom prst="rect">
            <a:avLst/>
          </a:prstGeom>
          <a:noFill/>
        </p:spPr>
        <p:txBody>
          <a:bodyPr wrap="square" lIns="0" tIns="0" rIns="0" bIns="0" rtlCol="0">
            <a:spAutoFit/>
          </a:bodyPr>
          <a:lstStyle/>
          <a:p>
            <a:pPr>
              <a:lnSpc>
                <a:spcPct val="125000"/>
              </a:lnSpc>
            </a:pPr>
            <a:r>
              <a:rPr lang="en-US" altLang="zh-CN" sz="1000" dirty="0">
                <a:solidFill>
                  <a:schemeClr val="bg1"/>
                </a:solidFill>
                <a:latin typeface="Cambria" panose="02040503050406030204" pitchFamily="18" charset="0"/>
                <a:ea typeface="Cambria" panose="02040503050406030204" pitchFamily="18" charset="0"/>
              </a:rPr>
              <a:t>[1] </a:t>
            </a:r>
            <a:r>
              <a:rPr lang="en-US" altLang="zh-CN" sz="1000" dirty="0" err="1">
                <a:solidFill>
                  <a:schemeClr val="bg1"/>
                </a:solidFill>
                <a:latin typeface="Cambria" panose="02040503050406030204" pitchFamily="18" charset="0"/>
                <a:ea typeface="Cambria" panose="02040503050406030204" pitchFamily="18" charset="0"/>
              </a:rPr>
              <a:t>Monian</a:t>
            </a:r>
            <a:r>
              <a:rPr lang="en-US" altLang="zh-CN" sz="1000" dirty="0">
                <a:solidFill>
                  <a:schemeClr val="bg1"/>
                </a:solidFill>
                <a:latin typeface="Cambria" panose="02040503050406030204" pitchFamily="18" charset="0"/>
                <a:ea typeface="Cambria" panose="02040503050406030204" pitchFamily="18" charset="0"/>
              </a:rPr>
              <a:t>, P., et al. (2023). RNA editing: Expanding the potential of RNA therapeutics. Molecular Therapy, 31(1), 34-44.</a:t>
            </a:r>
            <a:endParaRPr lang="en-US" altLang="zh-CN" sz="1000" dirty="0">
              <a:solidFill>
                <a:schemeClr val="bg1"/>
              </a:solidFill>
              <a:latin typeface="Cambria" panose="02040503050406030204" pitchFamily="18" charset="0"/>
              <a:ea typeface="Cambria" panose="02040503050406030204" pitchFamily="18" charset="0"/>
            </a:endParaRPr>
          </a:p>
          <a:p>
            <a:pPr>
              <a:lnSpc>
                <a:spcPct val="125000"/>
              </a:lnSpc>
            </a:pPr>
            <a:r>
              <a:rPr lang="en-US" altLang="zh-CN" sz="1000" dirty="0">
                <a:solidFill>
                  <a:schemeClr val="bg1"/>
                </a:solidFill>
                <a:latin typeface="Cambria" panose="02040503050406030204" pitchFamily="18" charset="0"/>
                <a:ea typeface="Cambria" panose="02040503050406030204" pitchFamily="18" charset="0"/>
              </a:rPr>
              <a:t>[2] Heinz, L. C., &amp; </a:t>
            </a:r>
            <a:r>
              <a:rPr lang="en-US" altLang="zh-CN" sz="1000" dirty="0" err="1">
                <a:solidFill>
                  <a:schemeClr val="bg1"/>
                </a:solidFill>
                <a:latin typeface="Cambria" panose="02040503050406030204" pitchFamily="18" charset="0"/>
                <a:ea typeface="Cambria" panose="02040503050406030204" pitchFamily="18" charset="0"/>
              </a:rPr>
              <a:t>Süßmuth</a:t>
            </a:r>
            <a:r>
              <a:rPr lang="en-US" altLang="zh-CN" sz="1000" dirty="0">
                <a:solidFill>
                  <a:schemeClr val="bg1"/>
                </a:solidFill>
                <a:latin typeface="Cambria" panose="02040503050406030204" pitchFamily="18" charset="0"/>
                <a:ea typeface="Cambria" panose="02040503050406030204" pitchFamily="18" charset="0"/>
              </a:rPr>
              <a:t>, S. D. (2021). Huntingtin and Its Role in Mechanisms of RNA-Mediated Toxicity. Toxins, 13(7), 487.</a:t>
            </a:r>
            <a:endParaRPr lang="en-US" altLang="zh-CN" sz="1000" dirty="0">
              <a:solidFill>
                <a:schemeClr val="bg1"/>
              </a:solidFill>
              <a:latin typeface="Cambria" panose="02040503050406030204" pitchFamily="18" charset="0"/>
              <a:ea typeface="Cambria" panose="02040503050406030204" pitchFamily="18" charset="0"/>
            </a:endParaRPr>
          </a:p>
          <a:p>
            <a:pPr>
              <a:lnSpc>
                <a:spcPct val="125000"/>
              </a:lnSpc>
            </a:pPr>
            <a:endParaRPr lang="zh-CN" altLang="en-US" sz="1000" dirty="0">
              <a:solidFill>
                <a:schemeClr val="bg1"/>
              </a:solidFill>
              <a:latin typeface="+mn-ea"/>
            </a:endParaRPr>
          </a:p>
        </p:txBody>
      </p:sp>
      <p:grpSp>
        <p:nvGrpSpPr>
          <p:cNvPr id="6" name="组合 5"/>
          <p:cNvGrpSpPr/>
          <p:nvPr/>
        </p:nvGrpSpPr>
        <p:grpSpPr>
          <a:xfrm>
            <a:off x="5961621" y="6515730"/>
            <a:ext cx="6025634" cy="184666"/>
            <a:chOff x="3692753" y="6260069"/>
            <a:chExt cx="6025634" cy="184666"/>
          </a:xfrm>
        </p:grpSpPr>
        <p:grpSp>
          <p:nvGrpSpPr>
            <p:cNvPr id="8" name="组合 7"/>
            <p:cNvGrpSpPr/>
            <p:nvPr/>
          </p:nvGrpSpPr>
          <p:grpSpPr>
            <a:xfrm>
              <a:off x="4682111" y="6260069"/>
              <a:ext cx="897875" cy="184666"/>
              <a:chOff x="4914007" y="6260069"/>
              <a:chExt cx="897875" cy="184666"/>
            </a:xfrm>
          </p:grpSpPr>
          <p:sp>
            <p:nvSpPr>
              <p:cNvPr id="30" name="文本框 29"/>
              <p:cNvSpPr txBox="1"/>
              <p:nvPr/>
            </p:nvSpPr>
            <p:spPr>
              <a:xfrm>
                <a:off x="5042441" y="6260069"/>
                <a:ext cx="769441"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核心创新点</a:t>
                </a:r>
                <a:endParaRPr lang="zh-CN" altLang="en-US" sz="1200" dirty="0">
                  <a:solidFill>
                    <a:schemeClr val="accent1">
                      <a:lumMod val="60000"/>
                      <a:lumOff val="40000"/>
                    </a:schemeClr>
                  </a:solidFill>
                </a:endParaRPr>
              </a:p>
            </p:txBody>
          </p:sp>
          <p:sp>
            <p:nvSpPr>
              <p:cNvPr id="31" name="椭圆 30"/>
              <p:cNvSpPr/>
              <p:nvPr/>
            </p:nvSpPr>
            <p:spPr>
              <a:xfrm>
                <a:off x="4914007"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0" name="组合 9"/>
            <p:cNvGrpSpPr/>
            <p:nvPr/>
          </p:nvGrpSpPr>
          <p:grpSpPr>
            <a:xfrm>
              <a:off x="5787892" y="6260069"/>
              <a:ext cx="1565046" cy="184666"/>
              <a:chOff x="6097796" y="6260069"/>
              <a:chExt cx="1565046" cy="184666"/>
            </a:xfrm>
          </p:grpSpPr>
          <p:sp>
            <p:nvSpPr>
              <p:cNvPr id="28" name="文本框 27"/>
              <p:cNvSpPr txBox="1"/>
              <p:nvPr/>
            </p:nvSpPr>
            <p:spPr>
              <a:xfrm>
                <a:off x="6226230" y="6260069"/>
                <a:ext cx="1436612"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系统设计与机制解析</a:t>
                </a:r>
                <a:endParaRPr lang="zh-CN" altLang="en-US" sz="1200" dirty="0">
                  <a:solidFill>
                    <a:schemeClr val="accent1">
                      <a:lumMod val="60000"/>
                      <a:lumOff val="40000"/>
                    </a:schemeClr>
                  </a:solidFill>
                </a:endParaRPr>
              </a:p>
            </p:txBody>
          </p:sp>
          <p:sp>
            <p:nvSpPr>
              <p:cNvPr id="29" name="椭圆 28"/>
              <p:cNvSpPr/>
              <p:nvPr/>
            </p:nvSpPr>
            <p:spPr>
              <a:xfrm>
                <a:off x="6097796"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2" name="组合 11"/>
            <p:cNvGrpSpPr/>
            <p:nvPr/>
          </p:nvGrpSpPr>
          <p:grpSpPr>
            <a:xfrm>
              <a:off x="7560844" y="6260069"/>
              <a:ext cx="1051763" cy="184666"/>
              <a:chOff x="7589362" y="6260069"/>
              <a:chExt cx="1051763" cy="184666"/>
            </a:xfrm>
          </p:grpSpPr>
          <p:sp>
            <p:nvSpPr>
              <p:cNvPr id="26" name="文本框 25"/>
              <p:cNvSpPr txBox="1"/>
              <p:nvPr/>
            </p:nvSpPr>
            <p:spPr>
              <a:xfrm>
                <a:off x="7717795" y="6260069"/>
                <a:ext cx="923330"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预期结果分析</a:t>
                </a:r>
                <a:endParaRPr lang="zh-CN" altLang="en-US" sz="1200" dirty="0">
                  <a:solidFill>
                    <a:schemeClr val="accent1">
                      <a:lumMod val="60000"/>
                      <a:lumOff val="40000"/>
                    </a:schemeClr>
                  </a:solidFill>
                </a:endParaRPr>
              </a:p>
            </p:txBody>
          </p:sp>
          <p:sp>
            <p:nvSpPr>
              <p:cNvPr id="27" name="椭圆 26"/>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3" name="组合 12"/>
            <p:cNvGrpSpPr/>
            <p:nvPr/>
          </p:nvGrpSpPr>
          <p:grpSpPr>
            <a:xfrm>
              <a:off x="3730218" y="6260069"/>
              <a:ext cx="743987" cy="184666"/>
              <a:chOff x="3730218" y="6260069"/>
              <a:chExt cx="743987" cy="184666"/>
            </a:xfrm>
          </p:grpSpPr>
          <p:sp>
            <p:nvSpPr>
              <p:cNvPr id="24" name="文本框 23"/>
              <p:cNvSpPr txBox="1"/>
              <p:nvPr/>
            </p:nvSpPr>
            <p:spPr>
              <a:xfrm>
                <a:off x="3858652" y="6260069"/>
                <a:ext cx="615553" cy="184666"/>
              </a:xfrm>
              <a:prstGeom prst="rect">
                <a:avLst/>
              </a:prstGeom>
              <a:noFill/>
            </p:spPr>
            <p:txBody>
              <a:bodyPr wrap="none" lIns="0" tIns="0" rIns="0" bIns="0" rtlCol="0">
                <a:spAutoFit/>
              </a:bodyPr>
              <a:lstStyle/>
              <a:p>
                <a:r>
                  <a:rPr lang="zh-CN" altLang="en-US" sz="1200" b="1" dirty="0">
                    <a:solidFill>
                      <a:srgbClr val="4965AA"/>
                    </a:solidFill>
                  </a:rPr>
                  <a:t>科学问题</a:t>
                </a:r>
                <a:endParaRPr lang="zh-CN" altLang="en-US" sz="1200" b="1" dirty="0">
                  <a:solidFill>
                    <a:srgbClr val="4965AA"/>
                  </a:solidFill>
                </a:endParaRPr>
              </a:p>
            </p:txBody>
          </p:sp>
          <p:sp>
            <p:nvSpPr>
              <p:cNvPr id="25" name="椭圆 24"/>
              <p:cNvSpPr/>
              <p:nvPr/>
            </p:nvSpPr>
            <p:spPr>
              <a:xfrm>
                <a:off x="3730218"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4" name="椭圆 13"/>
            <p:cNvSpPr/>
            <p:nvPr/>
          </p:nvSpPr>
          <p:spPr>
            <a:xfrm>
              <a:off x="3692753" y="6301988"/>
              <a:ext cx="120650" cy="120650"/>
            </a:xfrm>
            <a:prstGeom prst="ellipse">
              <a:avLst/>
            </a:prstGeom>
            <a:noFill/>
            <a:ln w="6350">
              <a:solidFill>
                <a:srgbClr val="4965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17" name="组合 16"/>
            <p:cNvGrpSpPr/>
            <p:nvPr/>
          </p:nvGrpSpPr>
          <p:grpSpPr>
            <a:xfrm>
              <a:off x="8820513" y="6260069"/>
              <a:ext cx="897874" cy="184666"/>
              <a:chOff x="7589362" y="6260069"/>
              <a:chExt cx="897874" cy="184666"/>
            </a:xfrm>
          </p:grpSpPr>
          <p:sp>
            <p:nvSpPr>
              <p:cNvPr id="22" name="文本框 21"/>
              <p:cNvSpPr txBox="1"/>
              <p:nvPr/>
            </p:nvSpPr>
            <p:spPr>
              <a:xfrm>
                <a:off x="7717795" y="6260069"/>
                <a:ext cx="769441"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意义与展望</a:t>
                </a:r>
                <a:endParaRPr lang="zh-CN" altLang="en-US" sz="1200" dirty="0">
                  <a:solidFill>
                    <a:schemeClr val="accent1">
                      <a:lumMod val="60000"/>
                      <a:lumOff val="40000"/>
                    </a:schemeClr>
                  </a:solidFill>
                </a:endParaRPr>
              </a:p>
            </p:txBody>
          </p:sp>
          <p:sp>
            <p:nvSpPr>
              <p:cNvPr id="23" name="椭圆 22"/>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sp>
        <p:nvSpPr>
          <p:cNvPr id="33" name="文本框 32"/>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4965AA"/>
                </a:highlight>
                <a:latin typeface="Eras Bold ITC" panose="020B0907030504020204" pitchFamily="34" charset="0"/>
              </a:rPr>
              <a:t>SUSTech</a:t>
            </a:r>
            <a:r>
              <a:rPr lang="en-US" altLang="zh-CN" sz="3000" dirty="0">
                <a:solidFill>
                  <a:srgbClr val="EFA7A7"/>
                </a:solidFill>
                <a:highlight>
                  <a:srgbClr val="4965AA"/>
                </a:highlight>
                <a:latin typeface="Eras Bold ITC" panose="020B0907030504020204" pitchFamily="34" charset="0"/>
              </a:rPr>
              <a:t>-BIO</a:t>
            </a:r>
            <a:endParaRPr lang="zh-CN" altLang="en-US" sz="3000" dirty="0">
              <a:solidFill>
                <a:srgbClr val="EFA7A7"/>
              </a:solidFill>
              <a:highlight>
                <a:srgbClr val="4965AA"/>
              </a:highlight>
              <a:latin typeface="Eras Bold ITC" panose="020B0907030504020204" pitchFamily="34" charset="0"/>
            </a:endParaRPr>
          </a:p>
        </p:txBody>
      </p:sp>
      <p:sp>
        <p:nvSpPr>
          <p:cNvPr id="34" name="文本框 33"/>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rgbClr val="4965AA"/>
                </a:solidFill>
              </a:rPr>
              <a:t>Southern University of </a:t>
            </a:r>
            <a:endParaRPr lang="en-US" altLang="zh-CN" sz="1000" cap="all" dirty="0">
              <a:solidFill>
                <a:srgbClr val="4965AA"/>
              </a:solidFill>
            </a:endParaRPr>
          </a:p>
          <a:p>
            <a:pPr algn="r"/>
            <a:r>
              <a:rPr lang="en-US" altLang="zh-CN" sz="1000" cap="all" dirty="0">
                <a:solidFill>
                  <a:srgbClr val="4965AA"/>
                </a:solidFill>
              </a:rPr>
              <a:t>science and technology</a:t>
            </a:r>
            <a:endParaRPr lang="zh-CN" altLang="en-US" sz="1000" cap="all" dirty="0">
              <a:solidFill>
                <a:srgbClr val="4965AA"/>
              </a:solidFill>
            </a:endParaRPr>
          </a:p>
        </p:txBody>
      </p:sp>
      <p:grpSp>
        <p:nvGrpSpPr>
          <p:cNvPr id="35" name="组合 34"/>
          <p:cNvGrpSpPr/>
          <p:nvPr/>
        </p:nvGrpSpPr>
        <p:grpSpPr>
          <a:xfrm>
            <a:off x="9799713" y="109178"/>
            <a:ext cx="2256250" cy="713649"/>
            <a:chOff x="9799713" y="109178"/>
            <a:chExt cx="2256250" cy="713649"/>
          </a:xfrm>
        </p:grpSpPr>
        <p:sp>
          <p:nvSpPr>
            <p:cNvPr id="36" name="矩形 35"/>
            <p:cNvSpPr/>
            <p:nvPr/>
          </p:nvSpPr>
          <p:spPr>
            <a:xfrm>
              <a:off x="9799713" y="197831"/>
              <a:ext cx="2117376" cy="5363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pic>
        <p:nvPicPr>
          <p:cNvPr id="41" name="图片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6510" y="-379570"/>
            <a:ext cx="1662864" cy="16664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79929" y="2754066"/>
            <a:ext cx="2564805" cy="615553"/>
          </a:xfrm>
          <a:prstGeom prst="rect">
            <a:avLst/>
          </a:prstGeom>
          <a:noFill/>
        </p:spPr>
        <p:txBody>
          <a:bodyPr wrap="none" lIns="0" tIns="0" rIns="0" bIns="0" rtlCol="0">
            <a:spAutoFit/>
          </a:bodyPr>
          <a:lstStyle/>
          <a:p>
            <a:pPr algn="ctr"/>
            <a:r>
              <a:rPr lang="zh-CN" altLang="en-US" sz="4000" dirty="0">
                <a:solidFill>
                  <a:schemeClr val="bg1"/>
                </a:solidFill>
              </a:rPr>
              <a:t>核心创新点</a:t>
            </a:r>
            <a:endParaRPr lang="zh-CN" altLang="en-US" sz="4000" dirty="0">
              <a:solidFill>
                <a:schemeClr val="bg1"/>
              </a:solidFill>
            </a:endParaRPr>
          </a:p>
        </p:txBody>
      </p:sp>
      <p:sp>
        <p:nvSpPr>
          <p:cNvPr id="5" name="文本框 4"/>
          <p:cNvSpPr txBox="1"/>
          <p:nvPr/>
        </p:nvSpPr>
        <p:spPr>
          <a:xfrm>
            <a:off x="5308382" y="3457789"/>
            <a:ext cx="1575239" cy="276999"/>
          </a:xfrm>
          <a:prstGeom prst="rect">
            <a:avLst/>
          </a:prstGeom>
          <a:noFill/>
        </p:spPr>
        <p:txBody>
          <a:bodyPr wrap="none" lIns="0" tIns="0" rIns="0" bIns="0" rtlCol="0">
            <a:spAutoFit/>
          </a:bodyPr>
          <a:lstStyle/>
          <a:p>
            <a:pPr algn="ctr"/>
            <a:r>
              <a:rPr lang="en-US" altLang="zh-CN" dirty="0">
                <a:solidFill>
                  <a:schemeClr val="bg1"/>
                </a:solidFill>
              </a:rPr>
              <a:t>Core Innovation</a:t>
            </a:r>
            <a:endParaRPr lang="en-US" altLang="zh-CN" dirty="0">
              <a:solidFill>
                <a:schemeClr val="bg1"/>
              </a:solidFill>
            </a:endParaRPr>
          </a:p>
        </p:txBody>
      </p:sp>
      <p:sp>
        <p:nvSpPr>
          <p:cNvPr id="6" name="文本框 5"/>
          <p:cNvSpPr txBox="1"/>
          <p:nvPr/>
        </p:nvSpPr>
        <p:spPr>
          <a:xfrm>
            <a:off x="5720898" y="2041451"/>
            <a:ext cx="750205" cy="538609"/>
          </a:xfrm>
          <a:prstGeom prst="rect">
            <a:avLst/>
          </a:prstGeom>
          <a:noFill/>
        </p:spPr>
        <p:txBody>
          <a:bodyPr wrap="none" lIns="0" tIns="0" rIns="0" bIns="0" rtlCol="0">
            <a:spAutoFit/>
          </a:bodyPr>
          <a:lstStyle/>
          <a:p>
            <a:pPr algn="ctr"/>
            <a:r>
              <a:rPr lang="en-US" altLang="zh-CN" sz="4000" dirty="0">
                <a:solidFill>
                  <a:schemeClr val="bg1"/>
                </a:solidFill>
              </a:rPr>
              <a:t>#02</a:t>
            </a:r>
            <a:endParaRPr lang="zh-CN" altLang="en-US" sz="4000" dirty="0">
              <a:solidFill>
                <a:schemeClr val="bg1"/>
              </a:solidFill>
            </a:endParaRPr>
          </a:p>
        </p:txBody>
      </p:sp>
      <p:cxnSp>
        <p:nvCxnSpPr>
          <p:cNvPr id="3" name="直接连接符 2"/>
          <p:cNvCxnSpPr/>
          <p:nvPr/>
        </p:nvCxnSpPr>
        <p:spPr>
          <a:xfrm>
            <a:off x="731838" y="6162908"/>
            <a:ext cx="107283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731838" y="6239103"/>
            <a:ext cx="471283" cy="230832"/>
          </a:xfrm>
          <a:prstGeom prst="rect">
            <a:avLst/>
          </a:prstGeom>
          <a:noFill/>
        </p:spPr>
        <p:txBody>
          <a:bodyPr wrap="square" lIns="0" tIns="0" rIns="0" bIns="0" rtlCol="0">
            <a:spAutoFit/>
          </a:bodyPr>
          <a:lstStyle/>
          <a:p>
            <a:r>
              <a:rPr lang="en-US" altLang="zh-CN" sz="1500" dirty="0">
                <a:solidFill>
                  <a:schemeClr val="bg1"/>
                </a:solidFill>
              </a:rPr>
              <a:t>2026</a:t>
            </a:r>
            <a:endParaRPr lang="zh-CN" altLang="en-US" sz="1500" dirty="0">
              <a:solidFill>
                <a:schemeClr val="bg1"/>
              </a:solidFill>
            </a:endParaRPr>
          </a:p>
        </p:txBody>
      </p:sp>
      <p:sp>
        <p:nvSpPr>
          <p:cNvPr id="26" name="文本框 25"/>
          <p:cNvSpPr txBox="1"/>
          <p:nvPr/>
        </p:nvSpPr>
        <p:spPr>
          <a:xfrm>
            <a:off x="10686535" y="6239103"/>
            <a:ext cx="768865" cy="230832"/>
          </a:xfrm>
          <a:prstGeom prst="rect">
            <a:avLst/>
          </a:prstGeom>
          <a:noFill/>
        </p:spPr>
        <p:txBody>
          <a:bodyPr wrap="none" lIns="0" tIns="0" rIns="0" bIns="0" rtlCol="0">
            <a:spAutoFit/>
          </a:bodyPr>
          <a:lstStyle/>
          <a:p>
            <a:pPr algn="r"/>
            <a:r>
              <a:rPr lang="en-US" altLang="zh-CN" sz="1500" dirty="0">
                <a:solidFill>
                  <a:schemeClr val="bg1"/>
                </a:solidFill>
              </a:rPr>
              <a:t>May 17th</a:t>
            </a:r>
            <a:endParaRPr lang="zh-CN" altLang="en-US" sz="1500" dirty="0">
              <a:solidFill>
                <a:schemeClr val="bg1"/>
              </a:solidFill>
            </a:endParaRPr>
          </a:p>
        </p:txBody>
      </p:sp>
      <p:sp>
        <p:nvSpPr>
          <p:cNvPr id="9" name="矩形 8"/>
          <p:cNvSpPr/>
          <p:nvPr/>
        </p:nvSpPr>
        <p:spPr>
          <a:xfrm>
            <a:off x="3396114" y="1811959"/>
            <a:ext cx="5399773" cy="22715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7" name="矩形 26"/>
          <p:cNvSpPr/>
          <p:nvPr/>
        </p:nvSpPr>
        <p:spPr>
          <a:xfrm>
            <a:off x="3478664" y="1913559"/>
            <a:ext cx="5399773" cy="22715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25" name="组合 24"/>
          <p:cNvGrpSpPr/>
          <p:nvPr/>
        </p:nvGrpSpPr>
        <p:grpSpPr>
          <a:xfrm>
            <a:off x="3120648" y="6260069"/>
            <a:ext cx="5988169" cy="184666"/>
            <a:chOff x="3730218" y="6260069"/>
            <a:chExt cx="5988169" cy="184666"/>
          </a:xfrm>
        </p:grpSpPr>
        <p:grpSp>
          <p:nvGrpSpPr>
            <p:cNvPr id="28" name="组合 27"/>
            <p:cNvGrpSpPr/>
            <p:nvPr/>
          </p:nvGrpSpPr>
          <p:grpSpPr>
            <a:xfrm>
              <a:off x="4682111" y="6260069"/>
              <a:ext cx="897875" cy="184666"/>
              <a:chOff x="4914007" y="6260069"/>
              <a:chExt cx="897875" cy="184666"/>
            </a:xfrm>
          </p:grpSpPr>
          <p:sp>
            <p:nvSpPr>
              <p:cNvPr id="51" name="文本框 50"/>
              <p:cNvSpPr txBox="1"/>
              <p:nvPr/>
            </p:nvSpPr>
            <p:spPr>
              <a:xfrm>
                <a:off x="5042441" y="6260069"/>
                <a:ext cx="769441" cy="184666"/>
              </a:xfrm>
              <a:prstGeom prst="rect">
                <a:avLst/>
              </a:prstGeom>
              <a:noFill/>
            </p:spPr>
            <p:txBody>
              <a:bodyPr wrap="none" lIns="0" tIns="0" rIns="0" bIns="0" rtlCol="0">
                <a:spAutoFit/>
              </a:bodyPr>
              <a:lstStyle/>
              <a:p>
                <a:r>
                  <a:rPr lang="zh-CN" altLang="en-US" sz="1200" b="1" dirty="0">
                    <a:solidFill>
                      <a:schemeClr val="bg1"/>
                    </a:solidFill>
                  </a:rPr>
                  <a:t>核心创新点</a:t>
                </a:r>
                <a:endParaRPr lang="zh-CN" altLang="en-US" sz="1200" b="1" dirty="0">
                  <a:solidFill>
                    <a:schemeClr val="bg1"/>
                  </a:solidFill>
                </a:endParaRPr>
              </a:p>
            </p:txBody>
          </p:sp>
          <p:sp>
            <p:nvSpPr>
              <p:cNvPr id="52" name="椭圆 51"/>
              <p:cNvSpPr/>
              <p:nvPr/>
            </p:nvSpPr>
            <p:spPr>
              <a:xfrm>
                <a:off x="4914007"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38" name="组合 37"/>
            <p:cNvGrpSpPr/>
            <p:nvPr/>
          </p:nvGrpSpPr>
          <p:grpSpPr>
            <a:xfrm>
              <a:off x="5787892" y="6260069"/>
              <a:ext cx="1565046" cy="184666"/>
              <a:chOff x="6097796" y="6260069"/>
              <a:chExt cx="1565046" cy="184666"/>
            </a:xfrm>
          </p:grpSpPr>
          <p:sp>
            <p:nvSpPr>
              <p:cNvPr id="49" name="文本框 48"/>
              <p:cNvSpPr txBox="1"/>
              <p:nvPr/>
            </p:nvSpPr>
            <p:spPr>
              <a:xfrm>
                <a:off x="6226230" y="6260069"/>
                <a:ext cx="1436612" cy="184666"/>
              </a:xfrm>
              <a:prstGeom prst="rect">
                <a:avLst/>
              </a:prstGeom>
              <a:noFill/>
            </p:spPr>
            <p:txBody>
              <a:bodyPr wrap="none" lIns="0" tIns="0" rIns="0" bIns="0" rtlCol="0">
                <a:spAutoFit/>
              </a:bodyPr>
              <a:lstStyle/>
              <a:p>
                <a:r>
                  <a:rPr lang="zh-CN" altLang="en-US" sz="1200" dirty="0">
                    <a:solidFill>
                      <a:schemeClr val="bg1">
                        <a:alpha val="50000"/>
                      </a:schemeClr>
                    </a:solidFill>
                  </a:rPr>
                  <a:t>系统设计与机制解析</a:t>
                </a:r>
                <a:endParaRPr lang="zh-CN" altLang="en-US" sz="1200" dirty="0">
                  <a:solidFill>
                    <a:schemeClr val="bg1">
                      <a:alpha val="50000"/>
                    </a:schemeClr>
                  </a:solidFill>
                </a:endParaRPr>
              </a:p>
            </p:txBody>
          </p:sp>
          <p:sp>
            <p:nvSpPr>
              <p:cNvPr id="50" name="椭圆 49"/>
              <p:cNvSpPr/>
              <p:nvPr/>
            </p:nvSpPr>
            <p:spPr>
              <a:xfrm>
                <a:off x="6097796"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39" name="组合 38"/>
            <p:cNvGrpSpPr/>
            <p:nvPr/>
          </p:nvGrpSpPr>
          <p:grpSpPr>
            <a:xfrm>
              <a:off x="7560844" y="6260069"/>
              <a:ext cx="1051763" cy="184666"/>
              <a:chOff x="7589362" y="6260069"/>
              <a:chExt cx="1051763" cy="184666"/>
            </a:xfrm>
          </p:grpSpPr>
          <p:sp>
            <p:nvSpPr>
              <p:cNvPr id="47" name="文本框 46"/>
              <p:cNvSpPr txBox="1"/>
              <p:nvPr/>
            </p:nvSpPr>
            <p:spPr>
              <a:xfrm>
                <a:off x="7717795" y="6260069"/>
                <a:ext cx="923330" cy="184666"/>
              </a:xfrm>
              <a:prstGeom prst="rect">
                <a:avLst/>
              </a:prstGeom>
              <a:noFill/>
            </p:spPr>
            <p:txBody>
              <a:bodyPr wrap="none" lIns="0" tIns="0" rIns="0" bIns="0" rtlCol="0">
                <a:spAutoFit/>
              </a:bodyPr>
              <a:lstStyle/>
              <a:p>
                <a:r>
                  <a:rPr lang="zh-CN" altLang="en-US" sz="1200" dirty="0">
                    <a:solidFill>
                      <a:schemeClr val="bg1">
                        <a:alpha val="50000"/>
                      </a:schemeClr>
                    </a:solidFill>
                  </a:rPr>
                  <a:t>预期结果分析</a:t>
                </a:r>
                <a:endParaRPr lang="zh-CN" altLang="en-US" sz="1200" dirty="0">
                  <a:solidFill>
                    <a:schemeClr val="bg1">
                      <a:alpha val="50000"/>
                    </a:schemeClr>
                  </a:solidFill>
                </a:endParaRPr>
              </a:p>
            </p:txBody>
          </p:sp>
          <p:sp>
            <p:nvSpPr>
              <p:cNvPr id="48" name="椭圆 47"/>
              <p:cNvSpPr/>
              <p:nvPr/>
            </p:nvSpPr>
            <p:spPr>
              <a:xfrm>
                <a:off x="7589362"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40" name="组合 39"/>
            <p:cNvGrpSpPr/>
            <p:nvPr/>
          </p:nvGrpSpPr>
          <p:grpSpPr>
            <a:xfrm>
              <a:off x="3730218" y="6260069"/>
              <a:ext cx="743987" cy="184666"/>
              <a:chOff x="3730218" y="6260069"/>
              <a:chExt cx="743987" cy="184666"/>
            </a:xfrm>
          </p:grpSpPr>
          <p:sp>
            <p:nvSpPr>
              <p:cNvPr id="45" name="文本框 44"/>
              <p:cNvSpPr txBox="1"/>
              <p:nvPr/>
            </p:nvSpPr>
            <p:spPr>
              <a:xfrm>
                <a:off x="3858652" y="6260069"/>
                <a:ext cx="615553" cy="184666"/>
              </a:xfrm>
              <a:prstGeom prst="rect">
                <a:avLst/>
              </a:prstGeom>
              <a:noFill/>
            </p:spPr>
            <p:txBody>
              <a:bodyPr wrap="none" lIns="0" tIns="0" rIns="0" bIns="0" rtlCol="0">
                <a:spAutoFit/>
              </a:bodyPr>
              <a:lstStyle/>
              <a:p>
                <a:r>
                  <a:rPr lang="zh-CN" altLang="en-US" sz="1200" dirty="0">
                    <a:solidFill>
                      <a:srgbClr val="A5B3D6"/>
                    </a:solidFill>
                  </a:rPr>
                  <a:t>科学问题</a:t>
                </a:r>
                <a:endParaRPr lang="zh-CN" altLang="en-US" sz="1200" dirty="0">
                  <a:solidFill>
                    <a:srgbClr val="A5B3D6"/>
                  </a:solidFill>
                </a:endParaRPr>
              </a:p>
            </p:txBody>
          </p:sp>
          <p:sp>
            <p:nvSpPr>
              <p:cNvPr id="46" name="椭圆 45"/>
              <p:cNvSpPr/>
              <p:nvPr/>
            </p:nvSpPr>
            <p:spPr>
              <a:xfrm>
                <a:off x="3730218"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41" name="椭圆 40"/>
            <p:cNvSpPr/>
            <p:nvPr/>
          </p:nvSpPr>
          <p:spPr>
            <a:xfrm>
              <a:off x="4646267" y="6301988"/>
              <a:ext cx="120650" cy="120650"/>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42" name="组合 41"/>
            <p:cNvGrpSpPr/>
            <p:nvPr/>
          </p:nvGrpSpPr>
          <p:grpSpPr>
            <a:xfrm>
              <a:off x="8820513" y="6260069"/>
              <a:ext cx="897874" cy="184666"/>
              <a:chOff x="7589362" y="6260069"/>
              <a:chExt cx="897874" cy="184666"/>
            </a:xfrm>
          </p:grpSpPr>
          <p:sp>
            <p:nvSpPr>
              <p:cNvPr id="43" name="文本框 42"/>
              <p:cNvSpPr txBox="1"/>
              <p:nvPr/>
            </p:nvSpPr>
            <p:spPr>
              <a:xfrm>
                <a:off x="7717795" y="6260069"/>
                <a:ext cx="769441" cy="184666"/>
              </a:xfrm>
              <a:prstGeom prst="rect">
                <a:avLst/>
              </a:prstGeom>
              <a:noFill/>
            </p:spPr>
            <p:txBody>
              <a:bodyPr wrap="none" lIns="0" tIns="0" rIns="0" bIns="0" rtlCol="0">
                <a:spAutoFit/>
              </a:bodyPr>
              <a:lstStyle/>
              <a:p>
                <a:r>
                  <a:rPr lang="zh-CN" altLang="en-US" sz="1200" dirty="0">
                    <a:solidFill>
                      <a:schemeClr val="bg1">
                        <a:alpha val="50000"/>
                      </a:schemeClr>
                    </a:solidFill>
                  </a:rPr>
                  <a:t>意义与展望</a:t>
                </a:r>
                <a:endParaRPr lang="zh-CN" altLang="en-US" sz="1200" dirty="0">
                  <a:solidFill>
                    <a:schemeClr val="bg1">
                      <a:alpha val="50000"/>
                    </a:schemeClr>
                  </a:solidFill>
                </a:endParaRPr>
              </a:p>
            </p:txBody>
          </p:sp>
          <p:sp>
            <p:nvSpPr>
              <p:cNvPr id="44" name="椭圆 43"/>
              <p:cNvSpPr/>
              <p:nvPr/>
            </p:nvSpPr>
            <p:spPr>
              <a:xfrm>
                <a:off x="7589362"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sp>
        <p:nvSpPr>
          <p:cNvPr id="88" name="文本框 87"/>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chemeClr val="bg1"/>
                </a:solidFill>
                <a:highlight>
                  <a:srgbClr val="4965AA"/>
                </a:highlight>
              </a:rPr>
              <a:t>Southern University of </a:t>
            </a:r>
            <a:endParaRPr lang="en-US" altLang="zh-CN" sz="1000" cap="all" dirty="0">
              <a:solidFill>
                <a:schemeClr val="bg1"/>
              </a:solidFill>
              <a:highlight>
                <a:srgbClr val="4965AA"/>
              </a:highlight>
            </a:endParaRPr>
          </a:p>
          <a:p>
            <a:pPr algn="r"/>
            <a:r>
              <a:rPr lang="en-US" altLang="zh-CN" sz="1000" cap="all" dirty="0">
                <a:solidFill>
                  <a:schemeClr val="bg1"/>
                </a:solidFill>
                <a:highlight>
                  <a:srgbClr val="4965AA"/>
                </a:highlight>
              </a:rPr>
              <a:t>science and technology</a:t>
            </a:r>
            <a:endParaRPr lang="zh-CN" altLang="en-US" sz="1000" cap="all" dirty="0">
              <a:solidFill>
                <a:schemeClr val="bg1"/>
              </a:solidFill>
              <a:highlight>
                <a:srgbClr val="4965AA"/>
              </a:highlight>
            </a:endParaRPr>
          </a:p>
        </p:txBody>
      </p:sp>
      <p:grpSp>
        <p:nvGrpSpPr>
          <p:cNvPr id="2" name="组合 1"/>
          <p:cNvGrpSpPr/>
          <p:nvPr/>
        </p:nvGrpSpPr>
        <p:grpSpPr>
          <a:xfrm>
            <a:off x="9799713" y="109178"/>
            <a:ext cx="2256250" cy="713649"/>
            <a:chOff x="9799713" y="109178"/>
            <a:chExt cx="2256250" cy="713649"/>
          </a:xfrm>
        </p:grpSpPr>
        <p:sp>
          <p:nvSpPr>
            <p:cNvPr id="7" name="矩形 6"/>
            <p:cNvSpPr/>
            <p:nvPr/>
          </p:nvSpPr>
          <p:spPr>
            <a:xfrm>
              <a:off x="9799713" y="197831"/>
              <a:ext cx="2117376" cy="53634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文本框 10"/>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4965AA"/>
                </a:highlight>
                <a:latin typeface="Eras Bold ITC" panose="020B0907030504020204" pitchFamily="34" charset="0"/>
              </a:rPr>
              <a:t>SUSTech</a:t>
            </a:r>
            <a:r>
              <a:rPr lang="en-US" altLang="zh-CN" sz="3000" dirty="0">
                <a:solidFill>
                  <a:srgbClr val="EFA7A7"/>
                </a:solidFill>
                <a:highlight>
                  <a:srgbClr val="4965AA"/>
                </a:highlight>
                <a:latin typeface="Eras Bold ITC" panose="020B0907030504020204" pitchFamily="34" charset="0"/>
              </a:rPr>
              <a:t>-BIO</a:t>
            </a:r>
            <a:endParaRPr lang="zh-CN" altLang="en-US" sz="3000" dirty="0">
              <a:solidFill>
                <a:srgbClr val="EFA7A7"/>
              </a:solidFill>
              <a:highlight>
                <a:srgbClr val="4965AA"/>
              </a:highlight>
              <a:latin typeface="Eras Bold ITC" panose="020B0907030504020204" pitchFamily="34" charset="0"/>
            </a:endParaRPr>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6510" y="-379570"/>
            <a:ext cx="1662864" cy="16664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0"/>
          </p:nvPr>
        </p:nvSpPr>
        <p:spPr>
          <a:xfrm>
            <a:off x="736600" y="6239103"/>
            <a:ext cx="423193" cy="230832"/>
          </a:xfrm>
        </p:spPr>
        <p:txBody>
          <a:bodyPr>
            <a:spAutoFit/>
          </a:bodyPr>
          <a:lstStyle/>
          <a:p>
            <a:r>
              <a:rPr lang="en-US" altLang="zh-CN" dirty="0"/>
              <a:t>2026</a:t>
            </a:r>
            <a:endParaRPr lang="zh-CN" altLang="en-US" dirty="0"/>
          </a:p>
        </p:txBody>
      </p:sp>
      <p:sp>
        <p:nvSpPr>
          <p:cNvPr id="16" name="文本占位符 15"/>
          <p:cNvSpPr>
            <a:spLocks noGrp="1"/>
          </p:cNvSpPr>
          <p:nvPr>
            <p:ph type="body" sz="quarter" idx="11"/>
          </p:nvPr>
        </p:nvSpPr>
        <p:spPr>
          <a:xfrm>
            <a:off x="10686535" y="6239103"/>
            <a:ext cx="768865" cy="230832"/>
          </a:xfrm>
        </p:spPr>
        <p:txBody>
          <a:bodyPr>
            <a:spAutoFit/>
          </a:bodyPr>
          <a:lstStyle/>
          <a:p>
            <a:r>
              <a:rPr lang="en-US" altLang="zh-CN" sz="1500" dirty="0">
                <a:solidFill>
                  <a:schemeClr val="accent1"/>
                </a:solidFill>
              </a:rPr>
              <a:t>May 17th</a:t>
            </a:r>
            <a:endParaRPr lang="zh-CN" altLang="en-US" sz="1500" dirty="0">
              <a:solidFill>
                <a:schemeClr val="accent1"/>
              </a:solidFill>
            </a:endParaRPr>
          </a:p>
        </p:txBody>
      </p:sp>
      <p:grpSp>
        <p:nvGrpSpPr>
          <p:cNvPr id="5" name="组合 4"/>
          <p:cNvGrpSpPr/>
          <p:nvPr/>
        </p:nvGrpSpPr>
        <p:grpSpPr>
          <a:xfrm>
            <a:off x="2565201" y="1255246"/>
            <a:ext cx="222232" cy="225426"/>
            <a:chOff x="2395848" y="967602"/>
            <a:chExt cx="222232" cy="225426"/>
          </a:xfrm>
        </p:grpSpPr>
        <p:sp>
          <p:nvSpPr>
            <p:cNvPr id="2" name="矩形 1"/>
            <p:cNvSpPr/>
            <p:nvPr/>
          </p:nvSpPr>
          <p:spPr>
            <a:xfrm>
              <a:off x="2395848" y="967602"/>
              <a:ext cx="183151" cy="18315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5" name="矩形 34"/>
            <p:cNvSpPr/>
            <p:nvPr/>
          </p:nvSpPr>
          <p:spPr>
            <a:xfrm>
              <a:off x="2434928" y="1009877"/>
              <a:ext cx="183152" cy="183151"/>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07" name="文本框 106"/>
          <p:cNvSpPr txBox="1"/>
          <p:nvPr/>
        </p:nvSpPr>
        <p:spPr>
          <a:xfrm>
            <a:off x="4264275" y="2527245"/>
            <a:ext cx="205184" cy="276999"/>
          </a:xfrm>
          <a:prstGeom prst="rect">
            <a:avLst/>
          </a:prstGeom>
          <a:noFill/>
        </p:spPr>
        <p:txBody>
          <a:bodyPr wrap="none" lIns="0" tIns="0" rIns="0" bIns="0" rtlCol="0">
            <a:spAutoFit/>
          </a:bodyPr>
          <a:lstStyle/>
          <a:p>
            <a:r>
              <a:rPr lang="en-US" altLang="zh-CN" b="1" dirty="0">
                <a:solidFill>
                  <a:schemeClr val="bg1"/>
                </a:solidFill>
              </a:rPr>
              <a:t>%</a:t>
            </a:r>
            <a:endParaRPr lang="zh-CN" altLang="en-US" b="1" dirty="0">
              <a:solidFill>
                <a:schemeClr val="bg1"/>
              </a:solidFill>
            </a:endParaRPr>
          </a:p>
        </p:txBody>
      </p:sp>
      <p:sp>
        <p:nvSpPr>
          <p:cNvPr id="96" name="文本框 95"/>
          <p:cNvSpPr txBox="1"/>
          <p:nvPr/>
        </p:nvSpPr>
        <p:spPr>
          <a:xfrm>
            <a:off x="7042835" y="2527245"/>
            <a:ext cx="205184" cy="276999"/>
          </a:xfrm>
          <a:prstGeom prst="rect">
            <a:avLst/>
          </a:prstGeom>
          <a:noFill/>
        </p:spPr>
        <p:txBody>
          <a:bodyPr wrap="none" lIns="0" tIns="0" rIns="0" bIns="0" rtlCol="0">
            <a:spAutoFit/>
          </a:bodyPr>
          <a:lstStyle/>
          <a:p>
            <a:r>
              <a:rPr lang="en-US" altLang="zh-CN" b="1" dirty="0">
                <a:solidFill>
                  <a:schemeClr val="bg1"/>
                </a:solidFill>
              </a:rPr>
              <a:t>%</a:t>
            </a:r>
            <a:endParaRPr lang="zh-CN" altLang="en-US" b="1" dirty="0">
              <a:solidFill>
                <a:schemeClr val="bg1"/>
              </a:solidFill>
            </a:endParaRPr>
          </a:p>
        </p:txBody>
      </p:sp>
      <p:sp>
        <p:nvSpPr>
          <p:cNvPr id="85" name="文本框 84"/>
          <p:cNvSpPr txBox="1"/>
          <p:nvPr/>
        </p:nvSpPr>
        <p:spPr>
          <a:xfrm>
            <a:off x="9821395" y="2527245"/>
            <a:ext cx="205184" cy="276999"/>
          </a:xfrm>
          <a:prstGeom prst="rect">
            <a:avLst/>
          </a:prstGeom>
          <a:noFill/>
        </p:spPr>
        <p:txBody>
          <a:bodyPr wrap="none" lIns="0" tIns="0" rIns="0" bIns="0" rtlCol="0">
            <a:spAutoFit/>
          </a:bodyPr>
          <a:lstStyle/>
          <a:p>
            <a:r>
              <a:rPr lang="en-US" altLang="zh-CN" b="1" dirty="0">
                <a:solidFill>
                  <a:schemeClr val="bg1"/>
                </a:solidFill>
              </a:rPr>
              <a:t>%</a:t>
            </a:r>
            <a:endParaRPr lang="zh-CN" altLang="en-US" b="1" dirty="0">
              <a:solidFill>
                <a:schemeClr val="bg1"/>
              </a:solidFill>
            </a:endParaRPr>
          </a:p>
        </p:txBody>
      </p:sp>
      <p:sp>
        <p:nvSpPr>
          <p:cNvPr id="64" name="文本框 63"/>
          <p:cNvSpPr txBox="1"/>
          <p:nvPr/>
        </p:nvSpPr>
        <p:spPr>
          <a:xfrm>
            <a:off x="1485714" y="2527245"/>
            <a:ext cx="205184" cy="276999"/>
          </a:xfrm>
          <a:prstGeom prst="rect">
            <a:avLst/>
          </a:prstGeom>
          <a:noFill/>
        </p:spPr>
        <p:txBody>
          <a:bodyPr wrap="none" lIns="0" tIns="0" rIns="0" bIns="0" rtlCol="0">
            <a:spAutoFit/>
          </a:bodyPr>
          <a:lstStyle/>
          <a:p>
            <a:r>
              <a:rPr lang="en-US" altLang="zh-CN" b="1" dirty="0">
                <a:solidFill>
                  <a:schemeClr val="bg1"/>
                </a:solidFill>
              </a:rPr>
              <a:t>%</a:t>
            </a:r>
            <a:endParaRPr lang="zh-CN" altLang="en-US" b="1" dirty="0">
              <a:solidFill>
                <a:schemeClr val="bg1"/>
              </a:solidFill>
            </a:endParaRPr>
          </a:p>
        </p:txBody>
      </p:sp>
      <p:grpSp>
        <p:nvGrpSpPr>
          <p:cNvPr id="6" name="组合 5"/>
          <p:cNvGrpSpPr/>
          <p:nvPr/>
        </p:nvGrpSpPr>
        <p:grpSpPr>
          <a:xfrm>
            <a:off x="731840" y="1719448"/>
            <a:ext cx="2471696" cy="4137792"/>
            <a:chOff x="731840" y="1315588"/>
            <a:chExt cx="2471696" cy="4137792"/>
          </a:xfrm>
        </p:grpSpPr>
        <p:sp>
          <p:nvSpPr>
            <p:cNvPr id="73" name="矩形 72"/>
            <p:cNvSpPr/>
            <p:nvPr/>
          </p:nvSpPr>
          <p:spPr>
            <a:xfrm>
              <a:off x="815660" y="1409568"/>
              <a:ext cx="2387876" cy="40438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p>
          </p:txBody>
        </p:sp>
        <p:sp>
          <p:nvSpPr>
            <p:cNvPr id="4" name="矩形 3"/>
            <p:cNvSpPr/>
            <p:nvPr/>
          </p:nvSpPr>
          <p:spPr>
            <a:xfrm>
              <a:off x="731840" y="1315588"/>
              <a:ext cx="2387876" cy="40438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63" name="文本框 62"/>
            <p:cNvSpPr txBox="1"/>
            <p:nvPr/>
          </p:nvSpPr>
          <p:spPr>
            <a:xfrm>
              <a:off x="869191" y="1941924"/>
              <a:ext cx="2154436" cy="430887"/>
            </a:xfrm>
            <a:prstGeom prst="rect">
              <a:avLst/>
            </a:prstGeom>
            <a:noFill/>
          </p:spPr>
          <p:txBody>
            <a:bodyPr wrap="none" lIns="0" tIns="0" rIns="0" bIns="0" rtlCol="0">
              <a:spAutoFit/>
            </a:bodyPr>
            <a:lstStyle/>
            <a:p>
              <a:r>
                <a:rPr lang="zh-CN" altLang="en-US" sz="2800" b="1" dirty="0">
                  <a:solidFill>
                    <a:schemeClr val="bg1"/>
                  </a:solidFill>
                </a:rPr>
                <a:t>三维结构识别</a:t>
              </a:r>
              <a:endParaRPr lang="zh-CN" altLang="en-US" sz="2800" b="1" dirty="0">
                <a:solidFill>
                  <a:schemeClr val="bg1"/>
                </a:solidFill>
              </a:endParaRPr>
            </a:p>
          </p:txBody>
        </p:sp>
        <p:sp>
          <p:nvSpPr>
            <p:cNvPr id="65" name="文本框 64"/>
            <p:cNvSpPr txBox="1"/>
            <p:nvPr/>
          </p:nvSpPr>
          <p:spPr>
            <a:xfrm>
              <a:off x="891034" y="1554367"/>
              <a:ext cx="820738" cy="279564"/>
            </a:xfrm>
            <a:prstGeom prst="rect">
              <a:avLst/>
            </a:prstGeom>
            <a:noFill/>
          </p:spPr>
          <p:txBody>
            <a:bodyPr wrap="none" lIns="0" tIns="0" rIns="0" bIns="0" rtlCol="0">
              <a:spAutoFit/>
            </a:bodyPr>
            <a:lstStyle/>
            <a:p>
              <a:pPr>
                <a:lnSpc>
                  <a:spcPct val="125000"/>
                </a:lnSpc>
              </a:pPr>
              <a:r>
                <a:rPr lang="zh-CN" altLang="en-US" sz="1600" dirty="0">
                  <a:solidFill>
                    <a:schemeClr val="bg1"/>
                  </a:solidFill>
                  <a:latin typeface="+mn-ea"/>
                </a:rPr>
                <a:t>靶向创新</a:t>
              </a:r>
              <a:endParaRPr lang="zh-CN" altLang="en-US" sz="1600" dirty="0">
                <a:solidFill>
                  <a:schemeClr val="bg1"/>
                </a:solidFill>
                <a:latin typeface="+mn-ea"/>
              </a:endParaRPr>
            </a:p>
          </p:txBody>
        </p:sp>
        <p:sp>
          <p:nvSpPr>
            <p:cNvPr id="67" name="文本框 66"/>
            <p:cNvSpPr txBox="1"/>
            <p:nvPr/>
          </p:nvSpPr>
          <p:spPr>
            <a:xfrm>
              <a:off x="869191" y="2681435"/>
              <a:ext cx="2113177" cy="2449710"/>
            </a:xfrm>
            <a:prstGeom prst="rect">
              <a:avLst/>
            </a:prstGeom>
            <a:noFill/>
          </p:spPr>
          <p:txBody>
            <a:bodyPr wrap="square" lIns="0" tIns="0" rIns="0" bIns="0" rtlCol="0">
              <a:spAutoFit/>
            </a:bodyPr>
            <a:lstStyle/>
            <a:p>
              <a:pPr>
                <a:lnSpc>
                  <a:spcPct val="125000"/>
                </a:lnSpc>
              </a:pPr>
              <a:r>
                <a:rPr lang="zh-CN" altLang="en-US" dirty="0">
                  <a:solidFill>
                    <a:schemeClr val="bg1"/>
                  </a:solidFill>
                  <a:latin typeface="+mn-ea"/>
                </a:rPr>
                <a:t>直接识别致病 </a:t>
              </a:r>
              <a:r>
                <a:rPr lang="en-US" altLang="zh-CN" dirty="0">
                  <a:solidFill>
                    <a:schemeClr val="bg1"/>
                  </a:solidFill>
                  <a:latin typeface="+mn-ea"/>
                </a:rPr>
                <a:t>RNA </a:t>
              </a:r>
              <a:r>
                <a:rPr lang="zh-CN" altLang="en-US" dirty="0">
                  <a:solidFill>
                    <a:schemeClr val="bg1"/>
                  </a:solidFill>
                  <a:latin typeface="+mn-ea"/>
                </a:rPr>
                <a:t>特有异常发夹结构</a:t>
              </a:r>
              <a:endParaRPr kumimoji="0" lang="en-US" altLang="zh-CN" sz="900" b="0" i="0" u="none" strike="noStrike" kern="1200" cap="none" spc="0" normalizeH="0" baseline="0" noProof="0" dirty="0">
                <a:ln>
                  <a:noFill/>
                </a:ln>
                <a:solidFill>
                  <a:prstClr val="white"/>
                </a:solidFill>
                <a:effectLst/>
                <a:uLnTx/>
                <a:uFillTx/>
                <a:latin typeface="华文中宋" panose="02010600040101010101" charset="-122"/>
                <a:ea typeface="华文中宋" panose="02010600040101010101" charset="-122"/>
                <a:cs typeface="+mn-cs"/>
              </a:endParaRPr>
            </a:p>
            <a:p>
              <a:pPr>
                <a:lnSpc>
                  <a:spcPct val="125000"/>
                </a:lnSpc>
              </a:pPr>
              <a:endParaRPr lang="en-US" altLang="zh-CN" sz="900" dirty="0">
                <a:solidFill>
                  <a:schemeClr val="bg1"/>
                </a:solidFill>
                <a:latin typeface="+mn-ea"/>
              </a:endParaRPr>
            </a:p>
            <a:p>
              <a:pPr>
                <a:lnSpc>
                  <a:spcPct val="125000"/>
                </a:lnSpc>
              </a:pPr>
              <a:r>
                <a:rPr lang="zh-CN" altLang="en-US" dirty="0">
                  <a:solidFill>
                    <a:schemeClr val="bg1"/>
                  </a:solidFill>
                  <a:latin typeface="+mn-ea"/>
                </a:rPr>
                <a:t>突破传统仅依赖碱基互补的靶向模式</a:t>
              </a:r>
              <a:endParaRPr lang="en-US" altLang="zh-CN" dirty="0">
                <a:solidFill>
                  <a:schemeClr val="bg1"/>
                </a:solidFill>
                <a:latin typeface="+mn-ea"/>
              </a:endParaRPr>
            </a:p>
            <a:p>
              <a:pPr>
                <a:lnSpc>
                  <a:spcPct val="125000"/>
                </a:lnSpc>
              </a:pPr>
              <a:endParaRPr lang="en-US" altLang="zh-CN" sz="900" dirty="0">
                <a:solidFill>
                  <a:schemeClr val="bg1"/>
                </a:solidFill>
                <a:latin typeface="+mn-ea"/>
              </a:endParaRPr>
            </a:p>
            <a:p>
              <a:pPr>
                <a:lnSpc>
                  <a:spcPct val="125000"/>
                </a:lnSpc>
              </a:pPr>
              <a:r>
                <a:rPr lang="zh-CN" altLang="en-US" dirty="0">
                  <a:solidFill>
                    <a:schemeClr val="bg1"/>
                  </a:solidFill>
                  <a:latin typeface="+mn-ea"/>
                </a:rPr>
                <a:t>实现高度同源转录本精准区分</a:t>
              </a:r>
              <a:endParaRPr lang="zh-CN" altLang="en-US" dirty="0">
                <a:solidFill>
                  <a:schemeClr val="bg1"/>
                </a:solidFill>
                <a:latin typeface="+mn-ea"/>
              </a:endParaRPr>
            </a:p>
          </p:txBody>
        </p:sp>
        <p:cxnSp>
          <p:nvCxnSpPr>
            <p:cNvPr id="7" name="直接连接符 6"/>
            <p:cNvCxnSpPr/>
            <p:nvPr/>
          </p:nvCxnSpPr>
          <p:spPr>
            <a:xfrm>
              <a:off x="869191" y="2515453"/>
              <a:ext cx="211317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 name="文本框 2"/>
          <p:cNvSpPr txBox="1"/>
          <p:nvPr/>
        </p:nvSpPr>
        <p:spPr>
          <a:xfrm>
            <a:off x="463046" y="749346"/>
            <a:ext cx="2051844" cy="492443"/>
          </a:xfrm>
          <a:prstGeom prst="rect">
            <a:avLst/>
          </a:prstGeom>
          <a:noFill/>
        </p:spPr>
        <p:txBody>
          <a:bodyPr wrap="none" lIns="0" tIns="0" rIns="0" bIns="0" rtlCol="0">
            <a:spAutoFit/>
          </a:bodyPr>
          <a:lstStyle/>
          <a:p>
            <a:r>
              <a:rPr lang="zh-CN" altLang="en-US" sz="3200" b="1" dirty="0">
                <a:solidFill>
                  <a:srgbClr val="4965AA"/>
                </a:solidFill>
                <a:latin typeface="+mj-ea"/>
                <a:ea typeface="+mj-ea"/>
              </a:rPr>
              <a:t>核心创新点</a:t>
            </a:r>
            <a:endParaRPr lang="zh-CN" altLang="en-US" sz="3200" b="1" dirty="0">
              <a:solidFill>
                <a:srgbClr val="4965AA"/>
              </a:solidFill>
              <a:latin typeface="+mj-ea"/>
              <a:ea typeface="+mj-ea"/>
            </a:endParaRPr>
          </a:p>
        </p:txBody>
      </p:sp>
      <p:grpSp>
        <p:nvGrpSpPr>
          <p:cNvPr id="22" name="组合 21"/>
          <p:cNvGrpSpPr/>
          <p:nvPr/>
        </p:nvGrpSpPr>
        <p:grpSpPr>
          <a:xfrm>
            <a:off x="3492304" y="1000103"/>
            <a:ext cx="2471696" cy="4137792"/>
            <a:chOff x="731840" y="1315588"/>
            <a:chExt cx="2471696" cy="4137792"/>
          </a:xfrm>
        </p:grpSpPr>
        <p:sp>
          <p:nvSpPr>
            <p:cNvPr id="23" name="矩形 22"/>
            <p:cNvSpPr/>
            <p:nvPr/>
          </p:nvSpPr>
          <p:spPr>
            <a:xfrm>
              <a:off x="815660" y="1409568"/>
              <a:ext cx="2387876" cy="40438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p>
          </p:txBody>
        </p:sp>
        <p:sp>
          <p:nvSpPr>
            <p:cNvPr id="24" name="矩形 23"/>
            <p:cNvSpPr/>
            <p:nvPr/>
          </p:nvSpPr>
          <p:spPr>
            <a:xfrm>
              <a:off x="731840" y="1315588"/>
              <a:ext cx="2387876" cy="40438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25" name="文本框 24"/>
            <p:cNvSpPr txBox="1"/>
            <p:nvPr/>
          </p:nvSpPr>
          <p:spPr>
            <a:xfrm>
              <a:off x="869191" y="1941924"/>
              <a:ext cx="2154436" cy="430887"/>
            </a:xfrm>
            <a:prstGeom prst="rect">
              <a:avLst/>
            </a:prstGeom>
            <a:noFill/>
          </p:spPr>
          <p:txBody>
            <a:bodyPr wrap="none" lIns="0" tIns="0" rIns="0" bIns="0" rtlCol="0">
              <a:spAutoFit/>
            </a:bodyPr>
            <a:lstStyle/>
            <a:p>
              <a:r>
                <a:rPr lang="zh-CN" altLang="en-US" sz="2800" b="1" dirty="0">
                  <a:solidFill>
                    <a:schemeClr val="bg1"/>
                  </a:solidFill>
                </a:rPr>
                <a:t>变构智能开关</a:t>
              </a:r>
              <a:endParaRPr lang="zh-CN" altLang="en-US" sz="2800" b="1" dirty="0">
                <a:solidFill>
                  <a:schemeClr val="bg1"/>
                </a:solidFill>
              </a:endParaRPr>
            </a:p>
          </p:txBody>
        </p:sp>
        <p:sp>
          <p:nvSpPr>
            <p:cNvPr id="26" name="文本框 25"/>
            <p:cNvSpPr txBox="1"/>
            <p:nvPr/>
          </p:nvSpPr>
          <p:spPr>
            <a:xfrm>
              <a:off x="891034" y="1554367"/>
              <a:ext cx="820738" cy="279564"/>
            </a:xfrm>
            <a:prstGeom prst="rect">
              <a:avLst/>
            </a:prstGeom>
            <a:noFill/>
          </p:spPr>
          <p:txBody>
            <a:bodyPr wrap="none" lIns="0" tIns="0" rIns="0" bIns="0" rtlCol="0">
              <a:spAutoFit/>
            </a:bodyPr>
            <a:lstStyle/>
            <a:p>
              <a:pPr>
                <a:lnSpc>
                  <a:spcPct val="125000"/>
                </a:lnSpc>
              </a:pPr>
              <a:r>
                <a:rPr lang="zh-CN" altLang="en-US" sz="1600" dirty="0">
                  <a:solidFill>
                    <a:schemeClr val="bg1"/>
                  </a:solidFill>
                  <a:latin typeface="+mn-ea"/>
                </a:rPr>
                <a:t>机制创新</a:t>
              </a:r>
              <a:endParaRPr lang="zh-CN" altLang="en-US" sz="1600" dirty="0">
                <a:solidFill>
                  <a:schemeClr val="bg1"/>
                </a:solidFill>
                <a:latin typeface="+mn-ea"/>
              </a:endParaRPr>
            </a:p>
          </p:txBody>
        </p:sp>
        <p:sp>
          <p:nvSpPr>
            <p:cNvPr id="27" name="文本框 26"/>
            <p:cNvSpPr txBox="1"/>
            <p:nvPr/>
          </p:nvSpPr>
          <p:spPr>
            <a:xfrm>
              <a:off x="762511" y="2681435"/>
              <a:ext cx="2288907" cy="2276585"/>
            </a:xfrm>
            <a:prstGeom prst="rect">
              <a:avLst/>
            </a:prstGeom>
            <a:noFill/>
          </p:spPr>
          <p:txBody>
            <a:bodyPr wrap="square" lIns="0" tIns="0" rIns="0" bIns="0" rtlCol="0">
              <a:spAutoFit/>
            </a:bodyPr>
            <a:lstStyle/>
            <a:p>
              <a:pPr>
                <a:lnSpc>
                  <a:spcPct val="125000"/>
                </a:lnSpc>
              </a:pPr>
              <a:r>
                <a:rPr lang="en-US" altLang="zh-CN" dirty="0">
                  <a:solidFill>
                    <a:schemeClr val="bg1"/>
                  </a:solidFill>
                  <a:latin typeface="+mn-ea"/>
                </a:rPr>
                <a:t>·</a:t>
              </a:r>
              <a:r>
                <a:rPr lang="zh-CN" altLang="en-US" dirty="0">
                  <a:solidFill>
                    <a:schemeClr val="bg1"/>
                  </a:solidFill>
                  <a:latin typeface="+mn-ea"/>
                </a:rPr>
                <a:t>无致病 </a:t>
              </a:r>
              <a:r>
                <a:rPr lang="en-US" altLang="zh-CN" dirty="0">
                  <a:solidFill>
                    <a:schemeClr val="bg1"/>
                  </a:solidFill>
                  <a:latin typeface="+mn-ea"/>
                </a:rPr>
                <a:t>RNA </a:t>
              </a:r>
              <a:r>
                <a:rPr lang="zh-CN" altLang="en-US" dirty="0">
                  <a:solidFill>
                    <a:schemeClr val="bg1"/>
                  </a:solidFill>
                  <a:latin typeface="+mn-ea"/>
                </a:rPr>
                <a:t>时：</a:t>
              </a:r>
              <a:endParaRPr lang="en-US" altLang="zh-CN" dirty="0">
                <a:solidFill>
                  <a:schemeClr val="bg1"/>
                </a:solidFill>
                <a:latin typeface="+mn-ea"/>
              </a:endParaRPr>
            </a:p>
            <a:p>
              <a:pPr>
                <a:lnSpc>
                  <a:spcPct val="125000"/>
                </a:lnSpc>
              </a:pPr>
              <a:r>
                <a:rPr lang="en-US" altLang="zh-CN" dirty="0">
                  <a:solidFill>
                    <a:schemeClr val="bg1"/>
                  </a:solidFill>
                  <a:latin typeface="+mn-ea"/>
                </a:rPr>
                <a:t>    Linker </a:t>
              </a:r>
              <a:r>
                <a:rPr lang="zh-CN" altLang="en-US" dirty="0">
                  <a:solidFill>
                    <a:schemeClr val="bg1"/>
                  </a:solidFill>
                  <a:latin typeface="+mn-ea"/>
                </a:rPr>
                <a:t>自折叠，</a:t>
              </a:r>
              <a:endParaRPr lang="en-US" altLang="zh-CN" dirty="0">
                <a:solidFill>
                  <a:schemeClr val="bg1"/>
                </a:solidFill>
                <a:latin typeface="+mn-ea"/>
              </a:endParaRPr>
            </a:p>
            <a:p>
              <a:pPr>
                <a:lnSpc>
                  <a:spcPct val="125000"/>
                </a:lnSpc>
              </a:pPr>
              <a:r>
                <a:rPr lang="zh-CN" altLang="en-US" dirty="0">
                  <a:solidFill>
                    <a:schemeClr val="bg1"/>
                  </a:solidFill>
                  <a:latin typeface="+mn-ea"/>
                </a:rPr>
                <a:t>    关闭功能</a:t>
              </a:r>
              <a:endParaRPr lang="en-US" altLang="zh-CN" dirty="0">
                <a:solidFill>
                  <a:schemeClr val="bg1"/>
                </a:solidFill>
                <a:latin typeface="+mn-ea"/>
              </a:endParaRPr>
            </a:p>
            <a:p>
              <a:pPr>
                <a:lnSpc>
                  <a:spcPct val="125000"/>
                </a:lnSpc>
              </a:pPr>
              <a:endParaRPr lang="en-US" altLang="zh-CN" sz="900" dirty="0">
                <a:solidFill>
                  <a:schemeClr val="bg1"/>
                </a:solidFill>
                <a:latin typeface="+mn-ea"/>
              </a:endParaRPr>
            </a:p>
            <a:p>
              <a:pPr>
                <a:lnSpc>
                  <a:spcPct val="125000"/>
                </a:lnSpc>
              </a:pPr>
              <a:r>
                <a:rPr lang="en-US" altLang="zh-CN" dirty="0">
                  <a:solidFill>
                    <a:schemeClr val="bg1"/>
                  </a:solidFill>
                  <a:latin typeface="+mn-ea"/>
                </a:rPr>
                <a:t>·</a:t>
              </a:r>
              <a:r>
                <a:rPr lang="zh-CN" altLang="en-US" dirty="0">
                  <a:solidFill>
                    <a:schemeClr val="bg1"/>
                  </a:solidFill>
                  <a:latin typeface="+mn-ea"/>
                </a:rPr>
                <a:t>识别结合致病 </a:t>
              </a:r>
              <a:r>
                <a:rPr lang="en-US" altLang="zh-CN" dirty="0">
                  <a:solidFill>
                    <a:schemeClr val="bg1"/>
                  </a:solidFill>
                  <a:latin typeface="+mn-ea"/>
                </a:rPr>
                <a:t>RNA</a:t>
              </a:r>
              <a:r>
                <a:rPr lang="zh-CN" altLang="en-US" dirty="0">
                  <a:solidFill>
                    <a:schemeClr val="bg1"/>
                  </a:solidFill>
                  <a:latin typeface="+mn-ea"/>
                </a:rPr>
                <a:t>：</a:t>
              </a:r>
              <a:endParaRPr lang="en-US" altLang="zh-CN" dirty="0">
                <a:solidFill>
                  <a:schemeClr val="bg1"/>
                </a:solidFill>
                <a:latin typeface="+mn-ea"/>
              </a:endParaRPr>
            </a:p>
            <a:p>
              <a:pPr>
                <a:lnSpc>
                  <a:spcPct val="125000"/>
                </a:lnSpc>
              </a:pPr>
              <a:r>
                <a:rPr lang="zh-CN" altLang="en-US" dirty="0">
                  <a:solidFill>
                    <a:schemeClr val="bg1"/>
                  </a:solidFill>
                  <a:latin typeface="+mn-ea"/>
                </a:rPr>
                <a:t>    构象重排解除抑制   </a:t>
              </a:r>
              <a:endParaRPr lang="en-US" altLang="zh-CN" dirty="0">
                <a:solidFill>
                  <a:schemeClr val="bg1"/>
                </a:solidFill>
                <a:latin typeface="+mn-ea"/>
              </a:endParaRPr>
            </a:p>
            <a:p>
              <a:pPr>
                <a:lnSpc>
                  <a:spcPct val="125000"/>
                </a:lnSpc>
              </a:pPr>
              <a:r>
                <a:rPr lang="en-US" altLang="zh-CN" dirty="0">
                  <a:solidFill>
                    <a:schemeClr val="bg1"/>
                  </a:solidFill>
                  <a:latin typeface="+mn-ea"/>
                </a:rPr>
                <a:t>    </a:t>
              </a:r>
              <a:r>
                <a:rPr lang="zh-CN" altLang="en-US" dirty="0">
                  <a:solidFill>
                    <a:schemeClr val="bg1"/>
                  </a:solidFill>
                  <a:latin typeface="+mn-ea"/>
                </a:rPr>
                <a:t>启动编辑</a:t>
              </a:r>
              <a:endParaRPr lang="en-US" altLang="zh-CN" dirty="0">
                <a:solidFill>
                  <a:schemeClr val="bg1"/>
                </a:solidFill>
                <a:latin typeface="+mn-ea"/>
              </a:endParaRPr>
            </a:p>
          </p:txBody>
        </p:sp>
        <p:cxnSp>
          <p:nvCxnSpPr>
            <p:cNvPr id="29" name="直接连接符 28"/>
            <p:cNvCxnSpPr/>
            <p:nvPr/>
          </p:nvCxnSpPr>
          <p:spPr>
            <a:xfrm>
              <a:off x="869191" y="2515453"/>
              <a:ext cx="211317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6262184" y="1719448"/>
            <a:ext cx="2471696" cy="4137792"/>
            <a:chOff x="731840" y="1315588"/>
            <a:chExt cx="2471696" cy="4137792"/>
          </a:xfrm>
        </p:grpSpPr>
        <p:sp>
          <p:nvSpPr>
            <p:cNvPr id="31" name="矩形 30"/>
            <p:cNvSpPr/>
            <p:nvPr/>
          </p:nvSpPr>
          <p:spPr>
            <a:xfrm>
              <a:off x="815660" y="1409568"/>
              <a:ext cx="2387876" cy="40438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p>
          </p:txBody>
        </p:sp>
        <p:sp>
          <p:nvSpPr>
            <p:cNvPr id="32" name="矩形 31"/>
            <p:cNvSpPr/>
            <p:nvPr/>
          </p:nvSpPr>
          <p:spPr>
            <a:xfrm>
              <a:off x="731840" y="1315588"/>
              <a:ext cx="2387876" cy="40438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33" name="文本框 32"/>
            <p:cNvSpPr txBox="1"/>
            <p:nvPr/>
          </p:nvSpPr>
          <p:spPr>
            <a:xfrm>
              <a:off x="869191" y="1941924"/>
              <a:ext cx="2154436" cy="430887"/>
            </a:xfrm>
            <a:prstGeom prst="rect">
              <a:avLst/>
            </a:prstGeom>
            <a:noFill/>
          </p:spPr>
          <p:txBody>
            <a:bodyPr wrap="none" lIns="0" tIns="0" rIns="0" bIns="0" rtlCol="0">
              <a:spAutoFit/>
            </a:bodyPr>
            <a:lstStyle/>
            <a:p>
              <a:r>
                <a:rPr lang="zh-CN" altLang="en-US" sz="2800" b="1" dirty="0">
                  <a:solidFill>
                    <a:schemeClr val="bg1"/>
                  </a:solidFill>
                </a:rPr>
                <a:t>减少随机试错</a:t>
              </a:r>
              <a:endParaRPr lang="zh-CN" altLang="en-US" sz="2800" b="1" dirty="0">
                <a:solidFill>
                  <a:schemeClr val="bg1"/>
                </a:solidFill>
              </a:endParaRPr>
            </a:p>
          </p:txBody>
        </p:sp>
        <p:sp>
          <p:nvSpPr>
            <p:cNvPr id="34" name="文本框 33"/>
            <p:cNvSpPr txBox="1"/>
            <p:nvPr/>
          </p:nvSpPr>
          <p:spPr>
            <a:xfrm>
              <a:off x="891034" y="1554367"/>
              <a:ext cx="820738" cy="279564"/>
            </a:xfrm>
            <a:prstGeom prst="rect">
              <a:avLst/>
            </a:prstGeom>
            <a:noFill/>
          </p:spPr>
          <p:txBody>
            <a:bodyPr wrap="none" lIns="0" tIns="0" rIns="0" bIns="0" rtlCol="0">
              <a:spAutoFit/>
            </a:bodyPr>
            <a:lstStyle/>
            <a:p>
              <a:pPr>
                <a:lnSpc>
                  <a:spcPct val="125000"/>
                </a:lnSpc>
              </a:pPr>
              <a:r>
                <a:rPr lang="zh-CN" altLang="en-US" sz="1600" dirty="0">
                  <a:solidFill>
                    <a:schemeClr val="bg1"/>
                  </a:solidFill>
                  <a:latin typeface="+mn-ea"/>
                </a:rPr>
                <a:t>方法创新</a:t>
              </a:r>
              <a:endParaRPr lang="zh-CN" altLang="en-US" sz="1600" dirty="0">
                <a:solidFill>
                  <a:schemeClr val="bg1"/>
                </a:solidFill>
                <a:latin typeface="+mn-ea"/>
              </a:endParaRPr>
            </a:p>
          </p:txBody>
        </p:sp>
        <p:sp>
          <p:nvSpPr>
            <p:cNvPr id="36" name="文本框 35"/>
            <p:cNvSpPr txBox="1"/>
            <p:nvPr/>
          </p:nvSpPr>
          <p:spPr>
            <a:xfrm>
              <a:off x="869191" y="2643335"/>
              <a:ext cx="2113177" cy="2622834"/>
            </a:xfrm>
            <a:prstGeom prst="rect">
              <a:avLst/>
            </a:prstGeom>
            <a:noFill/>
          </p:spPr>
          <p:txBody>
            <a:bodyPr wrap="square" lIns="0" tIns="0" rIns="0" bIns="0" rtlCol="0">
              <a:spAutoFit/>
            </a:bodyPr>
            <a:lstStyle/>
            <a:p>
              <a:pPr>
                <a:lnSpc>
                  <a:spcPct val="125000"/>
                </a:lnSpc>
              </a:pPr>
              <a:r>
                <a:rPr lang="en-US" altLang="zh-CN" dirty="0">
                  <a:solidFill>
                    <a:schemeClr val="bg1"/>
                  </a:solidFill>
                  <a:latin typeface="+mn-ea"/>
                </a:rPr>
                <a:t>AlphaFold3</a:t>
              </a:r>
              <a:r>
                <a:rPr lang="zh-CN" altLang="en-US" dirty="0">
                  <a:solidFill>
                    <a:schemeClr val="bg1"/>
                  </a:solidFill>
                  <a:latin typeface="+mn-ea"/>
                </a:rPr>
                <a:t>、分子动力学模拟结构预测</a:t>
              </a:r>
              <a:endParaRPr kumimoji="0" lang="en-US" altLang="zh-CN" sz="900" b="0" i="0" u="none" strike="noStrike" kern="1200" cap="none" spc="0" normalizeH="0" baseline="0" noProof="0" dirty="0">
                <a:ln>
                  <a:noFill/>
                </a:ln>
                <a:solidFill>
                  <a:prstClr val="white"/>
                </a:solidFill>
                <a:effectLst/>
                <a:uLnTx/>
                <a:uFillTx/>
                <a:latin typeface="华文中宋" panose="02010600040101010101" charset="-122"/>
                <a:ea typeface="华文中宋" panose="02010600040101010101" charset="-122"/>
                <a:cs typeface="+mn-cs"/>
              </a:endParaRPr>
            </a:p>
            <a:p>
              <a:pPr>
                <a:lnSpc>
                  <a:spcPct val="125000"/>
                </a:lnSpc>
              </a:pPr>
              <a:endParaRPr lang="en-US" altLang="zh-CN" sz="700" dirty="0">
                <a:solidFill>
                  <a:schemeClr val="bg1"/>
                </a:solidFill>
                <a:latin typeface="+mn-ea"/>
              </a:endParaRPr>
            </a:p>
            <a:p>
              <a:pPr>
                <a:lnSpc>
                  <a:spcPct val="125000"/>
                </a:lnSpc>
              </a:pPr>
              <a:r>
                <a:rPr lang="en-US" altLang="zh-CN" sz="1600" dirty="0" err="1">
                  <a:solidFill>
                    <a:schemeClr val="bg1"/>
                  </a:solidFill>
                  <a:latin typeface="+mn-ea"/>
                </a:rPr>
                <a:t>RFdiffusion</a:t>
              </a:r>
              <a:r>
                <a:rPr lang="zh-CN" altLang="en-US" sz="1600" dirty="0">
                  <a:solidFill>
                    <a:schemeClr val="bg1"/>
                  </a:solidFill>
                  <a:latin typeface="+mn-ea"/>
                </a:rPr>
                <a:t>、</a:t>
              </a:r>
              <a:r>
                <a:rPr lang="en-US" altLang="zh-CN" sz="1600" dirty="0" err="1">
                  <a:solidFill>
                    <a:schemeClr val="bg1"/>
                  </a:solidFill>
                  <a:latin typeface="+mn-ea"/>
                </a:rPr>
                <a:t>ProteinMPNN</a:t>
              </a:r>
              <a:r>
                <a:rPr lang="en-US" altLang="zh-CN" sz="1600" dirty="0">
                  <a:solidFill>
                    <a:schemeClr val="bg1"/>
                  </a:solidFill>
                  <a:latin typeface="+mn-ea"/>
                </a:rPr>
                <a:t> </a:t>
              </a:r>
              <a:endParaRPr lang="en-US" altLang="zh-CN" sz="1600" dirty="0">
                <a:solidFill>
                  <a:schemeClr val="bg1"/>
                </a:solidFill>
                <a:latin typeface="+mn-ea"/>
              </a:endParaRPr>
            </a:p>
            <a:p>
              <a:pPr>
                <a:lnSpc>
                  <a:spcPct val="125000"/>
                </a:lnSpc>
              </a:pPr>
              <a:r>
                <a:rPr lang="zh-CN" altLang="en-US">
                  <a:solidFill>
                    <a:schemeClr val="bg1"/>
                  </a:solidFill>
                  <a:latin typeface="+mn-ea"/>
                </a:rPr>
                <a:t>蛋白改造设计</a:t>
              </a:r>
              <a:endParaRPr lang="en-US" altLang="zh-CN" dirty="0">
                <a:solidFill>
                  <a:schemeClr val="bg1"/>
                </a:solidFill>
                <a:latin typeface="+mn-ea"/>
              </a:endParaRPr>
            </a:p>
            <a:p>
              <a:pPr>
                <a:lnSpc>
                  <a:spcPct val="125000"/>
                </a:lnSpc>
              </a:pPr>
              <a:endParaRPr lang="en-US" altLang="zh-CN" sz="700" dirty="0">
                <a:solidFill>
                  <a:schemeClr val="bg1"/>
                </a:solidFill>
                <a:latin typeface="+mn-ea"/>
              </a:endParaRPr>
            </a:p>
            <a:p>
              <a:pPr>
                <a:lnSpc>
                  <a:spcPct val="125000"/>
                </a:lnSpc>
              </a:pPr>
              <a:r>
                <a:rPr lang="zh-CN" altLang="en-US" dirty="0">
                  <a:solidFill>
                    <a:schemeClr val="bg1"/>
                  </a:solidFill>
                  <a:latin typeface="+mn-ea"/>
                </a:rPr>
                <a:t>试错筛选到理性设计可预测、可迭代</a:t>
              </a:r>
              <a:r>
                <a:rPr lang="en-US" altLang="zh-CN" baseline="30000" dirty="0">
                  <a:solidFill>
                    <a:schemeClr val="bg1"/>
                  </a:solidFill>
                  <a:latin typeface="+mn-ea"/>
                </a:rPr>
                <a:t>[1]</a:t>
              </a:r>
              <a:endParaRPr lang="zh-CN" altLang="en-US" baseline="30000" dirty="0">
                <a:solidFill>
                  <a:schemeClr val="bg1"/>
                </a:solidFill>
                <a:latin typeface="+mn-ea"/>
              </a:endParaRPr>
            </a:p>
          </p:txBody>
        </p:sp>
        <p:cxnSp>
          <p:nvCxnSpPr>
            <p:cNvPr id="37" name="直接连接符 36"/>
            <p:cNvCxnSpPr/>
            <p:nvPr/>
          </p:nvCxnSpPr>
          <p:spPr>
            <a:xfrm>
              <a:off x="869191" y="2515453"/>
              <a:ext cx="211317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8" name="组合 37"/>
          <p:cNvGrpSpPr/>
          <p:nvPr/>
        </p:nvGrpSpPr>
        <p:grpSpPr>
          <a:xfrm>
            <a:off x="9022648" y="1000103"/>
            <a:ext cx="2471696" cy="4137792"/>
            <a:chOff x="731840" y="1315588"/>
            <a:chExt cx="2471696" cy="4137792"/>
          </a:xfrm>
        </p:grpSpPr>
        <p:sp>
          <p:nvSpPr>
            <p:cNvPr id="40" name="矩形 39"/>
            <p:cNvSpPr/>
            <p:nvPr/>
          </p:nvSpPr>
          <p:spPr>
            <a:xfrm>
              <a:off x="815660" y="1409568"/>
              <a:ext cx="2387876" cy="4043812"/>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p>
          </p:txBody>
        </p:sp>
        <p:sp>
          <p:nvSpPr>
            <p:cNvPr id="41" name="矩形 40"/>
            <p:cNvSpPr/>
            <p:nvPr/>
          </p:nvSpPr>
          <p:spPr>
            <a:xfrm>
              <a:off x="731840" y="1315588"/>
              <a:ext cx="2387876" cy="404381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p>
          </p:txBody>
        </p:sp>
        <p:sp>
          <p:nvSpPr>
            <p:cNvPr id="42" name="文本框 41"/>
            <p:cNvSpPr txBox="1"/>
            <p:nvPr/>
          </p:nvSpPr>
          <p:spPr>
            <a:xfrm>
              <a:off x="869191" y="1941924"/>
              <a:ext cx="2154436" cy="861774"/>
            </a:xfrm>
            <a:prstGeom prst="rect">
              <a:avLst/>
            </a:prstGeom>
            <a:noFill/>
          </p:spPr>
          <p:txBody>
            <a:bodyPr wrap="none" lIns="0" tIns="0" rIns="0" bIns="0" rtlCol="0">
              <a:spAutoFit/>
            </a:bodyPr>
            <a:lstStyle/>
            <a:p>
              <a:r>
                <a:rPr lang="zh-CN" altLang="en-US" sz="2800" b="1" dirty="0">
                  <a:solidFill>
                    <a:schemeClr val="bg1"/>
                  </a:solidFill>
                </a:rPr>
                <a:t>全蛋白模块化</a:t>
              </a:r>
              <a:endParaRPr lang="en-US" altLang="zh-CN" sz="2800" b="1" dirty="0">
                <a:solidFill>
                  <a:schemeClr val="bg1"/>
                </a:solidFill>
              </a:endParaRPr>
            </a:p>
            <a:p>
              <a:r>
                <a:rPr lang="zh-CN" altLang="en-US" sz="2800" b="1" dirty="0">
                  <a:solidFill>
                    <a:schemeClr val="bg1"/>
                  </a:solidFill>
                </a:rPr>
                <a:t>分子机器</a:t>
              </a:r>
              <a:endParaRPr lang="zh-CN" altLang="en-US" sz="2800" b="1" dirty="0">
                <a:solidFill>
                  <a:schemeClr val="bg1"/>
                </a:solidFill>
              </a:endParaRPr>
            </a:p>
          </p:txBody>
        </p:sp>
        <p:sp>
          <p:nvSpPr>
            <p:cNvPr id="43" name="文本框 42"/>
            <p:cNvSpPr txBox="1"/>
            <p:nvPr/>
          </p:nvSpPr>
          <p:spPr>
            <a:xfrm>
              <a:off x="891034" y="1554367"/>
              <a:ext cx="820738" cy="279564"/>
            </a:xfrm>
            <a:prstGeom prst="rect">
              <a:avLst/>
            </a:prstGeom>
            <a:noFill/>
          </p:spPr>
          <p:txBody>
            <a:bodyPr wrap="none" lIns="0" tIns="0" rIns="0" bIns="0" rtlCol="0">
              <a:spAutoFit/>
            </a:bodyPr>
            <a:lstStyle/>
            <a:p>
              <a:pPr>
                <a:lnSpc>
                  <a:spcPct val="125000"/>
                </a:lnSpc>
              </a:pPr>
              <a:r>
                <a:rPr lang="zh-CN" altLang="en-US" sz="1600" dirty="0">
                  <a:solidFill>
                    <a:schemeClr val="bg1"/>
                  </a:solidFill>
                  <a:latin typeface="+mn-ea"/>
                </a:rPr>
                <a:t>系统创新</a:t>
              </a:r>
              <a:endParaRPr lang="zh-CN" altLang="en-US" sz="1600" dirty="0">
                <a:solidFill>
                  <a:schemeClr val="bg1"/>
                </a:solidFill>
                <a:latin typeface="+mn-ea"/>
              </a:endParaRPr>
            </a:p>
          </p:txBody>
        </p:sp>
        <p:sp>
          <p:nvSpPr>
            <p:cNvPr id="44" name="文本框 43"/>
            <p:cNvSpPr txBox="1"/>
            <p:nvPr/>
          </p:nvSpPr>
          <p:spPr>
            <a:xfrm>
              <a:off x="1083054" y="3010865"/>
              <a:ext cx="1691364" cy="2150589"/>
            </a:xfrm>
            <a:prstGeom prst="rect">
              <a:avLst/>
            </a:prstGeom>
            <a:noFill/>
          </p:spPr>
          <p:txBody>
            <a:bodyPr wrap="square" lIns="0" tIns="0" rIns="0" bIns="0" rtlCol="0">
              <a:spAutoFit/>
            </a:bodyPr>
            <a:lstStyle/>
            <a:p>
              <a:pPr algn="ctr">
                <a:lnSpc>
                  <a:spcPct val="150000"/>
                </a:lnSpc>
              </a:pPr>
              <a:r>
                <a:rPr lang="zh-CN" altLang="en-US" sz="2400" dirty="0">
                  <a:solidFill>
                    <a:schemeClr val="bg1"/>
                  </a:solidFill>
                  <a:latin typeface="+mn-ea"/>
                </a:rPr>
                <a:t>靶向定位</a:t>
              </a:r>
              <a:endParaRPr lang="en-US" altLang="zh-CN" sz="2400" dirty="0">
                <a:solidFill>
                  <a:schemeClr val="bg1"/>
                </a:solidFill>
                <a:latin typeface="+mn-ea"/>
              </a:endParaRPr>
            </a:p>
            <a:p>
              <a:pPr algn="ctr">
                <a:lnSpc>
                  <a:spcPct val="150000"/>
                </a:lnSpc>
              </a:pPr>
              <a:r>
                <a:rPr lang="zh-CN" altLang="en-US" sz="2400" dirty="0">
                  <a:solidFill>
                    <a:schemeClr val="bg1"/>
                  </a:solidFill>
                  <a:latin typeface="+mn-ea"/>
                </a:rPr>
                <a:t>结构感知</a:t>
              </a:r>
              <a:endParaRPr lang="en-US" altLang="zh-CN" sz="2400" dirty="0">
                <a:solidFill>
                  <a:schemeClr val="bg1"/>
                </a:solidFill>
                <a:latin typeface="+mn-ea"/>
              </a:endParaRPr>
            </a:p>
            <a:p>
              <a:pPr algn="ctr">
                <a:lnSpc>
                  <a:spcPct val="150000"/>
                </a:lnSpc>
              </a:pPr>
              <a:r>
                <a:rPr lang="zh-CN" altLang="en-US" sz="2400" dirty="0">
                  <a:solidFill>
                    <a:schemeClr val="bg1"/>
                  </a:solidFill>
                  <a:latin typeface="+mn-ea"/>
                </a:rPr>
                <a:t>变构调控</a:t>
              </a:r>
              <a:endParaRPr lang="en-US" altLang="zh-CN" sz="2400" dirty="0">
                <a:solidFill>
                  <a:schemeClr val="bg1"/>
                </a:solidFill>
                <a:latin typeface="+mn-ea"/>
              </a:endParaRPr>
            </a:p>
            <a:p>
              <a:pPr algn="ctr">
                <a:lnSpc>
                  <a:spcPct val="150000"/>
                </a:lnSpc>
              </a:pPr>
              <a:r>
                <a:rPr lang="zh-CN" altLang="en-US" sz="2400" dirty="0">
                  <a:solidFill>
                    <a:schemeClr val="bg1"/>
                  </a:solidFill>
                  <a:latin typeface="+mn-ea"/>
                </a:rPr>
                <a:t>功能执行</a:t>
              </a:r>
              <a:endParaRPr lang="en-US" altLang="zh-CN" sz="2400" dirty="0">
                <a:solidFill>
                  <a:schemeClr val="bg1"/>
                </a:solidFill>
                <a:latin typeface="+mn-ea"/>
              </a:endParaRPr>
            </a:p>
          </p:txBody>
        </p:sp>
        <p:cxnSp>
          <p:nvCxnSpPr>
            <p:cNvPr id="45" name="直接连接符 44"/>
            <p:cNvCxnSpPr/>
            <p:nvPr/>
          </p:nvCxnSpPr>
          <p:spPr>
            <a:xfrm>
              <a:off x="869191" y="2933909"/>
              <a:ext cx="211317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8" name="文本框 7"/>
          <p:cNvSpPr txBox="1"/>
          <p:nvPr/>
        </p:nvSpPr>
        <p:spPr>
          <a:xfrm>
            <a:off x="8985726" y="5478470"/>
            <a:ext cx="3206273" cy="559449"/>
          </a:xfrm>
          <a:prstGeom prst="rect">
            <a:avLst/>
          </a:prstGeom>
          <a:noFill/>
        </p:spPr>
        <p:txBody>
          <a:bodyPr wrap="square" lIns="0" tIns="0" rIns="0" bIns="0" rtlCol="0">
            <a:spAutoFit/>
          </a:bodyPr>
          <a:lstStyle/>
          <a:p>
            <a:pPr>
              <a:lnSpc>
                <a:spcPct val="125000"/>
              </a:lnSpc>
            </a:pPr>
            <a:r>
              <a:rPr lang="en-US" altLang="zh-CN" sz="1000" dirty="0">
                <a:solidFill>
                  <a:srgbClr val="4965AA"/>
                </a:solidFill>
                <a:latin typeface="+mn-ea"/>
              </a:rPr>
              <a:t>[1] Abramson, J., et al. (2024). Accurate structure prediction of biomolecular interactions with AlphaFold 3. Nature, 630(8016), 493-500.</a:t>
            </a:r>
            <a:endParaRPr lang="zh-CN" altLang="en-US" sz="1000" dirty="0">
              <a:solidFill>
                <a:srgbClr val="4965AA"/>
              </a:solidFill>
              <a:latin typeface="+mn-ea"/>
            </a:endParaRPr>
          </a:p>
        </p:txBody>
      </p:sp>
      <p:grpSp>
        <p:nvGrpSpPr>
          <p:cNvPr id="9" name="组合 8"/>
          <p:cNvGrpSpPr/>
          <p:nvPr/>
        </p:nvGrpSpPr>
        <p:grpSpPr>
          <a:xfrm>
            <a:off x="3120648" y="6260069"/>
            <a:ext cx="5988169" cy="184666"/>
            <a:chOff x="3730218" y="6260069"/>
            <a:chExt cx="5988169" cy="184666"/>
          </a:xfrm>
        </p:grpSpPr>
        <p:grpSp>
          <p:nvGrpSpPr>
            <p:cNvPr id="10" name="组合 9"/>
            <p:cNvGrpSpPr/>
            <p:nvPr/>
          </p:nvGrpSpPr>
          <p:grpSpPr>
            <a:xfrm>
              <a:off x="4682111" y="6260069"/>
              <a:ext cx="897875" cy="184666"/>
              <a:chOff x="4914007" y="6260069"/>
              <a:chExt cx="897875" cy="184666"/>
            </a:xfrm>
          </p:grpSpPr>
          <p:sp>
            <p:nvSpPr>
              <p:cNvPr id="49" name="文本框 48"/>
              <p:cNvSpPr txBox="1"/>
              <p:nvPr/>
            </p:nvSpPr>
            <p:spPr>
              <a:xfrm>
                <a:off x="5042441" y="6260069"/>
                <a:ext cx="769441" cy="184666"/>
              </a:xfrm>
              <a:prstGeom prst="rect">
                <a:avLst/>
              </a:prstGeom>
              <a:noFill/>
            </p:spPr>
            <p:txBody>
              <a:bodyPr wrap="none" lIns="0" tIns="0" rIns="0" bIns="0" rtlCol="0">
                <a:spAutoFit/>
              </a:bodyPr>
              <a:lstStyle/>
              <a:p>
                <a:r>
                  <a:rPr lang="zh-CN" altLang="en-US" sz="1200" b="1" dirty="0">
                    <a:solidFill>
                      <a:srgbClr val="4965AA"/>
                    </a:solidFill>
                  </a:rPr>
                  <a:t>核心创新点</a:t>
                </a:r>
                <a:endParaRPr lang="zh-CN" altLang="en-US" sz="1200" b="1" dirty="0">
                  <a:solidFill>
                    <a:srgbClr val="4965AA"/>
                  </a:solidFill>
                </a:endParaRPr>
              </a:p>
            </p:txBody>
          </p:sp>
          <p:sp>
            <p:nvSpPr>
              <p:cNvPr id="50" name="椭圆 49"/>
              <p:cNvSpPr/>
              <p:nvPr/>
            </p:nvSpPr>
            <p:spPr>
              <a:xfrm>
                <a:off x="4914007"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1" name="组合 10"/>
            <p:cNvGrpSpPr/>
            <p:nvPr/>
          </p:nvGrpSpPr>
          <p:grpSpPr>
            <a:xfrm>
              <a:off x="5787892" y="6260069"/>
              <a:ext cx="1565046" cy="184666"/>
              <a:chOff x="6097796" y="6260069"/>
              <a:chExt cx="1565046" cy="184666"/>
            </a:xfrm>
          </p:grpSpPr>
          <p:sp>
            <p:nvSpPr>
              <p:cNvPr id="47" name="文本框 46"/>
              <p:cNvSpPr txBox="1"/>
              <p:nvPr/>
            </p:nvSpPr>
            <p:spPr>
              <a:xfrm>
                <a:off x="6226230" y="6260069"/>
                <a:ext cx="1436612"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系统设计与机制解析</a:t>
                </a:r>
                <a:endParaRPr lang="zh-CN" altLang="en-US" sz="1200" dirty="0">
                  <a:solidFill>
                    <a:schemeClr val="accent1">
                      <a:lumMod val="60000"/>
                      <a:lumOff val="40000"/>
                    </a:schemeClr>
                  </a:solidFill>
                </a:endParaRPr>
              </a:p>
            </p:txBody>
          </p:sp>
          <p:sp>
            <p:nvSpPr>
              <p:cNvPr id="48" name="椭圆 47"/>
              <p:cNvSpPr/>
              <p:nvPr/>
            </p:nvSpPr>
            <p:spPr>
              <a:xfrm>
                <a:off x="6097796"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2" name="组合 11"/>
            <p:cNvGrpSpPr/>
            <p:nvPr/>
          </p:nvGrpSpPr>
          <p:grpSpPr>
            <a:xfrm>
              <a:off x="7560844" y="6260069"/>
              <a:ext cx="1051763" cy="184666"/>
              <a:chOff x="7589362" y="6260069"/>
              <a:chExt cx="1051763" cy="184666"/>
            </a:xfrm>
          </p:grpSpPr>
          <p:sp>
            <p:nvSpPr>
              <p:cNvPr id="28" name="文本框 27"/>
              <p:cNvSpPr txBox="1"/>
              <p:nvPr/>
            </p:nvSpPr>
            <p:spPr>
              <a:xfrm>
                <a:off x="7717795" y="6260069"/>
                <a:ext cx="923330"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预期结果分析</a:t>
                </a:r>
                <a:endParaRPr lang="zh-CN" altLang="en-US" sz="1200" dirty="0">
                  <a:solidFill>
                    <a:schemeClr val="accent1">
                      <a:lumMod val="60000"/>
                      <a:lumOff val="40000"/>
                    </a:schemeClr>
                  </a:solidFill>
                </a:endParaRPr>
              </a:p>
            </p:txBody>
          </p:sp>
          <p:sp>
            <p:nvSpPr>
              <p:cNvPr id="46" name="椭圆 45"/>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3" name="组合 12"/>
            <p:cNvGrpSpPr/>
            <p:nvPr/>
          </p:nvGrpSpPr>
          <p:grpSpPr>
            <a:xfrm>
              <a:off x="3730218" y="6260069"/>
              <a:ext cx="743987" cy="184666"/>
              <a:chOff x="3730218" y="6260069"/>
              <a:chExt cx="743987" cy="184666"/>
            </a:xfrm>
          </p:grpSpPr>
          <p:sp>
            <p:nvSpPr>
              <p:cNvPr id="20" name="文本框 19"/>
              <p:cNvSpPr txBox="1"/>
              <p:nvPr/>
            </p:nvSpPr>
            <p:spPr>
              <a:xfrm>
                <a:off x="3858652" y="6260069"/>
                <a:ext cx="615553"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科学问题</a:t>
                </a:r>
                <a:endParaRPr lang="zh-CN" altLang="en-US" sz="1200" dirty="0">
                  <a:solidFill>
                    <a:schemeClr val="accent1">
                      <a:lumMod val="60000"/>
                      <a:lumOff val="40000"/>
                    </a:schemeClr>
                  </a:solidFill>
                </a:endParaRPr>
              </a:p>
            </p:txBody>
          </p:sp>
          <p:sp>
            <p:nvSpPr>
              <p:cNvPr id="21" name="椭圆 20"/>
              <p:cNvSpPr/>
              <p:nvPr/>
            </p:nvSpPr>
            <p:spPr>
              <a:xfrm>
                <a:off x="3730218"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4" name="椭圆 13"/>
            <p:cNvSpPr/>
            <p:nvPr/>
          </p:nvSpPr>
          <p:spPr>
            <a:xfrm>
              <a:off x="4646267" y="6301988"/>
              <a:ext cx="120650" cy="120650"/>
            </a:xfrm>
            <a:prstGeom prst="ellipse">
              <a:avLst/>
            </a:prstGeom>
            <a:noFill/>
            <a:ln w="6350">
              <a:solidFill>
                <a:srgbClr val="4965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17" name="组合 16"/>
            <p:cNvGrpSpPr/>
            <p:nvPr/>
          </p:nvGrpSpPr>
          <p:grpSpPr>
            <a:xfrm>
              <a:off x="8820513" y="6260069"/>
              <a:ext cx="897874" cy="184666"/>
              <a:chOff x="7589362" y="6260069"/>
              <a:chExt cx="897874" cy="184666"/>
            </a:xfrm>
          </p:grpSpPr>
          <p:sp>
            <p:nvSpPr>
              <p:cNvPr id="18" name="文本框 17"/>
              <p:cNvSpPr txBox="1"/>
              <p:nvPr/>
            </p:nvSpPr>
            <p:spPr>
              <a:xfrm>
                <a:off x="7717795" y="6260069"/>
                <a:ext cx="769441"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意义与展望</a:t>
                </a:r>
                <a:endParaRPr lang="zh-CN" altLang="en-US" sz="1200" dirty="0">
                  <a:solidFill>
                    <a:schemeClr val="accent1">
                      <a:lumMod val="60000"/>
                      <a:lumOff val="40000"/>
                    </a:schemeClr>
                  </a:solidFill>
                </a:endParaRPr>
              </a:p>
            </p:txBody>
          </p:sp>
          <p:sp>
            <p:nvSpPr>
              <p:cNvPr id="19" name="椭圆 18"/>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sp>
        <p:nvSpPr>
          <p:cNvPr id="51" name="文本框 50"/>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FFFFFF"/>
                </a:highlight>
                <a:latin typeface="Eras Bold ITC" panose="020B0907030504020204" pitchFamily="34" charset="0"/>
              </a:rPr>
              <a:t>SUSTech</a:t>
            </a:r>
            <a:r>
              <a:rPr lang="en-US" altLang="zh-CN" sz="3000" dirty="0">
                <a:solidFill>
                  <a:srgbClr val="EFA7A7"/>
                </a:solidFill>
                <a:highlight>
                  <a:srgbClr val="FFFFFF"/>
                </a:highlight>
                <a:latin typeface="Eras Bold ITC" panose="020B0907030504020204" pitchFamily="34" charset="0"/>
              </a:rPr>
              <a:t>-BIO</a:t>
            </a:r>
            <a:endParaRPr lang="zh-CN" altLang="en-US" sz="3000" dirty="0">
              <a:solidFill>
                <a:srgbClr val="EFA7A7"/>
              </a:solidFill>
              <a:highlight>
                <a:srgbClr val="FFFFFF"/>
              </a:highlight>
              <a:latin typeface="Eras Bold ITC" panose="020B0907030504020204" pitchFamily="34" charset="0"/>
            </a:endParaRPr>
          </a:p>
        </p:txBody>
      </p:sp>
      <p:sp>
        <p:nvSpPr>
          <p:cNvPr id="52" name="文本框 51"/>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rgbClr val="4965AA"/>
                </a:solidFill>
                <a:highlight>
                  <a:srgbClr val="FFFFFF"/>
                </a:highlight>
              </a:rPr>
              <a:t>Southern University of </a:t>
            </a:r>
            <a:endParaRPr lang="en-US" altLang="zh-CN" sz="1000" cap="all" dirty="0">
              <a:solidFill>
                <a:srgbClr val="4965AA"/>
              </a:solidFill>
              <a:highlight>
                <a:srgbClr val="FFFFFF"/>
              </a:highlight>
            </a:endParaRPr>
          </a:p>
          <a:p>
            <a:pPr algn="r"/>
            <a:r>
              <a:rPr lang="en-US" altLang="zh-CN" sz="1000" cap="all" dirty="0">
                <a:solidFill>
                  <a:srgbClr val="4965AA"/>
                </a:solidFill>
                <a:highlight>
                  <a:srgbClr val="FFFFFF"/>
                </a:highlight>
              </a:rPr>
              <a:t>science and technology</a:t>
            </a:r>
            <a:endParaRPr lang="zh-CN" altLang="en-US" sz="1000" cap="all" dirty="0">
              <a:solidFill>
                <a:srgbClr val="4965AA"/>
              </a:solidFill>
              <a:highlight>
                <a:srgbClr val="FFFFFF"/>
              </a:highlight>
            </a:endParaRPr>
          </a:p>
        </p:txBody>
      </p:sp>
      <p:grpSp>
        <p:nvGrpSpPr>
          <p:cNvPr id="39" name="组合 38"/>
          <p:cNvGrpSpPr/>
          <p:nvPr/>
        </p:nvGrpSpPr>
        <p:grpSpPr>
          <a:xfrm>
            <a:off x="9799713" y="109178"/>
            <a:ext cx="2256250" cy="713649"/>
            <a:chOff x="9799713" y="109178"/>
            <a:chExt cx="2256250" cy="713649"/>
          </a:xfrm>
        </p:grpSpPr>
        <p:sp>
          <p:nvSpPr>
            <p:cNvPr id="53" name="矩形 52"/>
            <p:cNvSpPr/>
            <p:nvPr/>
          </p:nvSpPr>
          <p:spPr>
            <a:xfrm>
              <a:off x="9799713" y="197831"/>
              <a:ext cx="2117376" cy="5363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pic>
        <p:nvPicPr>
          <p:cNvPr id="57" name="图片 5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6510" y="-379570"/>
            <a:ext cx="1662864" cy="16664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675755" y="2754066"/>
            <a:ext cx="4773165" cy="615553"/>
          </a:xfrm>
          <a:prstGeom prst="rect">
            <a:avLst/>
          </a:prstGeom>
          <a:noFill/>
        </p:spPr>
        <p:txBody>
          <a:bodyPr wrap="none" lIns="0" tIns="0" rIns="0" bIns="0" rtlCol="0">
            <a:spAutoFit/>
          </a:bodyPr>
          <a:lstStyle/>
          <a:p>
            <a:pPr algn="ctr"/>
            <a:r>
              <a:rPr lang="zh-CN" altLang="en-US" sz="4000" dirty="0">
                <a:solidFill>
                  <a:schemeClr val="bg1"/>
                </a:solidFill>
              </a:rPr>
              <a:t>系统设计与机制解析</a:t>
            </a:r>
            <a:endParaRPr lang="zh-CN" altLang="en-US" sz="4000" dirty="0">
              <a:solidFill>
                <a:schemeClr val="bg1"/>
              </a:solidFill>
            </a:endParaRPr>
          </a:p>
        </p:txBody>
      </p:sp>
      <p:sp>
        <p:nvSpPr>
          <p:cNvPr id="5" name="文本框 4"/>
          <p:cNvSpPr txBox="1"/>
          <p:nvPr/>
        </p:nvSpPr>
        <p:spPr>
          <a:xfrm>
            <a:off x="4585683" y="3457789"/>
            <a:ext cx="3020635" cy="276999"/>
          </a:xfrm>
          <a:prstGeom prst="rect">
            <a:avLst/>
          </a:prstGeom>
          <a:noFill/>
        </p:spPr>
        <p:txBody>
          <a:bodyPr wrap="none" lIns="0" tIns="0" rIns="0" bIns="0" rtlCol="0">
            <a:spAutoFit/>
          </a:bodyPr>
          <a:lstStyle/>
          <a:p>
            <a:pPr algn="ctr"/>
            <a:r>
              <a:rPr lang="en-US" altLang="zh-CN" dirty="0">
                <a:solidFill>
                  <a:schemeClr val="bg1"/>
                </a:solidFill>
              </a:rPr>
              <a:t>System Design and Mechanism</a:t>
            </a:r>
            <a:endParaRPr lang="en-US" altLang="zh-CN" dirty="0">
              <a:solidFill>
                <a:schemeClr val="bg1"/>
              </a:solidFill>
            </a:endParaRPr>
          </a:p>
        </p:txBody>
      </p:sp>
      <p:sp>
        <p:nvSpPr>
          <p:cNvPr id="6" name="文本框 5"/>
          <p:cNvSpPr txBox="1"/>
          <p:nvPr/>
        </p:nvSpPr>
        <p:spPr>
          <a:xfrm>
            <a:off x="5720898" y="2041451"/>
            <a:ext cx="750205" cy="538609"/>
          </a:xfrm>
          <a:prstGeom prst="rect">
            <a:avLst/>
          </a:prstGeom>
          <a:noFill/>
        </p:spPr>
        <p:txBody>
          <a:bodyPr wrap="none" lIns="0" tIns="0" rIns="0" bIns="0" rtlCol="0">
            <a:spAutoFit/>
          </a:bodyPr>
          <a:lstStyle/>
          <a:p>
            <a:pPr algn="ctr"/>
            <a:r>
              <a:rPr lang="en-US" altLang="zh-CN" sz="4000" dirty="0">
                <a:solidFill>
                  <a:schemeClr val="bg1"/>
                </a:solidFill>
              </a:rPr>
              <a:t>#03</a:t>
            </a:r>
            <a:endParaRPr lang="zh-CN" altLang="en-US" sz="4000" dirty="0">
              <a:solidFill>
                <a:schemeClr val="bg1"/>
              </a:solidFill>
            </a:endParaRPr>
          </a:p>
        </p:txBody>
      </p:sp>
      <p:cxnSp>
        <p:nvCxnSpPr>
          <p:cNvPr id="3" name="直接连接符 2"/>
          <p:cNvCxnSpPr/>
          <p:nvPr/>
        </p:nvCxnSpPr>
        <p:spPr>
          <a:xfrm>
            <a:off x="731838" y="6162908"/>
            <a:ext cx="107283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731838" y="6239103"/>
            <a:ext cx="471283" cy="230832"/>
          </a:xfrm>
          <a:prstGeom prst="rect">
            <a:avLst/>
          </a:prstGeom>
          <a:noFill/>
        </p:spPr>
        <p:txBody>
          <a:bodyPr wrap="square" lIns="0" tIns="0" rIns="0" bIns="0" rtlCol="0">
            <a:spAutoFit/>
          </a:bodyPr>
          <a:lstStyle/>
          <a:p>
            <a:r>
              <a:rPr lang="en-US" altLang="zh-CN" sz="1500" dirty="0">
                <a:solidFill>
                  <a:schemeClr val="bg1"/>
                </a:solidFill>
              </a:rPr>
              <a:t>2026</a:t>
            </a:r>
            <a:endParaRPr lang="zh-CN" altLang="en-US" sz="1500" dirty="0">
              <a:solidFill>
                <a:schemeClr val="bg1"/>
              </a:solidFill>
            </a:endParaRPr>
          </a:p>
        </p:txBody>
      </p:sp>
      <p:sp>
        <p:nvSpPr>
          <p:cNvPr id="26" name="文本框 25"/>
          <p:cNvSpPr txBox="1"/>
          <p:nvPr/>
        </p:nvSpPr>
        <p:spPr>
          <a:xfrm>
            <a:off x="10686535" y="6239103"/>
            <a:ext cx="768865" cy="230832"/>
          </a:xfrm>
          <a:prstGeom prst="rect">
            <a:avLst/>
          </a:prstGeom>
          <a:noFill/>
        </p:spPr>
        <p:txBody>
          <a:bodyPr wrap="none" lIns="0" tIns="0" rIns="0" bIns="0" rtlCol="0">
            <a:spAutoFit/>
          </a:bodyPr>
          <a:lstStyle/>
          <a:p>
            <a:pPr algn="r"/>
            <a:r>
              <a:rPr lang="en-US" altLang="zh-CN" sz="1500" dirty="0">
                <a:solidFill>
                  <a:schemeClr val="bg1"/>
                </a:solidFill>
              </a:rPr>
              <a:t>May 17th</a:t>
            </a:r>
            <a:endParaRPr lang="zh-CN" altLang="en-US" sz="1500" dirty="0">
              <a:solidFill>
                <a:schemeClr val="bg1"/>
              </a:solidFill>
            </a:endParaRPr>
          </a:p>
        </p:txBody>
      </p:sp>
      <p:grpSp>
        <p:nvGrpSpPr>
          <p:cNvPr id="2" name="组合 1"/>
          <p:cNvGrpSpPr/>
          <p:nvPr/>
        </p:nvGrpSpPr>
        <p:grpSpPr>
          <a:xfrm>
            <a:off x="3056138" y="1811959"/>
            <a:ext cx="6079725" cy="2373156"/>
            <a:chOff x="3396114" y="1811959"/>
            <a:chExt cx="5482323" cy="2373156"/>
          </a:xfrm>
        </p:grpSpPr>
        <p:sp>
          <p:nvSpPr>
            <p:cNvPr id="9" name="矩形 8"/>
            <p:cNvSpPr/>
            <p:nvPr/>
          </p:nvSpPr>
          <p:spPr>
            <a:xfrm>
              <a:off x="3396114" y="1811959"/>
              <a:ext cx="5399773" cy="22715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7" name="矩形 26"/>
            <p:cNvSpPr/>
            <p:nvPr/>
          </p:nvSpPr>
          <p:spPr>
            <a:xfrm>
              <a:off x="3478664" y="1913559"/>
              <a:ext cx="5399773" cy="22715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31" name="组合 30"/>
          <p:cNvGrpSpPr/>
          <p:nvPr/>
        </p:nvGrpSpPr>
        <p:grpSpPr>
          <a:xfrm>
            <a:off x="3120648" y="6260069"/>
            <a:ext cx="5988169" cy="184666"/>
            <a:chOff x="3730218" y="6260069"/>
            <a:chExt cx="5988169" cy="184666"/>
          </a:xfrm>
        </p:grpSpPr>
        <p:grpSp>
          <p:nvGrpSpPr>
            <p:cNvPr id="32" name="组合 31"/>
            <p:cNvGrpSpPr/>
            <p:nvPr/>
          </p:nvGrpSpPr>
          <p:grpSpPr>
            <a:xfrm>
              <a:off x="4682111" y="6260069"/>
              <a:ext cx="897875" cy="184666"/>
              <a:chOff x="4914007" y="6260069"/>
              <a:chExt cx="897875" cy="184666"/>
            </a:xfrm>
          </p:grpSpPr>
          <p:sp>
            <p:nvSpPr>
              <p:cNvPr id="54" name="文本框 53"/>
              <p:cNvSpPr txBox="1"/>
              <p:nvPr/>
            </p:nvSpPr>
            <p:spPr>
              <a:xfrm>
                <a:off x="5042441" y="6260069"/>
                <a:ext cx="769441" cy="184666"/>
              </a:xfrm>
              <a:prstGeom prst="rect">
                <a:avLst/>
              </a:prstGeom>
              <a:noFill/>
            </p:spPr>
            <p:txBody>
              <a:bodyPr wrap="none" lIns="0" tIns="0" rIns="0" bIns="0" rtlCol="0">
                <a:spAutoFit/>
              </a:bodyPr>
              <a:lstStyle/>
              <a:p>
                <a:r>
                  <a:rPr lang="zh-CN" altLang="en-US" sz="1200" dirty="0">
                    <a:solidFill>
                      <a:schemeClr val="bg1">
                        <a:alpha val="50000"/>
                      </a:schemeClr>
                    </a:solidFill>
                  </a:rPr>
                  <a:t>核心创新点</a:t>
                </a:r>
                <a:endParaRPr lang="zh-CN" altLang="en-US" sz="1200" dirty="0">
                  <a:solidFill>
                    <a:schemeClr val="bg1">
                      <a:alpha val="50000"/>
                    </a:schemeClr>
                  </a:solidFill>
                </a:endParaRPr>
              </a:p>
            </p:txBody>
          </p:sp>
          <p:sp>
            <p:nvSpPr>
              <p:cNvPr id="55" name="椭圆 54"/>
              <p:cNvSpPr/>
              <p:nvPr/>
            </p:nvSpPr>
            <p:spPr>
              <a:xfrm>
                <a:off x="4914007"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33" name="组合 32"/>
            <p:cNvGrpSpPr/>
            <p:nvPr/>
          </p:nvGrpSpPr>
          <p:grpSpPr>
            <a:xfrm>
              <a:off x="5787892" y="6260069"/>
              <a:ext cx="1565046" cy="184666"/>
              <a:chOff x="6097796" y="6260069"/>
              <a:chExt cx="1565046" cy="184666"/>
            </a:xfrm>
          </p:grpSpPr>
          <p:sp>
            <p:nvSpPr>
              <p:cNvPr id="52" name="文本框 51"/>
              <p:cNvSpPr txBox="1"/>
              <p:nvPr/>
            </p:nvSpPr>
            <p:spPr>
              <a:xfrm>
                <a:off x="6226230" y="6260069"/>
                <a:ext cx="1436612" cy="184666"/>
              </a:xfrm>
              <a:prstGeom prst="rect">
                <a:avLst/>
              </a:prstGeom>
              <a:noFill/>
            </p:spPr>
            <p:txBody>
              <a:bodyPr wrap="none" lIns="0" tIns="0" rIns="0" bIns="0" rtlCol="0">
                <a:spAutoFit/>
              </a:bodyPr>
              <a:lstStyle/>
              <a:p>
                <a:r>
                  <a:rPr lang="zh-CN" altLang="en-US" sz="1200" b="1" dirty="0">
                    <a:solidFill>
                      <a:schemeClr val="bg1"/>
                    </a:solidFill>
                  </a:rPr>
                  <a:t>系统设计与机制解析</a:t>
                </a:r>
                <a:endParaRPr lang="zh-CN" altLang="en-US" sz="1200" b="1" dirty="0">
                  <a:solidFill>
                    <a:schemeClr val="bg1"/>
                  </a:solidFill>
                </a:endParaRPr>
              </a:p>
            </p:txBody>
          </p:sp>
          <p:sp>
            <p:nvSpPr>
              <p:cNvPr id="53" name="椭圆 52"/>
              <p:cNvSpPr/>
              <p:nvPr/>
            </p:nvSpPr>
            <p:spPr>
              <a:xfrm>
                <a:off x="6097796"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34" name="组合 33"/>
            <p:cNvGrpSpPr/>
            <p:nvPr/>
          </p:nvGrpSpPr>
          <p:grpSpPr>
            <a:xfrm>
              <a:off x="7560844" y="6260069"/>
              <a:ext cx="1051763" cy="184666"/>
              <a:chOff x="7589362" y="6260069"/>
              <a:chExt cx="1051763" cy="184666"/>
            </a:xfrm>
          </p:grpSpPr>
          <p:sp>
            <p:nvSpPr>
              <p:cNvPr id="50" name="文本框 49"/>
              <p:cNvSpPr txBox="1"/>
              <p:nvPr/>
            </p:nvSpPr>
            <p:spPr>
              <a:xfrm>
                <a:off x="7717795" y="6260069"/>
                <a:ext cx="923330" cy="184666"/>
              </a:xfrm>
              <a:prstGeom prst="rect">
                <a:avLst/>
              </a:prstGeom>
              <a:noFill/>
            </p:spPr>
            <p:txBody>
              <a:bodyPr wrap="none" lIns="0" tIns="0" rIns="0" bIns="0" rtlCol="0">
                <a:spAutoFit/>
              </a:bodyPr>
              <a:lstStyle/>
              <a:p>
                <a:r>
                  <a:rPr lang="zh-CN" altLang="en-US" sz="1200" dirty="0">
                    <a:solidFill>
                      <a:schemeClr val="bg1">
                        <a:alpha val="50000"/>
                      </a:schemeClr>
                    </a:solidFill>
                  </a:rPr>
                  <a:t>预期结果分析</a:t>
                </a:r>
                <a:endParaRPr lang="zh-CN" altLang="en-US" sz="1200" dirty="0">
                  <a:solidFill>
                    <a:schemeClr val="bg1">
                      <a:alpha val="50000"/>
                    </a:schemeClr>
                  </a:solidFill>
                </a:endParaRPr>
              </a:p>
            </p:txBody>
          </p:sp>
          <p:sp>
            <p:nvSpPr>
              <p:cNvPr id="51" name="椭圆 50"/>
              <p:cNvSpPr/>
              <p:nvPr/>
            </p:nvSpPr>
            <p:spPr>
              <a:xfrm>
                <a:off x="7589362"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35" name="组合 34"/>
            <p:cNvGrpSpPr/>
            <p:nvPr/>
          </p:nvGrpSpPr>
          <p:grpSpPr>
            <a:xfrm>
              <a:off x="3730218" y="6260069"/>
              <a:ext cx="743987" cy="184666"/>
              <a:chOff x="3730218" y="6260069"/>
              <a:chExt cx="743987" cy="184666"/>
            </a:xfrm>
          </p:grpSpPr>
          <p:sp>
            <p:nvSpPr>
              <p:cNvPr id="48" name="文本框 47"/>
              <p:cNvSpPr txBox="1"/>
              <p:nvPr/>
            </p:nvSpPr>
            <p:spPr>
              <a:xfrm>
                <a:off x="3858652" y="6260069"/>
                <a:ext cx="615553" cy="184666"/>
              </a:xfrm>
              <a:prstGeom prst="rect">
                <a:avLst/>
              </a:prstGeom>
              <a:noFill/>
            </p:spPr>
            <p:txBody>
              <a:bodyPr wrap="none" lIns="0" tIns="0" rIns="0" bIns="0" rtlCol="0">
                <a:spAutoFit/>
              </a:bodyPr>
              <a:lstStyle/>
              <a:p>
                <a:r>
                  <a:rPr lang="zh-CN" altLang="en-US" sz="1200" dirty="0">
                    <a:solidFill>
                      <a:srgbClr val="A5B3D6"/>
                    </a:solidFill>
                  </a:rPr>
                  <a:t>科学问题</a:t>
                </a:r>
                <a:endParaRPr lang="zh-CN" altLang="en-US" sz="1200" dirty="0">
                  <a:solidFill>
                    <a:srgbClr val="A5B3D6"/>
                  </a:solidFill>
                </a:endParaRPr>
              </a:p>
            </p:txBody>
          </p:sp>
          <p:sp>
            <p:nvSpPr>
              <p:cNvPr id="49" name="椭圆 48"/>
              <p:cNvSpPr/>
              <p:nvPr/>
            </p:nvSpPr>
            <p:spPr>
              <a:xfrm>
                <a:off x="3730218"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36" name="椭圆 35"/>
            <p:cNvSpPr/>
            <p:nvPr/>
          </p:nvSpPr>
          <p:spPr>
            <a:xfrm>
              <a:off x="5750427" y="6301988"/>
              <a:ext cx="120650" cy="120650"/>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37" name="组合 36"/>
            <p:cNvGrpSpPr/>
            <p:nvPr/>
          </p:nvGrpSpPr>
          <p:grpSpPr>
            <a:xfrm>
              <a:off x="8820513" y="6260069"/>
              <a:ext cx="897874" cy="184666"/>
              <a:chOff x="7589362" y="6260069"/>
              <a:chExt cx="897874" cy="184666"/>
            </a:xfrm>
          </p:grpSpPr>
          <p:sp>
            <p:nvSpPr>
              <p:cNvPr id="46" name="文本框 45"/>
              <p:cNvSpPr txBox="1"/>
              <p:nvPr/>
            </p:nvSpPr>
            <p:spPr>
              <a:xfrm>
                <a:off x="7717795" y="6260069"/>
                <a:ext cx="769441" cy="184666"/>
              </a:xfrm>
              <a:prstGeom prst="rect">
                <a:avLst/>
              </a:prstGeom>
              <a:noFill/>
            </p:spPr>
            <p:txBody>
              <a:bodyPr wrap="none" lIns="0" tIns="0" rIns="0" bIns="0" rtlCol="0">
                <a:spAutoFit/>
              </a:bodyPr>
              <a:lstStyle/>
              <a:p>
                <a:r>
                  <a:rPr lang="zh-CN" altLang="en-US" sz="1200" dirty="0">
                    <a:solidFill>
                      <a:schemeClr val="bg1">
                        <a:alpha val="50000"/>
                      </a:schemeClr>
                    </a:solidFill>
                  </a:rPr>
                  <a:t>意义与展望</a:t>
                </a:r>
                <a:endParaRPr lang="zh-CN" altLang="en-US" sz="1200" dirty="0">
                  <a:solidFill>
                    <a:schemeClr val="bg1">
                      <a:alpha val="50000"/>
                    </a:schemeClr>
                  </a:solidFill>
                </a:endParaRPr>
              </a:p>
            </p:txBody>
          </p:sp>
          <p:sp>
            <p:nvSpPr>
              <p:cNvPr id="47" name="椭圆 46"/>
              <p:cNvSpPr/>
              <p:nvPr/>
            </p:nvSpPr>
            <p:spPr>
              <a:xfrm>
                <a:off x="7589362"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sp>
        <p:nvSpPr>
          <p:cNvPr id="57" name="文本框 56"/>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chemeClr val="bg1"/>
                </a:solidFill>
                <a:highlight>
                  <a:srgbClr val="4965AA"/>
                </a:highlight>
              </a:rPr>
              <a:t>Southern University of </a:t>
            </a:r>
            <a:endParaRPr lang="en-US" altLang="zh-CN" sz="1000" cap="all" dirty="0">
              <a:solidFill>
                <a:schemeClr val="bg1"/>
              </a:solidFill>
              <a:highlight>
                <a:srgbClr val="4965AA"/>
              </a:highlight>
            </a:endParaRPr>
          </a:p>
          <a:p>
            <a:pPr algn="r"/>
            <a:r>
              <a:rPr lang="en-US" altLang="zh-CN" sz="1000" cap="all" dirty="0">
                <a:solidFill>
                  <a:schemeClr val="bg1"/>
                </a:solidFill>
                <a:highlight>
                  <a:srgbClr val="4965AA"/>
                </a:highlight>
              </a:rPr>
              <a:t>science and technology</a:t>
            </a:r>
            <a:endParaRPr lang="zh-CN" altLang="en-US" sz="1000" cap="all" dirty="0">
              <a:solidFill>
                <a:schemeClr val="bg1"/>
              </a:solidFill>
              <a:highlight>
                <a:srgbClr val="4965AA"/>
              </a:highlight>
            </a:endParaRPr>
          </a:p>
        </p:txBody>
      </p:sp>
      <p:grpSp>
        <p:nvGrpSpPr>
          <p:cNvPr id="7" name="组合 6"/>
          <p:cNvGrpSpPr/>
          <p:nvPr/>
        </p:nvGrpSpPr>
        <p:grpSpPr>
          <a:xfrm>
            <a:off x="9799713" y="109178"/>
            <a:ext cx="2256250" cy="713649"/>
            <a:chOff x="9799713" y="109178"/>
            <a:chExt cx="2256250" cy="713649"/>
          </a:xfrm>
        </p:grpSpPr>
        <p:sp>
          <p:nvSpPr>
            <p:cNvPr id="8" name="矩形 7"/>
            <p:cNvSpPr/>
            <p:nvPr/>
          </p:nvSpPr>
          <p:spPr>
            <a:xfrm>
              <a:off x="9799713" y="197831"/>
              <a:ext cx="2117376" cy="53634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文本框 11"/>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4965AA"/>
                </a:highlight>
                <a:latin typeface="Eras Bold ITC" panose="020B0907030504020204" pitchFamily="34" charset="0"/>
              </a:rPr>
              <a:t>SUSTech</a:t>
            </a:r>
            <a:r>
              <a:rPr lang="en-US" altLang="zh-CN" sz="3000" dirty="0">
                <a:solidFill>
                  <a:srgbClr val="EFA7A7"/>
                </a:solidFill>
                <a:highlight>
                  <a:srgbClr val="4965AA"/>
                </a:highlight>
                <a:latin typeface="Eras Bold ITC" panose="020B0907030504020204" pitchFamily="34" charset="0"/>
              </a:rPr>
              <a:t>-BIO</a:t>
            </a:r>
            <a:endParaRPr lang="zh-CN" altLang="en-US" sz="3000" dirty="0">
              <a:solidFill>
                <a:srgbClr val="EFA7A7"/>
              </a:solidFill>
              <a:highlight>
                <a:srgbClr val="4965AA"/>
              </a:highlight>
              <a:latin typeface="Eras Bold ITC" panose="020B0907030504020204" pitchFamily="34" charset="0"/>
            </a:endParaRPr>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6510" y="-379570"/>
            <a:ext cx="1662864" cy="16664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0"/>
          </p:nvPr>
        </p:nvSpPr>
        <p:spPr>
          <a:xfrm>
            <a:off x="736600" y="6239103"/>
            <a:ext cx="423193" cy="230832"/>
          </a:xfrm>
        </p:spPr>
        <p:txBody>
          <a:bodyPr>
            <a:spAutoFit/>
          </a:bodyPr>
          <a:lstStyle/>
          <a:p>
            <a:r>
              <a:rPr lang="en-US" altLang="zh-CN" dirty="0"/>
              <a:t>2026</a:t>
            </a:r>
            <a:endParaRPr lang="zh-CN" altLang="en-US" dirty="0"/>
          </a:p>
        </p:txBody>
      </p:sp>
      <p:sp>
        <p:nvSpPr>
          <p:cNvPr id="16" name="文本占位符 15"/>
          <p:cNvSpPr>
            <a:spLocks noGrp="1"/>
          </p:cNvSpPr>
          <p:nvPr>
            <p:ph type="body" sz="quarter" idx="11"/>
          </p:nvPr>
        </p:nvSpPr>
        <p:spPr>
          <a:xfrm>
            <a:off x="10686535" y="6239103"/>
            <a:ext cx="768865" cy="230832"/>
          </a:xfrm>
        </p:spPr>
        <p:txBody>
          <a:bodyPr>
            <a:spAutoFit/>
          </a:bodyPr>
          <a:lstStyle/>
          <a:p>
            <a:r>
              <a:rPr lang="en-US" altLang="zh-CN" sz="1500" dirty="0">
                <a:solidFill>
                  <a:schemeClr val="accent1"/>
                </a:solidFill>
              </a:rPr>
              <a:t>May 17th</a:t>
            </a:r>
            <a:endParaRPr lang="zh-CN" altLang="en-US" sz="1500" dirty="0">
              <a:solidFill>
                <a:schemeClr val="accent1"/>
              </a:solidFill>
            </a:endParaRPr>
          </a:p>
        </p:txBody>
      </p:sp>
      <p:sp>
        <p:nvSpPr>
          <p:cNvPr id="8" name="文本框 7"/>
          <p:cNvSpPr txBox="1"/>
          <p:nvPr/>
        </p:nvSpPr>
        <p:spPr>
          <a:xfrm>
            <a:off x="3875753" y="3106751"/>
            <a:ext cx="1744067" cy="523220"/>
          </a:xfrm>
          <a:prstGeom prst="rect">
            <a:avLst/>
          </a:prstGeom>
          <a:noFill/>
        </p:spPr>
        <p:txBody>
          <a:bodyPr wrap="none" lIns="0" tIns="0" rIns="0" bIns="0" rtlCol="0">
            <a:spAutoFit/>
          </a:bodyPr>
          <a:lstStyle/>
          <a:p>
            <a:r>
              <a:rPr lang="zh-CN" altLang="en-US" sz="3400" dirty="0">
                <a:solidFill>
                  <a:schemeClr val="bg1"/>
                </a:solidFill>
              </a:rPr>
              <a:t>结构感知</a:t>
            </a:r>
            <a:endParaRPr lang="zh-CN" altLang="en-US" sz="3400" dirty="0">
              <a:solidFill>
                <a:schemeClr val="bg1"/>
              </a:solidFill>
            </a:endParaRPr>
          </a:p>
        </p:txBody>
      </p:sp>
      <p:sp>
        <p:nvSpPr>
          <p:cNvPr id="9" name="文本框 8"/>
          <p:cNvSpPr txBox="1"/>
          <p:nvPr/>
        </p:nvSpPr>
        <p:spPr>
          <a:xfrm>
            <a:off x="6558231" y="3106751"/>
            <a:ext cx="1744067" cy="523220"/>
          </a:xfrm>
          <a:prstGeom prst="rect">
            <a:avLst/>
          </a:prstGeom>
          <a:noFill/>
        </p:spPr>
        <p:txBody>
          <a:bodyPr wrap="none" lIns="0" tIns="0" rIns="0" bIns="0" rtlCol="0">
            <a:spAutoFit/>
          </a:bodyPr>
          <a:lstStyle/>
          <a:p>
            <a:r>
              <a:rPr lang="zh-CN" altLang="en-US" sz="3400" dirty="0">
                <a:solidFill>
                  <a:schemeClr val="bg1"/>
                </a:solidFill>
              </a:rPr>
              <a:t>变构调控</a:t>
            </a:r>
            <a:endParaRPr lang="zh-CN" altLang="en-US" sz="3400" dirty="0">
              <a:solidFill>
                <a:schemeClr val="bg1"/>
              </a:solidFill>
            </a:endParaRPr>
          </a:p>
        </p:txBody>
      </p:sp>
      <p:grpSp>
        <p:nvGrpSpPr>
          <p:cNvPr id="17" name="组合 16"/>
          <p:cNvGrpSpPr>
            <a:grpSpLocks noChangeAspect="1"/>
          </p:cNvGrpSpPr>
          <p:nvPr/>
        </p:nvGrpSpPr>
        <p:grpSpPr>
          <a:xfrm>
            <a:off x="266727" y="3368361"/>
            <a:ext cx="9322820" cy="2385486"/>
            <a:chOff x="727827" y="2199961"/>
            <a:chExt cx="10736345" cy="2747173"/>
          </a:xfrm>
        </p:grpSpPr>
        <p:sp>
          <p:nvSpPr>
            <p:cNvPr id="22" name="椭圆 21"/>
            <p:cNvSpPr/>
            <p:nvPr/>
          </p:nvSpPr>
          <p:spPr>
            <a:xfrm>
              <a:off x="727827" y="2247134"/>
              <a:ext cx="2700000" cy="270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mbria" panose="02040503050406030204"/>
                <a:ea typeface="华文中宋" panose="02010600040101010101" charset="-122"/>
                <a:cs typeface="+mn-cs"/>
              </a:endParaRPr>
            </a:p>
          </p:txBody>
        </p:sp>
        <p:grpSp>
          <p:nvGrpSpPr>
            <p:cNvPr id="3" name="组合 2"/>
            <p:cNvGrpSpPr/>
            <p:nvPr/>
          </p:nvGrpSpPr>
          <p:grpSpPr>
            <a:xfrm rot="10800000" flipH="1">
              <a:off x="739772" y="2199961"/>
              <a:ext cx="10724400" cy="2680887"/>
              <a:chOff x="731836" y="2043312"/>
              <a:chExt cx="10723584" cy="2680887"/>
            </a:xfrm>
          </p:grpSpPr>
          <p:sp>
            <p:nvSpPr>
              <p:cNvPr id="129" name="任意多边形: 形状 128"/>
              <p:cNvSpPr/>
              <p:nvPr/>
            </p:nvSpPr>
            <p:spPr>
              <a:xfrm>
                <a:off x="731836" y="2043312"/>
                <a:ext cx="2680896" cy="1340448"/>
              </a:xfrm>
              <a:custGeom>
                <a:avLst/>
                <a:gdLst>
                  <a:gd name="connsiteX0" fmla="*/ 1340448 w 2680896"/>
                  <a:gd name="connsiteY0" fmla="*/ 0 h 3637820"/>
                  <a:gd name="connsiteX1" fmla="*/ 2680896 w 2680896"/>
                  <a:gd name="connsiteY1" fmla="*/ 1340448 h 3637820"/>
                  <a:gd name="connsiteX2" fmla="*/ 2288288 w 2680896"/>
                  <a:gd name="connsiteY2" fmla="*/ 2288288 h 3637820"/>
                  <a:gd name="connsiteX3" fmla="*/ 2197630 w 2680896"/>
                  <a:gd name="connsiteY3" fmla="*/ 2370684 h 3637820"/>
                  <a:gd name="connsiteX4" fmla="*/ 2197630 w 2680896"/>
                  <a:gd name="connsiteY4" fmla="*/ 3637820 h 3637820"/>
                  <a:gd name="connsiteX5" fmla="*/ 842963 w 2680896"/>
                  <a:gd name="connsiteY5" fmla="*/ 3637820 h 3637820"/>
                  <a:gd name="connsiteX6" fmla="*/ 842963 w 2680896"/>
                  <a:gd name="connsiteY6" fmla="*/ 2584443 h 3637820"/>
                  <a:gd name="connsiteX7" fmla="*/ 818685 w 2680896"/>
                  <a:gd name="connsiteY7" fmla="*/ 2575557 h 3637820"/>
                  <a:gd name="connsiteX8" fmla="*/ 0 w 2680896"/>
                  <a:gd name="connsiteY8" fmla="*/ 1340448 h 3637820"/>
                  <a:gd name="connsiteX9" fmla="*/ 1340448 w 2680896"/>
                  <a:gd name="connsiteY9" fmla="*/ 0 h 3637820"/>
                  <a:gd name="connsiteX0-1" fmla="*/ 2197630 w 2680896"/>
                  <a:gd name="connsiteY0-2" fmla="*/ 3637820 h 3729260"/>
                  <a:gd name="connsiteX1-3" fmla="*/ 842963 w 2680896"/>
                  <a:gd name="connsiteY1-4" fmla="*/ 3637820 h 3729260"/>
                  <a:gd name="connsiteX2-5" fmla="*/ 842963 w 2680896"/>
                  <a:gd name="connsiteY2-6" fmla="*/ 2584443 h 3729260"/>
                  <a:gd name="connsiteX3-7" fmla="*/ 818685 w 2680896"/>
                  <a:gd name="connsiteY3-8" fmla="*/ 2575557 h 3729260"/>
                  <a:gd name="connsiteX4-9" fmla="*/ 0 w 2680896"/>
                  <a:gd name="connsiteY4-10" fmla="*/ 1340448 h 3729260"/>
                  <a:gd name="connsiteX5-11" fmla="*/ 1340448 w 2680896"/>
                  <a:gd name="connsiteY5-12" fmla="*/ 0 h 3729260"/>
                  <a:gd name="connsiteX6-13" fmla="*/ 2680896 w 2680896"/>
                  <a:gd name="connsiteY6-14" fmla="*/ 1340448 h 3729260"/>
                  <a:gd name="connsiteX7-15" fmla="*/ 2288288 w 2680896"/>
                  <a:gd name="connsiteY7-16" fmla="*/ 2288288 h 3729260"/>
                  <a:gd name="connsiteX8-17" fmla="*/ 2197630 w 2680896"/>
                  <a:gd name="connsiteY8-18" fmla="*/ 2370684 h 3729260"/>
                  <a:gd name="connsiteX9-19" fmla="*/ 2289070 w 2680896"/>
                  <a:gd name="connsiteY9-20" fmla="*/ 3729260 h 3729260"/>
                  <a:gd name="connsiteX0-21" fmla="*/ 842963 w 2680896"/>
                  <a:gd name="connsiteY0-22" fmla="*/ 3637820 h 3729260"/>
                  <a:gd name="connsiteX1-23" fmla="*/ 842963 w 2680896"/>
                  <a:gd name="connsiteY1-24" fmla="*/ 2584443 h 3729260"/>
                  <a:gd name="connsiteX2-25" fmla="*/ 818685 w 2680896"/>
                  <a:gd name="connsiteY2-26" fmla="*/ 2575557 h 3729260"/>
                  <a:gd name="connsiteX3-27" fmla="*/ 0 w 2680896"/>
                  <a:gd name="connsiteY3-28" fmla="*/ 1340448 h 3729260"/>
                  <a:gd name="connsiteX4-29" fmla="*/ 1340448 w 2680896"/>
                  <a:gd name="connsiteY4-30" fmla="*/ 0 h 3729260"/>
                  <a:gd name="connsiteX5-31" fmla="*/ 2680896 w 2680896"/>
                  <a:gd name="connsiteY5-32" fmla="*/ 1340448 h 3729260"/>
                  <a:gd name="connsiteX6-33" fmla="*/ 2288288 w 2680896"/>
                  <a:gd name="connsiteY6-34" fmla="*/ 2288288 h 3729260"/>
                  <a:gd name="connsiteX7-35" fmla="*/ 2197630 w 2680896"/>
                  <a:gd name="connsiteY7-36" fmla="*/ 2370684 h 3729260"/>
                  <a:gd name="connsiteX8-37" fmla="*/ 2289070 w 2680896"/>
                  <a:gd name="connsiteY8-38" fmla="*/ 3729260 h 3729260"/>
                  <a:gd name="connsiteX0-39" fmla="*/ 842963 w 2680896"/>
                  <a:gd name="connsiteY0-40" fmla="*/ 3637820 h 3637820"/>
                  <a:gd name="connsiteX1-41" fmla="*/ 842963 w 2680896"/>
                  <a:gd name="connsiteY1-42" fmla="*/ 2584443 h 3637820"/>
                  <a:gd name="connsiteX2-43" fmla="*/ 818685 w 2680896"/>
                  <a:gd name="connsiteY2-44" fmla="*/ 2575557 h 3637820"/>
                  <a:gd name="connsiteX3-45" fmla="*/ 0 w 2680896"/>
                  <a:gd name="connsiteY3-46" fmla="*/ 1340448 h 3637820"/>
                  <a:gd name="connsiteX4-47" fmla="*/ 1340448 w 2680896"/>
                  <a:gd name="connsiteY4-48" fmla="*/ 0 h 3637820"/>
                  <a:gd name="connsiteX5-49" fmla="*/ 2680896 w 2680896"/>
                  <a:gd name="connsiteY5-50" fmla="*/ 1340448 h 3637820"/>
                  <a:gd name="connsiteX6-51" fmla="*/ 2288288 w 2680896"/>
                  <a:gd name="connsiteY6-52" fmla="*/ 2288288 h 3637820"/>
                  <a:gd name="connsiteX7-53" fmla="*/ 2197630 w 2680896"/>
                  <a:gd name="connsiteY7-54" fmla="*/ 2370684 h 3637820"/>
                  <a:gd name="connsiteX0-55" fmla="*/ 842963 w 2680896"/>
                  <a:gd name="connsiteY0-56" fmla="*/ 3637820 h 3637820"/>
                  <a:gd name="connsiteX1-57" fmla="*/ 842963 w 2680896"/>
                  <a:gd name="connsiteY1-58" fmla="*/ 2584443 h 3637820"/>
                  <a:gd name="connsiteX2-59" fmla="*/ 818685 w 2680896"/>
                  <a:gd name="connsiteY2-60" fmla="*/ 2575557 h 3637820"/>
                  <a:gd name="connsiteX3-61" fmla="*/ 0 w 2680896"/>
                  <a:gd name="connsiteY3-62" fmla="*/ 1340448 h 3637820"/>
                  <a:gd name="connsiteX4-63" fmla="*/ 1340448 w 2680896"/>
                  <a:gd name="connsiteY4-64" fmla="*/ 0 h 3637820"/>
                  <a:gd name="connsiteX5-65" fmla="*/ 2680896 w 2680896"/>
                  <a:gd name="connsiteY5-66" fmla="*/ 1340448 h 3637820"/>
                  <a:gd name="connsiteX6-67" fmla="*/ 2288288 w 2680896"/>
                  <a:gd name="connsiteY6-68" fmla="*/ 2288288 h 3637820"/>
                  <a:gd name="connsiteX0-69" fmla="*/ 842963 w 2680896"/>
                  <a:gd name="connsiteY0-70" fmla="*/ 3637820 h 3637820"/>
                  <a:gd name="connsiteX1-71" fmla="*/ 842963 w 2680896"/>
                  <a:gd name="connsiteY1-72" fmla="*/ 2584443 h 3637820"/>
                  <a:gd name="connsiteX2-73" fmla="*/ 818685 w 2680896"/>
                  <a:gd name="connsiteY2-74" fmla="*/ 2575557 h 3637820"/>
                  <a:gd name="connsiteX3-75" fmla="*/ 0 w 2680896"/>
                  <a:gd name="connsiteY3-76" fmla="*/ 1340448 h 3637820"/>
                  <a:gd name="connsiteX4-77" fmla="*/ 1340448 w 2680896"/>
                  <a:gd name="connsiteY4-78" fmla="*/ 0 h 3637820"/>
                  <a:gd name="connsiteX5-79" fmla="*/ 2680896 w 2680896"/>
                  <a:gd name="connsiteY5-80" fmla="*/ 1340448 h 3637820"/>
                  <a:gd name="connsiteX0-81" fmla="*/ 842963 w 2680896"/>
                  <a:gd name="connsiteY0-82" fmla="*/ 3637820 h 3637820"/>
                  <a:gd name="connsiteX1-83" fmla="*/ 842963 w 2680896"/>
                  <a:gd name="connsiteY1-84" fmla="*/ 2584443 h 3637820"/>
                  <a:gd name="connsiteX2-85" fmla="*/ 0 w 2680896"/>
                  <a:gd name="connsiteY2-86" fmla="*/ 1340448 h 3637820"/>
                  <a:gd name="connsiteX3-87" fmla="*/ 1340448 w 2680896"/>
                  <a:gd name="connsiteY3-88" fmla="*/ 0 h 3637820"/>
                  <a:gd name="connsiteX4-89" fmla="*/ 2680896 w 2680896"/>
                  <a:gd name="connsiteY4-90" fmla="*/ 1340448 h 3637820"/>
                  <a:gd name="connsiteX0-91" fmla="*/ 842963 w 2680896"/>
                  <a:gd name="connsiteY0-92" fmla="*/ 3637820 h 3637820"/>
                  <a:gd name="connsiteX1-93" fmla="*/ 0 w 2680896"/>
                  <a:gd name="connsiteY1-94" fmla="*/ 1340448 h 3637820"/>
                  <a:gd name="connsiteX2-95" fmla="*/ 1340448 w 2680896"/>
                  <a:gd name="connsiteY2-96" fmla="*/ 0 h 3637820"/>
                  <a:gd name="connsiteX3-97" fmla="*/ 2680896 w 2680896"/>
                  <a:gd name="connsiteY3-98" fmla="*/ 1340448 h 3637820"/>
                  <a:gd name="connsiteX0-99" fmla="*/ 0 w 2680896"/>
                  <a:gd name="connsiteY0-100" fmla="*/ 1340448 h 1340448"/>
                  <a:gd name="connsiteX1-101" fmla="*/ 1340448 w 2680896"/>
                  <a:gd name="connsiteY1-102" fmla="*/ 0 h 1340448"/>
                  <a:gd name="connsiteX2-103" fmla="*/ 2680896 w 2680896"/>
                  <a:gd name="connsiteY2-104" fmla="*/ 1340448 h 1340448"/>
                </a:gdLst>
                <a:ahLst/>
                <a:cxnLst>
                  <a:cxn ang="0">
                    <a:pos x="connsiteX0-1" y="connsiteY0-2"/>
                  </a:cxn>
                  <a:cxn ang="0">
                    <a:pos x="connsiteX1-3" y="connsiteY1-4"/>
                  </a:cxn>
                  <a:cxn ang="0">
                    <a:pos x="connsiteX2-5" y="connsiteY2-6"/>
                  </a:cxn>
                </a:cxnLst>
                <a:rect l="l" t="t" r="r" b="b"/>
                <a:pathLst>
                  <a:path w="2680896" h="1340448">
                    <a:moveTo>
                      <a:pt x="0" y="1340448"/>
                    </a:moveTo>
                    <a:cubicBezTo>
                      <a:pt x="0" y="600139"/>
                      <a:pt x="600139" y="0"/>
                      <a:pt x="1340448" y="0"/>
                    </a:cubicBezTo>
                    <a:cubicBezTo>
                      <a:pt x="2080757" y="0"/>
                      <a:pt x="2680896" y="600139"/>
                      <a:pt x="2680896" y="1340448"/>
                    </a:cubicBezTo>
                  </a:path>
                </a:pathLst>
              </a:custGeom>
              <a:noFill/>
              <a:ln w="19050" cap="rnd">
                <a:solidFill>
                  <a:schemeClr val="accent1"/>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mbria" panose="02040503050406030204"/>
                  <a:ea typeface="华文中宋" panose="02010600040101010101" charset="-122"/>
                  <a:cs typeface="+mn-cs"/>
                </a:endParaRPr>
              </a:p>
            </p:txBody>
          </p:sp>
          <p:sp>
            <p:nvSpPr>
              <p:cNvPr id="130" name="任意多边形: 形状 129"/>
              <p:cNvSpPr/>
              <p:nvPr/>
            </p:nvSpPr>
            <p:spPr>
              <a:xfrm rot="10800000">
                <a:off x="3412732" y="3383751"/>
                <a:ext cx="2680896" cy="1340448"/>
              </a:xfrm>
              <a:custGeom>
                <a:avLst/>
                <a:gdLst>
                  <a:gd name="connsiteX0" fmla="*/ 1340448 w 2680896"/>
                  <a:gd name="connsiteY0" fmla="*/ 0 h 3637820"/>
                  <a:gd name="connsiteX1" fmla="*/ 2680896 w 2680896"/>
                  <a:gd name="connsiteY1" fmla="*/ 1340448 h 3637820"/>
                  <a:gd name="connsiteX2" fmla="*/ 2288288 w 2680896"/>
                  <a:gd name="connsiteY2" fmla="*/ 2288288 h 3637820"/>
                  <a:gd name="connsiteX3" fmla="*/ 2197630 w 2680896"/>
                  <a:gd name="connsiteY3" fmla="*/ 2370684 h 3637820"/>
                  <a:gd name="connsiteX4" fmla="*/ 2197630 w 2680896"/>
                  <a:gd name="connsiteY4" fmla="*/ 3637820 h 3637820"/>
                  <a:gd name="connsiteX5" fmla="*/ 842963 w 2680896"/>
                  <a:gd name="connsiteY5" fmla="*/ 3637820 h 3637820"/>
                  <a:gd name="connsiteX6" fmla="*/ 842963 w 2680896"/>
                  <a:gd name="connsiteY6" fmla="*/ 2584443 h 3637820"/>
                  <a:gd name="connsiteX7" fmla="*/ 818685 w 2680896"/>
                  <a:gd name="connsiteY7" fmla="*/ 2575557 h 3637820"/>
                  <a:gd name="connsiteX8" fmla="*/ 0 w 2680896"/>
                  <a:gd name="connsiteY8" fmla="*/ 1340448 h 3637820"/>
                  <a:gd name="connsiteX9" fmla="*/ 1340448 w 2680896"/>
                  <a:gd name="connsiteY9" fmla="*/ 0 h 3637820"/>
                  <a:gd name="connsiteX0-1" fmla="*/ 2197630 w 2680896"/>
                  <a:gd name="connsiteY0-2" fmla="*/ 3637820 h 3729260"/>
                  <a:gd name="connsiteX1-3" fmla="*/ 842963 w 2680896"/>
                  <a:gd name="connsiteY1-4" fmla="*/ 3637820 h 3729260"/>
                  <a:gd name="connsiteX2-5" fmla="*/ 842963 w 2680896"/>
                  <a:gd name="connsiteY2-6" fmla="*/ 2584443 h 3729260"/>
                  <a:gd name="connsiteX3-7" fmla="*/ 818685 w 2680896"/>
                  <a:gd name="connsiteY3-8" fmla="*/ 2575557 h 3729260"/>
                  <a:gd name="connsiteX4-9" fmla="*/ 0 w 2680896"/>
                  <a:gd name="connsiteY4-10" fmla="*/ 1340448 h 3729260"/>
                  <a:gd name="connsiteX5-11" fmla="*/ 1340448 w 2680896"/>
                  <a:gd name="connsiteY5-12" fmla="*/ 0 h 3729260"/>
                  <a:gd name="connsiteX6-13" fmla="*/ 2680896 w 2680896"/>
                  <a:gd name="connsiteY6-14" fmla="*/ 1340448 h 3729260"/>
                  <a:gd name="connsiteX7-15" fmla="*/ 2288288 w 2680896"/>
                  <a:gd name="connsiteY7-16" fmla="*/ 2288288 h 3729260"/>
                  <a:gd name="connsiteX8-17" fmla="*/ 2197630 w 2680896"/>
                  <a:gd name="connsiteY8-18" fmla="*/ 2370684 h 3729260"/>
                  <a:gd name="connsiteX9-19" fmla="*/ 2289070 w 2680896"/>
                  <a:gd name="connsiteY9-20" fmla="*/ 3729260 h 3729260"/>
                  <a:gd name="connsiteX0-21" fmla="*/ 842963 w 2680896"/>
                  <a:gd name="connsiteY0-22" fmla="*/ 3637820 h 3729260"/>
                  <a:gd name="connsiteX1-23" fmla="*/ 842963 w 2680896"/>
                  <a:gd name="connsiteY1-24" fmla="*/ 2584443 h 3729260"/>
                  <a:gd name="connsiteX2-25" fmla="*/ 818685 w 2680896"/>
                  <a:gd name="connsiteY2-26" fmla="*/ 2575557 h 3729260"/>
                  <a:gd name="connsiteX3-27" fmla="*/ 0 w 2680896"/>
                  <a:gd name="connsiteY3-28" fmla="*/ 1340448 h 3729260"/>
                  <a:gd name="connsiteX4-29" fmla="*/ 1340448 w 2680896"/>
                  <a:gd name="connsiteY4-30" fmla="*/ 0 h 3729260"/>
                  <a:gd name="connsiteX5-31" fmla="*/ 2680896 w 2680896"/>
                  <a:gd name="connsiteY5-32" fmla="*/ 1340448 h 3729260"/>
                  <a:gd name="connsiteX6-33" fmla="*/ 2288288 w 2680896"/>
                  <a:gd name="connsiteY6-34" fmla="*/ 2288288 h 3729260"/>
                  <a:gd name="connsiteX7-35" fmla="*/ 2197630 w 2680896"/>
                  <a:gd name="connsiteY7-36" fmla="*/ 2370684 h 3729260"/>
                  <a:gd name="connsiteX8-37" fmla="*/ 2289070 w 2680896"/>
                  <a:gd name="connsiteY8-38" fmla="*/ 3729260 h 3729260"/>
                  <a:gd name="connsiteX0-39" fmla="*/ 842963 w 2680896"/>
                  <a:gd name="connsiteY0-40" fmla="*/ 3637820 h 3637820"/>
                  <a:gd name="connsiteX1-41" fmla="*/ 842963 w 2680896"/>
                  <a:gd name="connsiteY1-42" fmla="*/ 2584443 h 3637820"/>
                  <a:gd name="connsiteX2-43" fmla="*/ 818685 w 2680896"/>
                  <a:gd name="connsiteY2-44" fmla="*/ 2575557 h 3637820"/>
                  <a:gd name="connsiteX3-45" fmla="*/ 0 w 2680896"/>
                  <a:gd name="connsiteY3-46" fmla="*/ 1340448 h 3637820"/>
                  <a:gd name="connsiteX4-47" fmla="*/ 1340448 w 2680896"/>
                  <a:gd name="connsiteY4-48" fmla="*/ 0 h 3637820"/>
                  <a:gd name="connsiteX5-49" fmla="*/ 2680896 w 2680896"/>
                  <a:gd name="connsiteY5-50" fmla="*/ 1340448 h 3637820"/>
                  <a:gd name="connsiteX6-51" fmla="*/ 2288288 w 2680896"/>
                  <a:gd name="connsiteY6-52" fmla="*/ 2288288 h 3637820"/>
                  <a:gd name="connsiteX7-53" fmla="*/ 2197630 w 2680896"/>
                  <a:gd name="connsiteY7-54" fmla="*/ 2370684 h 3637820"/>
                  <a:gd name="connsiteX0-55" fmla="*/ 842963 w 2680896"/>
                  <a:gd name="connsiteY0-56" fmla="*/ 3637820 h 3637820"/>
                  <a:gd name="connsiteX1-57" fmla="*/ 842963 w 2680896"/>
                  <a:gd name="connsiteY1-58" fmla="*/ 2584443 h 3637820"/>
                  <a:gd name="connsiteX2-59" fmla="*/ 818685 w 2680896"/>
                  <a:gd name="connsiteY2-60" fmla="*/ 2575557 h 3637820"/>
                  <a:gd name="connsiteX3-61" fmla="*/ 0 w 2680896"/>
                  <a:gd name="connsiteY3-62" fmla="*/ 1340448 h 3637820"/>
                  <a:gd name="connsiteX4-63" fmla="*/ 1340448 w 2680896"/>
                  <a:gd name="connsiteY4-64" fmla="*/ 0 h 3637820"/>
                  <a:gd name="connsiteX5-65" fmla="*/ 2680896 w 2680896"/>
                  <a:gd name="connsiteY5-66" fmla="*/ 1340448 h 3637820"/>
                  <a:gd name="connsiteX6-67" fmla="*/ 2288288 w 2680896"/>
                  <a:gd name="connsiteY6-68" fmla="*/ 2288288 h 3637820"/>
                  <a:gd name="connsiteX0-69" fmla="*/ 842963 w 2680896"/>
                  <a:gd name="connsiteY0-70" fmla="*/ 3637820 h 3637820"/>
                  <a:gd name="connsiteX1-71" fmla="*/ 842963 w 2680896"/>
                  <a:gd name="connsiteY1-72" fmla="*/ 2584443 h 3637820"/>
                  <a:gd name="connsiteX2-73" fmla="*/ 818685 w 2680896"/>
                  <a:gd name="connsiteY2-74" fmla="*/ 2575557 h 3637820"/>
                  <a:gd name="connsiteX3-75" fmla="*/ 0 w 2680896"/>
                  <a:gd name="connsiteY3-76" fmla="*/ 1340448 h 3637820"/>
                  <a:gd name="connsiteX4-77" fmla="*/ 1340448 w 2680896"/>
                  <a:gd name="connsiteY4-78" fmla="*/ 0 h 3637820"/>
                  <a:gd name="connsiteX5-79" fmla="*/ 2680896 w 2680896"/>
                  <a:gd name="connsiteY5-80" fmla="*/ 1340448 h 3637820"/>
                  <a:gd name="connsiteX0-81" fmla="*/ 842963 w 2680896"/>
                  <a:gd name="connsiteY0-82" fmla="*/ 3637820 h 3637820"/>
                  <a:gd name="connsiteX1-83" fmla="*/ 842963 w 2680896"/>
                  <a:gd name="connsiteY1-84" fmla="*/ 2584443 h 3637820"/>
                  <a:gd name="connsiteX2-85" fmla="*/ 0 w 2680896"/>
                  <a:gd name="connsiteY2-86" fmla="*/ 1340448 h 3637820"/>
                  <a:gd name="connsiteX3-87" fmla="*/ 1340448 w 2680896"/>
                  <a:gd name="connsiteY3-88" fmla="*/ 0 h 3637820"/>
                  <a:gd name="connsiteX4-89" fmla="*/ 2680896 w 2680896"/>
                  <a:gd name="connsiteY4-90" fmla="*/ 1340448 h 3637820"/>
                  <a:gd name="connsiteX0-91" fmla="*/ 842963 w 2680896"/>
                  <a:gd name="connsiteY0-92" fmla="*/ 3637820 h 3637820"/>
                  <a:gd name="connsiteX1-93" fmla="*/ 0 w 2680896"/>
                  <a:gd name="connsiteY1-94" fmla="*/ 1340448 h 3637820"/>
                  <a:gd name="connsiteX2-95" fmla="*/ 1340448 w 2680896"/>
                  <a:gd name="connsiteY2-96" fmla="*/ 0 h 3637820"/>
                  <a:gd name="connsiteX3-97" fmla="*/ 2680896 w 2680896"/>
                  <a:gd name="connsiteY3-98" fmla="*/ 1340448 h 3637820"/>
                  <a:gd name="connsiteX0-99" fmla="*/ 0 w 2680896"/>
                  <a:gd name="connsiteY0-100" fmla="*/ 1340448 h 1340448"/>
                  <a:gd name="connsiteX1-101" fmla="*/ 1340448 w 2680896"/>
                  <a:gd name="connsiteY1-102" fmla="*/ 0 h 1340448"/>
                  <a:gd name="connsiteX2-103" fmla="*/ 2680896 w 2680896"/>
                  <a:gd name="connsiteY2-104" fmla="*/ 1340448 h 1340448"/>
                </a:gdLst>
                <a:ahLst/>
                <a:cxnLst>
                  <a:cxn ang="0">
                    <a:pos x="connsiteX0-1" y="connsiteY0-2"/>
                  </a:cxn>
                  <a:cxn ang="0">
                    <a:pos x="connsiteX1-3" y="connsiteY1-4"/>
                  </a:cxn>
                  <a:cxn ang="0">
                    <a:pos x="connsiteX2-5" y="connsiteY2-6"/>
                  </a:cxn>
                </a:cxnLst>
                <a:rect l="l" t="t" r="r" b="b"/>
                <a:pathLst>
                  <a:path w="2680896" h="1340448">
                    <a:moveTo>
                      <a:pt x="0" y="1340448"/>
                    </a:moveTo>
                    <a:cubicBezTo>
                      <a:pt x="0" y="600139"/>
                      <a:pt x="600139" y="0"/>
                      <a:pt x="1340448" y="0"/>
                    </a:cubicBezTo>
                    <a:cubicBezTo>
                      <a:pt x="2080757" y="0"/>
                      <a:pt x="2680896" y="600139"/>
                      <a:pt x="2680896" y="1340448"/>
                    </a:cubicBezTo>
                  </a:path>
                </a:pathLst>
              </a:custGeom>
              <a:noFill/>
              <a:ln w="19050" cap="rnd">
                <a:solidFill>
                  <a:schemeClr val="accent1"/>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mbria" panose="02040503050406030204"/>
                  <a:ea typeface="华文中宋" panose="02010600040101010101" charset="-122"/>
                  <a:cs typeface="+mn-cs"/>
                </a:endParaRPr>
              </a:p>
            </p:txBody>
          </p:sp>
          <p:sp>
            <p:nvSpPr>
              <p:cNvPr id="131" name="任意多边形: 形状 130"/>
              <p:cNvSpPr/>
              <p:nvPr/>
            </p:nvSpPr>
            <p:spPr>
              <a:xfrm rot="10800000">
                <a:off x="8774524" y="3383751"/>
                <a:ext cx="2680896" cy="1340448"/>
              </a:xfrm>
              <a:custGeom>
                <a:avLst/>
                <a:gdLst>
                  <a:gd name="connsiteX0" fmla="*/ 1340448 w 2680896"/>
                  <a:gd name="connsiteY0" fmla="*/ 0 h 3637820"/>
                  <a:gd name="connsiteX1" fmla="*/ 2680896 w 2680896"/>
                  <a:gd name="connsiteY1" fmla="*/ 1340448 h 3637820"/>
                  <a:gd name="connsiteX2" fmla="*/ 2288288 w 2680896"/>
                  <a:gd name="connsiteY2" fmla="*/ 2288288 h 3637820"/>
                  <a:gd name="connsiteX3" fmla="*/ 2197630 w 2680896"/>
                  <a:gd name="connsiteY3" fmla="*/ 2370684 h 3637820"/>
                  <a:gd name="connsiteX4" fmla="*/ 2197630 w 2680896"/>
                  <a:gd name="connsiteY4" fmla="*/ 3637820 h 3637820"/>
                  <a:gd name="connsiteX5" fmla="*/ 842963 w 2680896"/>
                  <a:gd name="connsiteY5" fmla="*/ 3637820 h 3637820"/>
                  <a:gd name="connsiteX6" fmla="*/ 842963 w 2680896"/>
                  <a:gd name="connsiteY6" fmla="*/ 2584443 h 3637820"/>
                  <a:gd name="connsiteX7" fmla="*/ 818685 w 2680896"/>
                  <a:gd name="connsiteY7" fmla="*/ 2575557 h 3637820"/>
                  <a:gd name="connsiteX8" fmla="*/ 0 w 2680896"/>
                  <a:gd name="connsiteY8" fmla="*/ 1340448 h 3637820"/>
                  <a:gd name="connsiteX9" fmla="*/ 1340448 w 2680896"/>
                  <a:gd name="connsiteY9" fmla="*/ 0 h 3637820"/>
                  <a:gd name="connsiteX0-1" fmla="*/ 2197630 w 2680896"/>
                  <a:gd name="connsiteY0-2" fmla="*/ 3637820 h 3729260"/>
                  <a:gd name="connsiteX1-3" fmla="*/ 842963 w 2680896"/>
                  <a:gd name="connsiteY1-4" fmla="*/ 3637820 h 3729260"/>
                  <a:gd name="connsiteX2-5" fmla="*/ 842963 w 2680896"/>
                  <a:gd name="connsiteY2-6" fmla="*/ 2584443 h 3729260"/>
                  <a:gd name="connsiteX3-7" fmla="*/ 818685 w 2680896"/>
                  <a:gd name="connsiteY3-8" fmla="*/ 2575557 h 3729260"/>
                  <a:gd name="connsiteX4-9" fmla="*/ 0 w 2680896"/>
                  <a:gd name="connsiteY4-10" fmla="*/ 1340448 h 3729260"/>
                  <a:gd name="connsiteX5-11" fmla="*/ 1340448 w 2680896"/>
                  <a:gd name="connsiteY5-12" fmla="*/ 0 h 3729260"/>
                  <a:gd name="connsiteX6-13" fmla="*/ 2680896 w 2680896"/>
                  <a:gd name="connsiteY6-14" fmla="*/ 1340448 h 3729260"/>
                  <a:gd name="connsiteX7-15" fmla="*/ 2288288 w 2680896"/>
                  <a:gd name="connsiteY7-16" fmla="*/ 2288288 h 3729260"/>
                  <a:gd name="connsiteX8-17" fmla="*/ 2197630 w 2680896"/>
                  <a:gd name="connsiteY8-18" fmla="*/ 2370684 h 3729260"/>
                  <a:gd name="connsiteX9-19" fmla="*/ 2289070 w 2680896"/>
                  <a:gd name="connsiteY9-20" fmla="*/ 3729260 h 3729260"/>
                  <a:gd name="connsiteX0-21" fmla="*/ 842963 w 2680896"/>
                  <a:gd name="connsiteY0-22" fmla="*/ 3637820 h 3729260"/>
                  <a:gd name="connsiteX1-23" fmla="*/ 842963 w 2680896"/>
                  <a:gd name="connsiteY1-24" fmla="*/ 2584443 h 3729260"/>
                  <a:gd name="connsiteX2-25" fmla="*/ 818685 w 2680896"/>
                  <a:gd name="connsiteY2-26" fmla="*/ 2575557 h 3729260"/>
                  <a:gd name="connsiteX3-27" fmla="*/ 0 w 2680896"/>
                  <a:gd name="connsiteY3-28" fmla="*/ 1340448 h 3729260"/>
                  <a:gd name="connsiteX4-29" fmla="*/ 1340448 w 2680896"/>
                  <a:gd name="connsiteY4-30" fmla="*/ 0 h 3729260"/>
                  <a:gd name="connsiteX5-31" fmla="*/ 2680896 w 2680896"/>
                  <a:gd name="connsiteY5-32" fmla="*/ 1340448 h 3729260"/>
                  <a:gd name="connsiteX6-33" fmla="*/ 2288288 w 2680896"/>
                  <a:gd name="connsiteY6-34" fmla="*/ 2288288 h 3729260"/>
                  <a:gd name="connsiteX7-35" fmla="*/ 2197630 w 2680896"/>
                  <a:gd name="connsiteY7-36" fmla="*/ 2370684 h 3729260"/>
                  <a:gd name="connsiteX8-37" fmla="*/ 2289070 w 2680896"/>
                  <a:gd name="connsiteY8-38" fmla="*/ 3729260 h 3729260"/>
                  <a:gd name="connsiteX0-39" fmla="*/ 842963 w 2680896"/>
                  <a:gd name="connsiteY0-40" fmla="*/ 3637820 h 3637820"/>
                  <a:gd name="connsiteX1-41" fmla="*/ 842963 w 2680896"/>
                  <a:gd name="connsiteY1-42" fmla="*/ 2584443 h 3637820"/>
                  <a:gd name="connsiteX2-43" fmla="*/ 818685 w 2680896"/>
                  <a:gd name="connsiteY2-44" fmla="*/ 2575557 h 3637820"/>
                  <a:gd name="connsiteX3-45" fmla="*/ 0 w 2680896"/>
                  <a:gd name="connsiteY3-46" fmla="*/ 1340448 h 3637820"/>
                  <a:gd name="connsiteX4-47" fmla="*/ 1340448 w 2680896"/>
                  <a:gd name="connsiteY4-48" fmla="*/ 0 h 3637820"/>
                  <a:gd name="connsiteX5-49" fmla="*/ 2680896 w 2680896"/>
                  <a:gd name="connsiteY5-50" fmla="*/ 1340448 h 3637820"/>
                  <a:gd name="connsiteX6-51" fmla="*/ 2288288 w 2680896"/>
                  <a:gd name="connsiteY6-52" fmla="*/ 2288288 h 3637820"/>
                  <a:gd name="connsiteX7-53" fmla="*/ 2197630 w 2680896"/>
                  <a:gd name="connsiteY7-54" fmla="*/ 2370684 h 3637820"/>
                  <a:gd name="connsiteX0-55" fmla="*/ 842963 w 2680896"/>
                  <a:gd name="connsiteY0-56" fmla="*/ 3637820 h 3637820"/>
                  <a:gd name="connsiteX1-57" fmla="*/ 842963 w 2680896"/>
                  <a:gd name="connsiteY1-58" fmla="*/ 2584443 h 3637820"/>
                  <a:gd name="connsiteX2-59" fmla="*/ 818685 w 2680896"/>
                  <a:gd name="connsiteY2-60" fmla="*/ 2575557 h 3637820"/>
                  <a:gd name="connsiteX3-61" fmla="*/ 0 w 2680896"/>
                  <a:gd name="connsiteY3-62" fmla="*/ 1340448 h 3637820"/>
                  <a:gd name="connsiteX4-63" fmla="*/ 1340448 w 2680896"/>
                  <a:gd name="connsiteY4-64" fmla="*/ 0 h 3637820"/>
                  <a:gd name="connsiteX5-65" fmla="*/ 2680896 w 2680896"/>
                  <a:gd name="connsiteY5-66" fmla="*/ 1340448 h 3637820"/>
                  <a:gd name="connsiteX6-67" fmla="*/ 2288288 w 2680896"/>
                  <a:gd name="connsiteY6-68" fmla="*/ 2288288 h 3637820"/>
                  <a:gd name="connsiteX0-69" fmla="*/ 842963 w 2680896"/>
                  <a:gd name="connsiteY0-70" fmla="*/ 3637820 h 3637820"/>
                  <a:gd name="connsiteX1-71" fmla="*/ 842963 w 2680896"/>
                  <a:gd name="connsiteY1-72" fmla="*/ 2584443 h 3637820"/>
                  <a:gd name="connsiteX2-73" fmla="*/ 818685 w 2680896"/>
                  <a:gd name="connsiteY2-74" fmla="*/ 2575557 h 3637820"/>
                  <a:gd name="connsiteX3-75" fmla="*/ 0 w 2680896"/>
                  <a:gd name="connsiteY3-76" fmla="*/ 1340448 h 3637820"/>
                  <a:gd name="connsiteX4-77" fmla="*/ 1340448 w 2680896"/>
                  <a:gd name="connsiteY4-78" fmla="*/ 0 h 3637820"/>
                  <a:gd name="connsiteX5-79" fmla="*/ 2680896 w 2680896"/>
                  <a:gd name="connsiteY5-80" fmla="*/ 1340448 h 3637820"/>
                  <a:gd name="connsiteX0-81" fmla="*/ 842963 w 2680896"/>
                  <a:gd name="connsiteY0-82" fmla="*/ 3637820 h 3637820"/>
                  <a:gd name="connsiteX1-83" fmla="*/ 842963 w 2680896"/>
                  <a:gd name="connsiteY1-84" fmla="*/ 2584443 h 3637820"/>
                  <a:gd name="connsiteX2-85" fmla="*/ 0 w 2680896"/>
                  <a:gd name="connsiteY2-86" fmla="*/ 1340448 h 3637820"/>
                  <a:gd name="connsiteX3-87" fmla="*/ 1340448 w 2680896"/>
                  <a:gd name="connsiteY3-88" fmla="*/ 0 h 3637820"/>
                  <a:gd name="connsiteX4-89" fmla="*/ 2680896 w 2680896"/>
                  <a:gd name="connsiteY4-90" fmla="*/ 1340448 h 3637820"/>
                  <a:gd name="connsiteX0-91" fmla="*/ 842963 w 2680896"/>
                  <a:gd name="connsiteY0-92" fmla="*/ 3637820 h 3637820"/>
                  <a:gd name="connsiteX1-93" fmla="*/ 0 w 2680896"/>
                  <a:gd name="connsiteY1-94" fmla="*/ 1340448 h 3637820"/>
                  <a:gd name="connsiteX2-95" fmla="*/ 1340448 w 2680896"/>
                  <a:gd name="connsiteY2-96" fmla="*/ 0 h 3637820"/>
                  <a:gd name="connsiteX3-97" fmla="*/ 2680896 w 2680896"/>
                  <a:gd name="connsiteY3-98" fmla="*/ 1340448 h 3637820"/>
                  <a:gd name="connsiteX0-99" fmla="*/ 0 w 2680896"/>
                  <a:gd name="connsiteY0-100" fmla="*/ 1340448 h 1340448"/>
                  <a:gd name="connsiteX1-101" fmla="*/ 1340448 w 2680896"/>
                  <a:gd name="connsiteY1-102" fmla="*/ 0 h 1340448"/>
                  <a:gd name="connsiteX2-103" fmla="*/ 2680896 w 2680896"/>
                  <a:gd name="connsiteY2-104" fmla="*/ 1340448 h 1340448"/>
                </a:gdLst>
                <a:ahLst/>
                <a:cxnLst>
                  <a:cxn ang="0">
                    <a:pos x="connsiteX0-1" y="connsiteY0-2"/>
                  </a:cxn>
                  <a:cxn ang="0">
                    <a:pos x="connsiteX1-3" y="connsiteY1-4"/>
                  </a:cxn>
                  <a:cxn ang="0">
                    <a:pos x="connsiteX2-5" y="connsiteY2-6"/>
                  </a:cxn>
                </a:cxnLst>
                <a:rect l="l" t="t" r="r" b="b"/>
                <a:pathLst>
                  <a:path w="2680896" h="1340448">
                    <a:moveTo>
                      <a:pt x="0" y="1340448"/>
                    </a:moveTo>
                    <a:cubicBezTo>
                      <a:pt x="0" y="600139"/>
                      <a:pt x="600139" y="0"/>
                      <a:pt x="1340448" y="0"/>
                    </a:cubicBezTo>
                    <a:cubicBezTo>
                      <a:pt x="2080757" y="0"/>
                      <a:pt x="2680896" y="600139"/>
                      <a:pt x="2680896" y="1340448"/>
                    </a:cubicBezTo>
                  </a:path>
                </a:pathLst>
              </a:custGeom>
              <a:noFill/>
              <a:ln w="19050" cap="rnd">
                <a:solidFill>
                  <a:schemeClr val="accent1"/>
                </a:solidFill>
                <a:prstDash val="dash"/>
                <a:round/>
                <a:headEnd type="ova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mbria" panose="02040503050406030204"/>
                  <a:ea typeface="华文中宋" panose="02010600040101010101" charset="-122"/>
                  <a:cs typeface="+mn-cs"/>
                </a:endParaRPr>
              </a:p>
            </p:txBody>
          </p:sp>
          <p:sp>
            <p:nvSpPr>
              <p:cNvPr id="132" name="任意多边形: 形状 131"/>
              <p:cNvSpPr/>
              <p:nvPr/>
            </p:nvSpPr>
            <p:spPr>
              <a:xfrm>
                <a:off x="6093628" y="2043312"/>
                <a:ext cx="2680896" cy="1340448"/>
              </a:xfrm>
              <a:custGeom>
                <a:avLst/>
                <a:gdLst>
                  <a:gd name="connsiteX0" fmla="*/ 1340448 w 2680896"/>
                  <a:gd name="connsiteY0" fmla="*/ 0 h 3637820"/>
                  <a:gd name="connsiteX1" fmla="*/ 2680896 w 2680896"/>
                  <a:gd name="connsiteY1" fmla="*/ 1340448 h 3637820"/>
                  <a:gd name="connsiteX2" fmla="*/ 2288288 w 2680896"/>
                  <a:gd name="connsiteY2" fmla="*/ 2288288 h 3637820"/>
                  <a:gd name="connsiteX3" fmla="*/ 2197630 w 2680896"/>
                  <a:gd name="connsiteY3" fmla="*/ 2370684 h 3637820"/>
                  <a:gd name="connsiteX4" fmla="*/ 2197630 w 2680896"/>
                  <a:gd name="connsiteY4" fmla="*/ 3637820 h 3637820"/>
                  <a:gd name="connsiteX5" fmla="*/ 842963 w 2680896"/>
                  <a:gd name="connsiteY5" fmla="*/ 3637820 h 3637820"/>
                  <a:gd name="connsiteX6" fmla="*/ 842963 w 2680896"/>
                  <a:gd name="connsiteY6" fmla="*/ 2584443 h 3637820"/>
                  <a:gd name="connsiteX7" fmla="*/ 818685 w 2680896"/>
                  <a:gd name="connsiteY7" fmla="*/ 2575557 h 3637820"/>
                  <a:gd name="connsiteX8" fmla="*/ 0 w 2680896"/>
                  <a:gd name="connsiteY8" fmla="*/ 1340448 h 3637820"/>
                  <a:gd name="connsiteX9" fmla="*/ 1340448 w 2680896"/>
                  <a:gd name="connsiteY9" fmla="*/ 0 h 3637820"/>
                  <a:gd name="connsiteX0-1" fmla="*/ 2197630 w 2680896"/>
                  <a:gd name="connsiteY0-2" fmla="*/ 3637820 h 3729260"/>
                  <a:gd name="connsiteX1-3" fmla="*/ 842963 w 2680896"/>
                  <a:gd name="connsiteY1-4" fmla="*/ 3637820 h 3729260"/>
                  <a:gd name="connsiteX2-5" fmla="*/ 842963 w 2680896"/>
                  <a:gd name="connsiteY2-6" fmla="*/ 2584443 h 3729260"/>
                  <a:gd name="connsiteX3-7" fmla="*/ 818685 w 2680896"/>
                  <a:gd name="connsiteY3-8" fmla="*/ 2575557 h 3729260"/>
                  <a:gd name="connsiteX4-9" fmla="*/ 0 w 2680896"/>
                  <a:gd name="connsiteY4-10" fmla="*/ 1340448 h 3729260"/>
                  <a:gd name="connsiteX5-11" fmla="*/ 1340448 w 2680896"/>
                  <a:gd name="connsiteY5-12" fmla="*/ 0 h 3729260"/>
                  <a:gd name="connsiteX6-13" fmla="*/ 2680896 w 2680896"/>
                  <a:gd name="connsiteY6-14" fmla="*/ 1340448 h 3729260"/>
                  <a:gd name="connsiteX7-15" fmla="*/ 2288288 w 2680896"/>
                  <a:gd name="connsiteY7-16" fmla="*/ 2288288 h 3729260"/>
                  <a:gd name="connsiteX8-17" fmla="*/ 2197630 w 2680896"/>
                  <a:gd name="connsiteY8-18" fmla="*/ 2370684 h 3729260"/>
                  <a:gd name="connsiteX9-19" fmla="*/ 2289070 w 2680896"/>
                  <a:gd name="connsiteY9-20" fmla="*/ 3729260 h 3729260"/>
                  <a:gd name="connsiteX0-21" fmla="*/ 842963 w 2680896"/>
                  <a:gd name="connsiteY0-22" fmla="*/ 3637820 h 3729260"/>
                  <a:gd name="connsiteX1-23" fmla="*/ 842963 w 2680896"/>
                  <a:gd name="connsiteY1-24" fmla="*/ 2584443 h 3729260"/>
                  <a:gd name="connsiteX2-25" fmla="*/ 818685 w 2680896"/>
                  <a:gd name="connsiteY2-26" fmla="*/ 2575557 h 3729260"/>
                  <a:gd name="connsiteX3-27" fmla="*/ 0 w 2680896"/>
                  <a:gd name="connsiteY3-28" fmla="*/ 1340448 h 3729260"/>
                  <a:gd name="connsiteX4-29" fmla="*/ 1340448 w 2680896"/>
                  <a:gd name="connsiteY4-30" fmla="*/ 0 h 3729260"/>
                  <a:gd name="connsiteX5-31" fmla="*/ 2680896 w 2680896"/>
                  <a:gd name="connsiteY5-32" fmla="*/ 1340448 h 3729260"/>
                  <a:gd name="connsiteX6-33" fmla="*/ 2288288 w 2680896"/>
                  <a:gd name="connsiteY6-34" fmla="*/ 2288288 h 3729260"/>
                  <a:gd name="connsiteX7-35" fmla="*/ 2197630 w 2680896"/>
                  <a:gd name="connsiteY7-36" fmla="*/ 2370684 h 3729260"/>
                  <a:gd name="connsiteX8-37" fmla="*/ 2289070 w 2680896"/>
                  <a:gd name="connsiteY8-38" fmla="*/ 3729260 h 3729260"/>
                  <a:gd name="connsiteX0-39" fmla="*/ 842963 w 2680896"/>
                  <a:gd name="connsiteY0-40" fmla="*/ 3637820 h 3637820"/>
                  <a:gd name="connsiteX1-41" fmla="*/ 842963 w 2680896"/>
                  <a:gd name="connsiteY1-42" fmla="*/ 2584443 h 3637820"/>
                  <a:gd name="connsiteX2-43" fmla="*/ 818685 w 2680896"/>
                  <a:gd name="connsiteY2-44" fmla="*/ 2575557 h 3637820"/>
                  <a:gd name="connsiteX3-45" fmla="*/ 0 w 2680896"/>
                  <a:gd name="connsiteY3-46" fmla="*/ 1340448 h 3637820"/>
                  <a:gd name="connsiteX4-47" fmla="*/ 1340448 w 2680896"/>
                  <a:gd name="connsiteY4-48" fmla="*/ 0 h 3637820"/>
                  <a:gd name="connsiteX5-49" fmla="*/ 2680896 w 2680896"/>
                  <a:gd name="connsiteY5-50" fmla="*/ 1340448 h 3637820"/>
                  <a:gd name="connsiteX6-51" fmla="*/ 2288288 w 2680896"/>
                  <a:gd name="connsiteY6-52" fmla="*/ 2288288 h 3637820"/>
                  <a:gd name="connsiteX7-53" fmla="*/ 2197630 w 2680896"/>
                  <a:gd name="connsiteY7-54" fmla="*/ 2370684 h 3637820"/>
                  <a:gd name="connsiteX0-55" fmla="*/ 842963 w 2680896"/>
                  <a:gd name="connsiteY0-56" fmla="*/ 3637820 h 3637820"/>
                  <a:gd name="connsiteX1-57" fmla="*/ 842963 w 2680896"/>
                  <a:gd name="connsiteY1-58" fmla="*/ 2584443 h 3637820"/>
                  <a:gd name="connsiteX2-59" fmla="*/ 818685 w 2680896"/>
                  <a:gd name="connsiteY2-60" fmla="*/ 2575557 h 3637820"/>
                  <a:gd name="connsiteX3-61" fmla="*/ 0 w 2680896"/>
                  <a:gd name="connsiteY3-62" fmla="*/ 1340448 h 3637820"/>
                  <a:gd name="connsiteX4-63" fmla="*/ 1340448 w 2680896"/>
                  <a:gd name="connsiteY4-64" fmla="*/ 0 h 3637820"/>
                  <a:gd name="connsiteX5-65" fmla="*/ 2680896 w 2680896"/>
                  <a:gd name="connsiteY5-66" fmla="*/ 1340448 h 3637820"/>
                  <a:gd name="connsiteX6-67" fmla="*/ 2288288 w 2680896"/>
                  <a:gd name="connsiteY6-68" fmla="*/ 2288288 h 3637820"/>
                  <a:gd name="connsiteX0-69" fmla="*/ 842963 w 2680896"/>
                  <a:gd name="connsiteY0-70" fmla="*/ 3637820 h 3637820"/>
                  <a:gd name="connsiteX1-71" fmla="*/ 842963 w 2680896"/>
                  <a:gd name="connsiteY1-72" fmla="*/ 2584443 h 3637820"/>
                  <a:gd name="connsiteX2-73" fmla="*/ 818685 w 2680896"/>
                  <a:gd name="connsiteY2-74" fmla="*/ 2575557 h 3637820"/>
                  <a:gd name="connsiteX3-75" fmla="*/ 0 w 2680896"/>
                  <a:gd name="connsiteY3-76" fmla="*/ 1340448 h 3637820"/>
                  <a:gd name="connsiteX4-77" fmla="*/ 1340448 w 2680896"/>
                  <a:gd name="connsiteY4-78" fmla="*/ 0 h 3637820"/>
                  <a:gd name="connsiteX5-79" fmla="*/ 2680896 w 2680896"/>
                  <a:gd name="connsiteY5-80" fmla="*/ 1340448 h 3637820"/>
                  <a:gd name="connsiteX0-81" fmla="*/ 842963 w 2680896"/>
                  <a:gd name="connsiteY0-82" fmla="*/ 3637820 h 3637820"/>
                  <a:gd name="connsiteX1-83" fmla="*/ 842963 w 2680896"/>
                  <a:gd name="connsiteY1-84" fmla="*/ 2584443 h 3637820"/>
                  <a:gd name="connsiteX2-85" fmla="*/ 0 w 2680896"/>
                  <a:gd name="connsiteY2-86" fmla="*/ 1340448 h 3637820"/>
                  <a:gd name="connsiteX3-87" fmla="*/ 1340448 w 2680896"/>
                  <a:gd name="connsiteY3-88" fmla="*/ 0 h 3637820"/>
                  <a:gd name="connsiteX4-89" fmla="*/ 2680896 w 2680896"/>
                  <a:gd name="connsiteY4-90" fmla="*/ 1340448 h 3637820"/>
                  <a:gd name="connsiteX0-91" fmla="*/ 842963 w 2680896"/>
                  <a:gd name="connsiteY0-92" fmla="*/ 3637820 h 3637820"/>
                  <a:gd name="connsiteX1-93" fmla="*/ 0 w 2680896"/>
                  <a:gd name="connsiteY1-94" fmla="*/ 1340448 h 3637820"/>
                  <a:gd name="connsiteX2-95" fmla="*/ 1340448 w 2680896"/>
                  <a:gd name="connsiteY2-96" fmla="*/ 0 h 3637820"/>
                  <a:gd name="connsiteX3-97" fmla="*/ 2680896 w 2680896"/>
                  <a:gd name="connsiteY3-98" fmla="*/ 1340448 h 3637820"/>
                  <a:gd name="connsiteX0-99" fmla="*/ 0 w 2680896"/>
                  <a:gd name="connsiteY0-100" fmla="*/ 1340448 h 1340448"/>
                  <a:gd name="connsiteX1-101" fmla="*/ 1340448 w 2680896"/>
                  <a:gd name="connsiteY1-102" fmla="*/ 0 h 1340448"/>
                  <a:gd name="connsiteX2-103" fmla="*/ 2680896 w 2680896"/>
                  <a:gd name="connsiteY2-104" fmla="*/ 1340448 h 1340448"/>
                </a:gdLst>
                <a:ahLst/>
                <a:cxnLst>
                  <a:cxn ang="0">
                    <a:pos x="connsiteX0-1" y="connsiteY0-2"/>
                  </a:cxn>
                  <a:cxn ang="0">
                    <a:pos x="connsiteX1-3" y="connsiteY1-4"/>
                  </a:cxn>
                  <a:cxn ang="0">
                    <a:pos x="connsiteX2-5" y="connsiteY2-6"/>
                  </a:cxn>
                </a:cxnLst>
                <a:rect l="l" t="t" r="r" b="b"/>
                <a:pathLst>
                  <a:path w="2680896" h="1340448">
                    <a:moveTo>
                      <a:pt x="0" y="1340448"/>
                    </a:moveTo>
                    <a:cubicBezTo>
                      <a:pt x="0" y="600139"/>
                      <a:pt x="600139" y="0"/>
                      <a:pt x="1340448" y="0"/>
                    </a:cubicBezTo>
                    <a:cubicBezTo>
                      <a:pt x="2080757" y="0"/>
                      <a:pt x="2680896" y="600139"/>
                      <a:pt x="2680896" y="1340448"/>
                    </a:cubicBezTo>
                  </a:path>
                </a:pathLst>
              </a:custGeom>
              <a:noFill/>
              <a:ln w="19050" cap="rnd">
                <a:solidFill>
                  <a:schemeClr val="accent1"/>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mbria" panose="02040503050406030204"/>
                  <a:ea typeface="华文中宋" panose="02010600040101010101" charset="-122"/>
                  <a:cs typeface="+mn-cs"/>
                </a:endParaRPr>
              </a:p>
            </p:txBody>
          </p:sp>
        </p:grpSp>
        <p:sp>
          <p:nvSpPr>
            <p:cNvPr id="76" name="椭圆 75"/>
            <p:cNvSpPr>
              <a:spLocks noChangeAspect="1"/>
            </p:cNvSpPr>
            <p:nvPr/>
          </p:nvSpPr>
          <p:spPr>
            <a:xfrm>
              <a:off x="873386" y="2313869"/>
              <a:ext cx="2422283" cy="2422283"/>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mbria" panose="02040503050406030204"/>
                <a:ea typeface="华文中宋" panose="02010600040101010101" charset="-122"/>
                <a:cs typeface="+mn-cs"/>
              </a:endParaRPr>
            </a:p>
          </p:txBody>
        </p:sp>
        <p:sp>
          <p:nvSpPr>
            <p:cNvPr id="5" name="文本框 4"/>
            <p:cNvSpPr txBox="1"/>
            <p:nvPr/>
          </p:nvSpPr>
          <p:spPr>
            <a:xfrm>
              <a:off x="1126036" y="3163967"/>
              <a:ext cx="1890355" cy="567107"/>
            </a:xfrm>
            <a:prstGeom prst="rect">
              <a:avLst/>
            </a:prstGeom>
            <a:noFill/>
          </p:spPr>
          <p:txBody>
            <a:bodyPr wrap="none" lIns="0" tIns="0" rIns="0" bIns="0" rtlCol="0">
              <a:spAutoFit/>
            </a:bodyPr>
            <a:lstStyle/>
            <a:p>
              <a:r>
                <a:rPr lang="zh-CN" altLang="en-US" sz="3200" dirty="0">
                  <a:solidFill>
                    <a:schemeClr val="bg1"/>
                  </a:solidFill>
                </a:rPr>
                <a:t>靶向锚定</a:t>
              </a:r>
              <a:endParaRPr lang="zh-CN" altLang="en-US" sz="3200" dirty="0">
                <a:solidFill>
                  <a:schemeClr val="bg1"/>
                </a:solidFill>
              </a:endParaRPr>
            </a:p>
          </p:txBody>
        </p:sp>
        <p:sp>
          <p:nvSpPr>
            <p:cNvPr id="42" name="椭圆 41"/>
            <p:cNvSpPr>
              <a:spLocks noChangeAspect="1"/>
            </p:cNvSpPr>
            <p:nvPr/>
          </p:nvSpPr>
          <p:spPr>
            <a:xfrm>
              <a:off x="3561441" y="2329264"/>
              <a:ext cx="2422283" cy="2422283"/>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mbria" panose="02040503050406030204"/>
                <a:ea typeface="华文中宋" panose="02010600040101010101" charset="-122"/>
                <a:cs typeface="+mn-cs"/>
              </a:endParaRPr>
            </a:p>
          </p:txBody>
        </p:sp>
        <p:sp>
          <p:nvSpPr>
            <p:cNvPr id="43" name="文本框 42"/>
            <p:cNvSpPr txBox="1"/>
            <p:nvPr/>
          </p:nvSpPr>
          <p:spPr>
            <a:xfrm>
              <a:off x="3811736" y="3167565"/>
              <a:ext cx="1890355" cy="567107"/>
            </a:xfrm>
            <a:prstGeom prst="rect">
              <a:avLst/>
            </a:prstGeom>
            <a:noFill/>
          </p:spPr>
          <p:txBody>
            <a:bodyPr wrap="none" lIns="0" tIns="0" rIns="0" bIns="0" rtlCol="0">
              <a:spAutoFit/>
            </a:bodyPr>
            <a:lstStyle/>
            <a:p>
              <a:r>
                <a:rPr lang="zh-CN" altLang="en-US" sz="3200" dirty="0">
                  <a:solidFill>
                    <a:schemeClr val="bg1"/>
                  </a:solidFill>
                </a:rPr>
                <a:t>结构感知</a:t>
              </a:r>
              <a:endParaRPr lang="zh-CN" altLang="en-US" sz="3200" dirty="0">
                <a:solidFill>
                  <a:schemeClr val="bg1"/>
                </a:solidFill>
              </a:endParaRPr>
            </a:p>
          </p:txBody>
        </p:sp>
        <p:sp>
          <p:nvSpPr>
            <p:cNvPr id="44" name="椭圆 43"/>
            <p:cNvSpPr>
              <a:spLocks noChangeAspect="1"/>
            </p:cNvSpPr>
            <p:nvPr/>
          </p:nvSpPr>
          <p:spPr>
            <a:xfrm>
              <a:off x="6242337" y="2329264"/>
              <a:ext cx="2422283" cy="2422283"/>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mbria" panose="02040503050406030204"/>
                <a:ea typeface="华文中宋" panose="02010600040101010101" charset="-122"/>
                <a:cs typeface="+mn-cs"/>
              </a:endParaRPr>
            </a:p>
          </p:txBody>
        </p:sp>
        <p:sp>
          <p:nvSpPr>
            <p:cNvPr id="45" name="文本框 44"/>
            <p:cNvSpPr txBox="1"/>
            <p:nvPr/>
          </p:nvSpPr>
          <p:spPr>
            <a:xfrm>
              <a:off x="6494987" y="3212504"/>
              <a:ext cx="1890355" cy="567107"/>
            </a:xfrm>
            <a:prstGeom prst="rect">
              <a:avLst/>
            </a:prstGeom>
            <a:noFill/>
          </p:spPr>
          <p:txBody>
            <a:bodyPr wrap="none" lIns="0" tIns="0" rIns="0" bIns="0" rtlCol="0">
              <a:spAutoFit/>
            </a:bodyPr>
            <a:lstStyle/>
            <a:p>
              <a:r>
                <a:rPr lang="zh-CN" altLang="en-US" sz="3200" dirty="0">
                  <a:solidFill>
                    <a:schemeClr val="bg1"/>
                  </a:solidFill>
                </a:rPr>
                <a:t>变构调控</a:t>
              </a:r>
              <a:endParaRPr lang="zh-CN" altLang="en-US" sz="3200" dirty="0">
                <a:solidFill>
                  <a:schemeClr val="bg1"/>
                </a:solidFill>
              </a:endParaRPr>
            </a:p>
          </p:txBody>
        </p:sp>
        <p:sp>
          <p:nvSpPr>
            <p:cNvPr id="46" name="椭圆 45"/>
            <p:cNvSpPr>
              <a:spLocks noChangeAspect="1"/>
            </p:cNvSpPr>
            <p:nvPr/>
          </p:nvSpPr>
          <p:spPr>
            <a:xfrm>
              <a:off x="8900300" y="2329264"/>
              <a:ext cx="2422283" cy="2422283"/>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mbria" panose="02040503050406030204"/>
                <a:ea typeface="华文中宋" panose="02010600040101010101" charset="-122"/>
                <a:cs typeface="+mn-cs"/>
              </a:endParaRPr>
            </a:p>
          </p:txBody>
        </p:sp>
        <p:sp>
          <p:nvSpPr>
            <p:cNvPr id="47" name="文本框 46"/>
            <p:cNvSpPr txBox="1"/>
            <p:nvPr/>
          </p:nvSpPr>
          <p:spPr>
            <a:xfrm>
              <a:off x="9152950" y="3212504"/>
              <a:ext cx="1890355" cy="567107"/>
            </a:xfrm>
            <a:prstGeom prst="rect">
              <a:avLst/>
            </a:prstGeom>
            <a:noFill/>
          </p:spPr>
          <p:txBody>
            <a:bodyPr wrap="none" lIns="0" tIns="0" rIns="0" bIns="0" rtlCol="0">
              <a:spAutoFit/>
            </a:bodyPr>
            <a:lstStyle/>
            <a:p>
              <a:r>
                <a:rPr lang="zh-CN" altLang="en-US" sz="3200" dirty="0">
                  <a:solidFill>
                    <a:schemeClr val="bg1"/>
                  </a:solidFill>
                </a:rPr>
                <a:t>功能执行</a:t>
              </a:r>
              <a:endParaRPr lang="zh-CN" altLang="en-US" sz="3200" dirty="0">
                <a:solidFill>
                  <a:schemeClr val="bg1"/>
                </a:solidFill>
              </a:endParaRPr>
            </a:p>
          </p:txBody>
        </p:sp>
      </p:grpSp>
      <p:grpSp>
        <p:nvGrpSpPr>
          <p:cNvPr id="93" name="组合 92"/>
          <p:cNvGrpSpPr/>
          <p:nvPr/>
        </p:nvGrpSpPr>
        <p:grpSpPr>
          <a:xfrm>
            <a:off x="291387" y="1239724"/>
            <a:ext cx="1839271" cy="1768207"/>
            <a:chOff x="454229" y="1394878"/>
            <a:chExt cx="1839271" cy="1768207"/>
          </a:xfrm>
        </p:grpSpPr>
        <p:sp>
          <p:nvSpPr>
            <p:cNvPr id="25" name="文本框 24"/>
            <p:cNvSpPr txBox="1"/>
            <p:nvPr/>
          </p:nvSpPr>
          <p:spPr>
            <a:xfrm>
              <a:off x="972241" y="1394878"/>
              <a:ext cx="1185503" cy="441788"/>
            </a:xfrm>
            <a:prstGeom prst="rect">
              <a:avLst/>
            </a:prstGeom>
            <a:noFill/>
            <a:ln w="19050">
              <a:solidFill>
                <a:srgbClr val="4965AA"/>
              </a:solidFill>
            </a:ln>
          </p:spPr>
          <p:txBody>
            <a:bodyPr wrap="square" lIns="45720" tIns="45720" rIns="45720" bIns="45720" rtlCol="0" anchor="ctr">
              <a:spAutoFit/>
            </a:bodyPr>
            <a:lstStyle/>
            <a:p>
              <a:pPr algn="ctr">
                <a:lnSpc>
                  <a:spcPct val="125000"/>
                </a:lnSpc>
              </a:pPr>
              <a:r>
                <a:rPr lang="en-US" altLang="zh-CN" sz="2000" dirty="0">
                  <a:latin typeface="+mn-ea"/>
                </a:rPr>
                <a:t>PUF</a:t>
              </a:r>
              <a:r>
                <a:rPr lang="zh-CN" altLang="en-US" sz="2000" dirty="0">
                  <a:latin typeface="+mn-ea"/>
                </a:rPr>
                <a:t>蛋白</a:t>
              </a:r>
              <a:endParaRPr lang="en-US" altLang="zh-CN" sz="2000" dirty="0">
                <a:latin typeface="+mn-ea"/>
              </a:endParaRPr>
            </a:p>
          </p:txBody>
        </p:sp>
        <p:sp>
          <p:nvSpPr>
            <p:cNvPr id="26" name="文本框 25"/>
            <p:cNvSpPr txBox="1"/>
            <p:nvPr/>
          </p:nvSpPr>
          <p:spPr>
            <a:xfrm>
              <a:off x="813085" y="2721297"/>
              <a:ext cx="1480415" cy="441788"/>
            </a:xfrm>
            <a:prstGeom prst="rect">
              <a:avLst/>
            </a:prstGeom>
            <a:noFill/>
            <a:ln w="19050">
              <a:solidFill>
                <a:srgbClr val="4965AA"/>
              </a:solidFill>
            </a:ln>
          </p:spPr>
          <p:txBody>
            <a:bodyPr wrap="square" lIns="45720" tIns="45720" rIns="45720" bIns="45720" rtlCol="0" anchor="ctr">
              <a:spAutoFit/>
            </a:bodyPr>
            <a:lstStyle/>
            <a:p>
              <a:pPr algn="ctr">
                <a:lnSpc>
                  <a:spcPct val="125000"/>
                </a:lnSpc>
              </a:pPr>
              <a:r>
                <a:rPr lang="en-US" altLang="zh-CN" sz="2000" dirty="0">
                  <a:latin typeface="+mn-ea"/>
                </a:rPr>
                <a:t>HTT mRNA</a:t>
              </a:r>
              <a:endParaRPr lang="en-US" altLang="zh-CN" sz="2000" dirty="0">
                <a:latin typeface="+mn-ea"/>
              </a:endParaRPr>
            </a:p>
          </p:txBody>
        </p:sp>
        <p:cxnSp>
          <p:nvCxnSpPr>
            <p:cNvPr id="32" name="直接箭头连接符 31"/>
            <p:cNvCxnSpPr/>
            <p:nvPr/>
          </p:nvCxnSpPr>
          <p:spPr>
            <a:xfrm>
              <a:off x="1795339" y="1969051"/>
              <a:ext cx="0" cy="63998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54229" y="2061313"/>
              <a:ext cx="1310206" cy="349455"/>
            </a:xfrm>
            <a:prstGeom prst="rect">
              <a:avLst/>
            </a:prstGeom>
            <a:noFill/>
          </p:spPr>
          <p:txBody>
            <a:bodyPr wrap="square" lIns="0" tIns="0" rIns="0" bIns="0" rtlCol="0">
              <a:spAutoFit/>
            </a:bodyPr>
            <a:lstStyle/>
            <a:p>
              <a:pPr algn="just">
                <a:lnSpc>
                  <a:spcPct val="125000"/>
                </a:lnSpc>
              </a:pPr>
              <a:r>
                <a:rPr lang="zh-CN" altLang="en-US" sz="2000" dirty="0">
                  <a:latin typeface="+mn-ea"/>
                </a:rPr>
                <a:t>特异性结合</a:t>
              </a:r>
              <a:endParaRPr lang="zh-CN" altLang="en-US" sz="2000" dirty="0">
                <a:latin typeface="+mn-ea"/>
              </a:endParaRPr>
            </a:p>
          </p:txBody>
        </p:sp>
      </p:grpSp>
      <p:grpSp>
        <p:nvGrpSpPr>
          <p:cNvPr id="74" name="组合 73"/>
          <p:cNvGrpSpPr/>
          <p:nvPr/>
        </p:nvGrpSpPr>
        <p:grpSpPr>
          <a:xfrm>
            <a:off x="2496492" y="1140894"/>
            <a:ext cx="2560921" cy="2035095"/>
            <a:chOff x="3101351" y="1030371"/>
            <a:chExt cx="2560921" cy="2035095"/>
          </a:xfrm>
        </p:grpSpPr>
        <p:sp>
          <p:nvSpPr>
            <p:cNvPr id="54" name="矩形: 圆角 53"/>
            <p:cNvSpPr/>
            <p:nvPr/>
          </p:nvSpPr>
          <p:spPr>
            <a:xfrm>
              <a:off x="4349703" y="2470606"/>
              <a:ext cx="943832" cy="107586"/>
            </a:xfrm>
            <a:prstGeom prst="roundRect">
              <a:avLst/>
            </a:prstGeom>
            <a:solidFill>
              <a:srgbClr val="4965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102160" y="1609330"/>
              <a:ext cx="1247239" cy="441275"/>
            </a:xfrm>
            <a:prstGeom prst="rect">
              <a:avLst/>
            </a:prstGeom>
            <a:noFill/>
            <a:ln w="19050">
              <a:solidFill>
                <a:srgbClr val="4965AA"/>
              </a:solidFill>
            </a:ln>
          </p:spPr>
          <p:txBody>
            <a:bodyPr wrap="square" lIns="91440" tIns="45720" rIns="91440" bIns="45720" rtlCol="0" anchor="ctr">
              <a:spAutoFit/>
            </a:bodyPr>
            <a:lstStyle/>
            <a:p>
              <a:pPr>
                <a:lnSpc>
                  <a:spcPct val="125000"/>
                </a:lnSpc>
              </a:pPr>
              <a:r>
                <a:rPr lang="zh-CN" altLang="zh-CN" sz="2000" dirty="0"/>
                <a:t>正常</a:t>
              </a:r>
              <a:r>
                <a:rPr lang="en-US" altLang="zh-CN" sz="2000" dirty="0"/>
                <a:t> RNA</a:t>
              </a:r>
              <a:endParaRPr lang="en-US" altLang="zh-CN" sz="2000" dirty="0">
                <a:latin typeface="+mn-ea"/>
              </a:endParaRPr>
            </a:p>
          </p:txBody>
        </p:sp>
        <p:sp>
          <p:nvSpPr>
            <p:cNvPr id="40" name="文本框 39"/>
            <p:cNvSpPr txBox="1"/>
            <p:nvPr/>
          </p:nvSpPr>
          <p:spPr>
            <a:xfrm>
              <a:off x="3101351" y="2297463"/>
              <a:ext cx="1248044" cy="441275"/>
            </a:xfrm>
            <a:prstGeom prst="rect">
              <a:avLst/>
            </a:prstGeom>
            <a:noFill/>
            <a:ln w="19050">
              <a:solidFill>
                <a:srgbClr val="4965AA"/>
              </a:solidFill>
            </a:ln>
          </p:spPr>
          <p:txBody>
            <a:bodyPr wrap="square" lIns="91440" tIns="45720" rIns="91440" bIns="45720" rtlCol="0" anchor="ctr">
              <a:spAutoFit/>
            </a:bodyPr>
            <a:lstStyle/>
            <a:p>
              <a:pPr>
                <a:lnSpc>
                  <a:spcPct val="125000"/>
                </a:lnSpc>
              </a:pPr>
              <a:r>
                <a:rPr lang="zh-CN" altLang="zh-CN" sz="2000" dirty="0"/>
                <a:t>致病</a:t>
              </a:r>
              <a:r>
                <a:rPr lang="en-US" altLang="zh-CN" sz="2000" dirty="0"/>
                <a:t> RNA</a:t>
              </a:r>
              <a:endParaRPr lang="en-US" altLang="zh-CN" sz="2000" dirty="0">
                <a:latin typeface="+mn-ea"/>
              </a:endParaRPr>
            </a:p>
          </p:txBody>
        </p:sp>
        <p:sp>
          <p:nvSpPr>
            <p:cNvPr id="53" name="矩形: 圆角 52"/>
            <p:cNvSpPr/>
            <p:nvPr/>
          </p:nvSpPr>
          <p:spPr>
            <a:xfrm>
              <a:off x="4593631" y="2377208"/>
              <a:ext cx="699900" cy="302556"/>
            </a:xfrm>
            <a:prstGeom prst="roundRect">
              <a:avLst/>
            </a:prstGeom>
            <a:solidFill>
              <a:srgbClr val="FD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3193312" y="1030371"/>
              <a:ext cx="2100223" cy="349455"/>
            </a:xfrm>
            <a:prstGeom prst="rect">
              <a:avLst/>
            </a:prstGeom>
            <a:noFill/>
          </p:spPr>
          <p:txBody>
            <a:bodyPr wrap="square" lIns="0" tIns="0" rIns="0" bIns="0" rtlCol="0">
              <a:spAutoFit/>
            </a:bodyPr>
            <a:lstStyle/>
            <a:p>
              <a:pPr algn="just">
                <a:lnSpc>
                  <a:spcPct val="125000"/>
                </a:lnSpc>
              </a:pPr>
              <a:r>
                <a:rPr lang="zh-CN" altLang="en-US" sz="2000" dirty="0">
                  <a:latin typeface="+mn-ea"/>
                </a:rPr>
                <a:t>识别异常发夹结构</a:t>
              </a:r>
              <a:endParaRPr lang="zh-CN" altLang="en-US" sz="2000" dirty="0">
                <a:latin typeface="+mn-ea"/>
              </a:endParaRPr>
            </a:p>
          </p:txBody>
        </p:sp>
        <p:sp>
          <p:nvSpPr>
            <p:cNvPr id="71" name="弧形 70"/>
            <p:cNvSpPr/>
            <p:nvPr/>
          </p:nvSpPr>
          <p:spPr>
            <a:xfrm rot="2082044">
              <a:off x="3968964" y="1327608"/>
              <a:ext cx="1043879" cy="1203681"/>
            </a:xfrm>
            <a:prstGeom prst="arc">
              <a:avLst/>
            </a:prstGeom>
            <a:ln w="38100">
              <a:solidFill>
                <a:srgbClr val="4965A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 name="等腰三角形 71"/>
            <p:cNvSpPr/>
            <p:nvPr/>
          </p:nvSpPr>
          <p:spPr>
            <a:xfrm rot="12843498">
              <a:off x="4804588" y="2168804"/>
              <a:ext cx="166303" cy="177018"/>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p:cNvSpPr txBox="1"/>
            <p:nvPr/>
          </p:nvSpPr>
          <p:spPr>
            <a:xfrm>
              <a:off x="4423932" y="2786287"/>
              <a:ext cx="1238340" cy="279179"/>
            </a:xfrm>
            <a:prstGeom prst="rect">
              <a:avLst/>
            </a:prstGeom>
            <a:noFill/>
          </p:spPr>
          <p:txBody>
            <a:bodyPr wrap="square" lIns="0" tIns="0" rIns="0" bIns="0" rtlCol="0">
              <a:spAutoFit/>
            </a:bodyPr>
            <a:lstStyle/>
            <a:p>
              <a:pPr algn="just">
                <a:lnSpc>
                  <a:spcPct val="125000"/>
                </a:lnSpc>
              </a:pPr>
              <a:r>
                <a:rPr lang="en-US" altLang="zh-CN" sz="1600" dirty="0"/>
                <a:t>CAG</a:t>
              </a:r>
              <a:r>
                <a:rPr lang="zh-CN" altLang="en-US" sz="1600" dirty="0">
                  <a:latin typeface="+mn-ea"/>
                </a:rPr>
                <a:t>异常扩增</a:t>
              </a:r>
              <a:endParaRPr lang="zh-CN" altLang="en-US" sz="1600" dirty="0">
                <a:latin typeface="+mn-ea"/>
              </a:endParaRPr>
            </a:p>
          </p:txBody>
        </p:sp>
      </p:grpSp>
      <p:grpSp>
        <p:nvGrpSpPr>
          <p:cNvPr id="92" name="组合 91"/>
          <p:cNvGrpSpPr/>
          <p:nvPr/>
        </p:nvGrpSpPr>
        <p:grpSpPr>
          <a:xfrm>
            <a:off x="5356530" y="795216"/>
            <a:ext cx="1576578" cy="2539414"/>
            <a:chOff x="5560618" y="514461"/>
            <a:chExt cx="1576578" cy="2539414"/>
          </a:xfrm>
        </p:grpSpPr>
        <p:grpSp>
          <p:nvGrpSpPr>
            <p:cNvPr id="90" name="组合 89"/>
            <p:cNvGrpSpPr/>
            <p:nvPr/>
          </p:nvGrpSpPr>
          <p:grpSpPr>
            <a:xfrm>
              <a:off x="5560618" y="514461"/>
              <a:ext cx="1422469" cy="2155491"/>
              <a:chOff x="5687978" y="969821"/>
              <a:chExt cx="1422469" cy="2155491"/>
            </a:xfrm>
          </p:grpSpPr>
          <p:grpSp>
            <p:nvGrpSpPr>
              <p:cNvPr id="84" name="组合 83"/>
              <p:cNvGrpSpPr/>
              <p:nvPr/>
            </p:nvGrpSpPr>
            <p:grpSpPr>
              <a:xfrm>
                <a:off x="5687978" y="969821"/>
                <a:ext cx="1422469" cy="1549250"/>
                <a:chOff x="6007031" y="1293217"/>
                <a:chExt cx="1422469" cy="1549250"/>
              </a:xfrm>
            </p:grpSpPr>
            <p:sp>
              <p:nvSpPr>
                <p:cNvPr id="14" name="文本框 13"/>
                <p:cNvSpPr txBox="1"/>
                <p:nvPr/>
              </p:nvSpPr>
              <p:spPr>
                <a:xfrm>
                  <a:off x="6007031" y="1293217"/>
                  <a:ext cx="1422469" cy="441275"/>
                </a:xfrm>
                <a:prstGeom prst="rect">
                  <a:avLst/>
                </a:prstGeom>
                <a:noFill/>
                <a:ln w="19050">
                  <a:solidFill>
                    <a:srgbClr val="4965AA"/>
                  </a:solidFill>
                </a:ln>
              </p:spPr>
              <p:txBody>
                <a:bodyPr wrap="square" lIns="91440" tIns="45720" rIns="91440" bIns="45720" rtlCol="0">
                  <a:spAutoFit/>
                </a:bodyPr>
                <a:lstStyle/>
                <a:p>
                  <a:pPr>
                    <a:lnSpc>
                      <a:spcPct val="125000"/>
                    </a:lnSpc>
                  </a:pPr>
                  <a:r>
                    <a:rPr lang="en-US" altLang="zh-CN" sz="2000" dirty="0"/>
                    <a:t>Linker OFF</a:t>
                  </a:r>
                  <a:endParaRPr lang="en-US" altLang="zh-CN" sz="2000" dirty="0">
                    <a:latin typeface="+mn-ea"/>
                  </a:endParaRPr>
                </a:p>
              </p:txBody>
            </p:sp>
            <p:sp>
              <p:nvSpPr>
                <p:cNvPr id="75" name="文本框 74"/>
                <p:cNvSpPr txBox="1"/>
                <p:nvPr/>
              </p:nvSpPr>
              <p:spPr>
                <a:xfrm>
                  <a:off x="6007031" y="2401192"/>
                  <a:ext cx="1422468" cy="441275"/>
                </a:xfrm>
                <a:prstGeom prst="rect">
                  <a:avLst/>
                </a:prstGeom>
                <a:solidFill>
                  <a:schemeClr val="accent3">
                    <a:lumMod val="40000"/>
                    <a:lumOff val="60000"/>
                  </a:schemeClr>
                </a:solidFill>
                <a:ln w="19050">
                  <a:solidFill>
                    <a:srgbClr val="4965AA"/>
                  </a:solidFill>
                </a:ln>
              </p:spPr>
              <p:txBody>
                <a:bodyPr wrap="square" lIns="91440" tIns="45720" rIns="91440" bIns="45720" rtlCol="0" anchor="ctr">
                  <a:spAutoFit/>
                </a:bodyPr>
                <a:lstStyle/>
                <a:p>
                  <a:pPr algn="ctr">
                    <a:lnSpc>
                      <a:spcPct val="125000"/>
                    </a:lnSpc>
                  </a:pPr>
                  <a:r>
                    <a:rPr lang="en-US" altLang="zh-CN" sz="2000" dirty="0"/>
                    <a:t>Linker ON</a:t>
                  </a:r>
                  <a:endParaRPr lang="en-US" altLang="zh-CN" sz="2000" dirty="0">
                    <a:latin typeface="+mn-ea"/>
                  </a:endParaRPr>
                </a:p>
              </p:txBody>
            </p:sp>
            <p:cxnSp>
              <p:nvCxnSpPr>
                <p:cNvPr id="81" name="直接箭头连接符 80"/>
                <p:cNvCxnSpPr/>
                <p:nvPr/>
              </p:nvCxnSpPr>
              <p:spPr>
                <a:xfrm>
                  <a:off x="6919085" y="1836666"/>
                  <a:ext cx="0" cy="50611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6270256" y="1864792"/>
                  <a:ext cx="633090" cy="349455"/>
                </a:xfrm>
                <a:prstGeom prst="rect">
                  <a:avLst/>
                </a:prstGeom>
                <a:noFill/>
              </p:spPr>
              <p:txBody>
                <a:bodyPr wrap="square" lIns="0" tIns="0" rIns="0" bIns="0" rtlCol="0">
                  <a:spAutoFit/>
                </a:bodyPr>
                <a:lstStyle/>
                <a:p>
                  <a:pPr algn="just">
                    <a:lnSpc>
                      <a:spcPct val="125000"/>
                    </a:lnSpc>
                  </a:pPr>
                  <a:r>
                    <a:rPr lang="zh-CN" altLang="en-US" sz="2000" dirty="0">
                      <a:latin typeface="+mn-ea"/>
                    </a:rPr>
                    <a:t>变构</a:t>
                  </a:r>
                  <a:endParaRPr lang="zh-CN" altLang="en-US" sz="2000" dirty="0">
                    <a:latin typeface="+mn-ea"/>
                  </a:endParaRPr>
                </a:p>
              </p:txBody>
            </p:sp>
          </p:grpSp>
          <p:cxnSp>
            <p:nvCxnSpPr>
              <p:cNvPr id="88" name="直接箭头连接符 87"/>
              <p:cNvCxnSpPr/>
              <p:nvPr/>
            </p:nvCxnSpPr>
            <p:spPr>
              <a:xfrm>
                <a:off x="6604282" y="2619196"/>
                <a:ext cx="0" cy="50611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9" name="文本框 88"/>
              <p:cNvSpPr txBox="1"/>
              <p:nvPr/>
            </p:nvSpPr>
            <p:spPr>
              <a:xfrm>
                <a:off x="5955453" y="2647322"/>
                <a:ext cx="633090" cy="349455"/>
              </a:xfrm>
              <a:prstGeom prst="rect">
                <a:avLst/>
              </a:prstGeom>
              <a:noFill/>
            </p:spPr>
            <p:txBody>
              <a:bodyPr wrap="square" lIns="0" tIns="0" rIns="0" bIns="0" rtlCol="0">
                <a:spAutoFit/>
              </a:bodyPr>
              <a:lstStyle/>
              <a:p>
                <a:pPr algn="just">
                  <a:lnSpc>
                    <a:spcPct val="125000"/>
                  </a:lnSpc>
                </a:pPr>
                <a:r>
                  <a:rPr lang="zh-CN" altLang="en-US" sz="2000" dirty="0">
                    <a:latin typeface="+mn-ea"/>
                  </a:rPr>
                  <a:t>激活</a:t>
                </a:r>
                <a:endParaRPr lang="zh-CN" altLang="en-US" sz="2000" dirty="0">
                  <a:latin typeface="+mn-ea"/>
                </a:endParaRPr>
              </a:p>
            </p:txBody>
          </p:sp>
        </p:grpSp>
        <p:sp>
          <p:nvSpPr>
            <p:cNvPr id="91" name="文本框 90"/>
            <p:cNvSpPr txBox="1"/>
            <p:nvPr/>
          </p:nvSpPr>
          <p:spPr>
            <a:xfrm>
              <a:off x="5714728" y="2704420"/>
              <a:ext cx="1422468" cy="349455"/>
            </a:xfrm>
            <a:prstGeom prst="rect">
              <a:avLst/>
            </a:prstGeom>
            <a:noFill/>
          </p:spPr>
          <p:txBody>
            <a:bodyPr wrap="square" lIns="0" tIns="0" rIns="0" bIns="0" rtlCol="0">
              <a:spAutoFit/>
            </a:bodyPr>
            <a:lstStyle/>
            <a:p>
              <a:pPr algn="just">
                <a:lnSpc>
                  <a:spcPct val="125000"/>
                </a:lnSpc>
              </a:pPr>
              <a:r>
                <a:rPr lang="zh-CN" altLang="en-US" sz="2000" dirty="0">
                  <a:latin typeface="+mn-ea"/>
                </a:rPr>
                <a:t>下游通路 </a:t>
              </a:r>
              <a:r>
                <a:rPr lang="en-US" altLang="zh-CN" sz="2000" dirty="0">
                  <a:latin typeface="+mn-ea"/>
                </a:rPr>
                <a:t>…</a:t>
              </a:r>
              <a:endParaRPr lang="zh-CN" altLang="en-US" sz="2000" dirty="0">
                <a:latin typeface="+mn-ea"/>
              </a:endParaRPr>
            </a:p>
          </p:txBody>
        </p:sp>
      </p:grpSp>
      <p:grpSp>
        <p:nvGrpSpPr>
          <p:cNvPr id="103" name="组合 102"/>
          <p:cNvGrpSpPr/>
          <p:nvPr/>
        </p:nvGrpSpPr>
        <p:grpSpPr>
          <a:xfrm>
            <a:off x="7097525" y="802955"/>
            <a:ext cx="2102007" cy="2294208"/>
            <a:chOff x="7146319" y="802377"/>
            <a:chExt cx="2102007" cy="2294208"/>
          </a:xfrm>
        </p:grpSpPr>
        <p:sp>
          <p:nvSpPr>
            <p:cNvPr id="18" name="文本框 17"/>
            <p:cNvSpPr txBox="1"/>
            <p:nvPr/>
          </p:nvSpPr>
          <p:spPr>
            <a:xfrm>
              <a:off x="7733879" y="1375411"/>
              <a:ext cx="1514447" cy="441788"/>
            </a:xfrm>
            <a:prstGeom prst="rect">
              <a:avLst/>
            </a:prstGeom>
            <a:noFill/>
            <a:ln w="19050">
              <a:solidFill>
                <a:srgbClr val="4965AA"/>
              </a:solidFill>
            </a:ln>
          </p:spPr>
          <p:txBody>
            <a:bodyPr wrap="square" lIns="91440" tIns="45720" rIns="91440" bIns="45720" rtlCol="0" anchor="t">
              <a:spAutoFit/>
            </a:bodyPr>
            <a:lstStyle/>
            <a:p>
              <a:pPr algn="ctr">
                <a:lnSpc>
                  <a:spcPct val="125000"/>
                </a:lnSpc>
              </a:pPr>
              <a:r>
                <a:rPr lang="zh-CN" altLang="zh-CN" sz="2000" dirty="0"/>
                <a:t>终止密码子</a:t>
              </a:r>
              <a:endParaRPr lang="en-US" altLang="zh-CN" sz="2000" dirty="0">
                <a:latin typeface="+mn-ea"/>
              </a:endParaRPr>
            </a:p>
          </p:txBody>
        </p:sp>
        <p:grpSp>
          <p:nvGrpSpPr>
            <p:cNvPr id="102" name="组合 101"/>
            <p:cNvGrpSpPr/>
            <p:nvPr/>
          </p:nvGrpSpPr>
          <p:grpSpPr>
            <a:xfrm>
              <a:off x="7146319" y="802377"/>
              <a:ext cx="2102007" cy="2294208"/>
              <a:chOff x="7146319" y="802377"/>
              <a:chExt cx="2102007" cy="2294208"/>
            </a:xfrm>
          </p:grpSpPr>
          <p:sp>
            <p:nvSpPr>
              <p:cNvPr id="94" name="文本框 93"/>
              <p:cNvSpPr txBox="1"/>
              <p:nvPr/>
            </p:nvSpPr>
            <p:spPr>
              <a:xfrm>
                <a:off x="7871934" y="2655310"/>
                <a:ext cx="1238335" cy="441275"/>
              </a:xfrm>
              <a:prstGeom prst="rect">
                <a:avLst/>
              </a:prstGeom>
              <a:noFill/>
              <a:ln w="28575">
                <a:solidFill>
                  <a:srgbClr val="4965AA"/>
                </a:solidFill>
                <a:prstDash val="dash"/>
              </a:ln>
            </p:spPr>
            <p:txBody>
              <a:bodyPr wrap="square" lIns="91440" tIns="45720" rIns="91440" bIns="45720" rtlCol="0" anchor="t">
                <a:spAutoFit/>
              </a:bodyPr>
              <a:lstStyle/>
              <a:p>
                <a:pPr algn="ctr">
                  <a:lnSpc>
                    <a:spcPct val="125000"/>
                  </a:lnSpc>
                </a:pPr>
                <a:r>
                  <a:rPr lang="zh-CN" altLang="zh-CN" sz="2000" dirty="0"/>
                  <a:t>致病</a:t>
                </a:r>
                <a:r>
                  <a:rPr lang="en-US" altLang="zh-CN" sz="2000" dirty="0"/>
                  <a:t> RNA</a:t>
                </a:r>
                <a:endParaRPr lang="en-US" altLang="zh-CN" sz="2000" dirty="0">
                  <a:latin typeface="+mn-ea"/>
                </a:endParaRPr>
              </a:p>
            </p:txBody>
          </p:sp>
          <p:cxnSp>
            <p:nvCxnSpPr>
              <p:cNvPr id="95" name="直接箭头连接符 94"/>
              <p:cNvCxnSpPr/>
              <p:nvPr/>
            </p:nvCxnSpPr>
            <p:spPr>
              <a:xfrm>
                <a:off x="8871490" y="1927948"/>
                <a:ext cx="0" cy="63998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7477533" y="2012457"/>
                <a:ext cx="1310206" cy="349455"/>
              </a:xfrm>
              <a:prstGeom prst="rect">
                <a:avLst/>
              </a:prstGeom>
              <a:noFill/>
            </p:spPr>
            <p:txBody>
              <a:bodyPr wrap="square" lIns="0" tIns="0" rIns="0" bIns="0" rtlCol="0">
                <a:spAutoFit/>
              </a:bodyPr>
              <a:lstStyle/>
              <a:p>
                <a:pPr algn="just">
                  <a:lnSpc>
                    <a:spcPct val="125000"/>
                  </a:lnSpc>
                </a:pPr>
                <a:r>
                  <a:rPr lang="zh-CN" altLang="en-US" sz="2000" dirty="0">
                    <a:latin typeface="+mn-ea"/>
                  </a:rPr>
                  <a:t>特异性降解</a:t>
                </a:r>
                <a:endParaRPr lang="zh-CN" altLang="en-US" sz="2000" dirty="0">
                  <a:latin typeface="+mn-ea"/>
                </a:endParaRPr>
              </a:p>
            </p:txBody>
          </p:sp>
          <p:sp>
            <p:nvSpPr>
              <p:cNvPr id="99" name="文本框 98"/>
              <p:cNvSpPr txBox="1"/>
              <p:nvPr/>
            </p:nvSpPr>
            <p:spPr>
              <a:xfrm>
                <a:off x="7605585" y="802377"/>
                <a:ext cx="1642741" cy="349455"/>
              </a:xfrm>
              <a:prstGeom prst="rect">
                <a:avLst/>
              </a:prstGeom>
              <a:noFill/>
            </p:spPr>
            <p:txBody>
              <a:bodyPr wrap="square" lIns="0" tIns="0" rIns="0" bIns="0" rtlCol="0">
                <a:spAutoFit/>
              </a:bodyPr>
              <a:lstStyle/>
              <a:p>
                <a:pPr algn="just">
                  <a:lnSpc>
                    <a:spcPct val="125000"/>
                  </a:lnSpc>
                </a:pPr>
                <a:r>
                  <a:rPr lang="en-US" altLang="zh-CN" sz="2000" dirty="0">
                    <a:latin typeface="+mn-ea"/>
                  </a:rPr>
                  <a:t>C </a:t>
                </a:r>
                <a:r>
                  <a:rPr lang="zh-CN" altLang="en-US" sz="2000" dirty="0">
                    <a:latin typeface="+mn-ea"/>
                  </a:rPr>
                  <a:t>→ </a:t>
                </a:r>
                <a:r>
                  <a:rPr lang="en-US" altLang="zh-CN" sz="2000" dirty="0">
                    <a:latin typeface="+mn-ea"/>
                  </a:rPr>
                  <a:t>U </a:t>
                </a:r>
                <a:r>
                  <a:rPr lang="zh-CN" altLang="en-US" sz="2000" dirty="0">
                    <a:latin typeface="+mn-ea"/>
                  </a:rPr>
                  <a:t>编辑</a:t>
                </a:r>
                <a:endParaRPr lang="zh-CN" altLang="en-US" sz="2000" dirty="0">
                  <a:latin typeface="+mn-ea"/>
                </a:endParaRPr>
              </a:p>
            </p:txBody>
          </p:sp>
          <p:sp>
            <p:nvSpPr>
              <p:cNvPr id="100" name="弧形 99"/>
              <p:cNvSpPr/>
              <p:nvPr/>
            </p:nvSpPr>
            <p:spPr>
              <a:xfrm rot="11710128">
                <a:off x="7146319" y="1029557"/>
                <a:ext cx="849497" cy="564762"/>
              </a:xfrm>
              <a:prstGeom prst="arc">
                <a:avLst>
                  <a:gd name="adj1" fmla="val 16200000"/>
                  <a:gd name="adj2" fmla="val 3543777"/>
                </a:avLst>
              </a:prstGeom>
              <a:ln w="38100">
                <a:solidFill>
                  <a:srgbClr val="4965A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1" name="等腰三角形 100"/>
              <p:cNvSpPr/>
              <p:nvPr/>
            </p:nvSpPr>
            <p:spPr>
              <a:xfrm rot="6586269">
                <a:off x="7457314" y="1516656"/>
                <a:ext cx="166303" cy="177018"/>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14" name="组合 113"/>
          <p:cNvGrpSpPr/>
          <p:nvPr/>
        </p:nvGrpSpPr>
        <p:grpSpPr>
          <a:xfrm>
            <a:off x="9993002" y="2188393"/>
            <a:ext cx="2212037" cy="3524440"/>
            <a:chOff x="10098340" y="1007881"/>
            <a:chExt cx="2212037" cy="3524440"/>
          </a:xfrm>
        </p:grpSpPr>
        <p:grpSp>
          <p:nvGrpSpPr>
            <p:cNvPr id="104" name="组合 103"/>
            <p:cNvGrpSpPr/>
            <p:nvPr/>
          </p:nvGrpSpPr>
          <p:grpSpPr>
            <a:xfrm>
              <a:off x="10098340" y="1007881"/>
              <a:ext cx="2212037" cy="3524440"/>
              <a:chOff x="3692663" y="4321743"/>
              <a:chExt cx="2330284" cy="3524440"/>
            </a:xfrm>
          </p:grpSpPr>
          <p:sp>
            <p:nvSpPr>
              <p:cNvPr id="105" name="矩形 104"/>
              <p:cNvSpPr/>
              <p:nvPr/>
            </p:nvSpPr>
            <p:spPr>
              <a:xfrm>
                <a:off x="3692663" y="4321743"/>
                <a:ext cx="2330284" cy="3524440"/>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106" name="文本框 105"/>
              <p:cNvSpPr txBox="1"/>
              <p:nvPr/>
            </p:nvSpPr>
            <p:spPr>
              <a:xfrm>
                <a:off x="3892341" y="4514016"/>
                <a:ext cx="1729222" cy="492443"/>
              </a:xfrm>
              <a:prstGeom prst="rect">
                <a:avLst/>
              </a:prstGeom>
              <a:noFill/>
            </p:spPr>
            <p:txBody>
              <a:bodyPr wrap="none" lIns="0" tIns="0" rIns="0" bIns="0" rtlCol="0">
                <a:spAutoFit/>
              </a:bodyPr>
              <a:lstStyle/>
              <a:p>
                <a:r>
                  <a:rPr lang="zh-CN" altLang="en-US" sz="3200" b="1" dirty="0">
                    <a:solidFill>
                      <a:schemeClr val="accent1"/>
                    </a:solidFill>
                  </a:rPr>
                  <a:t>双重验证</a:t>
                </a:r>
                <a:endParaRPr lang="zh-CN" altLang="en-US" sz="3200" b="1" dirty="0">
                  <a:solidFill>
                    <a:schemeClr val="accent1"/>
                  </a:solidFill>
                </a:endParaRPr>
              </a:p>
            </p:txBody>
          </p:sp>
          <p:sp>
            <p:nvSpPr>
              <p:cNvPr id="107" name="文本框 106"/>
              <p:cNvSpPr txBox="1"/>
              <p:nvPr/>
            </p:nvSpPr>
            <p:spPr>
              <a:xfrm>
                <a:off x="4118924" y="5286226"/>
                <a:ext cx="1310682" cy="1000274"/>
              </a:xfrm>
              <a:prstGeom prst="rect">
                <a:avLst/>
              </a:prstGeom>
              <a:noFill/>
            </p:spPr>
            <p:txBody>
              <a:bodyPr wrap="square" lIns="0" tIns="0" rIns="0" bIns="0" rtlCol="0">
                <a:spAutoFit/>
              </a:bodyPr>
              <a:lstStyle/>
              <a:p>
                <a:pPr algn="ctr">
                  <a:lnSpc>
                    <a:spcPts val="2600"/>
                  </a:lnSpc>
                </a:pPr>
                <a:r>
                  <a:rPr lang="zh-CN" altLang="en-US" sz="2400" b="1" dirty="0">
                    <a:solidFill>
                      <a:schemeClr val="tx1">
                        <a:lumMod val="85000"/>
                        <a:lumOff val="15000"/>
                      </a:schemeClr>
                    </a:solidFill>
                    <a:latin typeface="+mn-ea"/>
                  </a:rPr>
                  <a:t>序列识别</a:t>
                </a:r>
                <a:endParaRPr lang="en-US" altLang="zh-CN" sz="2400" b="1" dirty="0">
                  <a:solidFill>
                    <a:schemeClr val="tx1">
                      <a:lumMod val="85000"/>
                      <a:lumOff val="15000"/>
                    </a:schemeClr>
                  </a:solidFill>
                  <a:latin typeface="+mn-ea"/>
                </a:endParaRPr>
              </a:p>
              <a:p>
                <a:pPr algn="ctr">
                  <a:lnSpc>
                    <a:spcPts val="2600"/>
                  </a:lnSpc>
                </a:pPr>
                <a:r>
                  <a:rPr lang="en-US" altLang="zh-CN" sz="2400" b="1" dirty="0">
                    <a:solidFill>
                      <a:schemeClr val="tx1">
                        <a:lumMod val="85000"/>
                        <a:lumOff val="15000"/>
                      </a:schemeClr>
                    </a:solidFill>
                    <a:latin typeface="+mn-ea"/>
                  </a:rPr>
                  <a:t>+</a:t>
                </a:r>
                <a:endParaRPr lang="en-US" altLang="zh-CN" sz="2400" b="1" dirty="0">
                  <a:solidFill>
                    <a:schemeClr val="tx1">
                      <a:lumMod val="85000"/>
                      <a:lumOff val="15000"/>
                    </a:schemeClr>
                  </a:solidFill>
                  <a:latin typeface="+mn-ea"/>
                </a:endParaRPr>
              </a:p>
              <a:p>
                <a:pPr algn="ctr">
                  <a:lnSpc>
                    <a:spcPts val="2600"/>
                  </a:lnSpc>
                </a:pPr>
                <a:r>
                  <a:rPr lang="zh-CN" altLang="en-US" sz="2400" b="1" dirty="0">
                    <a:solidFill>
                      <a:schemeClr val="tx1">
                        <a:lumMod val="85000"/>
                        <a:lumOff val="15000"/>
                      </a:schemeClr>
                    </a:solidFill>
                    <a:latin typeface="+mn-ea"/>
                  </a:rPr>
                  <a:t>结构检索</a:t>
                </a:r>
                <a:endParaRPr lang="en-US" altLang="zh-CN" sz="2000" b="1" dirty="0">
                  <a:solidFill>
                    <a:schemeClr val="tx1">
                      <a:lumMod val="85000"/>
                      <a:lumOff val="15000"/>
                    </a:schemeClr>
                  </a:solidFill>
                  <a:latin typeface="+mn-ea"/>
                </a:endParaRPr>
              </a:p>
            </p:txBody>
          </p:sp>
          <p:cxnSp>
            <p:nvCxnSpPr>
              <p:cNvPr id="108" name="直接连接符 107"/>
              <p:cNvCxnSpPr/>
              <p:nvPr/>
            </p:nvCxnSpPr>
            <p:spPr>
              <a:xfrm>
                <a:off x="3892341" y="5126927"/>
                <a:ext cx="2102276" cy="0"/>
              </a:xfrm>
              <a:prstGeom prst="line">
                <a:avLst/>
              </a:prstGeom>
              <a:ln w="12700"/>
            </p:spPr>
            <p:style>
              <a:lnRef idx="1">
                <a:schemeClr val="accent1"/>
              </a:lnRef>
              <a:fillRef idx="0">
                <a:schemeClr val="accent1"/>
              </a:fillRef>
              <a:effectRef idx="0">
                <a:schemeClr val="accent1"/>
              </a:effectRef>
              <a:fontRef idx="minor">
                <a:schemeClr val="tx1"/>
              </a:fontRef>
            </p:style>
          </p:cxnSp>
        </p:grpSp>
        <p:cxnSp>
          <p:nvCxnSpPr>
            <p:cNvPr id="111" name="直接箭头连接符 110"/>
            <p:cNvCxnSpPr/>
            <p:nvPr/>
          </p:nvCxnSpPr>
          <p:spPr>
            <a:xfrm>
              <a:off x="11125055" y="3108910"/>
              <a:ext cx="0" cy="42721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3" name="文本框 112"/>
            <p:cNvSpPr txBox="1"/>
            <p:nvPr/>
          </p:nvSpPr>
          <p:spPr>
            <a:xfrm>
              <a:off x="10398093" y="3628434"/>
              <a:ext cx="1491891" cy="666849"/>
            </a:xfrm>
            <a:prstGeom prst="rect">
              <a:avLst/>
            </a:prstGeom>
            <a:noFill/>
          </p:spPr>
          <p:txBody>
            <a:bodyPr wrap="square" lIns="0" tIns="0" rIns="0" bIns="0" rtlCol="0">
              <a:spAutoFit/>
            </a:bodyPr>
            <a:lstStyle/>
            <a:p>
              <a:pPr algn="ctr">
                <a:lnSpc>
                  <a:spcPts val="2600"/>
                </a:lnSpc>
              </a:pPr>
              <a:r>
                <a:rPr lang="zh-CN" altLang="en-US" sz="2400" b="1" dirty="0">
                  <a:solidFill>
                    <a:schemeClr val="tx1">
                      <a:lumMod val="85000"/>
                      <a:lumOff val="15000"/>
                    </a:schemeClr>
                  </a:solidFill>
                  <a:latin typeface="+mn-ea"/>
                </a:rPr>
                <a:t>仅切割</a:t>
              </a:r>
              <a:endParaRPr lang="en-US" altLang="zh-CN" sz="2400" b="1" dirty="0">
                <a:solidFill>
                  <a:schemeClr val="tx1">
                    <a:lumMod val="85000"/>
                    <a:lumOff val="15000"/>
                  </a:schemeClr>
                </a:solidFill>
                <a:latin typeface="+mn-ea"/>
              </a:endParaRPr>
            </a:p>
            <a:p>
              <a:pPr algn="ctr">
                <a:lnSpc>
                  <a:spcPts val="2600"/>
                </a:lnSpc>
              </a:pPr>
              <a:r>
                <a:rPr lang="zh-CN" altLang="en-US" sz="2400" b="1" dirty="0">
                  <a:solidFill>
                    <a:schemeClr val="tx1">
                      <a:lumMod val="85000"/>
                      <a:lumOff val="15000"/>
                    </a:schemeClr>
                  </a:solidFill>
                  <a:latin typeface="+mn-ea"/>
                </a:rPr>
                <a:t>致病 </a:t>
              </a:r>
              <a:r>
                <a:rPr lang="en-US" altLang="zh-CN" sz="2400" b="1" dirty="0">
                  <a:solidFill>
                    <a:schemeClr val="tx1">
                      <a:lumMod val="85000"/>
                      <a:lumOff val="15000"/>
                    </a:schemeClr>
                  </a:solidFill>
                  <a:latin typeface="+mn-ea"/>
                </a:rPr>
                <a:t>RNA</a:t>
              </a:r>
              <a:endParaRPr lang="en-US" altLang="zh-CN" sz="2000" b="1" dirty="0">
                <a:solidFill>
                  <a:schemeClr val="tx1">
                    <a:lumMod val="85000"/>
                    <a:lumOff val="15000"/>
                  </a:schemeClr>
                </a:solidFill>
                <a:latin typeface="+mn-ea"/>
              </a:endParaRPr>
            </a:p>
          </p:txBody>
        </p:sp>
      </p:grpSp>
      <p:grpSp>
        <p:nvGrpSpPr>
          <p:cNvPr id="115" name="组合 114"/>
          <p:cNvGrpSpPr/>
          <p:nvPr/>
        </p:nvGrpSpPr>
        <p:grpSpPr>
          <a:xfrm>
            <a:off x="9947278" y="973839"/>
            <a:ext cx="1837368" cy="729651"/>
            <a:chOff x="2395848" y="463377"/>
            <a:chExt cx="1837368" cy="729651"/>
          </a:xfrm>
        </p:grpSpPr>
        <p:sp>
          <p:nvSpPr>
            <p:cNvPr id="116" name="文本框 115"/>
            <p:cNvSpPr txBox="1"/>
            <p:nvPr/>
          </p:nvSpPr>
          <p:spPr>
            <a:xfrm>
              <a:off x="2694333" y="463377"/>
              <a:ext cx="1538883" cy="461665"/>
            </a:xfrm>
            <a:prstGeom prst="rect">
              <a:avLst/>
            </a:prstGeom>
            <a:noFill/>
          </p:spPr>
          <p:txBody>
            <a:bodyPr wrap="none" lIns="0" tIns="0" rIns="0" bIns="0" rtlCol="0">
              <a:spAutoFit/>
            </a:bodyPr>
            <a:lstStyle/>
            <a:p>
              <a:r>
                <a:rPr lang="zh-CN" altLang="en-US" sz="3000" b="1" dirty="0">
                  <a:latin typeface="+mj-ea"/>
                  <a:ea typeface="+mj-ea"/>
                </a:rPr>
                <a:t>系统设计</a:t>
              </a:r>
              <a:endParaRPr lang="zh-CN" altLang="en-US" sz="3000" b="1" dirty="0">
                <a:latin typeface="+mj-ea"/>
                <a:ea typeface="+mj-ea"/>
              </a:endParaRPr>
            </a:p>
          </p:txBody>
        </p:sp>
        <p:sp>
          <p:nvSpPr>
            <p:cNvPr id="117" name="矩形 116"/>
            <p:cNvSpPr/>
            <p:nvPr/>
          </p:nvSpPr>
          <p:spPr>
            <a:xfrm>
              <a:off x="2395848" y="967602"/>
              <a:ext cx="183151" cy="18315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18" name="矩形 117"/>
            <p:cNvSpPr/>
            <p:nvPr/>
          </p:nvSpPr>
          <p:spPr>
            <a:xfrm>
              <a:off x="2434928" y="1009877"/>
              <a:ext cx="183152" cy="183151"/>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2" name="组合 1"/>
          <p:cNvGrpSpPr/>
          <p:nvPr/>
        </p:nvGrpSpPr>
        <p:grpSpPr>
          <a:xfrm>
            <a:off x="3120648" y="6260069"/>
            <a:ext cx="5988169" cy="184666"/>
            <a:chOff x="3730218" y="6260069"/>
            <a:chExt cx="5988169" cy="184666"/>
          </a:xfrm>
        </p:grpSpPr>
        <p:grpSp>
          <p:nvGrpSpPr>
            <p:cNvPr id="6" name="组合 5"/>
            <p:cNvGrpSpPr/>
            <p:nvPr/>
          </p:nvGrpSpPr>
          <p:grpSpPr>
            <a:xfrm>
              <a:off x="4682111" y="6260069"/>
              <a:ext cx="897875" cy="184666"/>
              <a:chOff x="4914007" y="6260069"/>
              <a:chExt cx="897875" cy="184666"/>
            </a:xfrm>
          </p:grpSpPr>
          <p:sp>
            <p:nvSpPr>
              <p:cNvPr id="30" name="文本框 29"/>
              <p:cNvSpPr txBox="1"/>
              <p:nvPr/>
            </p:nvSpPr>
            <p:spPr>
              <a:xfrm>
                <a:off x="5042441" y="6260069"/>
                <a:ext cx="769441" cy="184666"/>
              </a:xfrm>
              <a:prstGeom prst="rect">
                <a:avLst/>
              </a:prstGeom>
              <a:noFill/>
            </p:spPr>
            <p:txBody>
              <a:bodyPr wrap="none" lIns="0" tIns="0" rIns="0" bIns="0" rtlCol="0">
                <a:spAutoFit/>
              </a:bodyPr>
              <a:lstStyle/>
              <a:p>
                <a:r>
                  <a:rPr lang="zh-CN" altLang="en-US" sz="1200" dirty="0">
                    <a:solidFill>
                      <a:srgbClr val="4965AA">
                        <a:alpha val="50000"/>
                      </a:srgbClr>
                    </a:solidFill>
                  </a:rPr>
                  <a:t>核心创新点</a:t>
                </a:r>
                <a:endParaRPr lang="zh-CN" altLang="en-US" sz="1200" dirty="0">
                  <a:solidFill>
                    <a:srgbClr val="4965AA">
                      <a:alpha val="50000"/>
                    </a:srgbClr>
                  </a:solidFill>
                </a:endParaRPr>
              </a:p>
            </p:txBody>
          </p:sp>
          <p:sp>
            <p:nvSpPr>
              <p:cNvPr id="31" name="椭圆 30"/>
              <p:cNvSpPr/>
              <p:nvPr/>
            </p:nvSpPr>
            <p:spPr>
              <a:xfrm>
                <a:off x="4914007"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7" name="组合 6"/>
            <p:cNvGrpSpPr/>
            <p:nvPr/>
          </p:nvGrpSpPr>
          <p:grpSpPr>
            <a:xfrm>
              <a:off x="5787892" y="6260069"/>
              <a:ext cx="1565046" cy="184666"/>
              <a:chOff x="6097796" y="6260069"/>
              <a:chExt cx="1565046" cy="184666"/>
            </a:xfrm>
          </p:grpSpPr>
          <p:sp>
            <p:nvSpPr>
              <p:cNvPr id="28" name="文本框 27"/>
              <p:cNvSpPr txBox="1"/>
              <p:nvPr/>
            </p:nvSpPr>
            <p:spPr>
              <a:xfrm>
                <a:off x="6226230" y="6260069"/>
                <a:ext cx="1436612" cy="184666"/>
              </a:xfrm>
              <a:prstGeom prst="rect">
                <a:avLst/>
              </a:prstGeom>
              <a:noFill/>
            </p:spPr>
            <p:txBody>
              <a:bodyPr wrap="none" lIns="0" tIns="0" rIns="0" bIns="0" rtlCol="0">
                <a:spAutoFit/>
              </a:bodyPr>
              <a:lstStyle/>
              <a:p>
                <a:r>
                  <a:rPr lang="zh-CN" altLang="en-US" sz="1200" b="1" dirty="0">
                    <a:solidFill>
                      <a:srgbClr val="4965AA"/>
                    </a:solidFill>
                  </a:rPr>
                  <a:t>系统设计与机制解析</a:t>
                </a:r>
                <a:endParaRPr lang="zh-CN" altLang="en-US" sz="1200" b="1" dirty="0">
                  <a:solidFill>
                    <a:srgbClr val="4965AA"/>
                  </a:solidFill>
                </a:endParaRPr>
              </a:p>
            </p:txBody>
          </p:sp>
          <p:sp>
            <p:nvSpPr>
              <p:cNvPr id="29" name="椭圆 28"/>
              <p:cNvSpPr/>
              <p:nvPr/>
            </p:nvSpPr>
            <p:spPr>
              <a:xfrm>
                <a:off x="6097796"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0" name="组合 9"/>
            <p:cNvGrpSpPr/>
            <p:nvPr/>
          </p:nvGrpSpPr>
          <p:grpSpPr>
            <a:xfrm>
              <a:off x="7560844" y="6260069"/>
              <a:ext cx="1051763" cy="184666"/>
              <a:chOff x="7589362" y="6260069"/>
              <a:chExt cx="1051763" cy="184666"/>
            </a:xfrm>
          </p:grpSpPr>
          <p:sp>
            <p:nvSpPr>
              <p:cNvPr id="24" name="文本框 23"/>
              <p:cNvSpPr txBox="1"/>
              <p:nvPr/>
            </p:nvSpPr>
            <p:spPr>
              <a:xfrm>
                <a:off x="7717795" y="6260069"/>
                <a:ext cx="923330"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预期结果分析</a:t>
                </a:r>
                <a:endParaRPr lang="zh-CN" altLang="en-US" sz="1200" dirty="0">
                  <a:solidFill>
                    <a:schemeClr val="accent1">
                      <a:lumMod val="60000"/>
                      <a:lumOff val="40000"/>
                    </a:schemeClr>
                  </a:solidFill>
                </a:endParaRPr>
              </a:p>
            </p:txBody>
          </p:sp>
          <p:sp>
            <p:nvSpPr>
              <p:cNvPr id="27" name="椭圆 26"/>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1" name="组合 10"/>
            <p:cNvGrpSpPr/>
            <p:nvPr/>
          </p:nvGrpSpPr>
          <p:grpSpPr>
            <a:xfrm>
              <a:off x="3730218" y="6260069"/>
              <a:ext cx="743987" cy="184666"/>
              <a:chOff x="3730218" y="6260069"/>
              <a:chExt cx="743987" cy="184666"/>
            </a:xfrm>
          </p:grpSpPr>
          <p:sp>
            <p:nvSpPr>
              <p:cNvPr id="21" name="文本框 20"/>
              <p:cNvSpPr txBox="1"/>
              <p:nvPr/>
            </p:nvSpPr>
            <p:spPr>
              <a:xfrm>
                <a:off x="3858652" y="6260069"/>
                <a:ext cx="615553" cy="184666"/>
              </a:xfrm>
              <a:prstGeom prst="rect">
                <a:avLst/>
              </a:prstGeom>
              <a:noFill/>
            </p:spPr>
            <p:txBody>
              <a:bodyPr wrap="none" lIns="0" tIns="0" rIns="0" bIns="0" rtlCol="0">
                <a:spAutoFit/>
              </a:bodyPr>
              <a:lstStyle/>
              <a:p>
                <a:r>
                  <a:rPr lang="zh-CN" altLang="en-US" sz="1200" dirty="0">
                    <a:solidFill>
                      <a:srgbClr val="A5B3D6"/>
                    </a:solidFill>
                  </a:rPr>
                  <a:t>科学问题</a:t>
                </a:r>
                <a:endParaRPr lang="zh-CN" altLang="en-US" sz="1200" dirty="0">
                  <a:solidFill>
                    <a:srgbClr val="A5B3D6"/>
                  </a:solidFill>
                </a:endParaRPr>
              </a:p>
            </p:txBody>
          </p:sp>
          <p:sp>
            <p:nvSpPr>
              <p:cNvPr id="23" name="椭圆 22"/>
              <p:cNvSpPr/>
              <p:nvPr/>
            </p:nvSpPr>
            <p:spPr>
              <a:xfrm>
                <a:off x="3730218"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2" name="椭圆 11"/>
            <p:cNvSpPr/>
            <p:nvPr/>
          </p:nvSpPr>
          <p:spPr>
            <a:xfrm>
              <a:off x="5750427" y="6301988"/>
              <a:ext cx="120650" cy="120650"/>
            </a:xfrm>
            <a:prstGeom prst="ellipse">
              <a:avLst/>
            </a:prstGeom>
            <a:noFill/>
            <a:ln w="6350">
              <a:solidFill>
                <a:srgbClr val="4965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13" name="组合 12"/>
            <p:cNvGrpSpPr/>
            <p:nvPr/>
          </p:nvGrpSpPr>
          <p:grpSpPr>
            <a:xfrm>
              <a:off x="8820513" y="6260069"/>
              <a:ext cx="897874" cy="184666"/>
              <a:chOff x="7589362" y="6260069"/>
              <a:chExt cx="897874" cy="184666"/>
            </a:xfrm>
          </p:grpSpPr>
          <p:sp>
            <p:nvSpPr>
              <p:cNvPr id="19" name="文本框 18"/>
              <p:cNvSpPr txBox="1"/>
              <p:nvPr/>
            </p:nvSpPr>
            <p:spPr>
              <a:xfrm>
                <a:off x="7717795" y="6260069"/>
                <a:ext cx="769441"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意义与展望</a:t>
                </a:r>
                <a:endParaRPr lang="zh-CN" altLang="en-US" sz="1200" dirty="0">
                  <a:solidFill>
                    <a:schemeClr val="accent1">
                      <a:lumMod val="60000"/>
                      <a:lumOff val="40000"/>
                    </a:schemeClr>
                  </a:solidFill>
                </a:endParaRPr>
              </a:p>
            </p:txBody>
          </p:sp>
          <p:sp>
            <p:nvSpPr>
              <p:cNvPr id="20" name="椭圆 19"/>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sp>
        <p:nvSpPr>
          <p:cNvPr id="34" name="文本框 33"/>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FFFFFF"/>
                </a:highlight>
                <a:latin typeface="Eras Bold ITC" panose="020B0907030504020204" pitchFamily="34" charset="0"/>
              </a:rPr>
              <a:t>SUSTech</a:t>
            </a:r>
            <a:r>
              <a:rPr lang="en-US" altLang="zh-CN" sz="3000" dirty="0">
                <a:solidFill>
                  <a:srgbClr val="EFA7A7"/>
                </a:solidFill>
                <a:highlight>
                  <a:srgbClr val="FFFFFF"/>
                </a:highlight>
                <a:latin typeface="Eras Bold ITC" panose="020B0907030504020204" pitchFamily="34" charset="0"/>
              </a:rPr>
              <a:t>-BIO</a:t>
            </a:r>
            <a:endParaRPr lang="zh-CN" altLang="en-US" sz="3000" dirty="0">
              <a:solidFill>
                <a:srgbClr val="EFA7A7"/>
              </a:solidFill>
              <a:highlight>
                <a:srgbClr val="FFFFFF"/>
              </a:highlight>
              <a:latin typeface="Eras Bold ITC" panose="020B0907030504020204" pitchFamily="34" charset="0"/>
            </a:endParaRPr>
          </a:p>
        </p:txBody>
      </p:sp>
      <p:sp>
        <p:nvSpPr>
          <p:cNvPr id="35" name="文本框 34"/>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rgbClr val="4965AA"/>
                </a:solidFill>
                <a:highlight>
                  <a:srgbClr val="FFFFFF"/>
                </a:highlight>
              </a:rPr>
              <a:t>Southern University of </a:t>
            </a:r>
            <a:endParaRPr lang="en-US" altLang="zh-CN" sz="1000" cap="all" dirty="0">
              <a:solidFill>
                <a:srgbClr val="4965AA"/>
              </a:solidFill>
              <a:highlight>
                <a:srgbClr val="FFFFFF"/>
              </a:highlight>
            </a:endParaRPr>
          </a:p>
          <a:p>
            <a:pPr algn="r"/>
            <a:r>
              <a:rPr lang="en-US" altLang="zh-CN" sz="1000" cap="all" dirty="0">
                <a:solidFill>
                  <a:srgbClr val="4965AA"/>
                </a:solidFill>
                <a:highlight>
                  <a:srgbClr val="FFFFFF"/>
                </a:highlight>
              </a:rPr>
              <a:t>science and technology</a:t>
            </a:r>
            <a:endParaRPr lang="zh-CN" altLang="en-US" sz="1000" cap="all" dirty="0">
              <a:solidFill>
                <a:srgbClr val="4965AA"/>
              </a:solidFill>
              <a:highlight>
                <a:srgbClr val="FFFFFF"/>
              </a:highlight>
            </a:endParaRPr>
          </a:p>
        </p:txBody>
      </p:sp>
      <p:grpSp>
        <p:nvGrpSpPr>
          <p:cNvPr id="36" name="组合 35"/>
          <p:cNvGrpSpPr/>
          <p:nvPr/>
        </p:nvGrpSpPr>
        <p:grpSpPr>
          <a:xfrm>
            <a:off x="9799713" y="109178"/>
            <a:ext cx="2256250" cy="713649"/>
            <a:chOff x="9799713" y="109178"/>
            <a:chExt cx="2256250" cy="713649"/>
          </a:xfrm>
        </p:grpSpPr>
        <p:sp>
          <p:nvSpPr>
            <p:cNvPr id="37" name="矩形 36"/>
            <p:cNvSpPr/>
            <p:nvPr/>
          </p:nvSpPr>
          <p:spPr>
            <a:xfrm>
              <a:off x="9799713" y="197831"/>
              <a:ext cx="2117376" cy="5363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pic>
        <p:nvPicPr>
          <p:cNvPr id="41" name="图片 4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6510" y="-379570"/>
            <a:ext cx="1662864" cy="16664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矩形 99"/>
          <p:cNvSpPr/>
          <p:nvPr/>
        </p:nvSpPr>
        <p:spPr>
          <a:xfrm>
            <a:off x="430367" y="210464"/>
            <a:ext cx="2775159" cy="6186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p:cNvSpPr/>
          <p:nvPr/>
        </p:nvSpPr>
        <p:spPr>
          <a:xfrm>
            <a:off x="10072914" y="195943"/>
            <a:ext cx="1480498" cy="3950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0" y="2051747"/>
            <a:ext cx="12226290" cy="2737666"/>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p>
        </p:txBody>
      </p:sp>
      <p:sp>
        <p:nvSpPr>
          <p:cNvPr id="2" name="文本占位符 1"/>
          <p:cNvSpPr>
            <a:spLocks noGrp="1"/>
          </p:cNvSpPr>
          <p:nvPr>
            <p:ph type="body" sz="quarter" idx="10"/>
          </p:nvPr>
        </p:nvSpPr>
        <p:spPr/>
        <p:txBody>
          <a:bodyPr>
            <a:spAutoFit/>
          </a:bodyPr>
          <a:lstStyle/>
          <a:p>
            <a:r>
              <a:rPr lang="en-US" altLang="zh-CN" dirty="0"/>
              <a:t>20XX</a:t>
            </a:r>
            <a:endParaRPr lang="zh-CN" altLang="en-US" dirty="0"/>
          </a:p>
        </p:txBody>
      </p:sp>
      <p:sp>
        <p:nvSpPr>
          <p:cNvPr id="3" name="文本占位符 2"/>
          <p:cNvSpPr>
            <a:spLocks noGrp="1"/>
          </p:cNvSpPr>
          <p:nvPr>
            <p:ph type="body" sz="quarter" idx="11"/>
          </p:nvPr>
        </p:nvSpPr>
        <p:spPr/>
        <p:txBody>
          <a:bodyPr>
            <a:spAutoFit/>
          </a:bodyPr>
          <a:lstStyle/>
          <a:p>
            <a:r>
              <a:rPr lang="en-US" altLang="zh-CN" sz="1500" dirty="0">
                <a:solidFill>
                  <a:schemeClr val="accent1"/>
                </a:solidFill>
              </a:rPr>
              <a:t>March·27th</a:t>
            </a:r>
            <a:endParaRPr lang="zh-CN" altLang="en-US" sz="1500" dirty="0">
              <a:solidFill>
                <a:schemeClr val="accent1"/>
              </a:solidFill>
            </a:endParaRPr>
          </a:p>
        </p:txBody>
      </p:sp>
      <p:sp>
        <p:nvSpPr>
          <p:cNvPr id="25" name="文本框 24"/>
          <p:cNvSpPr txBox="1"/>
          <p:nvPr/>
        </p:nvSpPr>
        <p:spPr>
          <a:xfrm>
            <a:off x="3057403" y="6260069"/>
            <a:ext cx="769441" cy="184666"/>
          </a:xfrm>
          <a:prstGeom prst="rect">
            <a:avLst/>
          </a:prstGeom>
          <a:noFill/>
        </p:spPr>
        <p:txBody>
          <a:bodyPr wrap="none" lIns="0" tIns="0" rIns="0" bIns="0" rtlCol="0">
            <a:spAutoFit/>
          </a:bodyPr>
          <a:lstStyle/>
          <a:p>
            <a:r>
              <a:rPr lang="zh-CN" altLang="en-US" sz="1200" b="1" dirty="0">
                <a:solidFill>
                  <a:schemeClr val="accent1"/>
                </a:solidFill>
              </a:rPr>
              <a:t>背景与意义</a:t>
            </a:r>
            <a:endParaRPr lang="zh-CN" altLang="en-US" sz="1200" b="1" dirty="0">
              <a:solidFill>
                <a:schemeClr val="accent1"/>
              </a:solidFill>
            </a:endParaRPr>
          </a:p>
        </p:txBody>
      </p:sp>
      <p:sp>
        <p:nvSpPr>
          <p:cNvPr id="26" name="文本框 25"/>
          <p:cNvSpPr txBox="1"/>
          <p:nvPr/>
        </p:nvSpPr>
        <p:spPr>
          <a:xfrm>
            <a:off x="4241192" y="6260069"/>
            <a:ext cx="769441" cy="184666"/>
          </a:xfrm>
          <a:prstGeom prst="rect">
            <a:avLst/>
          </a:prstGeom>
          <a:noFill/>
        </p:spPr>
        <p:txBody>
          <a:bodyPr wrap="none" lIns="0" tIns="0" rIns="0" bIns="0" rtlCol="0">
            <a:spAutoFit/>
          </a:bodyPr>
          <a:lstStyle/>
          <a:p>
            <a:r>
              <a:rPr lang="zh-CN" altLang="en-US" sz="1200" dirty="0">
                <a:solidFill>
                  <a:schemeClr val="bg1">
                    <a:lumMod val="50000"/>
                  </a:schemeClr>
                </a:solidFill>
              </a:rPr>
              <a:t>方法及过程</a:t>
            </a:r>
            <a:endParaRPr lang="zh-CN" altLang="en-US" sz="1200" dirty="0">
              <a:solidFill>
                <a:schemeClr val="bg1">
                  <a:lumMod val="50000"/>
                </a:schemeClr>
              </a:solidFill>
            </a:endParaRPr>
          </a:p>
        </p:txBody>
      </p:sp>
      <p:sp>
        <p:nvSpPr>
          <p:cNvPr id="27" name="文本框 26"/>
          <p:cNvSpPr txBox="1"/>
          <p:nvPr/>
        </p:nvSpPr>
        <p:spPr>
          <a:xfrm>
            <a:off x="5424981" y="6260069"/>
            <a:ext cx="1077218" cy="184666"/>
          </a:xfrm>
          <a:prstGeom prst="rect">
            <a:avLst/>
          </a:prstGeom>
          <a:noFill/>
        </p:spPr>
        <p:txBody>
          <a:bodyPr wrap="none" lIns="0" tIns="0" rIns="0" bIns="0" rtlCol="0">
            <a:spAutoFit/>
          </a:bodyPr>
          <a:lstStyle/>
          <a:p>
            <a:r>
              <a:rPr lang="zh-CN" altLang="en-US" sz="1200" dirty="0">
                <a:solidFill>
                  <a:schemeClr val="bg1">
                    <a:lumMod val="50000"/>
                  </a:schemeClr>
                </a:solidFill>
              </a:rPr>
              <a:t>成果展示及应用</a:t>
            </a:r>
            <a:endParaRPr lang="zh-CN" altLang="en-US" sz="1200" dirty="0">
              <a:solidFill>
                <a:schemeClr val="bg1">
                  <a:lumMod val="50000"/>
                </a:schemeClr>
              </a:solidFill>
            </a:endParaRPr>
          </a:p>
        </p:txBody>
      </p:sp>
      <p:sp>
        <p:nvSpPr>
          <p:cNvPr id="28" name="文本框 27"/>
          <p:cNvSpPr txBox="1"/>
          <p:nvPr/>
        </p:nvSpPr>
        <p:spPr>
          <a:xfrm>
            <a:off x="6916546" y="6260069"/>
            <a:ext cx="615553" cy="184666"/>
          </a:xfrm>
          <a:prstGeom prst="rect">
            <a:avLst/>
          </a:prstGeom>
          <a:noFill/>
        </p:spPr>
        <p:txBody>
          <a:bodyPr wrap="none" lIns="0" tIns="0" rIns="0" bIns="0" rtlCol="0">
            <a:spAutoFit/>
          </a:bodyPr>
          <a:lstStyle/>
          <a:p>
            <a:r>
              <a:rPr lang="zh-CN" altLang="en-US" sz="1200" dirty="0">
                <a:solidFill>
                  <a:schemeClr val="bg1">
                    <a:lumMod val="50000"/>
                  </a:schemeClr>
                </a:solidFill>
              </a:rPr>
              <a:t>总结致谢</a:t>
            </a:r>
            <a:endParaRPr lang="zh-CN" altLang="en-US" sz="1200" dirty="0">
              <a:solidFill>
                <a:schemeClr val="bg1">
                  <a:lumMod val="50000"/>
                </a:schemeClr>
              </a:solidFill>
            </a:endParaRPr>
          </a:p>
        </p:txBody>
      </p:sp>
      <p:sp>
        <p:nvSpPr>
          <p:cNvPr id="29" name="椭圆 28"/>
          <p:cNvSpPr/>
          <p:nvPr/>
        </p:nvSpPr>
        <p:spPr>
          <a:xfrm>
            <a:off x="4112758" y="6339453"/>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accent1"/>
              </a:solidFill>
            </a:endParaRPr>
          </a:p>
        </p:txBody>
      </p:sp>
      <p:sp>
        <p:nvSpPr>
          <p:cNvPr id="30" name="椭圆 29"/>
          <p:cNvSpPr/>
          <p:nvPr/>
        </p:nvSpPr>
        <p:spPr>
          <a:xfrm>
            <a:off x="5296547" y="6339453"/>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accent1"/>
              </a:solidFill>
            </a:endParaRPr>
          </a:p>
        </p:txBody>
      </p:sp>
      <p:sp>
        <p:nvSpPr>
          <p:cNvPr id="31" name="椭圆 30"/>
          <p:cNvSpPr/>
          <p:nvPr/>
        </p:nvSpPr>
        <p:spPr>
          <a:xfrm>
            <a:off x="6788113" y="6339453"/>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accent1"/>
              </a:solidFill>
            </a:endParaRPr>
          </a:p>
        </p:txBody>
      </p:sp>
      <p:sp>
        <p:nvSpPr>
          <p:cNvPr id="32" name="椭圆 31"/>
          <p:cNvSpPr/>
          <p:nvPr/>
        </p:nvSpPr>
        <p:spPr>
          <a:xfrm>
            <a:off x="2928969" y="6339453"/>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accent1"/>
              </a:solidFill>
            </a:endParaRPr>
          </a:p>
        </p:txBody>
      </p:sp>
      <p:sp>
        <p:nvSpPr>
          <p:cNvPr id="33" name="椭圆 32"/>
          <p:cNvSpPr/>
          <p:nvPr/>
        </p:nvSpPr>
        <p:spPr>
          <a:xfrm>
            <a:off x="2891504" y="6301988"/>
            <a:ext cx="120650" cy="120650"/>
          </a:xfrm>
          <a:prstGeom prst="ellipse">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accent1"/>
              </a:solidFill>
            </a:endParaRPr>
          </a:p>
        </p:txBody>
      </p:sp>
      <p:grpSp>
        <p:nvGrpSpPr>
          <p:cNvPr id="21" name="组合 20"/>
          <p:cNvGrpSpPr/>
          <p:nvPr/>
        </p:nvGrpSpPr>
        <p:grpSpPr>
          <a:xfrm>
            <a:off x="638588" y="288147"/>
            <a:ext cx="8948139" cy="1368000"/>
            <a:chOff x="3657135" y="964071"/>
            <a:chExt cx="8948139" cy="1368000"/>
          </a:xfrm>
        </p:grpSpPr>
        <p:sp>
          <p:nvSpPr>
            <p:cNvPr id="34" name="矩形 33"/>
            <p:cNvSpPr/>
            <p:nvPr/>
          </p:nvSpPr>
          <p:spPr>
            <a:xfrm>
              <a:off x="3657135" y="964071"/>
              <a:ext cx="8008838" cy="1368000"/>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p>
          </p:txBody>
        </p:sp>
        <p:sp>
          <p:nvSpPr>
            <p:cNvPr id="36" name="文本框 35"/>
            <p:cNvSpPr txBox="1"/>
            <p:nvPr/>
          </p:nvSpPr>
          <p:spPr>
            <a:xfrm>
              <a:off x="3825101" y="1054862"/>
              <a:ext cx="8166564" cy="369332"/>
            </a:xfrm>
            <a:prstGeom prst="rect">
              <a:avLst/>
            </a:prstGeom>
            <a:noFill/>
          </p:spPr>
          <p:txBody>
            <a:bodyPr wrap="square" lIns="0" tIns="0" rIns="0" bIns="0" rtlCol="0">
              <a:spAutoFit/>
            </a:bodyPr>
            <a:lstStyle/>
            <a:p>
              <a:r>
                <a:rPr lang="zh-CN" altLang="en-US" sz="2400" b="1" dirty="0">
                  <a:solidFill>
                    <a:schemeClr val="accent1"/>
                  </a:solidFill>
                </a:rPr>
                <a:t>靶向定位模块 </a:t>
              </a:r>
              <a:r>
                <a:rPr lang="en-US" altLang="zh-CN" sz="2400" b="1" dirty="0">
                  <a:solidFill>
                    <a:schemeClr val="accent1"/>
                  </a:solidFill>
                </a:rPr>
                <a:t>PUF</a:t>
              </a:r>
              <a:endParaRPr lang="zh-CN" altLang="en-US" sz="2400" b="1" dirty="0">
                <a:solidFill>
                  <a:schemeClr val="accent1"/>
                </a:solidFill>
              </a:endParaRPr>
            </a:p>
          </p:txBody>
        </p:sp>
        <p:cxnSp>
          <p:nvCxnSpPr>
            <p:cNvPr id="37" name="直接连接符 36"/>
            <p:cNvCxnSpPr/>
            <p:nvPr/>
          </p:nvCxnSpPr>
          <p:spPr>
            <a:xfrm>
              <a:off x="3825101" y="1454284"/>
              <a:ext cx="2775159" cy="0"/>
            </a:xfrm>
            <a:prstGeom prst="line">
              <a:avLst/>
            </a:prstGeom>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3825101" y="1515501"/>
              <a:ext cx="8780173" cy="644407"/>
            </a:xfrm>
            <a:prstGeom prst="rect">
              <a:avLst/>
            </a:prstGeom>
            <a:noFill/>
          </p:spPr>
          <p:txBody>
            <a:bodyPr wrap="square" lIns="0" tIns="0" rIns="0" bIns="0" rtlCol="0">
              <a:spAutoFit/>
            </a:bodyPr>
            <a:lstStyle/>
            <a:p>
              <a:pPr>
                <a:lnSpc>
                  <a:spcPts val="2600"/>
                </a:lnSpc>
              </a:pPr>
              <a:r>
                <a:rPr lang="zh-CN" altLang="en-US" sz="2000" dirty="0">
                  <a:solidFill>
                    <a:schemeClr val="tx1">
                      <a:lumMod val="85000"/>
                      <a:lumOff val="15000"/>
                    </a:schemeClr>
                  </a:solidFill>
                  <a:latin typeface="+mn-ea"/>
                </a:rPr>
                <a:t>特异性结合 </a:t>
              </a:r>
              <a:r>
                <a:rPr lang="en-US" altLang="zh-CN" sz="2000" dirty="0">
                  <a:solidFill>
                    <a:schemeClr val="tx1">
                      <a:lumMod val="85000"/>
                      <a:lumOff val="15000"/>
                    </a:schemeClr>
                  </a:solidFill>
                  <a:latin typeface="+mn-ea"/>
                </a:rPr>
                <a:t>HTT mRNA </a:t>
              </a:r>
              <a:r>
                <a:rPr lang="zh-CN" altLang="en-US" sz="2000" dirty="0">
                  <a:solidFill>
                    <a:schemeClr val="tx1">
                      <a:lumMod val="85000"/>
                      <a:lumOff val="15000"/>
                    </a:schemeClr>
                  </a:solidFill>
                  <a:latin typeface="+mn-ea"/>
                </a:rPr>
                <a:t>上游 </a:t>
              </a:r>
              <a:r>
                <a:rPr lang="en-US" altLang="zh-CN" sz="2000" dirty="0">
                  <a:solidFill>
                    <a:schemeClr val="tx1">
                      <a:lumMod val="85000"/>
                      <a:lumOff val="15000"/>
                    </a:schemeClr>
                  </a:solidFill>
                  <a:latin typeface="+mn-ea"/>
                </a:rPr>
                <a:t>CAG </a:t>
              </a:r>
              <a:r>
                <a:rPr lang="zh-CN" altLang="en-US" sz="2000" dirty="0">
                  <a:solidFill>
                    <a:schemeClr val="tx1">
                      <a:lumMod val="85000"/>
                      <a:lumOff val="15000"/>
                    </a:schemeClr>
                  </a:solidFill>
                  <a:latin typeface="+mn-ea"/>
                </a:rPr>
                <a:t>重复区外侧保守序列</a:t>
              </a:r>
              <a:endParaRPr lang="zh-CN" altLang="en-US" sz="2000" dirty="0">
                <a:solidFill>
                  <a:schemeClr val="tx1">
                    <a:lumMod val="85000"/>
                    <a:lumOff val="15000"/>
                  </a:schemeClr>
                </a:solidFill>
                <a:latin typeface="+mn-ea"/>
              </a:endParaRPr>
            </a:p>
            <a:p>
              <a:pPr>
                <a:lnSpc>
                  <a:spcPts val="2600"/>
                </a:lnSpc>
              </a:pPr>
              <a:r>
                <a:rPr lang="zh-CN" altLang="en-US" sz="2000" dirty="0">
                  <a:solidFill>
                    <a:schemeClr val="tx1">
                      <a:lumMod val="85000"/>
                      <a:lumOff val="15000"/>
                    </a:schemeClr>
                  </a:solidFill>
                  <a:latin typeface="+mn-ea"/>
                </a:rPr>
                <a:t>避免结构干扰与非特异性结合，定位稳定、通用性强，提供可靠锚定</a:t>
              </a:r>
              <a:endParaRPr lang="zh-CN" altLang="en-US" sz="2000" dirty="0">
                <a:solidFill>
                  <a:schemeClr val="tx1">
                    <a:lumMod val="85000"/>
                    <a:lumOff val="15000"/>
                  </a:schemeClr>
                </a:solidFill>
                <a:latin typeface="+mn-ea"/>
              </a:endParaRPr>
            </a:p>
          </p:txBody>
        </p:sp>
      </p:grpSp>
      <p:grpSp>
        <p:nvGrpSpPr>
          <p:cNvPr id="50" name="组合 49"/>
          <p:cNvGrpSpPr/>
          <p:nvPr/>
        </p:nvGrpSpPr>
        <p:grpSpPr>
          <a:xfrm>
            <a:off x="638588" y="1968494"/>
            <a:ext cx="8334530" cy="1368000"/>
            <a:chOff x="3657134" y="964071"/>
            <a:chExt cx="8948140" cy="1368000"/>
          </a:xfrm>
        </p:grpSpPr>
        <p:sp>
          <p:nvSpPr>
            <p:cNvPr id="51" name="矩形 50"/>
            <p:cNvSpPr/>
            <p:nvPr/>
          </p:nvSpPr>
          <p:spPr>
            <a:xfrm>
              <a:off x="3657134" y="964071"/>
              <a:ext cx="8598470" cy="1368000"/>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52" name="文本框 51"/>
            <p:cNvSpPr txBox="1"/>
            <p:nvPr/>
          </p:nvSpPr>
          <p:spPr>
            <a:xfrm>
              <a:off x="3825101" y="1054862"/>
              <a:ext cx="8166564" cy="369332"/>
            </a:xfrm>
            <a:prstGeom prst="rect">
              <a:avLst/>
            </a:prstGeom>
            <a:noFill/>
          </p:spPr>
          <p:txBody>
            <a:bodyPr wrap="square" lIns="0" tIns="0" rIns="0" bIns="0" rtlCol="0">
              <a:spAutoFit/>
            </a:bodyPr>
            <a:lstStyle/>
            <a:p>
              <a:r>
                <a:rPr lang="zh-CN" altLang="en-US" sz="2400" b="1" dirty="0">
                  <a:solidFill>
                    <a:schemeClr val="accent1"/>
                  </a:solidFill>
                </a:rPr>
                <a:t>结构感知模块（核心传感器）</a:t>
              </a:r>
              <a:endParaRPr lang="zh-CN" altLang="en-US" sz="2400" b="1" dirty="0">
                <a:solidFill>
                  <a:schemeClr val="accent1"/>
                </a:solidFill>
              </a:endParaRPr>
            </a:p>
          </p:txBody>
        </p:sp>
        <p:cxnSp>
          <p:nvCxnSpPr>
            <p:cNvPr id="53" name="直接连接符 52"/>
            <p:cNvCxnSpPr/>
            <p:nvPr/>
          </p:nvCxnSpPr>
          <p:spPr>
            <a:xfrm>
              <a:off x="3825101" y="1454284"/>
              <a:ext cx="2775159" cy="0"/>
            </a:xfrm>
            <a:prstGeom prst="line">
              <a:avLst/>
            </a:prstGeom>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3825101" y="1515501"/>
              <a:ext cx="8780173" cy="644407"/>
            </a:xfrm>
            <a:prstGeom prst="rect">
              <a:avLst/>
            </a:prstGeom>
            <a:noFill/>
          </p:spPr>
          <p:txBody>
            <a:bodyPr wrap="square" lIns="0" tIns="0" rIns="0" bIns="0" rtlCol="0">
              <a:spAutoFit/>
            </a:bodyPr>
            <a:lstStyle/>
            <a:p>
              <a:pPr>
                <a:lnSpc>
                  <a:spcPts val="2600"/>
                </a:lnSpc>
              </a:pPr>
              <a:r>
                <a:rPr lang="zh-CN" altLang="en-US" sz="2000" dirty="0">
                  <a:solidFill>
                    <a:schemeClr val="tx1">
                      <a:lumMod val="85000"/>
                      <a:lumOff val="15000"/>
                    </a:schemeClr>
                  </a:solidFill>
                  <a:latin typeface="+mn-ea"/>
                </a:rPr>
                <a:t>特异性识别 </a:t>
              </a:r>
              <a:r>
                <a:rPr lang="en-US" altLang="zh-CN" sz="2000" dirty="0">
                  <a:solidFill>
                    <a:schemeClr val="tx1">
                      <a:lumMod val="85000"/>
                      <a:lumOff val="15000"/>
                    </a:schemeClr>
                  </a:solidFill>
                  <a:latin typeface="+mn-ea"/>
                </a:rPr>
                <a:t>CAG </a:t>
              </a:r>
              <a:r>
                <a:rPr lang="zh-CN" altLang="en-US" sz="2000" dirty="0">
                  <a:solidFill>
                    <a:schemeClr val="tx1">
                      <a:lumMod val="85000"/>
                      <a:lumOff val="15000"/>
                    </a:schemeClr>
                  </a:solidFill>
                  <a:latin typeface="+mn-ea"/>
                </a:rPr>
                <a:t>异常扩增 </a:t>
              </a:r>
              <a:r>
                <a:rPr lang="en-US" altLang="zh-CN" sz="2000" dirty="0">
                  <a:solidFill>
                    <a:schemeClr val="tx1">
                      <a:lumMod val="85000"/>
                      <a:lumOff val="15000"/>
                    </a:schemeClr>
                  </a:solidFill>
                  <a:latin typeface="+mn-ea"/>
                </a:rPr>
                <a:t>(</a:t>
              </a:r>
              <a:r>
                <a:rPr lang="zh-CN" altLang="en-US" sz="2000" dirty="0">
                  <a:solidFill>
                    <a:schemeClr val="tx1">
                      <a:lumMod val="85000"/>
                      <a:lumOff val="15000"/>
                    </a:schemeClr>
                  </a:solidFill>
                  <a:latin typeface="+mn-ea"/>
                </a:rPr>
                <a:t>重复数≥</a:t>
              </a:r>
              <a:r>
                <a:rPr lang="en-US" altLang="zh-CN" sz="2000" dirty="0">
                  <a:solidFill>
                    <a:schemeClr val="tx1">
                      <a:lumMod val="85000"/>
                      <a:lumOff val="15000"/>
                    </a:schemeClr>
                  </a:solidFill>
                  <a:latin typeface="+mn-ea"/>
                </a:rPr>
                <a:t>36) </a:t>
              </a:r>
              <a:r>
                <a:rPr lang="zh-CN" altLang="en-US" sz="2000" dirty="0">
                  <a:solidFill>
                    <a:schemeClr val="tx1">
                      <a:lumMod val="85000"/>
                      <a:lumOff val="15000"/>
                    </a:schemeClr>
                  </a:solidFill>
                  <a:latin typeface="+mn-ea"/>
                </a:rPr>
                <a:t>形成的 </a:t>
              </a:r>
              <a:r>
                <a:rPr lang="en-US" altLang="zh-CN" sz="2000" dirty="0">
                  <a:solidFill>
                    <a:schemeClr val="tx1">
                      <a:lumMod val="85000"/>
                      <a:lumOff val="15000"/>
                    </a:schemeClr>
                  </a:solidFill>
                  <a:latin typeface="+mn-ea"/>
                </a:rPr>
                <a:t>RNA </a:t>
              </a:r>
              <a:r>
                <a:rPr lang="zh-CN" altLang="en-US" sz="2000" dirty="0">
                  <a:solidFill>
                    <a:schemeClr val="tx1">
                      <a:lumMod val="85000"/>
                      <a:lumOff val="15000"/>
                    </a:schemeClr>
                  </a:solidFill>
                  <a:latin typeface="+mn-ea"/>
                </a:rPr>
                <a:t>发夹结构</a:t>
              </a:r>
              <a:endParaRPr lang="en-US" altLang="zh-CN" sz="2000" dirty="0">
                <a:solidFill>
                  <a:schemeClr val="tx1">
                    <a:lumMod val="85000"/>
                    <a:lumOff val="15000"/>
                  </a:schemeClr>
                </a:solidFill>
                <a:latin typeface="+mn-ea"/>
              </a:endParaRPr>
            </a:p>
            <a:p>
              <a:pPr>
                <a:lnSpc>
                  <a:spcPts val="2600"/>
                </a:lnSpc>
              </a:pPr>
              <a:r>
                <a:rPr lang="zh-CN" altLang="en-US" sz="2000" dirty="0">
                  <a:solidFill>
                    <a:schemeClr val="tx1">
                      <a:lumMod val="85000"/>
                      <a:lumOff val="15000"/>
                    </a:schemeClr>
                  </a:solidFill>
                  <a:latin typeface="+mn-ea"/>
                </a:rPr>
                <a:t>检索、设计实现“只识别致病构象”严格筛选，作为系统激活依据</a:t>
              </a:r>
              <a:endParaRPr lang="zh-CN" altLang="en-US" sz="2000" dirty="0">
                <a:solidFill>
                  <a:schemeClr val="tx1">
                    <a:lumMod val="85000"/>
                    <a:lumOff val="15000"/>
                  </a:schemeClr>
                </a:solidFill>
                <a:latin typeface="+mn-ea"/>
              </a:endParaRPr>
            </a:p>
          </p:txBody>
        </p:sp>
      </p:grpSp>
      <p:grpSp>
        <p:nvGrpSpPr>
          <p:cNvPr id="61" name="组合 60"/>
          <p:cNvGrpSpPr/>
          <p:nvPr/>
        </p:nvGrpSpPr>
        <p:grpSpPr>
          <a:xfrm>
            <a:off x="636510" y="3585174"/>
            <a:ext cx="8109754" cy="1368000"/>
            <a:chOff x="3657134" y="964071"/>
            <a:chExt cx="8948140" cy="1368000"/>
          </a:xfrm>
        </p:grpSpPr>
        <p:sp>
          <p:nvSpPr>
            <p:cNvPr id="62" name="矩形 61"/>
            <p:cNvSpPr/>
            <p:nvPr/>
          </p:nvSpPr>
          <p:spPr>
            <a:xfrm>
              <a:off x="3657134" y="964071"/>
              <a:ext cx="8836791" cy="1368000"/>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63" name="文本框 62"/>
            <p:cNvSpPr txBox="1"/>
            <p:nvPr/>
          </p:nvSpPr>
          <p:spPr>
            <a:xfrm>
              <a:off x="3825102" y="1054862"/>
              <a:ext cx="8166564" cy="369332"/>
            </a:xfrm>
            <a:prstGeom prst="rect">
              <a:avLst/>
            </a:prstGeom>
            <a:noFill/>
          </p:spPr>
          <p:txBody>
            <a:bodyPr wrap="square" lIns="0" tIns="0" rIns="0" bIns="0" rtlCol="0">
              <a:spAutoFit/>
            </a:bodyPr>
            <a:lstStyle/>
            <a:p>
              <a:r>
                <a:rPr lang="zh-CN" altLang="en-US" sz="2400" b="1" dirty="0">
                  <a:solidFill>
                    <a:schemeClr val="accent1"/>
                  </a:solidFill>
                </a:rPr>
                <a:t>变构调控 </a:t>
              </a:r>
              <a:r>
                <a:rPr lang="en-US" altLang="zh-CN" sz="2400" b="1" dirty="0">
                  <a:solidFill>
                    <a:schemeClr val="accent1"/>
                  </a:solidFill>
                </a:rPr>
                <a:t>Linker</a:t>
              </a:r>
              <a:r>
                <a:rPr lang="zh-CN" altLang="en-US" sz="2400" b="1" dirty="0">
                  <a:solidFill>
                    <a:schemeClr val="accent1"/>
                  </a:solidFill>
                </a:rPr>
                <a:t>（总开关）</a:t>
              </a:r>
              <a:endParaRPr lang="zh-CN" altLang="en-US" sz="2400" b="1" dirty="0">
                <a:solidFill>
                  <a:schemeClr val="accent1"/>
                </a:solidFill>
              </a:endParaRPr>
            </a:p>
          </p:txBody>
        </p:sp>
        <p:cxnSp>
          <p:nvCxnSpPr>
            <p:cNvPr id="64" name="直接连接符 63"/>
            <p:cNvCxnSpPr/>
            <p:nvPr/>
          </p:nvCxnSpPr>
          <p:spPr>
            <a:xfrm>
              <a:off x="3825101" y="1454284"/>
              <a:ext cx="2775159" cy="0"/>
            </a:xfrm>
            <a:prstGeom prst="line">
              <a:avLst/>
            </a:prstGeom>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3825102" y="1515501"/>
              <a:ext cx="8780172" cy="644407"/>
            </a:xfrm>
            <a:prstGeom prst="rect">
              <a:avLst/>
            </a:prstGeom>
            <a:noFill/>
          </p:spPr>
          <p:txBody>
            <a:bodyPr wrap="square" lIns="0" tIns="0" rIns="0" bIns="0" rtlCol="0">
              <a:spAutoFit/>
            </a:bodyPr>
            <a:lstStyle/>
            <a:p>
              <a:pPr>
                <a:lnSpc>
                  <a:spcPts val="2600"/>
                </a:lnSpc>
              </a:pPr>
              <a:r>
                <a:rPr lang="zh-CN" altLang="en-US" sz="2000" b="1" dirty="0">
                  <a:solidFill>
                    <a:schemeClr val="tx1">
                      <a:lumMod val="85000"/>
                      <a:lumOff val="15000"/>
                    </a:schemeClr>
                  </a:solidFill>
                  <a:latin typeface="+mn-ea"/>
                </a:rPr>
                <a:t>关闭状态：</a:t>
              </a:r>
              <a:r>
                <a:rPr lang="zh-CN" altLang="en-US" sz="2000" dirty="0">
                  <a:solidFill>
                    <a:schemeClr val="tx1">
                      <a:lumMod val="85000"/>
                      <a:lumOff val="15000"/>
                    </a:schemeClr>
                  </a:solidFill>
                  <a:latin typeface="+mn-ea"/>
                </a:rPr>
                <a:t>折叠屏蔽 </a:t>
              </a:r>
              <a:r>
                <a:rPr lang="en-US" altLang="zh-CN" sz="2000" dirty="0">
                  <a:solidFill>
                    <a:schemeClr val="tx1">
                      <a:lumMod val="85000"/>
                      <a:lumOff val="15000"/>
                    </a:schemeClr>
                  </a:solidFill>
                  <a:latin typeface="+mn-ea"/>
                </a:rPr>
                <a:t>APOBEC </a:t>
              </a:r>
              <a:r>
                <a:rPr lang="zh-CN" altLang="en-US" sz="2000" dirty="0">
                  <a:solidFill>
                    <a:schemeClr val="tx1">
                      <a:lumMod val="85000"/>
                      <a:lumOff val="15000"/>
                    </a:schemeClr>
                  </a:solidFill>
                  <a:latin typeface="+mn-ea"/>
                </a:rPr>
                <a:t>活性中心，保持系统静默</a:t>
              </a:r>
              <a:endParaRPr lang="zh-CN" altLang="en-US" sz="2000" dirty="0">
                <a:solidFill>
                  <a:schemeClr val="tx1">
                    <a:lumMod val="85000"/>
                    <a:lumOff val="15000"/>
                  </a:schemeClr>
                </a:solidFill>
                <a:latin typeface="+mn-ea"/>
              </a:endParaRPr>
            </a:p>
            <a:p>
              <a:pPr>
                <a:lnSpc>
                  <a:spcPts val="2600"/>
                </a:lnSpc>
              </a:pPr>
              <a:r>
                <a:rPr lang="zh-CN" altLang="en-US" sz="2000" b="1" dirty="0">
                  <a:solidFill>
                    <a:schemeClr val="tx1">
                      <a:lumMod val="85000"/>
                      <a:lumOff val="15000"/>
                    </a:schemeClr>
                  </a:solidFill>
                  <a:latin typeface="+mn-ea"/>
                </a:rPr>
                <a:t>激活状态：</a:t>
              </a:r>
              <a:r>
                <a:rPr lang="zh-CN" altLang="en-US" sz="2000" dirty="0">
                  <a:solidFill>
                    <a:schemeClr val="tx1">
                      <a:lumMod val="85000"/>
                      <a:lumOff val="15000"/>
                    </a:schemeClr>
                  </a:solidFill>
                  <a:latin typeface="+mn-ea"/>
                </a:rPr>
                <a:t>感知到异常 </a:t>
              </a:r>
              <a:r>
                <a:rPr lang="en-US" altLang="zh-CN" sz="2000" dirty="0">
                  <a:solidFill>
                    <a:schemeClr val="tx1">
                      <a:lumMod val="85000"/>
                      <a:lumOff val="15000"/>
                    </a:schemeClr>
                  </a:solidFill>
                  <a:latin typeface="+mn-ea"/>
                </a:rPr>
                <a:t>RNA </a:t>
              </a:r>
              <a:r>
                <a:rPr lang="zh-CN" altLang="en-US" sz="2000" dirty="0">
                  <a:solidFill>
                    <a:schemeClr val="tx1">
                      <a:lumMod val="85000"/>
                      <a:lumOff val="15000"/>
                    </a:schemeClr>
                  </a:solidFill>
                  <a:latin typeface="+mn-ea"/>
                </a:rPr>
                <a:t>发夹，发生构象重排释放功能蛋白活性</a:t>
              </a:r>
              <a:endParaRPr lang="zh-CN" altLang="en-US" sz="2000" dirty="0">
                <a:solidFill>
                  <a:schemeClr val="tx1">
                    <a:lumMod val="85000"/>
                    <a:lumOff val="15000"/>
                  </a:schemeClr>
                </a:solidFill>
                <a:latin typeface="+mn-ea"/>
              </a:endParaRPr>
            </a:p>
          </p:txBody>
        </p:sp>
      </p:grpSp>
      <p:grpSp>
        <p:nvGrpSpPr>
          <p:cNvPr id="66" name="组合 65"/>
          <p:cNvGrpSpPr/>
          <p:nvPr/>
        </p:nvGrpSpPr>
        <p:grpSpPr>
          <a:xfrm>
            <a:off x="636509" y="5201853"/>
            <a:ext cx="8334530" cy="1368000"/>
            <a:chOff x="3657134" y="964071"/>
            <a:chExt cx="8948140" cy="1368000"/>
          </a:xfrm>
        </p:grpSpPr>
        <p:sp>
          <p:nvSpPr>
            <p:cNvPr id="67" name="矩形 66"/>
            <p:cNvSpPr/>
            <p:nvPr/>
          </p:nvSpPr>
          <p:spPr>
            <a:xfrm>
              <a:off x="3657134" y="964071"/>
              <a:ext cx="8598471" cy="1368000"/>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68" name="文本框 67"/>
            <p:cNvSpPr txBox="1"/>
            <p:nvPr/>
          </p:nvSpPr>
          <p:spPr>
            <a:xfrm>
              <a:off x="3825101" y="1054862"/>
              <a:ext cx="8166564" cy="369332"/>
            </a:xfrm>
            <a:prstGeom prst="rect">
              <a:avLst/>
            </a:prstGeom>
            <a:noFill/>
          </p:spPr>
          <p:txBody>
            <a:bodyPr wrap="square" lIns="0" tIns="0" rIns="0" bIns="0" rtlCol="0">
              <a:spAutoFit/>
            </a:bodyPr>
            <a:lstStyle/>
            <a:p>
              <a:r>
                <a:rPr lang="zh-CN" altLang="en-US" sz="2400" b="1" dirty="0">
                  <a:solidFill>
                    <a:schemeClr val="accent1"/>
                  </a:solidFill>
                </a:rPr>
                <a:t>功能执行模块 </a:t>
              </a:r>
              <a:r>
                <a:rPr lang="en-US" altLang="zh-CN" sz="2400" b="1" dirty="0">
                  <a:solidFill>
                    <a:schemeClr val="accent1"/>
                  </a:solidFill>
                </a:rPr>
                <a:t>APOBEC</a:t>
              </a:r>
              <a:endParaRPr lang="zh-CN" altLang="en-US" sz="2400" b="1" dirty="0">
                <a:solidFill>
                  <a:schemeClr val="accent1"/>
                </a:solidFill>
              </a:endParaRPr>
            </a:p>
          </p:txBody>
        </p:sp>
        <p:cxnSp>
          <p:nvCxnSpPr>
            <p:cNvPr id="69" name="直接连接符 68"/>
            <p:cNvCxnSpPr/>
            <p:nvPr/>
          </p:nvCxnSpPr>
          <p:spPr>
            <a:xfrm>
              <a:off x="3825101" y="1454284"/>
              <a:ext cx="2775159" cy="0"/>
            </a:xfrm>
            <a:prstGeom prst="line">
              <a:avLst/>
            </a:prstGeom>
          </p:spPr>
          <p:style>
            <a:lnRef idx="1">
              <a:schemeClr val="accent1"/>
            </a:lnRef>
            <a:fillRef idx="0">
              <a:schemeClr val="accent1"/>
            </a:fillRef>
            <a:effectRef idx="0">
              <a:schemeClr val="accent1"/>
            </a:effectRef>
            <a:fontRef idx="minor">
              <a:schemeClr val="tx1"/>
            </a:fontRef>
          </p:style>
        </p:cxnSp>
        <p:sp>
          <p:nvSpPr>
            <p:cNvPr id="70" name="文本框 69"/>
            <p:cNvSpPr txBox="1"/>
            <p:nvPr/>
          </p:nvSpPr>
          <p:spPr>
            <a:xfrm>
              <a:off x="3825101" y="1515501"/>
              <a:ext cx="8780173" cy="644407"/>
            </a:xfrm>
            <a:prstGeom prst="rect">
              <a:avLst/>
            </a:prstGeom>
            <a:noFill/>
          </p:spPr>
          <p:txBody>
            <a:bodyPr wrap="square" lIns="0" tIns="0" rIns="0" bIns="0" rtlCol="0">
              <a:spAutoFit/>
            </a:bodyPr>
            <a:lstStyle/>
            <a:p>
              <a:pPr>
                <a:lnSpc>
                  <a:spcPts val="2600"/>
                </a:lnSpc>
              </a:pPr>
              <a:r>
                <a:rPr lang="zh-CN" altLang="en-US" sz="2000" dirty="0">
                  <a:solidFill>
                    <a:schemeClr val="tx1">
                      <a:lumMod val="85000"/>
                      <a:lumOff val="15000"/>
                    </a:schemeClr>
                  </a:solidFill>
                  <a:latin typeface="+mn-ea"/>
                </a:rPr>
                <a:t>催化致病 </a:t>
              </a:r>
              <a:r>
                <a:rPr lang="en-US" altLang="zh-CN" sz="2000" dirty="0">
                  <a:solidFill>
                    <a:schemeClr val="tx1">
                      <a:lumMod val="85000"/>
                      <a:lumOff val="15000"/>
                    </a:schemeClr>
                  </a:solidFill>
                  <a:latin typeface="+mn-ea"/>
                </a:rPr>
                <a:t>RNA </a:t>
              </a:r>
              <a:r>
                <a:rPr lang="zh-CN" altLang="en-US" sz="2000" dirty="0">
                  <a:solidFill>
                    <a:schemeClr val="tx1">
                      <a:lumMod val="85000"/>
                      <a:lumOff val="15000"/>
                    </a:schemeClr>
                  </a:solidFill>
                  <a:latin typeface="+mn-ea"/>
                </a:rPr>
                <a:t>上 </a:t>
              </a:r>
              <a:r>
                <a:rPr lang="en-US" altLang="zh-CN" sz="2000" dirty="0">
                  <a:solidFill>
                    <a:schemeClr val="tx1">
                      <a:lumMod val="85000"/>
                      <a:lumOff val="15000"/>
                    </a:schemeClr>
                  </a:solidFill>
                  <a:latin typeface="+mn-ea"/>
                </a:rPr>
                <a:t>C→U </a:t>
              </a:r>
              <a:r>
                <a:rPr lang="zh-CN" altLang="en-US" sz="2000" dirty="0">
                  <a:solidFill>
                    <a:schemeClr val="tx1">
                      <a:lumMod val="85000"/>
                      <a:lumOff val="15000"/>
                    </a:schemeClr>
                  </a:solidFill>
                  <a:latin typeface="+mn-ea"/>
                </a:rPr>
                <a:t>编辑，引入提前终止密码子使其快速降解</a:t>
              </a:r>
              <a:endParaRPr lang="en-US" altLang="zh-CN" sz="2000" dirty="0">
                <a:solidFill>
                  <a:schemeClr val="tx1">
                    <a:lumMod val="85000"/>
                    <a:lumOff val="15000"/>
                  </a:schemeClr>
                </a:solidFill>
                <a:latin typeface="+mn-ea"/>
              </a:endParaRPr>
            </a:p>
            <a:p>
              <a:pPr>
                <a:lnSpc>
                  <a:spcPts val="2600"/>
                </a:lnSpc>
              </a:pPr>
              <a:r>
                <a:rPr lang="zh-CN" altLang="en-US" sz="2000" dirty="0">
                  <a:solidFill>
                    <a:schemeClr val="tx1">
                      <a:lumMod val="85000"/>
                      <a:lumOff val="15000"/>
                    </a:schemeClr>
                  </a:solidFill>
                  <a:latin typeface="+mn-ea"/>
                </a:rPr>
                <a:t>来自人源胞嘧啶脱氨酶（截短体），安全性高、无需辅因子</a:t>
              </a:r>
              <a:endParaRPr lang="zh-CN" altLang="en-US" sz="2000" dirty="0">
                <a:solidFill>
                  <a:schemeClr val="tx1">
                    <a:lumMod val="85000"/>
                    <a:lumOff val="15000"/>
                  </a:schemeClr>
                </a:solidFill>
                <a:latin typeface="+mn-ea"/>
              </a:endParaRPr>
            </a:p>
          </p:txBody>
        </p:sp>
      </p:grpSp>
      <p:sp>
        <p:nvSpPr>
          <p:cNvPr id="71" name="等腰三角形 70"/>
          <p:cNvSpPr/>
          <p:nvPr/>
        </p:nvSpPr>
        <p:spPr>
          <a:xfrm rot="5400000">
            <a:off x="8712059" y="847688"/>
            <a:ext cx="741747" cy="875170"/>
          </a:xfrm>
          <a:prstGeom prst="triangle">
            <a:avLst>
              <a:gd name="adj" fmla="val 100000"/>
            </a:avLst>
          </a:prstGeom>
          <a:solidFill>
            <a:schemeClr val="bg1"/>
          </a:solidFill>
          <a:ln>
            <a:solidFill>
              <a:srgbClr val="4965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等腰三角形 75"/>
          <p:cNvSpPr/>
          <p:nvPr/>
        </p:nvSpPr>
        <p:spPr>
          <a:xfrm rot="5400000">
            <a:off x="8712058" y="5135058"/>
            <a:ext cx="741747" cy="875170"/>
          </a:xfrm>
          <a:prstGeom prst="triangle">
            <a:avLst>
              <a:gd name="adj" fmla="val 0"/>
            </a:avLst>
          </a:prstGeom>
          <a:solidFill>
            <a:schemeClr val="bg1"/>
          </a:solidFill>
          <a:ln>
            <a:solidFill>
              <a:srgbClr val="4965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7" name="组合 96"/>
          <p:cNvGrpSpPr/>
          <p:nvPr/>
        </p:nvGrpSpPr>
        <p:grpSpPr>
          <a:xfrm>
            <a:off x="9187543" y="429549"/>
            <a:ext cx="2629818" cy="5998902"/>
            <a:chOff x="9187543" y="478291"/>
            <a:chExt cx="2629818" cy="5998902"/>
          </a:xfrm>
        </p:grpSpPr>
        <p:sp>
          <p:nvSpPr>
            <p:cNvPr id="96" name="矩形: 圆角 95"/>
            <p:cNvSpPr/>
            <p:nvPr/>
          </p:nvSpPr>
          <p:spPr>
            <a:xfrm>
              <a:off x="9187543" y="478291"/>
              <a:ext cx="2629818" cy="5998902"/>
            </a:xfrm>
            <a:prstGeom prst="roundRect">
              <a:avLst/>
            </a:prstGeom>
            <a:noFill/>
            <a:ln w="38100">
              <a:solidFill>
                <a:srgbClr val="4965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9" name="组合 78"/>
            <p:cNvGrpSpPr/>
            <p:nvPr/>
          </p:nvGrpSpPr>
          <p:grpSpPr>
            <a:xfrm>
              <a:off x="9305800" y="590967"/>
              <a:ext cx="2393305" cy="5796000"/>
              <a:chOff x="9300496" y="726337"/>
              <a:chExt cx="2393305" cy="5796000"/>
            </a:xfrm>
          </p:grpSpPr>
          <p:sp>
            <p:nvSpPr>
              <p:cNvPr id="39" name="任意多边形: 形状 38"/>
              <p:cNvSpPr/>
              <p:nvPr/>
            </p:nvSpPr>
            <p:spPr>
              <a:xfrm>
                <a:off x="9300496" y="726337"/>
                <a:ext cx="2393305" cy="5796000"/>
              </a:xfrm>
              <a:custGeom>
                <a:avLst/>
                <a:gdLst>
                  <a:gd name="connsiteX0" fmla="*/ 3316374 w 3392281"/>
                  <a:gd name="connsiteY0" fmla="*/ 6944890 h 7212734"/>
                  <a:gd name="connsiteX1" fmla="*/ 3311583 w 3392281"/>
                  <a:gd name="connsiteY1" fmla="*/ 6960162 h 7212734"/>
                  <a:gd name="connsiteX2" fmla="*/ 3303387 w 3392281"/>
                  <a:gd name="connsiteY2" fmla="*/ 6973602 h 7212734"/>
                  <a:gd name="connsiteX3" fmla="*/ 3303387 w 3392281"/>
                  <a:gd name="connsiteY3" fmla="*/ 6973603 h 7212734"/>
                  <a:gd name="connsiteX4" fmla="*/ 3311583 w 3392281"/>
                  <a:gd name="connsiteY4" fmla="*/ 6960163 h 7212734"/>
                  <a:gd name="connsiteX5" fmla="*/ 3311583 w 3392281"/>
                  <a:gd name="connsiteY5" fmla="*/ 6960162 h 7212734"/>
                  <a:gd name="connsiteX6" fmla="*/ 3311584 w 3392281"/>
                  <a:gd name="connsiteY6" fmla="*/ 6960161 h 7212734"/>
                  <a:gd name="connsiteX7" fmla="*/ 377411 w 3392281"/>
                  <a:gd name="connsiteY7" fmla="*/ 0 h 7212734"/>
                  <a:gd name="connsiteX8" fmla="*/ 3014870 w 3392281"/>
                  <a:gd name="connsiteY8" fmla="*/ 0 h 7212734"/>
                  <a:gd name="connsiteX9" fmla="*/ 3392281 w 3392281"/>
                  <a:gd name="connsiteY9" fmla="*/ 377413 h 7212734"/>
                  <a:gd name="connsiteX10" fmla="*/ 3392281 w 3392281"/>
                  <a:gd name="connsiteY10" fmla="*/ 6835324 h 7212734"/>
                  <a:gd name="connsiteX11" fmla="*/ 3014870 w 3392281"/>
                  <a:gd name="connsiteY11" fmla="*/ 7212734 h 7212734"/>
                  <a:gd name="connsiteX12" fmla="*/ 377411 w 3392281"/>
                  <a:gd name="connsiteY12" fmla="*/ 7212734 h 7212734"/>
                  <a:gd name="connsiteX13" fmla="*/ 0 w 3392281"/>
                  <a:gd name="connsiteY13" fmla="*/ 6835324 h 7212734"/>
                  <a:gd name="connsiteX14" fmla="*/ 0 w 3392281"/>
                  <a:gd name="connsiteY14" fmla="*/ 377413 h 7212734"/>
                  <a:gd name="connsiteX15" fmla="*/ 377411 w 3392281"/>
                  <a:gd name="connsiteY15" fmla="*/ 0 h 721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92281" h="7212734">
                    <a:moveTo>
                      <a:pt x="3316374" y="6944890"/>
                    </a:moveTo>
                    <a:lnTo>
                      <a:pt x="3311583" y="6960162"/>
                    </a:lnTo>
                    <a:lnTo>
                      <a:pt x="3303387" y="6973602"/>
                    </a:lnTo>
                    <a:lnTo>
                      <a:pt x="3303387" y="6973603"/>
                    </a:lnTo>
                    <a:lnTo>
                      <a:pt x="3311583" y="6960163"/>
                    </a:lnTo>
                    <a:lnTo>
                      <a:pt x="3311583" y="6960162"/>
                    </a:lnTo>
                    <a:lnTo>
                      <a:pt x="3311584" y="6960161"/>
                    </a:lnTo>
                    <a:close/>
                    <a:moveTo>
                      <a:pt x="377411" y="0"/>
                    </a:moveTo>
                    <a:lnTo>
                      <a:pt x="3014870" y="0"/>
                    </a:lnTo>
                    <a:cubicBezTo>
                      <a:pt x="3222335" y="0"/>
                      <a:pt x="3392281" y="169946"/>
                      <a:pt x="3392281" y="377413"/>
                    </a:cubicBezTo>
                    <a:lnTo>
                      <a:pt x="3392281" y="6835324"/>
                    </a:lnTo>
                    <a:cubicBezTo>
                      <a:pt x="3392281" y="7042790"/>
                      <a:pt x="3222335" y="7212734"/>
                      <a:pt x="3014870" y="7212734"/>
                    </a:cubicBezTo>
                    <a:lnTo>
                      <a:pt x="377411" y="7212734"/>
                    </a:lnTo>
                    <a:cubicBezTo>
                      <a:pt x="169946" y="7212734"/>
                      <a:pt x="0" y="7042790"/>
                      <a:pt x="0" y="6835324"/>
                    </a:cubicBezTo>
                    <a:lnTo>
                      <a:pt x="0" y="377413"/>
                    </a:lnTo>
                    <a:cubicBezTo>
                      <a:pt x="0" y="169946"/>
                      <a:pt x="169946" y="0"/>
                      <a:pt x="377411" y="0"/>
                    </a:cubicBez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rtlCol="0" anchor="ctr">
                <a:spAutoFit/>
              </a:bodyPr>
              <a:lstStyle/>
              <a:p>
                <a:pPr algn="ctr"/>
                <a:endParaRPr lang="zh-CN" altLang="en-US" dirty="0"/>
              </a:p>
            </p:txBody>
          </p:sp>
          <p:pic>
            <p:nvPicPr>
              <p:cNvPr id="13" name="图片 12"/>
              <p:cNvPicPr/>
              <p:nvPr/>
            </p:nvPicPr>
            <p:blipFill>
              <a:blip r:embed="rId1"/>
              <a:srcRect l="1" t="4064" r="60441" b="56577"/>
              <a:stretch>
                <a:fillRect/>
              </a:stretch>
            </p:blipFill>
            <p:spPr>
              <a:xfrm>
                <a:off x="9586727" y="964484"/>
                <a:ext cx="1807534" cy="1163686"/>
              </a:xfrm>
              <a:prstGeom prst="roundRect">
                <a:avLst/>
              </a:prstGeom>
            </p:spPr>
          </p:pic>
          <p:pic>
            <p:nvPicPr>
              <p:cNvPr id="14" name="图片 13"/>
              <p:cNvPicPr/>
              <p:nvPr/>
            </p:nvPicPr>
            <p:blipFill>
              <a:blip r:embed="rId2">
                <a:extLst>
                  <a:ext uri="{28A0092B-C50C-407E-A947-70E740481C1C}">
                    <a14:useLocalDpi xmlns:a14="http://schemas.microsoft.com/office/drawing/2010/main" val="0"/>
                  </a:ext>
                </a:extLst>
              </a:blip>
              <a:srcRect l="7353" t="4013" r="6136" b="18393"/>
              <a:stretch>
                <a:fillRect/>
              </a:stretch>
            </p:blipFill>
            <p:spPr>
              <a:xfrm>
                <a:off x="9586727" y="2355757"/>
                <a:ext cx="1807534" cy="1163686"/>
              </a:xfrm>
              <a:prstGeom prst="roundRect">
                <a:avLst/>
              </a:prstGeom>
            </p:spPr>
          </p:pic>
          <p:pic>
            <p:nvPicPr>
              <p:cNvPr id="15" name="图片 14"/>
              <p:cNvPicPr/>
              <p:nvPr/>
            </p:nvPicPr>
            <p:blipFill>
              <a:blip r:embed="rId1"/>
              <a:srcRect l="53481" t="1913" r="1637" b="53431"/>
              <a:stretch>
                <a:fillRect/>
              </a:stretch>
            </p:blipFill>
            <p:spPr>
              <a:xfrm>
                <a:off x="9586727" y="3747030"/>
                <a:ext cx="1807534" cy="1163686"/>
              </a:xfrm>
              <a:prstGeom prst="roundRect">
                <a:avLst/>
              </a:prstGeom>
            </p:spPr>
          </p:pic>
          <p:pic>
            <p:nvPicPr>
              <p:cNvPr id="16" name="图片 15"/>
              <p:cNvPicPr/>
              <p:nvPr/>
            </p:nvPicPr>
            <p:blipFill>
              <a:blip r:embed="rId1"/>
              <a:srcRect l="-80" t="51595" r="54532" b="3086"/>
              <a:stretch>
                <a:fillRect/>
              </a:stretch>
            </p:blipFill>
            <p:spPr>
              <a:xfrm>
                <a:off x="9586727" y="5138302"/>
                <a:ext cx="1807534" cy="1163686"/>
              </a:xfrm>
              <a:prstGeom prst="roundRect">
                <a:avLst/>
              </a:prstGeom>
            </p:spPr>
          </p:pic>
        </p:grpSp>
      </p:grpSp>
      <p:sp>
        <p:nvSpPr>
          <p:cNvPr id="74" name="等腰三角形 73"/>
          <p:cNvSpPr/>
          <p:nvPr/>
        </p:nvSpPr>
        <p:spPr>
          <a:xfrm rot="5400000">
            <a:off x="8691886" y="841181"/>
            <a:ext cx="741747" cy="875170"/>
          </a:xfrm>
          <a:prstGeom prst="triangle">
            <a:avLst>
              <a:gd name="adj" fmla="val 10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等腰三角形 77"/>
          <p:cNvSpPr/>
          <p:nvPr/>
        </p:nvSpPr>
        <p:spPr>
          <a:xfrm rot="5400000">
            <a:off x="8712058" y="2214909"/>
            <a:ext cx="741747" cy="875170"/>
          </a:xfrm>
          <a:prstGeom prst="triangle">
            <a:avLst>
              <a:gd name="adj" fmla="val 100000"/>
            </a:avLst>
          </a:prstGeom>
          <a:solidFill>
            <a:schemeClr val="bg1"/>
          </a:solidFill>
          <a:ln>
            <a:solidFill>
              <a:srgbClr val="4965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等腰三角形 80"/>
          <p:cNvSpPr/>
          <p:nvPr/>
        </p:nvSpPr>
        <p:spPr>
          <a:xfrm rot="5400000">
            <a:off x="8693739" y="2213982"/>
            <a:ext cx="741747" cy="875170"/>
          </a:xfrm>
          <a:prstGeom prst="triangle">
            <a:avLst>
              <a:gd name="adj" fmla="val 10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等腰三角形 76"/>
          <p:cNvSpPr/>
          <p:nvPr/>
        </p:nvSpPr>
        <p:spPr>
          <a:xfrm rot="5400000">
            <a:off x="8704801" y="3836023"/>
            <a:ext cx="741747" cy="875170"/>
          </a:xfrm>
          <a:prstGeom prst="triangle">
            <a:avLst>
              <a:gd name="adj" fmla="val 0"/>
            </a:avLst>
          </a:prstGeom>
          <a:solidFill>
            <a:schemeClr val="bg1"/>
          </a:solidFill>
          <a:ln>
            <a:solidFill>
              <a:srgbClr val="4965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等腰三角形 79"/>
          <p:cNvSpPr/>
          <p:nvPr/>
        </p:nvSpPr>
        <p:spPr>
          <a:xfrm rot="5400000">
            <a:off x="8676742" y="3852289"/>
            <a:ext cx="741747" cy="875170"/>
          </a:xfrm>
          <a:prstGeom prst="triangle">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等腰三角形 81"/>
          <p:cNvSpPr/>
          <p:nvPr/>
        </p:nvSpPr>
        <p:spPr>
          <a:xfrm rot="5400000">
            <a:off x="8683784" y="5141750"/>
            <a:ext cx="741747" cy="875170"/>
          </a:xfrm>
          <a:prstGeom prst="triangle">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1" name="图片 100"/>
          <p:cNvPicPr/>
          <p:nvPr/>
        </p:nvPicPr>
        <p:blipFill>
          <a:blip r:embed="rId1"/>
          <a:srcRect l="4891" t="51982" r="64203" b="2699"/>
          <a:stretch>
            <a:fillRect/>
          </a:stretch>
        </p:blipFill>
        <p:spPr>
          <a:xfrm>
            <a:off x="9855200" y="4959588"/>
            <a:ext cx="1226458" cy="1163686"/>
          </a:xfrm>
          <a:prstGeom prst="round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60"/>
          <p:cNvSpPr/>
          <p:nvPr/>
        </p:nvSpPr>
        <p:spPr>
          <a:xfrm>
            <a:off x="0" y="1043275"/>
            <a:ext cx="3748894" cy="4050146"/>
          </a:xfrm>
          <a:prstGeom prst="rect">
            <a:avLst/>
          </a:prstGeom>
          <a:solidFill>
            <a:srgbClr val="4965AA"/>
          </a:solidFill>
          <a:ln>
            <a:solidFill>
              <a:schemeClr val="bg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56" name="矩形 55"/>
          <p:cNvSpPr/>
          <p:nvPr/>
        </p:nvSpPr>
        <p:spPr>
          <a:xfrm>
            <a:off x="8579782" y="869469"/>
            <a:ext cx="3612218" cy="4223952"/>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grpSp>
        <p:nvGrpSpPr>
          <p:cNvPr id="43" name="组合 42"/>
          <p:cNvGrpSpPr>
            <a:grpSpLocks noChangeAspect="1"/>
          </p:cNvGrpSpPr>
          <p:nvPr/>
        </p:nvGrpSpPr>
        <p:grpSpPr>
          <a:xfrm>
            <a:off x="3923238" y="378347"/>
            <a:ext cx="4445066" cy="4707663"/>
            <a:chOff x="4013300" y="811292"/>
            <a:chExt cx="4165400" cy="4411474"/>
          </a:xfrm>
        </p:grpSpPr>
        <p:sp>
          <p:nvSpPr>
            <p:cNvPr id="8" name="圆: 空心 7"/>
            <p:cNvSpPr>
              <a:spLocks noChangeAspect="1"/>
            </p:cNvSpPr>
            <p:nvPr/>
          </p:nvSpPr>
          <p:spPr>
            <a:xfrm>
              <a:off x="4013300" y="1057366"/>
              <a:ext cx="4165400" cy="4165400"/>
            </a:xfrm>
            <a:prstGeom prst="donut">
              <a:avLst>
                <a:gd name="adj" fmla="val 15133"/>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等腰三角形 9"/>
            <p:cNvSpPr/>
            <p:nvPr/>
          </p:nvSpPr>
          <p:spPr>
            <a:xfrm rot="19927418">
              <a:off x="4024267" y="3481978"/>
              <a:ext cx="1136240" cy="950179"/>
            </a:xfrm>
            <a:prstGeom prst="triangle">
              <a:avLst/>
            </a:prstGeom>
            <a:solidFill>
              <a:schemeClr val="accent3">
                <a:lumMod val="60000"/>
                <a:lumOff val="40000"/>
              </a:schemeClr>
            </a:solidFill>
            <a:ln>
              <a:no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1" name="等腰三角形 10"/>
            <p:cNvSpPr/>
            <p:nvPr/>
          </p:nvSpPr>
          <p:spPr>
            <a:xfrm rot="5400000">
              <a:off x="5685689" y="904322"/>
              <a:ext cx="1136240" cy="950179"/>
            </a:xfrm>
            <a:prstGeom prst="triangl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3" name="等腰三角形 12"/>
            <p:cNvSpPr/>
            <p:nvPr/>
          </p:nvSpPr>
          <p:spPr>
            <a:xfrm rot="12734185">
              <a:off x="6894745" y="3856529"/>
              <a:ext cx="1136240" cy="950179"/>
            </a:xfrm>
            <a:prstGeom prst="triangle">
              <a:avLst/>
            </a:prstGeom>
            <a:solidFill>
              <a:schemeClr val="accent3">
                <a:lumMod val="60000"/>
                <a:lumOff val="40000"/>
              </a:scheme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grpSp>
      <p:sp>
        <p:nvSpPr>
          <p:cNvPr id="14" name="文本框 13"/>
          <p:cNvSpPr txBox="1"/>
          <p:nvPr/>
        </p:nvSpPr>
        <p:spPr>
          <a:xfrm>
            <a:off x="4728537" y="2384654"/>
            <a:ext cx="2726500" cy="769441"/>
          </a:xfrm>
          <a:prstGeom prst="rect">
            <a:avLst/>
          </a:prstGeom>
          <a:solidFill>
            <a:schemeClr val="accent3">
              <a:alpha val="50000"/>
            </a:schemeClr>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lIns="45720" tIns="45720" rIns="45720" bIns="45720" rtlCol="0">
            <a:spAutoFit/>
          </a:bodyPr>
          <a:lstStyle/>
          <a:p>
            <a:pPr algn="ctr"/>
            <a:r>
              <a:rPr lang="zh-CN" altLang="en-US" sz="4400" b="1" dirty="0">
                <a:ln w="12700">
                  <a:noFill/>
                </a:ln>
                <a:solidFill>
                  <a:schemeClr val="bg1"/>
                </a:solidFill>
                <a:latin typeface="+mj-ea"/>
                <a:ea typeface="+mj-ea"/>
              </a:rPr>
              <a:t>技术路线</a:t>
            </a:r>
            <a:endParaRPr lang="zh-CN" altLang="en-US" sz="4400" b="1" dirty="0">
              <a:ln w="12700">
                <a:noFill/>
              </a:ln>
              <a:solidFill>
                <a:schemeClr val="bg1"/>
              </a:solidFill>
              <a:latin typeface="+mj-ea"/>
              <a:ea typeface="+mj-ea"/>
            </a:endParaRPr>
          </a:p>
        </p:txBody>
      </p:sp>
      <p:grpSp>
        <p:nvGrpSpPr>
          <p:cNvPr id="19" name="组合 18"/>
          <p:cNvGrpSpPr/>
          <p:nvPr/>
        </p:nvGrpSpPr>
        <p:grpSpPr>
          <a:xfrm>
            <a:off x="3407293" y="5247758"/>
            <a:ext cx="5715686" cy="1080000"/>
            <a:chOff x="3657135" y="964071"/>
            <a:chExt cx="9236675" cy="981007"/>
          </a:xfrm>
        </p:grpSpPr>
        <p:sp>
          <p:nvSpPr>
            <p:cNvPr id="20" name="矩形 19"/>
            <p:cNvSpPr/>
            <p:nvPr/>
          </p:nvSpPr>
          <p:spPr>
            <a:xfrm>
              <a:off x="3657135" y="964071"/>
              <a:ext cx="9236675" cy="981007"/>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21" name="文本框 20"/>
            <p:cNvSpPr txBox="1"/>
            <p:nvPr/>
          </p:nvSpPr>
          <p:spPr>
            <a:xfrm>
              <a:off x="4024468" y="1054862"/>
              <a:ext cx="8166563" cy="391392"/>
            </a:xfrm>
            <a:prstGeom prst="rect">
              <a:avLst/>
            </a:prstGeom>
            <a:noFill/>
          </p:spPr>
          <p:txBody>
            <a:bodyPr wrap="square" lIns="0" tIns="0" rIns="0" bIns="0" rtlCol="0">
              <a:spAutoFit/>
            </a:bodyPr>
            <a:lstStyle/>
            <a:p>
              <a:r>
                <a:rPr lang="zh-CN" altLang="en-US" sz="2800" b="1" dirty="0">
                  <a:solidFill>
                    <a:schemeClr val="accent1"/>
                  </a:solidFill>
                </a:rPr>
                <a:t>数据反馈迭代</a:t>
              </a:r>
              <a:endParaRPr lang="zh-CN" altLang="en-US" sz="2800" b="1" dirty="0">
                <a:solidFill>
                  <a:schemeClr val="accent1"/>
                </a:solidFill>
              </a:endParaRPr>
            </a:p>
          </p:txBody>
        </p:sp>
        <p:sp>
          <p:nvSpPr>
            <p:cNvPr id="23" name="文本框 22"/>
            <p:cNvSpPr txBox="1"/>
            <p:nvPr/>
          </p:nvSpPr>
          <p:spPr>
            <a:xfrm>
              <a:off x="4024468" y="1506559"/>
              <a:ext cx="8780173" cy="310983"/>
            </a:xfrm>
            <a:prstGeom prst="rect">
              <a:avLst/>
            </a:prstGeom>
            <a:noFill/>
          </p:spPr>
          <p:txBody>
            <a:bodyPr wrap="square" lIns="0" tIns="0" rIns="0" bIns="0" rtlCol="0">
              <a:spAutoFit/>
            </a:bodyPr>
            <a:lstStyle/>
            <a:p>
              <a:pPr>
                <a:lnSpc>
                  <a:spcPts val="2600"/>
                </a:lnSpc>
              </a:pPr>
              <a:r>
                <a:rPr lang="zh-CN" altLang="en-US" sz="2000" dirty="0">
                  <a:solidFill>
                    <a:schemeClr val="tx1">
                      <a:lumMod val="85000"/>
                      <a:lumOff val="15000"/>
                    </a:schemeClr>
                  </a:solidFill>
                  <a:latin typeface="+mn-ea"/>
                </a:rPr>
                <a:t>修正结构、优化序列、进一步提升特异性与效率</a:t>
              </a:r>
              <a:endParaRPr lang="zh-CN" altLang="en-US" sz="2000" dirty="0">
                <a:solidFill>
                  <a:schemeClr val="tx1">
                    <a:lumMod val="85000"/>
                    <a:lumOff val="15000"/>
                  </a:schemeClr>
                </a:solidFill>
                <a:latin typeface="+mn-ea"/>
              </a:endParaRPr>
            </a:p>
          </p:txBody>
        </p:sp>
      </p:grpSp>
      <p:grpSp>
        <p:nvGrpSpPr>
          <p:cNvPr id="33" name="组合 32"/>
          <p:cNvGrpSpPr/>
          <p:nvPr/>
        </p:nvGrpSpPr>
        <p:grpSpPr>
          <a:xfrm>
            <a:off x="99542" y="1213392"/>
            <a:ext cx="3823696" cy="3475681"/>
            <a:chOff x="298314" y="845305"/>
            <a:chExt cx="3823696" cy="3475681"/>
          </a:xfrm>
        </p:grpSpPr>
        <p:grpSp>
          <p:nvGrpSpPr>
            <p:cNvPr id="2" name="组合 1"/>
            <p:cNvGrpSpPr/>
            <p:nvPr/>
          </p:nvGrpSpPr>
          <p:grpSpPr>
            <a:xfrm>
              <a:off x="456050" y="845305"/>
              <a:ext cx="3665960" cy="3475681"/>
              <a:chOff x="456050" y="1087084"/>
              <a:chExt cx="3665960" cy="3475681"/>
            </a:xfrm>
          </p:grpSpPr>
          <p:sp>
            <p:nvSpPr>
              <p:cNvPr id="29" name="文本框 28"/>
              <p:cNvSpPr txBox="1"/>
              <p:nvPr/>
            </p:nvSpPr>
            <p:spPr>
              <a:xfrm>
                <a:off x="456050" y="1087084"/>
                <a:ext cx="2051844" cy="492443"/>
              </a:xfrm>
              <a:prstGeom prst="rect">
                <a:avLst/>
              </a:prstGeom>
              <a:noFill/>
            </p:spPr>
            <p:txBody>
              <a:bodyPr wrap="none" lIns="0" tIns="0" rIns="0" bIns="0" rtlCol="0">
                <a:spAutoFit/>
              </a:bodyPr>
              <a:lstStyle/>
              <a:p>
                <a:r>
                  <a:rPr lang="zh-CN" altLang="en-US" sz="3200" b="1" dirty="0">
                    <a:solidFill>
                      <a:schemeClr val="bg1"/>
                    </a:solidFill>
                  </a:rPr>
                  <a:t>干实验设计</a:t>
                </a:r>
                <a:endParaRPr lang="zh-CN" altLang="en-US" sz="3200" b="1" dirty="0">
                  <a:solidFill>
                    <a:schemeClr val="bg1"/>
                  </a:solidFill>
                </a:endParaRPr>
              </a:p>
            </p:txBody>
          </p:sp>
          <p:sp>
            <p:nvSpPr>
              <p:cNvPr id="30" name="文本框 29"/>
              <p:cNvSpPr txBox="1"/>
              <p:nvPr/>
            </p:nvSpPr>
            <p:spPr>
              <a:xfrm>
                <a:off x="898507" y="1858178"/>
                <a:ext cx="3223503" cy="2704587"/>
              </a:xfrm>
              <a:prstGeom prst="rect">
                <a:avLst/>
              </a:prstGeom>
              <a:noFill/>
            </p:spPr>
            <p:txBody>
              <a:bodyPr wrap="square" lIns="0" tIns="0" rIns="0" bIns="0" rtlCol="0">
                <a:spAutoFit/>
              </a:bodyPr>
              <a:lstStyle/>
              <a:p>
                <a:pPr>
                  <a:lnSpc>
                    <a:spcPct val="150000"/>
                  </a:lnSpc>
                </a:pPr>
                <a:r>
                  <a:rPr lang="zh-CN" altLang="en-US" sz="2400" dirty="0">
                    <a:solidFill>
                      <a:schemeClr val="bg1"/>
                    </a:solidFill>
                    <a:latin typeface="+mn-ea"/>
                  </a:rPr>
                  <a:t>元件筛选</a:t>
                </a:r>
                <a:endParaRPr lang="en-US" altLang="zh-CN" sz="2400" dirty="0">
                  <a:solidFill>
                    <a:schemeClr val="bg1"/>
                  </a:solidFill>
                  <a:latin typeface="+mn-ea"/>
                </a:endParaRPr>
              </a:p>
              <a:p>
                <a:pPr>
                  <a:lnSpc>
                    <a:spcPct val="150000"/>
                  </a:lnSpc>
                </a:pPr>
                <a:r>
                  <a:rPr lang="en-US" altLang="zh-CN" sz="2400" dirty="0">
                    <a:solidFill>
                      <a:schemeClr val="bg1"/>
                    </a:solidFill>
                    <a:latin typeface="+mn-ea"/>
                  </a:rPr>
                  <a:t>AI </a:t>
                </a:r>
                <a:r>
                  <a:rPr lang="zh-CN" altLang="en-US" sz="2400" dirty="0">
                    <a:solidFill>
                      <a:schemeClr val="bg1"/>
                    </a:solidFill>
                    <a:latin typeface="+mn-ea"/>
                  </a:rPr>
                  <a:t>结构建模</a:t>
                </a:r>
                <a:endParaRPr lang="en-US" altLang="zh-CN" sz="2400" dirty="0">
                  <a:solidFill>
                    <a:schemeClr val="bg1"/>
                  </a:solidFill>
                  <a:latin typeface="+mn-ea"/>
                </a:endParaRPr>
              </a:p>
              <a:p>
                <a:pPr>
                  <a:lnSpc>
                    <a:spcPct val="150000"/>
                  </a:lnSpc>
                </a:pPr>
                <a:r>
                  <a:rPr lang="zh-CN" altLang="en-US" sz="2400" dirty="0">
                    <a:solidFill>
                      <a:schemeClr val="bg1"/>
                    </a:solidFill>
                    <a:latin typeface="+mn-ea"/>
                  </a:rPr>
                  <a:t>蛋白</a:t>
                </a:r>
                <a:r>
                  <a:rPr lang="en-US" altLang="zh-CN" sz="2400" dirty="0">
                    <a:solidFill>
                      <a:schemeClr val="bg1"/>
                    </a:solidFill>
                    <a:latin typeface="+mn-ea"/>
                  </a:rPr>
                  <a:t>-RNA </a:t>
                </a:r>
                <a:r>
                  <a:rPr lang="zh-CN" altLang="en-US" sz="2400" dirty="0">
                    <a:solidFill>
                      <a:schemeClr val="bg1"/>
                    </a:solidFill>
                    <a:latin typeface="+mn-ea"/>
                  </a:rPr>
                  <a:t>复合物预测</a:t>
                </a:r>
                <a:endParaRPr lang="en-US" altLang="zh-CN" sz="2400" dirty="0">
                  <a:solidFill>
                    <a:schemeClr val="bg1"/>
                  </a:solidFill>
                  <a:latin typeface="+mn-ea"/>
                </a:endParaRPr>
              </a:p>
              <a:p>
                <a:pPr>
                  <a:lnSpc>
                    <a:spcPct val="150000"/>
                  </a:lnSpc>
                </a:pPr>
                <a:r>
                  <a:rPr lang="zh-CN" altLang="en-US" sz="2400" dirty="0">
                    <a:solidFill>
                      <a:schemeClr val="bg1"/>
                    </a:solidFill>
                    <a:latin typeface="+mn-ea"/>
                  </a:rPr>
                  <a:t>分子动力学模拟</a:t>
                </a:r>
                <a:endParaRPr lang="en-US" altLang="zh-CN" sz="2400" dirty="0">
                  <a:solidFill>
                    <a:schemeClr val="bg1"/>
                  </a:solidFill>
                  <a:latin typeface="+mn-ea"/>
                </a:endParaRPr>
              </a:p>
              <a:p>
                <a:pPr>
                  <a:lnSpc>
                    <a:spcPct val="150000"/>
                  </a:lnSpc>
                </a:pPr>
                <a:r>
                  <a:rPr lang="zh-CN" altLang="en-US" sz="2400" dirty="0">
                    <a:solidFill>
                      <a:schemeClr val="bg1"/>
                    </a:solidFill>
                    <a:latin typeface="+mn-ea"/>
                  </a:rPr>
                  <a:t>变构 </a:t>
                </a:r>
                <a:r>
                  <a:rPr lang="en-US" altLang="zh-CN" sz="2400" dirty="0">
                    <a:solidFill>
                      <a:schemeClr val="bg1"/>
                    </a:solidFill>
                    <a:latin typeface="+mn-ea"/>
                  </a:rPr>
                  <a:t>Linker </a:t>
                </a:r>
                <a:r>
                  <a:rPr lang="zh-CN" altLang="en-US" sz="2400" dirty="0">
                    <a:solidFill>
                      <a:schemeClr val="bg1"/>
                    </a:solidFill>
                    <a:latin typeface="+mn-ea"/>
                  </a:rPr>
                  <a:t>理性优化</a:t>
                </a:r>
                <a:endParaRPr lang="zh-CN" altLang="en-US" sz="2000" dirty="0">
                  <a:solidFill>
                    <a:schemeClr val="bg1"/>
                  </a:solidFill>
                  <a:latin typeface="+mn-ea"/>
                </a:endParaRPr>
              </a:p>
            </p:txBody>
          </p:sp>
          <p:cxnSp>
            <p:nvCxnSpPr>
              <p:cNvPr id="31" name="直接连接符 30"/>
              <p:cNvCxnSpPr/>
              <p:nvPr/>
            </p:nvCxnSpPr>
            <p:spPr>
              <a:xfrm>
                <a:off x="456050" y="1775006"/>
                <a:ext cx="211317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3" name="直接箭头连接符 2"/>
            <p:cNvCxnSpPr/>
            <p:nvPr/>
          </p:nvCxnSpPr>
          <p:spPr>
            <a:xfrm>
              <a:off x="298314" y="3013409"/>
              <a:ext cx="481903"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298314" y="3573788"/>
              <a:ext cx="481903"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298314" y="4134167"/>
              <a:ext cx="481903"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298314" y="2453030"/>
              <a:ext cx="481903"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nvGrpSpPr>
        <p:grpSpPr>
          <a:xfrm>
            <a:off x="8682976" y="967171"/>
            <a:ext cx="3823696" cy="3954603"/>
            <a:chOff x="8523300" y="1180673"/>
            <a:chExt cx="3823696" cy="3954603"/>
          </a:xfrm>
        </p:grpSpPr>
        <p:grpSp>
          <p:nvGrpSpPr>
            <p:cNvPr id="34" name="组合 33"/>
            <p:cNvGrpSpPr/>
            <p:nvPr/>
          </p:nvGrpSpPr>
          <p:grpSpPr>
            <a:xfrm>
              <a:off x="8523300" y="1180673"/>
              <a:ext cx="3823696" cy="3954603"/>
              <a:chOff x="298314" y="920380"/>
              <a:chExt cx="3823696" cy="3954603"/>
            </a:xfrm>
          </p:grpSpPr>
          <p:grpSp>
            <p:nvGrpSpPr>
              <p:cNvPr id="35" name="组合 34"/>
              <p:cNvGrpSpPr/>
              <p:nvPr/>
            </p:nvGrpSpPr>
            <p:grpSpPr>
              <a:xfrm>
                <a:off x="375941" y="920380"/>
                <a:ext cx="3746069" cy="3954603"/>
                <a:chOff x="375941" y="1162159"/>
                <a:chExt cx="3746069" cy="3954603"/>
              </a:xfrm>
            </p:grpSpPr>
            <p:sp>
              <p:nvSpPr>
                <p:cNvPr id="40" name="文本框 39"/>
                <p:cNvSpPr txBox="1"/>
                <p:nvPr/>
              </p:nvSpPr>
              <p:spPr>
                <a:xfrm>
                  <a:off x="375941" y="1162159"/>
                  <a:ext cx="2051844" cy="492443"/>
                </a:xfrm>
                <a:prstGeom prst="rect">
                  <a:avLst/>
                </a:prstGeom>
                <a:noFill/>
              </p:spPr>
              <p:txBody>
                <a:bodyPr wrap="none" lIns="0" tIns="0" rIns="0" bIns="0" rtlCol="0">
                  <a:spAutoFit/>
                </a:bodyPr>
                <a:lstStyle/>
                <a:p>
                  <a:r>
                    <a:rPr lang="zh-CN" altLang="en-US" sz="3200" b="1" dirty="0"/>
                    <a:t>湿实验验证</a:t>
                  </a:r>
                  <a:endParaRPr lang="zh-CN" altLang="en-US" sz="3200" b="1" dirty="0"/>
                </a:p>
              </p:txBody>
            </p:sp>
            <p:sp>
              <p:nvSpPr>
                <p:cNvPr id="41" name="文本框 40"/>
                <p:cNvSpPr txBox="1"/>
                <p:nvPr/>
              </p:nvSpPr>
              <p:spPr>
                <a:xfrm>
                  <a:off x="898507" y="1858178"/>
                  <a:ext cx="3223503" cy="3258584"/>
                </a:xfrm>
                <a:prstGeom prst="rect">
                  <a:avLst/>
                </a:prstGeom>
                <a:noFill/>
              </p:spPr>
              <p:txBody>
                <a:bodyPr wrap="square" lIns="0" tIns="0" rIns="0" bIns="0" rtlCol="0">
                  <a:spAutoFit/>
                </a:bodyPr>
                <a:lstStyle/>
                <a:p>
                  <a:pPr>
                    <a:lnSpc>
                      <a:spcPct val="150000"/>
                    </a:lnSpc>
                  </a:pPr>
                  <a:r>
                    <a:rPr lang="zh-CN" altLang="en-US" sz="2400" dirty="0">
                      <a:latin typeface="+mn-ea"/>
                    </a:rPr>
                    <a:t>基因合成与载体构建</a:t>
                  </a:r>
                  <a:endParaRPr lang="en-US" altLang="zh-CN" sz="2400" dirty="0">
                    <a:latin typeface="+mn-ea"/>
                  </a:endParaRPr>
                </a:p>
                <a:p>
                  <a:pPr>
                    <a:lnSpc>
                      <a:spcPct val="150000"/>
                    </a:lnSpc>
                  </a:pPr>
                  <a:r>
                    <a:rPr lang="zh-CN" altLang="en-US" sz="2400" dirty="0">
                      <a:latin typeface="+mn-ea"/>
                    </a:rPr>
                    <a:t>蛋白表达纯化</a:t>
                  </a:r>
                  <a:endParaRPr lang="en-US" altLang="zh-CN" sz="2400" dirty="0">
                    <a:latin typeface="+mn-ea"/>
                  </a:endParaRPr>
                </a:p>
                <a:p>
                  <a:pPr>
                    <a:lnSpc>
                      <a:spcPct val="150000"/>
                    </a:lnSpc>
                  </a:pPr>
                  <a:r>
                    <a:rPr lang="en-US" altLang="zh-CN" sz="2400" dirty="0">
                      <a:latin typeface="+mn-ea"/>
                    </a:rPr>
                    <a:t>EMSA </a:t>
                  </a:r>
                  <a:r>
                    <a:rPr lang="zh-CN" altLang="en-US" sz="2400" dirty="0">
                      <a:latin typeface="+mn-ea"/>
                    </a:rPr>
                    <a:t>检测 </a:t>
                  </a:r>
                  <a:endParaRPr lang="en-US" altLang="zh-CN" sz="2400" dirty="0">
                    <a:latin typeface="+mn-ea"/>
                  </a:endParaRPr>
                </a:p>
                <a:p>
                  <a:pPr>
                    <a:lnSpc>
                      <a:spcPct val="150000"/>
                    </a:lnSpc>
                  </a:pPr>
                  <a:r>
                    <a:rPr lang="zh-CN" altLang="en-US" sz="2400" dirty="0">
                      <a:latin typeface="+mn-ea"/>
                    </a:rPr>
                    <a:t>体外 </a:t>
                  </a:r>
                  <a:r>
                    <a:rPr lang="en-US" altLang="zh-CN" sz="2400" dirty="0">
                      <a:latin typeface="+mn-ea"/>
                    </a:rPr>
                    <a:t>RNA </a:t>
                  </a:r>
                  <a:r>
                    <a:rPr lang="zh-CN" altLang="en-US" sz="2400" dirty="0">
                      <a:latin typeface="+mn-ea"/>
                    </a:rPr>
                    <a:t>切割实验</a:t>
                  </a:r>
                  <a:endParaRPr lang="en-US" altLang="zh-CN" sz="2400" dirty="0">
                    <a:latin typeface="+mn-ea"/>
                  </a:endParaRPr>
                </a:p>
                <a:p>
                  <a:pPr>
                    <a:lnSpc>
                      <a:spcPct val="150000"/>
                    </a:lnSpc>
                  </a:pPr>
                  <a:r>
                    <a:rPr lang="zh-CN" altLang="en-US" sz="2400" dirty="0">
                      <a:latin typeface="+mn-ea"/>
                    </a:rPr>
                    <a:t>细胞内验证可行性</a:t>
                  </a:r>
                  <a:endParaRPr lang="en-US" altLang="zh-CN" sz="2400" dirty="0">
                    <a:latin typeface="+mn-ea"/>
                  </a:endParaRPr>
                </a:p>
                <a:p>
                  <a:pPr>
                    <a:lnSpc>
                      <a:spcPct val="150000"/>
                    </a:lnSpc>
                  </a:pPr>
                  <a:r>
                    <a:rPr lang="zh-CN" altLang="en-US" sz="2400" dirty="0">
                      <a:latin typeface="+mn-ea"/>
                    </a:rPr>
                    <a:t>安全性评估</a:t>
                  </a:r>
                  <a:endParaRPr lang="zh-CN" altLang="en-US" sz="2400" dirty="0">
                    <a:latin typeface="+mn-ea"/>
                  </a:endParaRPr>
                </a:p>
              </p:txBody>
            </p:sp>
            <p:cxnSp>
              <p:nvCxnSpPr>
                <p:cNvPr id="42" name="直接连接符 41"/>
                <p:cNvCxnSpPr/>
                <p:nvPr/>
              </p:nvCxnSpPr>
              <p:spPr>
                <a:xfrm>
                  <a:off x="375941" y="1850081"/>
                  <a:ext cx="2113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6" name="直接箭头连接符 35"/>
              <p:cNvCxnSpPr/>
              <p:nvPr/>
            </p:nvCxnSpPr>
            <p:spPr>
              <a:xfrm>
                <a:off x="298314" y="3013409"/>
                <a:ext cx="481903"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298314" y="3573788"/>
                <a:ext cx="481903"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298314" y="4134167"/>
                <a:ext cx="481903"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298314" y="2453030"/>
                <a:ext cx="481903"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6" name="直接箭头连接符 45"/>
            <p:cNvCxnSpPr/>
            <p:nvPr/>
          </p:nvCxnSpPr>
          <p:spPr>
            <a:xfrm>
              <a:off x="8523300" y="4927860"/>
              <a:ext cx="481903"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6314175" y="6479654"/>
            <a:ext cx="5715686" cy="190519"/>
            <a:chOff x="3730218" y="6260069"/>
            <a:chExt cx="5988169" cy="184666"/>
          </a:xfrm>
        </p:grpSpPr>
        <p:grpSp>
          <p:nvGrpSpPr>
            <p:cNvPr id="5" name="组合 4"/>
            <p:cNvGrpSpPr/>
            <p:nvPr/>
          </p:nvGrpSpPr>
          <p:grpSpPr>
            <a:xfrm>
              <a:off x="4682111" y="6260069"/>
              <a:ext cx="897875" cy="184666"/>
              <a:chOff x="4914007" y="6260069"/>
              <a:chExt cx="897875" cy="184666"/>
            </a:xfrm>
          </p:grpSpPr>
          <p:sp>
            <p:nvSpPr>
              <p:cNvPr id="45" name="文本框 44"/>
              <p:cNvSpPr txBox="1"/>
              <p:nvPr/>
            </p:nvSpPr>
            <p:spPr>
              <a:xfrm>
                <a:off x="5042441" y="6260069"/>
                <a:ext cx="769441" cy="184666"/>
              </a:xfrm>
              <a:prstGeom prst="rect">
                <a:avLst/>
              </a:prstGeom>
              <a:noFill/>
            </p:spPr>
            <p:txBody>
              <a:bodyPr wrap="none" lIns="0" tIns="0" rIns="0" bIns="0" rtlCol="0">
                <a:spAutoFit/>
              </a:bodyPr>
              <a:lstStyle/>
              <a:p>
                <a:r>
                  <a:rPr lang="zh-CN" altLang="en-US" sz="1200" dirty="0">
                    <a:solidFill>
                      <a:srgbClr val="4965AA">
                        <a:alpha val="50000"/>
                      </a:srgbClr>
                    </a:solidFill>
                  </a:rPr>
                  <a:t>核心创新点</a:t>
                </a:r>
                <a:endParaRPr lang="zh-CN" altLang="en-US" sz="1200" dirty="0">
                  <a:solidFill>
                    <a:srgbClr val="4965AA">
                      <a:alpha val="50000"/>
                    </a:srgbClr>
                  </a:solidFill>
                </a:endParaRPr>
              </a:p>
            </p:txBody>
          </p:sp>
          <p:sp>
            <p:nvSpPr>
              <p:cNvPr id="48" name="椭圆 47"/>
              <p:cNvSpPr/>
              <p:nvPr/>
            </p:nvSpPr>
            <p:spPr>
              <a:xfrm>
                <a:off x="4914007"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6" name="组合 5"/>
            <p:cNvGrpSpPr/>
            <p:nvPr/>
          </p:nvGrpSpPr>
          <p:grpSpPr>
            <a:xfrm>
              <a:off x="5787892" y="6260069"/>
              <a:ext cx="1565046" cy="184666"/>
              <a:chOff x="6097796" y="6260069"/>
              <a:chExt cx="1565046" cy="184666"/>
            </a:xfrm>
          </p:grpSpPr>
          <p:sp>
            <p:nvSpPr>
              <p:cNvPr id="32" name="文本框 31"/>
              <p:cNvSpPr txBox="1"/>
              <p:nvPr/>
            </p:nvSpPr>
            <p:spPr>
              <a:xfrm>
                <a:off x="6226230" y="6260069"/>
                <a:ext cx="1436612" cy="184666"/>
              </a:xfrm>
              <a:prstGeom prst="rect">
                <a:avLst/>
              </a:prstGeom>
              <a:noFill/>
            </p:spPr>
            <p:txBody>
              <a:bodyPr wrap="none" lIns="0" tIns="0" rIns="0" bIns="0" rtlCol="0">
                <a:spAutoFit/>
              </a:bodyPr>
              <a:lstStyle/>
              <a:p>
                <a:r>
                  <a:rPr lang="zh-CN" altLang="en-US" sz="1200" b="1" dirty="0">
                    <a:solidFill>
                      <a:srgbClr val="4965AA"/>
                    </a:solidFill>
                  </a:rPr>
                  <a:t>系统设计与机制解析</a:t>
                </a:r>
                <a:endParaRPr lang="zh-CN" altLang="en-US" sz="1200" b="1" dirty="0">
                  <a:solidFill>
                    <a:srgbClr val="4965AA"/>
                  </a:solidFill>
                </a:endParaRPr>
              </a:p>
            </p:txBody>
          </p:sp>
          <p:sp>
            <p:nvSpPr>
              <p:cNvPr id="44" name="椭圆 43"/>
              <p:cNvSpPr/>
              <p:nvPr/>
            </p:nvSpPr>
            <p:spPr>
              <a:xfrm>
                <a:off x="6097796"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7" name="组合 6"/>
            <p:cNvGrpSpPr/>
            <p:nvPr/>
          </p:nvGrpSpPr>
          <p:grpSpPr>
            <a:xfrm>
              <a:off x="7560844" y="6260069"/>
              <a:ext cx="1051763" cy="184666"/>
              <a:chOff x="7589362" y="6260069"/>
              <a:chExt cx="1051763" cy="184666"/>
            </a:xfrm>
          </p:grpSpPr>
          <p:sp>
            <p:nvSpPr>
              <p:cNvPr id="27" name="文本框 26"/>
              <p:cNvSpPr txBox="1"/>
              <p:nvPr/>
            </p:nvSpPr>
            <p:spPr>
              <a:xfrm>
                <a:off x="7717795" y="6260069"/>
                <a:ext cx="923330"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预期结果分析</a:t>
                </a:r>
                <a:endParaRPr lang="zh-CN" altLang="en-US" sz="1200" dirty="0">
                  <a:solidFill>
                    <a:schemeClr val="accent1">
                      <a:lumMod val="60000"/>
                      <a:lumOff val="40000"/>
                    </a:schemeClr>
                  </a:solidFill>
                </a:endParaRPr>
              </a:p>
            </p:txBody>
          </p:sp>
          <p:sp>
            <p:nvSpPr>
              <p:cNvPr id="28" name="椭圆 27"/>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6" name="组合 15"/>
            <p:cNvGrpSpPr/>
            <p:nvPr/>
          </p:nvGrpSpPr>
          <p:grpSpPr>
            <a:xfrm>
              <a:off x="3730218" y="6260069"/>
              <a:ext cx="743987" cy="184666"/>
              <a:chOff x="3730218" y="6260069"/>
              <a:chExt cx="743987" cy="184666"/>
            </a:xfrm>
          </p:grpSpPr>
          <p:sp>
            <p:nvSpPr>
              <p:cNvPr id="25" name="文本框 24"/>
              <p:cNvSpPr txBox="1"/>
              <p:nvPr/>
            </p:nvSpPr>
            <p:spPr>
              <a:xfrm>
                <a:off x="3858652" y="6260069"/>
                <a:ext cx="615553" cy="184666"/>
              </a:xfrm>
              <a:prstGeom prst="rect">
                <a:avLst/>
              </a:prstGeom>
              <a:noFill/>
            </p:spPr>
            <p:txBody>
              <a:bodyPr wrap="none" lIns="0" tIns="0" rIns="0" bIns="0" rtlCol="0">
                <a:spAutoFit/>
              </a:bodyPr>
              <a:lstStyle/>
              <a:p>
                <a:r>
                  <a:rPr lang="zh-CN" altLang="en-US" sz="1200" dirty="0">
                    <a:solidFill>
                      <a:srgbClr val="A5B3D6"/>
                    </a:solidFill>
                  </a:rPr>
                  <a:t>科学问题</a:t>
                </a:r>
                <a:endParaRPr lang="zh-CN" altLang="en-US" sz="1200" dirty="0">
                  <a:solidFill>
                    <a:srgbClr val="A5B3D6"/>
                  </a:solidFill>
                </a:endParaRPr>
              </a:p>
            </p:txBody>
          </p:sp>
          <p:sp>
            <p:nvSpPr>
              <p:cNvPr id="26" name="椭圆 25"/>
              <p:cNvSpPr/>
              <p:nvPr/>
            </p:nvSpPr>
            <p:spPr>
              <a:xfrm>
                <a:off x="3730218"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7" name="椭圆 16"/>
            <p:cNvSpPr/>
            <p:nvPr/>
          </p:nvSpPr>
          <p:spPr>
            <a:xfrm>
              <a:off x="5750427" y="6301988"/>
              <a:ext cx="120650" cy="120650"/>
            </a:xfrm>
            <a:prstGeom prst="ellipse">
              <a:avLst/>
            </a:prstGeom>
            <a:noFill/>
            <a:ln w="6350">
              <a:solidFill>
                <a:srgbClr val="4965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18" name="组合 17"/>
            <p:cNvGrpSpPr/>
            <p:nvPr/>
          </p:nvGrpSpPr>
          <p:grpSpPr>
            <a:xfrm>
              <a:off x="8820513" y="6260069"/>
              <a:ext cx="897874" cy="184666"/>
              <a:chOff x="7589362" y="6260069"/>
              <a:chExt cx="897874" cy="184666"/>
            </a:xfrm>
          </p:grpSpPr>
          <p:sp>
            <p:nvSpPr>
              <p:cNvPr id="22" name="文本框 21"/>
              <p:cNvSpPr txBox="1"/>
              <p:nvPr/>
            </p:nvSpPr>
            <p:spPr>
              <a:xfrm>
                <a:off x="7717795" y="6260069"/>
                <a:ext cx="769441"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意义与展望</a:t>
                </a:r>
                <a:endParaRPr lang="zh-CN" altLang="en-US" sz="1200" dirty="0">
                  <a:solidFill>
                    <a:schemeClr val="accent1">
                      <a:lumMod val="60000"/>
                      <a:lumOff val="40000"/>
                    </a:schemeClr>
                  </a:solidFill>
                </a:endParaRPr>
              </a:p>
            </p:txBody>
          </p:sp>
          <p:sp>
            <p:nvSpPr>
              <p:cNvPr id="24" name="椭圆 23"/>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sp>
        <p:nvSpPr>
          <p:cNvPr id="49" name="文本框 48"/>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4965AA"/>
                </a:highlight>
                <a:latin typeface="Eras Bold ITC" panose="020B0907030504020204" pitchFamily="34" charset="0"/>
              </a:rPr>
              <a:t>SUSTech</a:t>
            </a:r>
            <a:r>
              <a:rPr lang="en-US" altLang="zh-CN" sz="3000" dirty="0">
                <a:solidFill>
                  <a:srgbClr val="EFA7A7"/>
                </a:solidFill>
                <a:highlight>
                  <a:srgbClr val="4965AA"/>
                </a:highlight>
                <a:latin typeface="Eras Bold ITC" panose="020B0907030504020204" pitchFamily="34" charset="0"/>
              </a:rPr>
              <a:t>-BIO</a:t>
            </a:r>
            <a:endParaRPr lang="zh-CN" altLang="en-US" sz="3000" dirty="0">
              <a:solidFill>
                <a:srgbClr val="EFA7A7"/>
              </a:solidFill>
              <a:highlight>
                <a:srgbClr val="4965AA"/>
              </a:highlight>
              <a:latin typeface="Eras Bold ITC" panose="020B0907030504020204" pitchFamily="34" charset="0"/>
            </a:endParaRPr>
          </a:p>
        </p:txBody>
      </p:sp>
      <p:sp>
        <p:nvSpPr>
          <p:cNvPr id="50" name="文本占位符 3"/>
          <p:cNvSpPr>
            <a:spLocks noGrp="1"/>
          </p:cNvSpPr>
          <p:nvPr>
            <p:ph type="body" sz="quarter" idx="10"/>
          </p:nvPr>
        </p:nvSpPr>
        <p:spPr>
          <a:xfrm>
            <a:off x="736600" y="6239103"/>
            <a:ext cx="423193" cy="230832"/>
          </a:xfrm>
        </p:spPr>
        <p:txBody>
          <a:bodyPr>
            <a:spAutoFit/>
          </a:bodyPr>
          <a:lstStyle/>
          <a:p>
            <a:r>
              <a:rPr lang="en-US" altLang="zh-CN" dirty="0"/>
              <a:t>2026</a:t>
            </a:r>
            <a:endParaRPr lang="zh-CN" altLang="en-US" dirty="0"/>
          </a:p>
        </p:txBody>
      </p:sp>
      <p:sp>
        <p:nvSpPr>
          <p:cNvPr id="51" name="文本占位符 5"/>
          <p:cNvSpPr>
            <a:spLocks noGrp="1"/>
          </p:cNvSpPr>
          <p:nvPr>
            <p:ph type="body" sz="quarter" idx="11"/>
          </p:nvPr>
        </p:nvSpPr>
        <p:spPr>
          <a:xfrm>
            <a:off x="1629314" y="6239103"/>
            <a:ext cx="768865" cy="230832"/>
          </a:xfrm>
        </p:spPr>
        <p:txBody>
          <a:bodyPr>
            <a:spAutoFit/>
          </a:bodyPr>
          <a:lstStyle/>
          <a:p>
            <a:r>
              <a:rPr lang="en-US" altLang="zh-CN" dirty="0"/>
              <a:t>May 17th</a:t>
            </a:r>
            <a:endParaRPr lang="en-US" altLang="zh-CN" dirty="0"/>
          </a:p>
        </p:txBody>
      </p:sp>
      <p:sp>
        <p:nvSpPr>
          <p:cNvPr id="52" name="文本框 51"/>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rgbClr val="4965AA"/>
                </a:solidFill>
                <a:highlight>
                  <a:srgbClr val="FFFFFF"/>
                </a:highlight>
              </a:rPr>
              <a:t>Southern University of </a:t>
            </a:r>
            <a:endParaRPr lang="en-US" altLang="zh-CN" sz="1000" cap="all" dirty="0">
              <a:solidFill>
                <a:srgbClr val="4965AA"/>
              </a:solidFill>
              <a:highlight>
                <a:srgbClr val="FFFFFF"/>
              </a:highlight>
            </a:endParaRPr>
          </a:p>
          <a:p>
            <a:pPr algn="r"/>
            <a:r>
              <a:rPr lang="en-US" altLang="zh-CN" sz="1000" cap="all" dirty="0">
                <a:solidFill>
                  <a:srgbClr val="4965AA"/>
                </a:solidFill>
                <a:highlight>
                  <a:srgbClr val="FFFFFF"/>
                </a:highlight>
              </a:rPr>
              <a:t>science and technology</a:t>
            </a:r>
            <a:endParaRPr lang="zh-CN" altLang="en-US" sz="1000" cap="all" dirty="0">
              <a:solidFill>
                <a:srgbClr val="4965AA"/>
              </a:solidFill>
              <a:highlight>
                <a:srgbClr val="FFFFFF"/>
              </a:highlight>
            </a:endParaRPr>
          </a:p>
        </p:txBody>
      </p:sp>
      <p:grpSp>
        <p:nvGrpSpPr>
          <p:cNvPr id="53" name="组合 52"/>
          <p:cNvGrpSpPr/>
          <p:nvPr/>
        </p:nvGrpSpPr>
        <p:grpSpPr>
          <a:xfrm>
            <a:off x="9799713" y="109178"/>
            <a:ext cx="2256250" cy="713649"/>
            <a:chOff x="9799713" y="109178"/>
            <a:chExt cx="2256250" cy="713649"/>
          </a:xfrm>
        </p:grpSpPr>
        <p:sp>
          <p:nvSpPr>
            <p:cNvPr id="54" name="矩形 53"/>
            <p:cNvSpPr/>
            <p:nvPr/>
          </p:nvSpPr>
          <p:spPr>
            <a:xfrm>
              <a:off x="9799713" y="197831"/>
              <a:ext cx="2117376" cy="3625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pic>
        <p:nvPicPr>
          <p:cNvPr id="58" name="图片 5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6510" y="-379570"/>
            <a:ext cx="1662864" cy="16664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3632797" y="4380910"/>
            <a:ext cx="7972463" cy="1507541"/>
            <a:chOff x="3632797" y="897555"/>
            <a:chExt cx="7972463" cy="1507541"/>
          </a:xfrm>
        </p:grpSpPr>
        <p:sp>
          <p:nvSpPr>
            <p:cNvPr id="15" name="矩形 14"/>
            <p:cNvSpPr/>
            <p:nvPr/>
          </p:nvSpPr>
          <p:spPr>
            <a:xfrm>
              <a:off x="3632797" y="897555"/>
              <a:ext cx="7972463" cy="1507541"/>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16" name="文本框 15"/>
            <p:cNvSpPr txBox="1"/>
            <p:nvPr/>
          </p:nvSpPr>
          <p:spPr>
            <a:xfrm>
              <a:off x="3892341" y="1059348"/>
              <a:ext cx="6533159" cy="738664"/>
            </a:xfrm>
            <a:prstGeom prst="rect">
              <a:avLst/>
            </a:prstGeom>
            <a:noFill/>
          </p:spPr>
          <p:txBody>
            <a:bodyPr wrap="square" lIns="0" tIns="0" rIns="0" bIns="0" rtlCol="0">
              <a:spAutoFit/>
            </a:bodyPr>
            <a:lstStyle/>
            <a:p>
              <a:r>
                <a:rPr lang="zh-CN" altLang="en-US" sz="2400" b="1" dirty="0">
                  <a:solidFill>
                    <a:schemeClr val="accent1"/>
                  </a:solidFill>
                </a:rPr>
                <a:t>分子动力学（</a:t>
              </a:r>
              <a:r>
                <a:rPr lang="en-US" altLang="zh-CN" sz="2400" b="1" dirty="0">
                  <a:solidFill>
                    <a:schemeClr val="accent1"/>
                  </a:solidFill>
                </a:rPr>
                <a:t>MD</a:t>
              </a:r>
              <a:r>
                <a:rPr lang="zh-CN" altLang="en-US" sz="2400" b="1" dirty="0">
                  <a:solidFill>
                    <a:schemeClr val="accent1"/>
                  </a:solidFill>
                </a:rPr>
                <a:t>）构象分析</a:t>
              </a:r>
              <a:endParaRPr lang="zh-CN" altLang="en-US" sz="2400" b="1" dirty="0">
                <a:solidFill>
                  <a:schemeClr val="accent1"/>
                </a:solidFill>
              </a:endParaRPr>
            </a:p>
            <a:p>
              <a:endParaRPr lang="zh-CN" altLang="en-US" sz="2400" b="1" dirty="0">
                <a:solidFill>
                  <a:schemeClr val="accent1"/>
                </a:solidFill>
              </a:endParaRPr>
            </a:p>
          </p:txBody>
        </p:sp>
        <p:sp>
          <p:nvSpPr>
            <p:cNvPr id="17" name="文本框 16"/>
            <p:cNvSpPr txBox="1"/>
            <p:nvPr/>
          </p:nvSpPr>
          <p:spPr>
            <a:xfrm>
              <a:off x="3888716" y="1570563"/>
              <a:ext cx="7503183" cy="660309"/>
            </a:xfrm>
            <a:prstGeom prst="rect">
              <a:avLst/>
            </a:prstGeom>
            <a:noFill/>
          </p:spPr>
          <p:txBody>
            <a:bodyPr wrap="square" lIns="0" tIns="0" rIns="0" bIns="0" rtlCol="0">
              <a:spAutoFit/>
            </a:bodyPr>
            <a:lstStyle/>
            <a:p>
              <a:pPr>
                <a:lnSpc>
                  <a:spcPct val="125000"/>
                </a:lnSpc>
              </a:pPr>
              <a:r>
                <a:rPr lang="zh-CN" altLang="en-US" dirty="0">
                  <a:solidFill>
                    <a:schemeClr val="tx1">
                      <a:lumMod val="85000"/>
                      <a:lumOff val="15000"/>
                    </a:schemeClr>
                  </a:solidFill>
                  <a:latin typeface="+mn-ea"/>
                </a:rPr>
                <a:t>使用软件（如 </a:t>
              </a:r>
              <a:r>
                <a:rPr lang="en-US" altLang="zh-CN" dirty="0">
                  <a:solidFill>
                    <a:schemeClr val="tx1">
                      <a:lumMod val="85000"/>
                      <a:lumOff val="15000"/>
                    </a:schemeClr>
                  </a:solidFill>
                  <a:latin typeface="+mn-ea"/>
                </a:rPr>
                <a:t>GROMACS </a:t>
              </a:r>
              <a:r>
                <a:rPr lang="zh-CN" altLang="en-US" dirty="0">
                  <a:solidFill>
                    <a:schemeClr val="tx1">
                      <a:lumMod val="85000"/>
                      <a:lumOff val="15000"/>
                    </a:schemeClr>
                  </a:solidFill>
                  <a:latin typeface="+mn-ea"/>
                </a:rPr>
                <a:t>或 </a:t>
              </a:r>
              <a:r>
                <a:rPr lang="en-US" altLang="zh-CN" dirty="0">
                  <a:solidFill>
                    <a:schemeClr val="tx1">
                      <a:lumMod val="85000"/>
                      <a:lumOff val="15000"/>
                    </a:schemeClr>
                  </a:solidFill>
                  <a:latin typeface="+mn-ea"/>
                </a:rPr>
                <a:t>AMBER</a:t>
              </a:r>
              <a:r>
                <a:rPr lang="zh-CN" altLang="en-US" dirty="0">
                  <a:solidFill>
                    <a:schemeClr val="tx1">
                      <a:lumMod val="85000"/>
                      <a:lumOff val="15000"/>
                    </a:schemeClr>
                  </a:solidFill>
                  <a:latin typeface="+mn-ea"/>
                </a:rPr>
                <a:t>）分析其在有无靶标</a:t>
              </a:r>
              <a:r>
                <a:rPr lang="en-US" altLang="zh-CN" dirty="0">
                  <a:solidFill>
                    <a:schemeClr val="tx1">
                      <a:lumMod val="85000"/>
                      <a:lumOff val="15000"/>
                    </a:schemeClr>
                  </a:solidFill>
                  <a:latin typeface="+mn-ea"/>
                </a:rPr>
                <a:t>RNA</a:t>
              </a:r>
              <a:r>
                <a:rPr lang="zh-CN" altLang="en-US" dirty="0">
                  <a:solidFill>
                    <a:schemeClr val="tx1">
                      <a:lumMod val="85000"/>
                      <a:lumOff val="15000"/>
                    </a:schemeClr>
                  </a:solidFill>
                  <a:latin typeface="+mn-ea"/>
                </a:rPr>
                <a:t>结合时的构象系综变化，初步验证其“开关”功能的可行性</a:t>
              </a:r>
              <a:endParaRPr lang="zh-CN" altLang="en-US" dirty="0">
                <a:solidFill>
                  <a:schemeClr val="tx1">
                    <a:lumMod val="85000"/>
                    <a:lumOff val="15000"/>
                  </a:schemeClr>
                </a:solidFill>
                <a:latin typeface="+mn-ea"/>
              </a:endParaRPr>
            </a:p>
          </p:txBody>
        </p:sp>
        <p:cxnSp>
          <p:nvCxnSpPr>
            <p:cNvPr id="18" name="直接连接符 17"/>
            <p:cNvCxnSpPr/>
            <p:nvPr/>
          </p:nvCxnSpPr>
          <p:spPr>
            <a:xfrm>
              <a:off x="3892341" y="1497713"/>
              <a:ext cx="1806585"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3632797" y="2639233"/>
            <a:ext cx="7972463" cy="1507541"/>
            <a:chOff x="3632797" y="897555"/>
            <a:chExt cx="7972463" cy="1507541"/>
          </a:xfrm>
        </p:grpSpPr>
        <p:sp>
          <p:nvSpPr>
            <p:cNvPr id="9" name="矩形 8"/>
            <p:cNvSpPr/>
            <p:nvPr/>
          </p:nvSpPr>
          <p:spPr>
            <a:xfrm>
              <a:off x="3632797" y="897555"/>
              <a:ext cx="7972463" cy="1507541"/>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10" name="文本框 9"/>
            <p:cNvSpPr txBox="1"/>
            <p:nvPr/>
          </p:nvSpPr>
          <p:spPr>
            <a:xfrm>
              <a:off x="3892341" y="1059348"/>
              <a:ext cx="6947506" cy="369332"/>
            </a:xfrm>
            <a:prstGeom prst="rect">
              <a:avLst/>
            </a:prstGeom>
            <a:noFill/>
          </p:spPr>
          <p:txBody>
            <a:bodyPr wrap="square" lIns="0" tIns="0" rIns="0" bIns="0" rtlCol="0">
              <a:spAutoFit/>
            </a:bodyPr>
            <a:lstStyle/>
            <a:p>
              <a:r>
                <a:rPr lang="en-US" altLang="zh-CN" sz="2400" b="1" dirty="0">
                  <a:solidFill>
                    <a:schemeClr val="accent1"/>
                  </a:solidFill>
                </a:rPr>
                <a:t>RNA </a:t>
              </a:r>
              <a:r>
                <a:rPr lang="zh-CN" altLang="en-US" sz="2400" b="1" dirty="0">
                  <a:solidFill>
                    <a:schemeClr val="accent1"/>
                  </a:solidFill>
                </a:rPr>
                <a:t>结合蛋白设计</a:t>
              </a:r>
              <a:endParaRPr lang="zh-CN" altLang="en-US" sz="2400" b="1" dirty="0">
                <a:solidFill>
                  <a:schemeClr val="accent1"/>
                </a:solidFill>
              </a:endParaRPr>
            </a:p>
          </p:txBody>
        </p:sp>
        <p:sp>
          <p:nvSpPr>
            <p:cNvPr id="12" name="文本框 11"/>
            <p:cNvSpPr txBox="1"/>
            <p:nvPr/>
          </p:nvSpPr>
          <p:spPr>
            <a:xfrm>
              <a:off x="3888716" y="1570563"/>
              <a:ext cx="7566684" cy="660758"/>
            </a:xfrm>
            <a:prstGeom prst="rect">
              <a:avLst/>
            </a:prstGeom>
            <a:noFill/>
          </p:spPr>
          <p:txBody>
            <a:bodyPr wrap="square" lIns="0" tIns="0" rIns="0" bIns="0" rtlCol="0">
              <a:spAutoFit/>
            </a:bodyPr>
            <a:lstStyle/>
            <a:p>
              <a:pPr>
                <a:lnSpc>
                  <a:spcPct val="125000"/>
                </a:lnSpc>
              </a:pPr>
              <a:r>
                <a:rPr lang="zh-CN" altLang="en-US" dirty="0">
                  <a:solidFill>
                    <a:schemeClr val="tx1">
                      <a:lumMod val="85000"/>
                      <a:lumOff val="15000"/>
                    </a:schemeClr>
                  </a:solidFill>
                  <a:latin typeface="+mn-ea"/>
                </a:rPr>
                <a:t>寻找潜在天然候选蛋白，通过</a:t>
              </a:r>
              <a:r>
                <a:rPr lang="en-US" altLang="zh-CN" dirty="0">
                  <a:solidFill>
                    <a:schemeClr val="tx1">
                      <a:lumMod val="85000"/>
                      <a:lumOff val="15000"/>
                    </a:schemeClr>
                  </a:solidFill>
                  <a:latin typeface="+mn-ea"/>
                </a:rPr>
                <a:t>AI</a:t>
              </a:r>
              <a:r>
                <a:rPr lang="zh-CN" altLang="en-US" dirty="0">
                  <a:solidFill>
                    <a:schemeClr val="tx1">
                      <a:lumMod val="85000"/>
                      <a:lumOff val="15000"/>
                    </a:schemeClr>
                  </a:solidFill>
                  <a:latin typeface="+mn-ea"/>
                </a:rPr>
                <a:t>辅助的蛋白质设计工具（如 </a:t>
              </a:r>
              <a:r>
                <a:rPr lang="en-US" altLang="zh-CN" dirty="0" err="1">
                  <a:solidFill>
                    <a:schemeClr val="tx1">
                      <a:lumMod val="85000"/>
                      <a:lumOff val="15000"/>
                    </a:schemeClr>
                  </a:solidFill>
                  <a:latin typeface="+mn-ea"/>
                </a:rPr>
                <a:t>RFdiffusion</a:t>
              </a:r>
              <a:r>
                <a:rPr lang="en-US" altLang="zh-CN" dirty="0">
                  <a:solidFill>
                    <a:schemeClr val="tx1">
                      <a:lumMod val="85000"/>
                      <a:lumOff val="15000"/>
                    </a:schemeClr>
                  </a:solidFill>
                  <a:latin typeface="+mn-ea"/>
                </a:rPr>
                <a:t> </a:t>
              </a:r>
              <a:r>
                <a:rPr lang="zh-CN" altLang="en-US" dirty="0">
                  <a:solidFill>
                    <a:schemeClr val="tx1">
                      <a:lumMod val="85000"/>
                      <a:lumOff val="15000"/>
                    </a:schemeClr>
                  </a:solidFill>
                  <a:latin typeface="+mn-ea"/>
                </a:rPr>
                <a:t>或 </a:t>
              </a:r>
              <a:r>
                <a:rPr lang="en-US" altLang="zh-CN" dirty="0" err="1">
                  <a:solidFill>
                    <a:schemeClr val="tx1">
                      <a:lumMod val="85000"/>
                      <a:lumOff val="15000"/>
                    </a:schemeClr>
                  </a:solidFill>
                  <a:latin typeface="+mn-ea"/>
                </a:rPr>
                <a:t>ProteinMPNN</a:t>
              </a:r>
              <a:r>
                <a:rPr lang="zh-CN" altLang="en-US" dirty="0">
                  <a:solidFill>
                    <a:schemeClr val="tx1">
                      <a:lumMod val="85000"/>
                      <a:lumOff val="15000"/>
                    </a:schemeClr>
                  </a:solidFill>
                  <a:latin typeface="+mn-ea"/>
                </a:rPr>
                <a:t>），改造对目标 </a:t>
              </a:r>
              <a:r>
                <a:rPr lang="en-US" altLang="zh-CN" dirty="0">
                  <a:solidFill>
                    <a:schemeClr val="tx1">
                      <a:lumMod val="85000"/>
                      <a:lumOff val="15000"/>
                    </a:schemeClr>
                  </a:solidFill>
                  <a:latin typeface="+mn-ea"/>
                </a:rPr>
                <a:t>RNA </a:t>
              </a:r>
              <a:r>
                <a:rPr lang="zh-CN" altLang="en-US" dirty="0">
                  <a:solidFill>
                    <a:schemeClr val="tx1">
                      <a:lumMod val="85000"/>
                      <a:lumOff val="15000"/>
                    </a:schemeClr>
                  </a:solidFill>
                  <a:latin typeface="+mn-ea"/>
                </a:rPr>
                <a:t>构象具有高亲和力的结合蛋白</a:t>
              </a:r>
              <a:endParaRPr lang="zh-CN" altLang="en-US" dirty="0">
                <a:solidFill>
                  <a:schemeClr val="tx1">
                    <a:lumMod val="85000"/>
                    <a:lumOff val="15000"/>
                  </a:schemeClr>
                </a:solidFill>
                <a:latin typeface="+mn-ea"/>
              </a:endParaRPr>
            </a:p>
          </p:txBody>
        </p:sp>
        <p:cxnSp>
          <p:nvCxnSpPr>
            <p:cNvPr id="13" name="直接连接符 12"/>
            <p:cNvCxnSpPr/>
            <p:nvPr/>
          </p:nvCxnSpPr>
          <p:spPr>
            <a:xfrm>
              <a:off x="3892341" y="1497713"/>
              <a:ext cx="180658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4" name="文本占位符 3"/>
          <p:cNvSpPr>
            <a:spLocks noGrp="1"/>
          </p:cNvSpPr>
          <p:nvPr>
            <p:ph type="body" sz="quarter" idx="10"/>
          </p:nvPr>
        </p:nvSpPr>
        <p:spPr>
          <a:xfrm>
            <a:off x="736600" y="6239103"/>
            <a:ext cx="423193" cy="230832"/>
          </a:xfrm>
        </p:spPr>
        <p:txBody>
          <a:bodyPr>
            <a:spAutoFit/>
          </a:bodyPr>
          <a:lstStyle/>
          <a:p>
            <a:r>
              <a:rPr lang="en-US" altLang="zh-CN" dirty="0"/>
              <a:t>2026</a:t>
            </a:r>
            <a:endParaRPr lang="zh-CN" altLang="en-US" dirty="0"/>
          </a:p>
        </p:txBody>
      </p:sp>
      <p:sp>
        <p:nvSpPr>
          <p:cNvPr id="6" name="文本占位符 5"/>
          <p:cNvSpPr>
            <a:spLocks noGrp="1"/>
          </p:cNvSpPr>
          <p:nvPr>
            <p:ph type="body" sz="quarter" idx="11"/>
          </p:nvPr>
        </p:nvSpPr>
        <p:spPr>
          <a:xfrm>
            <a:off x="1629314" y="6239103"/>
            <a:ext cx="768865" cy="230832"/>
          </a:xfrm>
        </p:spPr>
        <p:txBody>
          <a:bodyPr>
            <a:spAutoFit/>
          </a:bodyPr>
          <a:lstStyle/>
          <a:p>
            <a:r>
              <a:rPr lang="en-US" altLang="zh-CN" dirty="0"/>
              <a:t>May 17th</a:t>
            </a:r>
            <a:endParaRPr lang="en-US" altLang="zh-CN" dirty="0"/>
          </a:p>
        </p:txBody>
      </p:sp>
      <p:sp>
        <p:nvSpPr>
          <p:cNvPr id="65" name="文本框 64"/>
          <p:cNvSpPr txBox="1"/>
          <p:nvPr/>
        </p:nvSpPr>
        <p:spPr>
          <a:xfrm>
            <a:off x="435766" y="874904"/>
            <a:ext cx="2693045" cy="461665"/>
          </a:xfrm>
          <a:prstGeom prst="rect">
            <a:avLst/>
          </a:prstGeom>
          <a:noFill/>
        </p:spPr>
        <p:txBody>
          <a:bodyPr wrap="none" lIns="0" tIns="0" rIns="0" bIns="0" rtlCol="0">
            <a:spAutoFit/>
          </a:bodyPr>
          <a:lstStyle/>
          <a:p>
            <a:r>
              <a:rPr lang="zh-CN" altLang="en-US" sz="3000" b="1" dirty="0">
                <a:solidFill>
                  <a:schemeClr val="bg1"/>
                </a:solidFill>
                <a:latin typeface="+mj-ea"/>
                <a:ea typeface="+mj-ea"/>
              </a:rPr>
              <a:t>干实验核心技术</a:t>
            </a:r>
            <a:endParaRPr lang="zh-CN" altLang="en-US" sz="3000" b="1" dirty="0">
              <a:solidFill>
                <a:schemeClr val="bg1"/>
              </a:solidFill>
              <a:latin typeface="+mj-ea"/>
              <a:ea typeface="+mj-ea"/>
            </a:endParaRPr>
          </a:p>
        </p:txBody>
      </p:sp>
      <p:sp>
        <p:nvSpPr>
          <p:cNvPr id="83" name="文本框 82"/>
          <p:cNvSpPr txBox="1"/>
          <p:nvPr/>
        </p:nvSpPr>
        <p:spPr>
          <a:xfrm>
            <a:off x="4899070" y="2188535"/>
            <a:ext cx="1290418" cy="307777"/>
          </a:xfrm>
          <a:prstGeom prst="rect">
            <a:avLst/>
          </a:prstGeom>
          <a:noFill/>
        </p:spPr>
        <p:txBody>
          <a:bodyPr wrap="none" lIns="0" tIns="0" rIns="0" bIns="0" rtlCol="0">
            <a:spAutoFit/>
          </a:bodyPr>
          <a:lstStyle/>
          <a:p>
            <a:endParaRPr lang="zh-CN" altLang="en-US" sz="2000" b="1" dirty="0">
              <a:solidFill>
                <a:schemeClr val="bg1"/>
              </a:solidFill>
            </a:endParaRPr>
          </a:p>
        </p:txBody>
      </p:sp>
      <p:sp>
        <p:nvSpPr>
          <p:cNvPr id="84" name="文本框 83"/>
          <p:cNvSpPr txBox="1"/>
          <p:nvPr/>
        </p:nvSpPr>
        <p:spPr>
          <a:xfrm>
            <a:off x="8748910" y="2188535"/>
            <a:ext cx="1806585" cy="307777"/>
          </a:xfrm>
          <a:prstGeom prst="rect">
            <a:avLst/>
          </a:prstGeom>
          <a:noFill/>
        </p:spPr>
        <p:txBody>
          <a:bodyPr wrap="none" lIns="0" tIns="0" rIns="0" bIns="0" rtlCol="0">
            <a:spAutoFit/>
          </a:bodyPr>
          <a:lstStyle/>
          <a:p>
            <a:endParaRPr lang="zh-CN" altLang="en-US" sz="2000" b="1" dirty="0">
              <a:solidFill>
                <a:schemeClr val="bg1"/>
              </a:solidFill>
            </a:endParaRPr>
          </a:p>
        </p:txBody>
      </p:sp>
      <p:grpSp>
        <p:nvGrpSpPr>
          <p:cNvPr id="5" name="组合 4"/>
          <p:cNvGrpSpPr/>
          <p:nvPr/>
        </p:nvGrpSpPr>
        <p:grpSpPr>
          <a:xfrm>
            <a:off x="3632797" y="897555"/>
            <a:ext cx="7972463" cy="1507541"/>
            <a:chOff x="3632797" y="897555"/>
            <a:chExt cx="7972463" cy="1507541"/>
          </a:xfrm>
        </p:grpSpPr>
        <p:sp>
          <p:nvSpPr>
            <p:cNvPr id="7" name="矩形 6"/>
            <p:cNvSpPr/>
            <p:nvPr/>
          </p:nvSpPr>
          <p:spPr>
            <a:xfrm>
              <a:off x="3632797" y="897555"/>
              <a:ext cx="7972463" cy="1507541"/>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66" name="文本框 65"/>
            <p:cNvSpPr txBox="1"/>
            <p:nvPr/>
          </p:nvSpPr>
          <p:spPr>
            <a:xfrm>
              <a:off x="3892341" y="1059348"/>
              <a:ext cx="6533159" cy="738664"/>
            </a:xfrm>
            <a:prstGeom prst="rect">
              <a:avLst/>
            </a:prstGeom>
            <a:noFill/>
          </p:spPr>
          <p:txBody>
            <a:bodyPr wrap="square" lIns="0" tIns="0" rIns="0" bIns="0" rtlCol="0">
              <a:spAutoFit/>
            </a:bodyPr>
            <a:lstStyle/>
            <a:p>
              <a:r>
                <a:rPr lang="en-US" altLang="zh-CN" sz="2400" b="1" dirty="0">
                  <a:solidFill>
                    <a:schemeClr val="accent1"/>
                  </a:solidFill>
                </a:rPr>
                <a:t>AlphaFold 3 </a:t>
              </a:r>
              <a:r>
                <a:rPr lang="zh-CN" altLang="en-US" sz="2400" b="1" dirty="0">
                  <a:solidFill>
                    <a:schemeClr val="accent1"/>
                  </a:solidFill>
                </a:rPr>
                <a:t>结构预测 </a:t>
              </a:r>
              <a:r>
                <a:rPr lang="en-US" altLang="zh-CN" sz="2400" b="1" dirty="0">
                  <a:solidFill>
                    <a:schemeClr val="accent1"/>
                  </a:solidFill>
                </a:rPr>
                <a:t>&amp; </a:t>
              </a:r>
              <a:r>
                <a:rPr lang="zh-CN" altLang="en-US" sz="2400" b="1" dirty="0">
                  <a:solidFill>
                    <a:schemeClr val="accent1"/>
                  </a:solidFill>
                </a:rPr>
                <a:t>变构 </a:t>
              </a:r>
              <a:r>
                <a:rPr lang="en-US" altLang="zh-CN" sz="2400" b="1" dirty="0">
                  <a:solidFill>
                    <a:schemeClr val="accent1"/>
                  </a:solidFill>
                </a:rPr>
                <a:t>Linker </a:t>
              </a:r>
              <a:r>
                <a:rPr lang="zh-CN" altLang="en-US" sz="2400" b="1" dirty="0">
                  <a:solidFill>
                    <a:schemeClr val="accent1"/>
                  </a:solidFill>
                </a:rPr>
                <a:t>理性设计</a:t>
              </a:r>
              <a:endParaRPr lang="zh-CN" altLang="en-US" sz="2400" b="1" dirty="0">
                <a:solidFill>
                  <a:schemeClr val="accent1"/>
                </a:solidFill>
              </a:endParaRPr>
            </a:p>
            <a:p>
              <a:endParaRPr lang="zh-CN" altLang="en-US" sz="2400" b="1" dirty="0">
                <a:solidFill>
                  <a:schemeClr val="accent1"/>
                </a:solidFill>
              </a:endParaRPr>
            </a:p>
          </p:txBody>
        </p:sp>
        <p:sp>
          <p:nvSpPr>
            <p:cNvPr id="72" name="文本框 71"/>
            <p:cNvSpPr txBox="1"/>
            <p:nvPr/>
          </p:nvSpPr>
          <p:spPr>
            <a:xfrm>
              <a:off x="3888716" y="1570563"/>
              <a:ext cx="7503183" cy="660309"/>
            </a:xfrm>
            <a:prstGeom prst="rect">
              <a:avLst/>
            </a:prstGeom>
            <a:noFill/>
          </p:spPr>
          <p:txBody>
            <a:bodyPr wrap="square" lIns="0" tIns="0" rIns="0" bIns="0" rtlCol="0">
              <a:spAutoFit/>
            </a:bodyPr>
            <a:lstStyle/>
            <a:p>
              <a:pPr>
                <a:lnSpc>
                  <a:spcPct val="125000"/>
                </a:lnSpc>
              </a:pPr>
              <a:r>
                <a:rPr lang="en-US" altLang="zh-CN" dirty="0">
                  <a:solidFill>
                    <a:schemeClr val="tx1">
                      <a:lumMod val="85000"/>
                      <a:lumOff val="15000"/>
                    </a:schemeClr>
                  </a:solidFill>
                  <a:latin typeface="+mn-ea"/>
                </a:rPr>
                <a:t>Linker</a:t>
              </a:r>
              <a:r>
                <a:rPr lang="zh-CN" altLang="en-US" dirty="0">
                  <a:solidFill>
                    <a:schemeClr val="tx1">
                      <a:lumMod val="85000"/>
                      <a:lumOff val="15000"/>
                    </a:schemeClr>
                  </a:solidFill>
                  <a:latin typeface="+mn-ea"/>
                </a:rPr>
                <a:t>：从单纯物理纽带到构象调控开关，避免效应蛋白空间自由度失控</a:t>
              </a:r>
              <a:r>
                <a:rPr lang="zh-CN" altLang="en-US" dirty="0"/>
                <a:t>结合生成对抗网络 </a:t>
              </a:r>
              <a:r>
                <a:rPr lang="en-US" altLang="zh-CN" dirty="0"/>
                <a:t>GAN</a:t>
              </a:r>
              <a:r>
                <a:rPr lang="zh-CN" altLang="en-US" dirty="0"/>
                <a:t>、序列</a:t>
              </a:r>
              <a:r>
                <a:rPr lang="en-US" altLang="zh-CN" dirty="0"/>
                <a:t> - </a:t>
              </a:r>
              <a:r>
                <a:rPr lang="zh-CN" altLang="en-US" dirty="0"/>
                <a:t>结构预测模型进行 </a:t>
              </a:r>
              <a:r>
                <a:rPr lang="en-US" altLang="zh-CN" dirty="0"/>
                <a:t>Linker </a:t>
              </a:r>
              <a:r>
                <a:rPr lang="zh-CN" altLang="en-US" dirty="0"/>
                <a:t>迭代设计和优化</a:t>
              </a:r>
              <a:endParaRPr lang="zh-CN" altLang="en-US" dirty="0">
                <a:solidFill>
                  <a:schemeClr val="tx1">
                    <a:lumMod val="85000"/>
                    <a:lumOff val="15000"/>
                  </a:schemeClr>
                </a:solidFill>
                <a:latin typeface="+mn-ea"/>
              </a:endParaRPr>
            </a:p>
          </p:txBody>
        </p:sp>
        <p:cxnSp>
          <p:nvCxnSpPr>
            <p:cNvPr id="11" name="直接连接符 10"/>
            <p:cNvCxnSpPr/>
            <p:nvPr/>
          </p:nvCxnSpPr>
          <p:spPr>
            <a:xfrm>
              <a:off x="3892341" y="1497713"/>
              <a:ext cx="1806585"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488378" y="1482433"/>
            <a:ext cx="222232" cy="225426"/>
            <a:chOff x="1029398" y="1482433"/>
            <a:chExt cx="222232" cy="225426"/>
          </a:xfrm>
        </p:grpSpPr>
        <p:sp>
          <p:nvSpPr>
            <p:cNvPr id="88" name="矩形 87"/>
            <p:cNvSpPr/>
            <p:nvPr/>
          </p:nvSpPr>
          <p:spPr>
            <a:xfrm>
              <a:off x="1029398" y="1482433"/>
              <a:ext cx="183151" cy="1831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89" name="矩形 88"/>
            <p:cNvSpPr/>
            <p:nvPr/>
          </p:nvSpPr>
          <p:spPr>
            <a:xfrm>
              <a:off x="1068478" y="1524708"/>
              <a:ext cx="183152" cy="1831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9" name="文本框 18"/>
          <p:cNvSpPr txBox="1"/>
          <p:nvPr/>
        </p:nvSpPr>
        <p:spPr>
          <a:xfrm>
            <a:off x="-234542" y="2521960"/>
            <a:ext cx="3535208" cy="1580561"/>
          </a:xfrm>
          <a:prstGeom prst="rect">
            <a:avLst/>
          </a:prstGeom>
          <a:noFill/>
        </p:spPr>
        <p:txBody>
          <a:bodyPr wrap="square" lIns="0" tIns="0" rIns="0" bIns="0" rtlCol="0">
            <a:spAutoFit/>
          </a:bodyPr>
          <a:lstStyle/>
          <a:p>
            <a:pPr>
              <a:lnSpc>
                <a:spcPct val="125000"/>
              </a:lnSpc>
            </a:pPr>
            <a:r>
              <a:rPr lang="en-US" altLang="zh-CN" sz="2400" dirty="0">
                <a:solidFill>
                  <a:schemeClr val="bg1"/>
                </a:solidFill>
                <a:latin typeface="+mn-ea"/>
              </a:rPr>
              <a:t>      ·</a:t>
            </a:r>
            <a:r>
              <a:rPr lang="zh-CN" altLang="en-US" sz="2400" dirty="0">
                <a:solidFill>
                  <a:schemeClr val="bg1"/>
                </a:solidFill>
                <a:latin typeface="+mn-ea"/>
              </a:rPr>
              <a:t>最终目标：</a:t>
            </a:r>
            <a:endParaRPr lang="zh-CN" altLang="en-US" sz="2400" dirty="0">
              <a:solidFill>
                <a:schemeClr val="bg1"/>
              </a:solidFill>
              <a:latin typeface="+mn-ea"/>
            </a:endParaRPr>
          </a:p>
          <a:p>
            <a:pPr>
              <a:lnSpc>
                <a:spcPct val="125000"/>
              </a:lnSpc>
            </a:pPr>
            <a:r>
              <a:rPr lang="en-US" altLang="zh-CN" sz="2000" dirty="0">
                <a:solidFill>
                  <a:schemeClr val="bg1"/>
                </a:solidFill>
                <a:latin typeface="+mn-ea"/>
              </a:rPr>
              <a:t>	</a:t>
            </a:r>
            <a:r>
              <a:rPr lang="zh-CN" altLang="en-US" sz="2000" dirty="0">
                <a:solidFill>
                  <a:schemeClr val="bg1"/>
                </a:solidFill>
                <a:latin typeface="+mn-ea"/>
              </a:rPr>
              <a:t>产出</a:t>
            </a:r>
            <a:r>
              <a:rPr lang="en-US" altLang="zh-CN" sz="2000" dirty="0">
                <a:solidFill>
                  <a:schemeClr val="bg1"/>
                </a:solidFill>
                <a:latin typeface="+mn-ea"/>
              </a:rPr>
              <a:t>1-2 </a:t>
            </a:r>
            <a:r>
              <a:rPr lang="zh-CN" altLang="en-US" sz="2000" dirty="0">
                <a:solidFill>
                  <a:schemeClr val="bg1"/>
                </a:solidFill>
                <a:latin typeface="+mn-ea"/>
              </a:rPr>
              <a:t>个经计算模拟</a:t>
            </a:r>
            <a:endParaRPr lang="en-US" altLang="zh-CN" sz="2000" dirty="0">
              <a:solidFill>
                <a:schemeClr val="bg1"/>
              </a:solidFill>
              <a:latin typeface="+mn-ea"/>
            </a:endParaRPr>
          </a:p>
          <a:p>
            <a:pPr>
              <a:lnSpc>
                <a:spcPct val="125000"/>
              </a:lnSpc>
            </a:pPr>
            <a:r>
              <a:rPr lang="en-US" altLang="zh-CN" sz="2000" dirty="0">
                <a:solidFill>
                  <a:schemeClr val="bg1"/>
                </a:solidFill>
                <a:latin typeface="+mn-ea"/>
              </a:rPr>
              <a:t>	</a:t>
            </a:r>
            <a:r>
              <a:rPr lang="zh-CN" altLang="en-US" sz="2000" dirty="0">
                <a:solidFill>
                  <a:schemeClr val="bg1"/>
                </a:solidFill>
                <a:latin typeface="+mn-ea"/>
              </a:rPr>
              <a:t>预测，具有预期功能的</a:t>
            </a:r>
            <a:endParaRPr lang="en-US" altLang="zh-CN" sz="2000" dirty="0">
              <a:solidFill>
                <a:schemeClr val="bg1"/>
              </a:solidFill>
              <a:latin typeface="+mn-ea"/>
            </a:endParaRPr>
          </a:p>
          <a:p>
            <a:pPr>
              <a:lnSpc>
                <a:spcPct val="125000"/>
              </a:lnSpc>
            </a:pPr>
            <a:r>
              <a:rPr lang="en-US" altLang="zh-CN" sz="2000" dirty="0">
                <a:solidFill>
                  <a:schemeClr val="bg1"/>
                </a:solidFill>
                <a:latin typeface="+mn-ea"/>
              </a:rPr>
              <a:t>	</a:t>
            </a:r>
            <a:r>
              <a:rPr lang="zh-CN" altLang="en-US" sz="2000" dirty="0">
                <a:solidFill>
                  <a:schemeClr val="bg1"/>
                </a:solidFill>
                <a:latin typeface="+mn-ea"/>
              </a:rPr>
              <a:t>候选融合蛋白序列</a:t>
            </a:r>
            <a:endParaRPr lang="zh-CN" altLang="en-US" sz="2000" dirty="0">
              <a:solidFill>
                <a:schemeClr val="bg1"/>
              </a:solidFill>
              <a:latin typeface="+mn-ea"/>
            </a:endParaRPr>
          </a:p>
        </p:txBody>
      </p:sp>
      <p:sp>
        <p:nvSpPr>
          <p:cNvPr id="2" name="文本框 1"/>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4965AA"/>
                </a:highlight>
                <a:latin typeface="Eras Bold ITC" panose="020B0907030504020204" pitchFamily="34" charset="0"/>
              </a:rPr>
              <a:t>SUSTech</a:t>
            </a:r>
            <a:r>
              <a:rPr lang="en-US" altLang="zh-CN" sz="3000" dirty="0">
                <a:solidFill>
                  <a:srgbClr val="EFA7A7"/>
                </a:solidFill>
                <a:highlight>
                  <a:srgbClr val="4965AA"/>
                </a:highlight>
                <a:latin typeface="Eras Bold ITC" panose="020B0907030504020204" pitchFamily="34" charset="0"/>
              </a:rPr>
              <a:t>-BIO</a:t>
            </a:r>
            <a:endParaRPr lang="zh-CN" altLang="en-US" sz="3000" dirty="0">
              <a:solidFill>
                <a:srgbClr val="EFA7A7"/>
              </a:solidFill>
              <a:highlight>
                <a:srgbClr val="4965AA"/>
              </a:highlight>
              <a:latin typeface="Eras Bold ITC" panose="020B0907030504020204" pitchFamily="34" charset="0"/>
            </a:endParaRPr>
          </a:p>
        </p:txBody>
      </p:sp>
      <p:sp>
        <p:nvSpPr>
          <p:cNvPr id="20" name="文本框 19"/>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rgbClr val="4965AA"/>
                </a:solidFill>
                <a:highlight>
                  <a:srgbClr val="FFFFFF"/>
                </a:highlight>
              </a:rPr>
              <a:t>Southern University of </a:t>
            </a:r>
            <a:endParaRPr lang="en-US" altLang="zh-CN" sz="1000" cap="all" dirty="0">
              <a:solidFill>
                <a:srgbClr val="4965AA"/>
              </a:solidFill>
              <a:highlight>
                <a:srgbClr val="FFFFFF"/>
              </a:highlight>
            </a:endParaRPr>
          </a:p>
          <a:p>
            <a:pPr algn="r"/>
            <a:r>
              <a:rPr lang="en-US" altLang="zh-CN" sz="1000" cap="all" dirty="0">
                <a:solidFill>
                  <a:srgbClr val="4965AA"/>
                </a:solidFill>
                <a:highlight>
                  <a:srgbClr val="FFFFFF"/>
                </a:highlight>
              </a:rPr>
              <a:t>science and technology</a:t>
            </a:r>
            <a:endParaRPr lang="zh-CN" altLang="en-US" sz="1000" cap="all" dirty="0">
              <a:solidFill>
                <a:srgbClr val="4965AA"/>
              </a:solidFill>
              <a:highlight>
                <a:srgbClr val="FFFFFF"/>
              </a:highlight>
            </a:endParaRPr>
          </a:p>
        </p:txBody>
      </p:sp>
      <p:grpSp>
        <p:nvGrpSpPr>
          <p:cNvPr id="21" name="组合 20"/>
          <p:cNvGrpSpPr/>
          <p:nvPr/>
        </p:nvGrpSpPr>
        <p:grpSpPr>
          <a:xfrm>
            <a:off x="9799713" y="109178"/>
            <a:ext cx="2256250" cy="713649"/>
            <a:chOff x="9799713" y="109178"/>
            <a:chExt cx="2256250" cy="713649"/>
          </a:xfrm>
        </p:grpSpPr>
        <p:sp>
          <p:nvSpPr>
            <p:cNvPr id="22" name="矩形 21"/>
            <p:cNvSpPr/>
            <p:nvPr/>
          </p:nvSpPr>
          <p:spPr>
            <a:xfrm>
              <a:off x="9799713" y="197831"/>
              <a:ext cx="2117376" cy="5363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pic>
        <p:nvPicPr>
          <p:cNvPr id="25" name="图片 2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6510" y="-379570"/>
            <a:ext cx="1662864" cy="1666463"/>
          </a:xfrm>
          <a:prstGeom prst="rect">
            <a:avLst/>
          </a:prstGeom>
        </p:spPr>
      </p:pic>
      <p:grpSp>
        <p:nvGrpSpPr>
          <p:cNvPr id="26" name="组合 25"/>
          <p:cNvGrpSpPr/>
          <p:nvPr/>
        </p:nvGrpSpPr>
        <p:grpSpPr>
          <a:xfrm>
            <a:off x="6314175" y="6479654"/>
            <a:ext cx="5715686" cy="190519"/>
            <a:chOff x="3730218" y="6260069"/>
            <a:chExt cx="5988169" cy="184666"/>
          </a:xfrm>
        </p:grpSpPr>
        <p:grpSp>
          <p:nvGrpSpPr>
            <p:cNvPr id="27" name="组合 26"/>
            <p:cNvGrpSpPr/>
            <p:nvPr/>
          </p:nvGrpSpPr>
          <p:grpSpPr>
            <a:xfrm>
              <a:off x="4682111" y="6260069"/>
              <a:ext cx="897875" cy="184666"/>
              <a:chOff x="4914007" y="6260069"/>
              <a:chExt cx="897875" cy="184666"/>
            </a:xfrm>
          </p:grpSpPr>
          <p:sp>
            <p:nvSpPr>
              <p:cNvPr id="41" name="文本框 40"/>
              <p:cNvSpPr txBox="1"/>
              <p:nvPr/>
            </p:nvSpPr>
            <p:spPr>
              <a:xfrm>
                <a:off x="5042441" y="6260069"/>
                <a:ext cx="769441" cy="184666"/>
              </a:xfrm>
              <a:prstGeom prst="rect">
                <a:avLst/>
              </a:prstGeom>
              <a:noFill/>
            </p:spPr>
            <p:txBody>
              <a:bodyPr wrap="none" lIns="0" tIns="0" rIns="0" bIns="0" rtlCol="0">
                <a:spAutoFit/>
              </a:bodyPr>
              <a:lstStyle/>
              <a:p>
                <a:r>
                  <a:rPr lang="zh-CN" altLang="en-US" sz="1200" dirty="0">
                    <a:solidFill>
                      <a:srgbClr val="4965AA">
                        <a:alpha val="50000"/>
                      </a:srgbClr>
                    </a:solidFill>
                  </a:rPr>
                  <a:t>核心创新点</a:t>
                </a:r>
                <a:endParaRPr lang="zh-CN" altLang="en-US" sz="1200" dirty="0">
                  <a:solidFill>
                    <a:srgbClr val="4965AA">
                      <a:alpha val="50000"/>
                    </a:srgbClr>
                  </a:solidFill>
                </a:endParaRPr>
              </a:p>
            </p:txBody>
          </p:sp>
          <p:sp>
            <p:nvSpPr>
              <p:cNvPr id="42" name="椭圆 41"/>
              <p:cNvSpPr/>
              <p:nvPr/>
            </p:nvSpPr>
            <p:spPr>
              <a:xfrm>
                <a:off x="4914007"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28" name="组合 27"/>
            <p:cNvGrpSpPr/>
            <p:nvPr/>
          </p:nvGrpSpPr>
          <p:grpSpPr>
            <a:xfrm>
              <a:off x="5787892" y="6260069"/>
              <a:ext cx="1565046" cy="184666"/>
              <a:chOff x="6097796" y="6260069"/>
              <a:chExt cx="1565046" cy="184666"/>
            </a:xfrm>
          </p:grpSpPr>
          <p:sp>
            <p:nvSpPr>
              <p:cNvPr id="39" name="文本框 38"/>
              <p:cNvSpPr txBox="1"/>
              <p:nvPr/>
            </p:nvSpPr>
            <p:spPr>
              <a:xfrm>
                <a:off x="6226230" y="6260069"/>
                <a:ext cx="1436612" cy="184666"/>
              </a:xfrm>
              <a:prstGeom prst="rect">
                <a:avLst/>
              </a:prstGeom>
              <a:noFill/>
            </p:spPr>
            <p:txBody>
              <a:bodyPr wrap="none" lIns="0" tIns="0" rIns="0" bIns="0" rtlCol="0">
                <a:spAutoFit/>
              </a:bodyPr>
              <a:lstStyle/>
              <a:p>
                <a:r>
                  <a:rPr lang="zh-CN" altLang="en-US" sz="1200" b="1" dirty="0">
                    <a:solidFill>
                      <a:srgbClr val="4965AA"/>
                    </a:solidFill>
                  </a:rPr>
                  <a:t>系统设计与机制解析</a:t>
                </a:r>
                <a:endParaRPr lang="zh-CN" altLang="en-US" sz="1200" b="1" dirty="0">
                  <a:solidFill>
                    <a:srgbClr val="4965AA"/>
                  </a:solidFill>
                </a:endParaRPr>
              </a:p>
            </p:txBody>
          </p:sp>
          <p:sp>
            <p:nvSpPr>
              <p:cNvPr id="40" name="椭圆 39"/>
              <p:cNvSpPr/>
              <p:nvPr/>
            </p:nvSpPr>
            <p:spPr>
              <a:xfrm>
                <a:off x="6097796"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29" name="组合 28"/>
            <p:cNvGrpSpPr/>
            <p:nvPr/>
          </p:nvGrpSpPr>
          <p:grpSpPr>
            <a:xfrm>
              <a:off x="7560844" y="6260069"/>
              <a:ext cx="1051763" cy="184666"/>
              <a:chOff x="7589362" y="6260069"/>
              <a:chExt cx="1051763" cy="184666"/>
            </a:xfrm>
          </p:grpSpPr>
          <p:sp>
            <p:nvSpPr>
              <p:cNvPr id="37" name="文本框 36"/>
              <p:cNvSpPr txBox="1"/>
              <p:nvPr/>
            </p:nvSpPr>
            <p:spPr>
              <a:xfrm>
                <a:off x="7717795" y="6260069"/>
                <a:ext cx="923330"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预期结果分析</a:t>
                </a:r>
                <a:endParaRPr lang="zh-CN" altLang="en-US" sz="1200" dirty="0">
                  <a:solidFill>
                    <a:schemeClr val="accent1">
                      <a:lumMod val="60000"/>
                      <a:lumOff val="40000"/>
                    </a:schemeClr>
                  </a:solidFill>
                </a:endParaRPr>
              </a:p>
            </p:txBody>
          </p:sp>
          <p:sp>
            <p:nvSpPr>
              <p:cNvPr id="38" name="椭圆 37"/>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30" name="组合 29"/>
            <p:cNvGrpSpPr/>
            <p:nvPr/>
          </p:nvGrpSpPr>
          <p:grpSpPr>
            <a:xfrm>
              <a:off x="3730218" y="6260069"/>
              <a:ext cx="743987" cy="184666"/>
              <a:chOff x="3730218" y="6260069"/>
              <a:chExt cx="743987" cy="184666"/>
            </a:xfrm>
          </p:grpSpPr>
          <p:sp>
            <p:nvSpPr>
              <p:cNvPr id="35" name="文本框 34"/>
              <p:cNvSpPr txBox="1"/>
              <p:nvPr/>
            </p:nvSpPr>
            <p:spPr>
              <a:xfrm>
                <a:off x="3858652" y="6260069"/>
                <a:ext cx="615553" cy="184666"/>
              </a:xfrm>
              <a:prstGeom prst="rect">
                <a:avLst/>
              </a:prstGeom>
              <a:noFill/>
            </p:spPr>
            <p:txBody>
              <a:bodyPr wrap="none" lIns="0" tIns="0" rIns="0" bIns="0" rtlCol="0">
                <a:spAutoFit/>
              </a:bodyPr>
              <a:lstStyle/>
              <a:p>
                <a:r>
                  <a:rPr lang="zh-CN" altLang="en-US" sz="1200" dirty="0">
                    <a:solidFill>
                      <a:srgbClr val="A5B3D6"/>
                    </a:solidFill>
                  </a:rPr>
                  <a:t>科学问题</a:t>
                </a:r>
                <a:endParaRPr lang="zh-CN" altLang="en-US" sz="1200" dirty="0">
                  <a:solidFill>
                    <a:srgbClr val="A5B3D6"/>
                  </a:solidFill>
                </a:endParaRPr>
              </a:p>
            </p:txBody>
          </p:sp>
          <p:sp>
            <p:nvSpPr>
              <p:cNvPr id="36" name="椭圆 35"/>
              <p:cNvSpPr/>
              <p:nvPr/>
            </p:nvSpPr>
            <p:spPr>
              <a:xfrm>
                <a:off x="3730218"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31" name="椭圆 30"/>
            <p:cNvSpPr/>
            <p:nvPr/>
          </p:nvSpPr>
          <p:spPr>
            <a:xfrm>
              <a:off x="5750427" y="6301988"/>
              <a:ext cx="120650" cy="120650"/>
            </a:xfrm>
            <a:prstGeom prst="ellipse">
              <a:avLst/>
            </a:prstGeom>
            <a:noFill/>
            <a:ln w="6350">
              <a:solidFill>
                <a:srgbClr val="4965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32" name="组合 31"/>
            <p:cNvGrpSpPr/>
            <p:nvPr/>
          </p:nvGrpSpPr>
          <p:grpSpPr>
            <a:xfrm>
              <a:off x="8820513" y="6260069"/>
              <a:ext cx="897874" cy="184666"/>
              <a:chOff x="7589362" y="6260069"/>
              <a:chExt cx="897874" cy="184666"/>
            </a:xfrm>
          </p:grpSpPr>
          <p:sp>
            <p:nvSpPr>
              <p:cNvPr id="33" name="文本框 32"/>
              <p:cNvSpPr txBox="1"/>
              <p:nvPr/>
            </p:nvSpPr>
            <p:spPr>
              <a:xfrm>
                <a:off x="7717795" y="6260069"/>
                <a:ext cx="769441"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意义与展望</a:t>
                </a:r>
                <a:endParaRPr lang="zh-CN" altLang="en-US" sz="1200" dirty="0">
                  <a:solidFill>
                    <a:schemeClr val="accent1">
                      <a:lumMod val="60000"/>
                      <a:lumOff val="40000"/>
                    </a:schemeClr>
                  </a:solidFill>
                </a:endParaRPr>
              </a:p>
            </p:txBody>
          </p:sp>
          <p:sp>
            <p:nvSpPr>
              <p:cNvPr id="34" name="椭圆 33"/>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736600" y="6239103"/>
            <a:ext cx="423193" cy="230832"/>
          </a:xfrm>
        </p:spPr>
        <p:txBody>
          <a:bodyPr>
            <a:spAutoFit/>
          </a:bodyPr>
          <a:lstStyle/>
          <a:p>
            <a:r>
              <a:rPr lang="en-US" altLang="zh-CN" dirty="0"/>
              <a:t>2026</a:t>
            </a:r>
            <a:endParaRPr lang="zh-CN" altLang="en-US" dirty="0"/>
          </a:p>
        </p:txBody>
      </p:sp>
      <p:sp>
        <p:nvSpPr>
          <p:cNvPr id="6" name="文本占位符 5"/>
          <p:cNvSpPr>
            <a:spLocks noGrp="1"/>
          </p:cNvSpPr>
          <p:nvPr>
            <p:ph type="body" sz="quarter" idx="11"/>
          </p:nvPr>
        </p:nvSpPr>
        <p:spPr>
          <a:xfrm>
            <a:off x="1629314" y="6239103"/>
            <a:ext cx="768865" cy="230832"/>
          </a:xfrm>
        </p:spPr>
        <p:txBody>
          <a:bodyPr>
            <a:spAutoFit/>
          </a:bodyPr>
          <a:lstStyle/>
          <a:p>
            <a:r>
              <a:rPr lang="en-US" altLang="zh-CN" dirty="0"/>
              <a:t>May 17th</a:t>
            </a:r>
            <a:endParaRPr lang="en-US" altLang="zh-CN" dirty="0"/>
          </a:p>
        </p:txBody>
      </p:sp>
      <p:sp>
        <p:nvSpPr>
          <p:cNvPr id="65" name="文本框 64"/>
          <p:cNvSpPr txBox="1"/>
          <p:nvPr/>
        </p:nvSpPr>
        <p:spPr>
          <a:xfrm>
            <a:off x="435766" y="874904"/>
            <a:ext cx="2693045" cy="461665"/>
          </a:xfrm>
          <a:prstGeom prst="rect">
            <a:avLst/>
          </a:prstGeom>
          <a:noFill/>
        </p:spPr>
        <p:txBody>
          <a:bodyPr wrap="none" lIns="0" tIns="0" rIns="0" bIns="0" rtlCol="0">
            <a:spAutoFit/>
          </a:bodyPr>
          <a:lstStyle/>
          <a:p>
            <a:r>
              <a:rPr lang="zh-CN" altLang="en-US" sz="3000" b="1" dirty="0">
                <a:solidFill>
                  <a:schemeClr val="bg1"/>
                </a:solidFill>
                <a:latin typeface="+mj-ea"/>
                <a:ea typeface="+mj-ea"/>
              </a:rPr>
              <a:t>湿实验核心技术</a:t>
            </a:r>
            <a:endParaRPr lang="zh-CN" altLang="en-US" sz="3000" b="1" dirty="0">
              <a:solidFill>
                <a:schemeClr val="bg1"/>
              </a:solidFill>
              <a:latin typeface="+mj-ea"/>
              <a:ea typeface="+mj-ea"/>
            </a:endParaRPr>
          </a:p>
        </p:txBody>
      </p:sp>
      <p:sp>
        <p:nvSpPr>
          <p:cNvPr id="83" name="文本框 82"/>
          <p:cNvSpPr txBox="1"/>
          <p:nvPr/>
        </p:nvSpPr>
        <p:spPr>
          <a:xfrm>
            <a:off x="4899070" y="2188535"/>
            <a:ext cx="1290418" cy="307777"/>
          </a:xfrm>
          <a:prstGeom prst="rect">
            <a:avLst/>
          </a:prstGeom>
          <a:noFill/>
        </p:spPr>
        <p:txBody>
          <a:bodyPr wrap="none" lIns="0" tIns="0" rIns="0" bIns="0" rtlCol="0">
            <a:spAutoFit/>
          </a:bodyPr>
          <a:lstStyle/>
          <a:p>
            <a:endParaRPr lang="zh-CN" altLang="en-US" sz="2000" b="1" dirty="0">
              <a:solidFill>
                <a:schemeClr val="bg1"/>
              </a:solidFill>
            </a:endParaRPr>
          </a:p>
        </p:txBody>
      </p:sp>
      <p:sp>
        <p:nvSpPr>
          <p:cNvPr id="84" name="文本框 83"/>
          <p:cNvSpPr txBox="1"/>
          <p:nvPr/>
        </p:nvSpPr>
        <p:spPr>
          <a:xfrm>
            <a:off x="8748910" y="2188535"/>
            <a:ext cx="1806585" cy="307777"/>
          </a:xfrm>
          <a:prstGeom prst="rect">
            <a:avLst/>
          </a:prstGeom>
          <a:noFill/>
        </p:spPr>
        <p:txBody>
          <a:bodyPr wrap="none" lIns="0" tIns="0" rIns="0" bIns="0" rtlCol="0">
            <a:spAutoFit/>
          </a:bodyPr>
          <a:lstStyle/>
          <a:p>
            <a:endParaRPr lang="zh-CN" altLang="en-US" sz="2000" b="1" dirty="0">
              <a:solidFill>
                <a:schemeClr val="bg1"/>
              </a:solidFill>
            </a:endParaRPr>
          </a:p>
        </p:txBody>
      </p:sp>
      <p:grpSp>
        <p:nvGrpSpPr>
          <p:cNvPr id="3" name="组合 2"/>
          <p:cNvGrpSpPr/>
          <p:nvPr/>
        </p:nvGrpSpPr>
        <p:grpSpPr>
          <a:xfrm>
            <a:off x="3203536" y="649478"/>
            <a:ext cx="222232" cy="225426"/>
            <a:chOff x="1029398" y="1482433"/>
            <a:chExt cx="222232" cy="225426"/>
          </a:xfrm>
        </p:grpSpPr>
        <p:sp>
          <p:nvSpPr>
            <p:cNvPr id="88" name="矩形 87"/>
            <p:cNvSpPr/>
            <p:nvPr/>
          </p:nvSpPr>
          <p:spPr>
            <a:xfrm>
              <a:off x="1029398" y="1482433"/>
              <a:ext cx="183151" cy="1831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89" name="矩形 88"/>
            <p:cNvSpPr/>
            <p:nvPr/>
          </p:nvSpPr>
          <p:spPr>
            <a:xfrm>
              <a:off x="1068478" y="1524708"/>
              <a:ext cx="183152" cy="1831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2" name="组合 1"/>
          <p:cNvGrpSpPr/>
          <p:nvPr/>
        </p:nvGrpSpPr>
        <p:grpSpPr>
          <a:xfrm>
            <a:off x="731840" y="1719448"/>
            <a:ext cx="2471696" cy="4137792"/>
            <a:chOff x="731840" y="1315588"/>
            <a:chExt cx="2471696" cy="4137792"/>
          </a:xfrm>
        </p:grpSpPr>
        <p:sp>
          <p:nvSpPr>
            <p:cNvPr id="20" name="矩形 19"/>
            <p:cNvSpPr/>
            <p:nvPr/>
          </p:nvSpPr>
          <p:spPr>
            <a:xfrm>
              <a:off x="815660" y="1409568"/>
              <a:ext cx="2387876" cy="4043812"/>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p>
          </p:txBody>
        </p:sp>
        <p:sp>
          <p:nvSpPr>
            <p:cNvPr id="21" name="矩形 20"/>
            <p:cNvSpPr/>
            <p:nvPr/>
          </p:nvSpPr>
          <p:spPr>
            <a:xfrm>
              <a:off x="731840" y="1315588"/>
              <a:ext cx="2387876" cy="4043812"/>
            </a:xfrm>
            <a:prstGeom prst="rect">
              <a:avLst/>
            </a:prstGeom>
            <a:solidFill>
              <a:schemeClr val="bg1"/>
            </a:solidFill>
            <a:ln>
              <a:solidFill>
                <a:srgbClr val="4965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22" name="文本框 21"/>
            <p:cNvSpPr txBox="1"/>
            <p:nvPr/>
          </p:nvSpPr>
          <p:spPr>
            <a:xfrm>
              <a:off x="884335" y="1496607"/>
              <a:ext cx="2250525" cy="880369"/>
            </a:xfrm>
            <a:prstGeom prst="rect">
              <a:avLst/>
            </a:prstGeom>
            <a:noFill/>
          </p:spPr>
          <p:txBody>
            <a:bodyPr wrap="square" lIns="0" tIns="0" rIns="0" bIns="0" rtlCol="0">
              <a:spAutoFit/>
            </a:bodyPr>
            <a:lstStyle/>
            <a:p>
              <a:pPr lvl="0">
                <a:lnSpc>
                  <a:spcPct val="125000"/>
                </a:lnSpc>
              </a:pPr>
              <a:r>
                <a:rPr lang="zh-CN" altLang="en-US" sz="2400" b="1" dirty="0">
                  <a:solidFill>
                    <a:srgbClr val="4965AA"/>
                  </a:solidFill>
                </a:rPr>
                <a:t>重组蛋白</a:t>
              </a:r>
              <a:endParaRPr lang="en-US" altLang="zh-CN" sz="2400" b="1" dirty="0">
                <a:solidFill>
                  <a:srgbClr val="4965AA"/>
                </a:solidFill>
              </a:endParaRPr>
            </a:p>
            <a:p>
              <a:pPr lvl="0">
                <a:lnSpc>
                  <a:spcPct val="125000"/>
                </a:lnSpc>
              </a:pPr>
              <a:r>
                <a:rPr lang="zh-CN" altLang="en-US" sz="2400" b="1" dirty="0">
                  <a:solidFill>
                    <a:srgbClr val="4965AA"/>
                  </a:solidFill>
                </a:rPr>
                <a:t>表达与纯化</a:t>
              </a:r>
              <a:endParaRPr lang="zh-CN" altLang="en-US" sz="2400" dirty="0">
                <a:solidFill>
                  <a:srgbClr val="4965AA"/>
                </a:solidFill>
              </a:endParaRPr>
            </a:p>
          </p:txBody>
        </p:sp>
        <p:sp>
          <p:nvSpPr>
            <p:cNvPr id="24" name="文本框 23"/>
            <p:cNvSpPr txBox="1"/>
            <p:nvPr/>
          </p:nvSpPr>
          <p:spPr>
            <a:xfrm>
              <a:off x="884335" y="2745371"/>
              <a:ext cx="2113177" cy="1353256"/>
            </a:xfrm>
            <a:prstGeom prst="rect">
              <a:avLst/>
            </a:prstGeom>
            <a:noFill/>
          </p:spPr>
          <p:txBody>
            <a:bodyPr wrap="square" lIns="0" tIns="0" rIns="0" bIns="0" rtlCol="0">
              <a:spAutoFit/>
            </a:bodyPr>
            <a:lstStyle/>
            <a:p>
              <a:pPr>
                <a:lnSpc>
                  <a:spcPct val="125000"/>
                </a:lnSpc>
              </a:pPr>
              <a:r>
                <a:rPr lang="zh-CN" altLang="en-US" dirty="0">
                  <a:latin typeface="+mn-ea"/>
                </a:rPr>
                <a:t>构建真核载体，</a:t>
              </a:r>
              <a:endParaRPr lang="en-US" altLang="zh-CN" dirty="0">
                <a:latin typeface="+mn-ea"/>
              </a:endParaRPr>
            </a:p>
            <a:p>
              <a:pPr>
                <a:lnSpc>
                  <a:spcPct val="125000"/>
                </a:lnSpc>
              </a:pPr>
              <a:r>
                <a:rPr lang="en-US" altLang="zh-CN" dirty="0">
                  <a:latin typeface="+mn-ea"/>
                </a:rPr>
                <a:t>HEK293T </a:t>
              </a:r>
              <a:r>
                <a:rPr lang="zh-CN" altLang="en-US" dirty="0">
                  <a:latin typeface="+mn-ea"/>
                </a:rPr>
                <a:t>瞬转表达，</a:t>
              </a:r>
              <a:endParaRPr lang="en-US" altLang="zh-CN" dirty="0">
                <a:latin typeface="+mn-ea"/>
              </a:endParaRPr>
            </a:p>
            <a:p>
              <a:pPr>
                <a:lnSpc>
                  <a:spcPct val="125000"/>
                </a:lnSpc>
              </a:pPr>
              <a:r>
                <a:rPr lang="en-US" altLang="zh-CN" dirty="0">
                  <a:latin typeface="+mn-ea"/>
                </a:rPr>
                <a:t>Ni-NTA</a:t>
              </a:r>
              <a:r>
                <a:rPr lang="zh-CN" altLang="en-US" dirty="0">
                  <a:latin typeface="+mn-ea"/>
                </a:rPr>
                <a:t>与</a:t>
              </a:r>
              <a:r>
                <a:rPr lang="en-US" altLang="zh-CN" dirty="0">
                  <a:latin typeface="+mn-ea"/>
                </a:rPr>
                <a:t>SEC</a:t>
              </a:r>
              <a:r>
                <a:rPr lang="zh-CN" altLang="en-US" dirty="0">
                  <a:latin typeface="+mn-ea"/>
                </a:rPr>
                <a:t>联用，纯化高纯度蛋白</a:t>
              </a:r>
              <a:endParaRPr lang="zh-CN" altLang="en-US" dirty="0">
                <a:latin typeface="+mn-ea"/>
              </a:endParaRPr>
            </a:p>
          </p:txBody>
        </p:sp>
        <p:cxnSp>
          <p:nvCxnSpPr>
            <p:cNvPr id="25" name="直接连接符 24"/>
            <p:cNvCxnSpPr/>
            <p:nvPr/>
          </p:nvCxnSpPr>
          <p:spPr>
            <a:xfrm>
              <a:off x="869191" y="2561173"/>
              <a:ext cx="2113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3497012" y="1719448"/>
            <a:ext cx="2471696" cy="4137792"/>
            <a:chOff x="731840" y="1315588"/>
            <a:chExt cx="2471696" cy="4137792"/>
          </a:xfrm>
        </p:grpSpPr>
        <p:sp>
          <p:nvSpPr>
            <p:cNvPr id="27" name="矩形 26"/>
            <p:cNvSpPr/>
            <p:nvPr/>
          </p:nvSpPr>
          <p:spPr>
            <a:xfrm>
              <a:off x="815660" y="1409568"/>
              <a:ext cx="2387876" cy="4043812"/>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p>
          </p:txBody>
        </p:sp>
        <p:sp>
          <p:nvSpPr>
            <p:cNvPr id="28" name="矩形 27"/>
            <p:cNvSpPr/>
            <p:nvPr/>
          </p:nvSpPr>
          <p:spPr>
            <a:xfrm>
              <a:off x="731840" y="1315588"/>
              <a:ext cx="2387876" cy="4043812"/>
            </a:xfrm>
            <a:prstGeom prst="rect">
              <a:avLst/>
            </a:prstGeom>
            <a:solidFill>
              <a:schemeClr val="bg1"/>
            </a:solidFill>
            <a:ln>
              <a:solidFill>
                <a:srgbClr val="4965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29" name="文本框 28"/>
            <p:cNvSpPr txBox="1"/>
            <p:nvPr/>
          </p:nvSpPr>
          <p:spPr>
            <a:xfrm>
              <a:off x="869191" y="1609078"/>
              <a:ext cx="1231106" cy="369332"/>
            </a:xfrm>
            <a:prstGeom prst="rect">
              <a:avLst/>
            </a:prstGeom>
            <a:noFill/>
          </p:spPr>
          <p:txBody>
            <a:bodyPr wrap="none" lIns="0" tIns="0" rIns="0" bIns="0" rtlCol="0">
              <a:spAutoFit/>
            </a:bodyPr>
            <a:lstStyle/>
            <a:p>
              <a:pPr lvl="0"/>
              <a:r>
                <a:rPr lang="zh-CN" altLang="en-US" sz="2400" b="1" dirty="0">
                  <a:solidFill>
                    <a:srgbClr val="4965AA"/>
                  </a:solidFill>
                </a:rPr>
                <a:t>体外转录</a:t>
              </a:r>
              <a:endParaRPr lang="zh-CN" altLang="en-US" sz="2400" dirty="0">
                <a:solidFill>
                  <a:srgbClr val="4965AA"/>
                </a:solidFill>
              </a:endParaRPr>
            </a:p>
          </p:txBody>
        </p:sp>
        <p:sp>
          <p:nvSpPr>
            <p:cNvPr id="31" name="文本框 30"/>
            <p:cNvSpPr txBox="1"/>
            <p:nvPr/>
          </p:nvSpPr>
          <p:spPr>
            <a:xfrm>
              <a:off x="815849" y="2411314"/>
              <a:ext cx="2303867" cy="2257349"/>
            </a:xfrm>
            <a:prstGeom prst="rect">
              <a:avLst/>
            </a:prstGeom>
            <a:noFill/>
          </p:spPr>
          <p:txBody>
            <a:bodyPr wrap="square" lIns="0" tIns="0" rIns="0" bIns="0" rtlCol="0">
              <a:spAutoFit/>
            </a:bodyPr>
            <a:lstStyle/>
            <a:p>
              <a:pPr>
                <a:lnSpc>
                  <a:spcPct val="125000"/>
                </a:lnSpc>
              </a:pPr>
              <a:r>
                <a:rPr lang="zh-CN" altLang="en-US" dirty="0">
                  <a:latin typeface="+mn-ea"/>
                </a:rPr>
                <a:t>合成两种带不同荧光</a:t>
              </a:r>
              <a:endParaRPr lang="en-US" altLang="zh-CN" dirty="0">
                <a:latin typeface="+mn-ea"/>
              </a:endParaRPr>
            </a:p>
            <a:p>
              <a:pPr>
                <a:lnSpc>
                  <a:spcPct val="125000"/>
                </a:lnSpc>
              </a:pPr>
              <a:r>
                <a:rPr lang="zh-CN" altLang="en-US" dirty="0">
                  <a:latin typeface="+mn-ea"/>
                </a:rPr>
                <a:t>基团标记的</a:t>
              </a:r>
              <a:r>
                <a:rPr lang="en-US" altLang="zh-CN" dirty="0">
                  <a:latin typeface="+mn-ea"/>
                </a:rPr>
                <a:t>RNA</a:t>
              </a:r>
              <a:r>
                <a:rPr lang="zh-CN" altLang="en-US" dirty="0">
                  <a:latin typeface="+mn-ea"/>
                </a:rPr>
                <a:t>底物：正常</a:t>
              </a:r>
              <a:r>
                <a:rPr lang="en-US" altLang="zh-CN" dirty="0">
                  <a:latin typeface="+mn-ea"/>
                </a:rPr>
                <a:t>RNA CAG</a:t>
              </a:r>
              <a:r>
                <a:rPr lang="en-US" altLang="zh-CN" baseline="-25000" dirty="0">
                  <a:latin typeface="+mn-ea"/>
                </a:rPr>
                <a:t>20 </a:t>
              </a:r>
              <a:r>
                <a:rPr lang="zh-CN" altLang="en-US" dirty="0">
                  <a:latin typeface="+mn-ea"/>
                </a:rPr>
                <a:t>底物致病</a:t>
              </a:r>
              <a:r>
                <a:rPr lang="en-US" altLang="zh-CN" dirty="0">
                  <a:latin typeface="+mn-ea"/>
                </a:rPr>
                <a:t>RNA CAG</a:t>
              </a:r>
              <a:r>
                <a:rPr lang="en-US" altLang="zh-CN" baseline="-25000" dirty="0">
                  <a:latin typeface="+mn-ea"/>
                </a:rPr>
                <a:t>40 </a:t>
              </a:r>
              <a:r>
                <a:rPr lang="zh-CN" altLang="en-US" dirty="0">
                  <a:latin typeface="+mn-ea"/>
                </a:rPr>
                <a:t>底物</a:t>
              </a:r>
              <a:endParaRPr lang="en-US" altLang="zh-CN" dirty="0">
                <a:latin typeface="+mn-ea"/>
              </a:endParaRPr>
            </a:p>
            <a:p>
              <a:pPr>
                <a:lnSpc>
                  <a:spcPct val="125000"/>
                </a:lnSpc>
              </a:pPr>
              <a:endParaRPr lang="en-US" altLang="zh-CN" sz="1100" dirty="0">
                <a:latin typeface="+mn-ea"/>
              </a:endParaRPr>
            </a:p>
            <a:p>
              <a:pPr>
                <a:lnSpc>
                  <a:spcPct val="125000"/>
                </a:lnSpc>
              </a:pPr>
              <a:r>
                <a:rPr lang="zh-CN" altLang="en-US" dirty="0">
                  <a:latin typeface="+mn-ea"/>
                </a:rPr>
                <a:t>精确评估分子机器的</a:t>
              </a:r>
              <a:r>
                <a:rPr lang="en-US" altLang="zh-CN" dirty="0">
                  <a:latin typeface="+mn-ea"/>
                </a:rPr>
                <a:t>RNA </a:t>
              </a:r>
              <a:r>
                <a:rPr lang="zh-CN" altLang="en-US" dirty="0">
                  <a:latin typeface="+mn-ea"/>
                </a:rPr>
                <a:t>结合及编辑活性</a:t>
              </a:r>
              <a:endParaRPr lang="en-US" altLang="zh-CN" dirty="0">
                <a:latin typeface="+mn-ea"/>
              </a:endParaRPr>
            </a:p>
          </p:txBody>
        </p:sp>
        <p:cxnSp>
          <p:nvCxnSpPr>
            <p:cNvPr id="32" name="直接连接符 31"/>
            <p:cNvCxnSpPr/>
            <p:nvPr/>
          </p:nvCxnSpPr>
          <p:spPr>
            <a:xfrm>
              <a:off x="869191" y="2157313"/>
              <a:ext cx="2113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1" name="组合 100"/>
          <p:cNvGrpSpPr/>
          <p:nvPr/>
        </p:nvGrpSpPr>
        <p:grpSpPr>
          <a:xfrm>
            <a:off x="6262184" y="1719448"/>
            <a:ext cx="2471696" cy="4137792"/>
            <a:chOff x="731840" y="1315588"/>
            <a:chExt cx="2471696" cy="4137792"/>
          </a:xfrm>
        </p:grpSpPr>
        <p:sp>
          <p:nvSpPr>
            <p:cNvPr id="102" name="矩形 101"/>
            <p:cNvSpPr/>
            <p:nvPr/>
          </p:nvSpPr>
          <p:spPr>
            <a:xfrm>
              <a:off x="815660" y="1409568"/>
              <a:ext cx="2387876" cy="4043812"/>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p>
          </p:txBody>
        </p:sp>
        <p:sp>
          <p:nvSpPr>
            <p:cNvPr id="103" name="矩形 102"/>
            <p:cNvSpPr/>
            <p:nvPr/>
          </p:nvSpPr>
          <p:spPr>
            <a:xfrm>
              <a:off x="731840" y="1315588"/>
              <a:ext cx="2387876" cy="4043812"/>
            </a:xfrm>
            <a:prstGeom prst="rect">
              <a:avLst/>
            </a:prstGeom>
            <a:solidFill>
              <a:schemeClr val="bg1"/>
            </a:solidFill>
            <a:ln>
              <a:solidFill>
                <a:srgbClr val="4965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104" name="文本框 103"/>
            <p:cNvSpPr txBox="1"/>
            <p:nvPr/>
          </p:nvSpPr>
          <p:spPr>
            <a:xfrm>
              <a:off x="869191" y="3744744"/>
              <a:ext cx="2154436" cy="369332"/>
            </a:xfrm>
            <a:prstGeom prst="rect">
              <a:avLst/>
            </a:prstGeom>
            <a:noFill/>
          </p:spPr>
          <p:txBody>
            <a:bodyPr wrap="none" lIns="0" tIns="0" rIns="0" bIns="0" rtlCol="0">
              <a:spAutoFit/>
            </a:bodyPr>
            <a:lstStyle/>
            <a:p>
              <a:r>
                <a:rPr lang="zh-CN" altLang="en-US" sz="2400" b="1" dirty="0">
                  <a:solidFill>
                    <a:srgbClr val="4965AA"/>
                  </a:solidFill>
                </a:rPr>
                <a:t>双荧光报告系统</a:t>
              </a:r>
              <a:endParaRPr lang="zh-CN" altLang="en-US" sz="2400" dirty="0">
                <a:solidFill>
                  <a:srgbClr val="4965AA"/>
                </a:solidFill>
              </a:endParaRPr>
            </a:p>
          </p:txBody>
        </p:sp>
        <p:sp>
          <p:nvSpPr>
            <p:cNvPr id="105" name="文本框 104"/>
            <p:cNvSpPr txBox="1"/>
            <p:nvPr/>
          </p:nvSpPr>
          <p:spPr>
            <a:xfrm>
              <a:off x="884221" y="4427508"/>
              <a:ext cx="2207778" cy="660758"/>
            </a:xfrm>
            <a:prstGeom prst="rect">
              <a:avLst/>
            </a:prstGeom>
            <a:noFill/>
          </p:spPr>
          <p:txBody>
            <a:bodyPr wrap="square" lIns="0" tIns="0" rIns="0" bIns="0" rtlCol="0">
              <a:spAutoFit/>
            </a:bodyPr>
            <a:lstStyle/>
            <a:p>
              <a:pPr>
                <a:lnSpc>
                  <a:spcPct val="125000"/>
                </a:lnSpc>
              </a:pPr>
              <a:r>
                <a:rPr lang="zh-CN" altLang="en-US" dirty="0">
                  <a:latin typeface="+mn-ea"/>
                </a:rPr>
                <a:t>直观、定量地评估细胞内活性和特异性</a:t>
              </a:r>
              <a:endParaRPr lang="en-US" altLang="zh-CN" dirty="0">
                <a:latin typeface="+mn-ea"/>
              </a:endParaRPr>
            </a:p>
          </p:txBody>
        </p:sp>
        <p:cxnSp>
          <p:nvCxnSpPr>
            <p:cNvPr id="106" name="直接连接符 105"/>
            <p:cNvCxnSpPr/>
            <p:nvPr/>
          </p:nvCxnSpPr>
          <p:spPr>
            <a:xfrm>
              <a:off x="869191" y="4275673"/>
              <a:ext cx="2113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7" name="组合 106"/>
          <p:cNvGrpSpPr/>
          <p:nvPr/>
        </p:nvGrpSpPr>
        <p:grpSpPr>
          <a:xfrm>
            <a:off x="8946830" y="1719448"/>
            <a:ext cx="2471696" cy="4137792"/>
            <a:chOff x="731840" y="1315588"/>
            <a:chExt cx="2471696" cy="4137792"/>
          </a:xfrm>
        </p:grpSpPr>
        <p:sp>
          <p:nvSpPr>
            <p:cNvPr id="108" name="矩形 107"/>
            <p:cNvSpPr/>
            <p:nvPr/>
          </p:nvSpPr>
          <p:spPr>
            <a:xfrm>
              <a:off x="815660" y="1409568"/>
              <a:ext cx="2387876" cy="4043812"/>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p>
          </p:txBody>
        </p:sp>
        <p:sp>
          <p:nvSpPr>
            <p:cNvPr id="109" name="矩形 108"/>
            <p:cNvSpPr/>
            <p:nvPr/>
          </p:nvSpPr>
          <p:spPr>
            <a:xfrm>
              <a:off x="731840" y="1315588"/>
              <a:ext cx="2387876" cy="4043812"/>
            </a:xfrm>
            <a:prstGeom prst="rect">
              <a:avLst/>
            </a:prstGeom>
            <a:solidFill>
              <a:schemeClr val="bg1"/>
            </a:solidFill>
            <a:ln>
              <a:solidFill>
                <a:srgbClr val="4965A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110" name="文本框 109"/>
            <p:cNvSpPr txBox="1"/>
            <p:nvPr/>
          </p:nvSpPr>
          <p:spPr>
            <a:xfrm>
              <a:off x="869191" y="1609078"/>
              <a:ext cx="2154436" cy="369332"/>
            </a:xfrm>
            <a:prstGeom prst="rect">
              <a:avLst/>
            </a:prstGeom>
            <a:noFill/>
          </p:spPr>
          <p:txBody>
            <a:bodyPr wrap="none" lIns="0" tIns="0" rIns="0" bIns="0" rtlCol="0">
              <a:spAutoFit/>
            </a:bodyPr>
            <a:lstStyle/>
            <a:p>
              <a:pPr lvl="0"/>
              <a:r>
                <a:rPr lang="zh-CN" altLang="en-US" sz="2400" b="1" dirty="0">
                  <a:solidFill>
                    <a:srgbClr val="4965AA"/>
                  </a:solidFill>
                </a:rPr>
                <a:t>多维度定量验证</a:t>
              </a:r>
              <a:endParaRPr lang="zh-CN" altLang="en-US" sz="2400" dirty="0">
                <a:solidFill>
                  <a:srgbClr val="4965AA"/>
                </a:solidFill>
              </a:endParaRPr>
            </a:p>
          </p:txBody>
        </p:sp>
        <p:sp>
          <p:nvSpPr>
            <p:cNvPr id="111" name="文本框 110"/>
            <p:cNvSpPr txBox="1"/>
            <p:nvPr/>
          </p:nvSpPr>
          <p:spPr>
            <a:xfrm>
              <a:off x="857484" y="2190334"/>
              <a:ext cx="2166144" cy="3084499"/>
            </a:xfrm>
            <a:prstGeom prst="rect">
              <a:avLst/>
            </a:prstGeom>
            <a:noFill/>
          </p:spPr>
          <p:txBody>
            <a:bodyPr wrap="square" lIns="0" tIns="0" rIns="0" bIns="0" rtlCol="0">
              <a:spAutoFit/>
            </a:bodyPr>
            <a:lstStyle/>
            <a:p>
              <a:pPr>
                <a:lnSpc>
                  <a:spcPct val="125000"/>
                </a:lnSpc>
              </a:pPr>
              <a:r>
                <a:rPr lang="zh-CN" altLang="en-US" b="1" dirty="0">
                  <a:latin typeface="+mn-ea"/>
                </a:rPr>
                <a:t>显微成像与流式分析</a:t>
              </a:r>
              <a:r>
                <a:rPr lang="zh-CN" altLang="en-US" dirty="0">
                  <a:latin typeface="+mn-ea"/>
                </a:rPr>
                <a:t>：通过双荧光比值评估敲低效率及特异性</a:t>
              </a:r>
              <a:endParaRPr lang="zh-CN" altLang="en-US" dirty="0">
                <a:latin typeface="+mn-ea"/>
              </a:endParaRPr>
            </a:p>
            <a:p>
              <a:pPr>
                <a:lnSpc>
                  <a:spcPct val="125000"/>
                </a:lnSpc>
              </a:pPr>
              <a:r>
                <a:rPr lang="zh-CN" altLang="en-US" b="1" dirty="0">
                  <a:latin typeface="+mn-ea"/>
                </a:rPr>
                <a:t>逆转录</a:t>
              </a:r>
              <a:r>
                <a:rPr lang="en-US" altLang="zh-CN" b="1" dirty="0">
                  <a:latin typeface="+mn-ea"/>
                </a:rPr>
                <a:t>PCR</a:t>
              </a:r>
              <a:r>
                <a:rPr lang="zh-CN" altLang="en-US" b="1" dirty="0">
                  <a:latin typeface="+mn-ea"/>
                </a:rPr>
                <a:t>：</a:t>
              </a:r>
              <a:endParaRPr lang="en-US" altLang="zh-CN" b="1" dirty="0">
                <a:latin typeface="+mn-ea"/>
              </a:endParaRPr>
            </a:p>
            <a:p>
              <a:pPr>
                <a:lnSpc>
                  <a:spcPct val="125000"/>
                </a:lnSpc>
              </a:pPr>
              <a:r>
                <a:rPr lang="zh-CN" altLang="en-US" dirty="0">
                  <a:latin typeface="+mn-ea"/>
                </a:rPr>
                <a:t>检测内源性 </a:t>
              </a:r>
              <a:r>
                <a:rPr lang="en-US" altLang="zh-CN" dirty="0" err="1">
                  <a:latin typeface="+mn-ea"/>
                </a:rPr>
                <a:t>mHTT</a:t>
              </a:r>
              <a:r>
                <a:rPr lang="en-US" altLang="zh-CN" dirty="0">
                  <a:latin typeface="+mn-ea"/>
                </a:rPr>
                <a:t> mRNA</a:t>
              </a:r>
              <a:r>
                <a:rPr lang="zh-CN" altLang="en-US" dirty="0">
                  <a:latin typeface="+mn-ea"/>
                </a:rPr>
                <a:t> 稳态水平变化</a:t>
              </a:r>
              <a:endParaRPr lang="zh-CN" altLang="en-US" dirty="0">
                <a:latin typeface="+mn-ea"/>
              </a:endParaRPr>
            </a:p>
            <a:p>
              <a:pPr>
                <a:lnSpc>
                  <a:spcPct val="125000"/>
                </a:lnSpc>
              </a:pPr>
              <a:r>
                <a:rPr lang="en-US" altLang="zh-CN" b="1" dirty="0">
                  <a:latin typeface="+mn-ea"/>
                </a:rPr>
                <a:t>Western Blot</a:t>
              </a:r>
              <a:r>
                <a:rPr lang="zh-CN" altLang="en-US" b="1" dirty="0">
                  <a:latin typeface="+mn-ea"/>
                </a:rPr>
                <a:t>：</a:t>
              </a:r>
              <a:endParaRPr lang="en-US" altLang="zh-CN" b="1" dirty="0">
                <a:latin typeface="+mn-ea"/>
              </a:endParaRPr>
            </a:p>
            <a:p>
              <a:pPr>
                <a:lnSpc>
                  <a:spcPct val="125000"/>
                </a:lnSpc>
              </a:pPr>
              <a:r>
                <a:rPr lang="zh-CN" altLang="en-US" dirty="0">
                  <a:latin typeface="+mn-ea"/>
                </a:rPr>
                <a:t>定量分析可溶性</a:t>
              </a:r>
              <a:r>
                <a:rPr lang="en-US" altLang="zh-CN" dirty="0" err="1">
                  <a:latin typeface="+mn-ea"/>
                </a:rPr>
                <a:t>mHTT</a:t>
              </a:r>
              <a:r>
                <a:rPr lang="en-US" altLang="zh-CN" dirty="0">
                  <a:latin typeface="+mn-ea"/>
                </a:rPr>
                <a:t> </a:t>
              </a:r>
              <a:r>
                <a:rPr lang="zh-CN" altLang="en-US" dirty="0">
                  <a:latin typeface="+mn-ea"/>
                </a:rPr>
                <a:t>蛋白减少程度</a:t>
              </a:r>
              <a:endParaRPr lang="zh-CN" altLang="en-US" dirty="0">
                <a:latin typeface="+mn-ea"/>
              </a:endParaRPr>
            </a:p>
          </p:txBody>
        </p:sp>
        <p:cxnSp>
          <p:nvCxnSpPr>
            <p:cNvPr id="112" name="直接连接符 111"/>
            <p:cNvCxnSpPr/>
            <p:nvPr/>
          </p:nvCxnSpPr>
          <p:spPr>
            <a:xfrm>
              <a:off x="869191" y="2111593"/>
              <a:ext cx="2113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3" name="文本框 112"/>
          <p:cNvSpPr txBox="1"/>
          <p:nvPr/>
        </p:nvSpPr>
        <p:spPr>
          <a:xfrm>
            <a:off x="6414565" y="2014576"/>
            <a:ext cx="2250525" cy="369332"/>
          </a:xfrm>
          <a:prstGeom prst="rect">
            <a:avLst/>
          </a:prstGeom>
          <a:noFill/>
        </p:spPr>
        <p:txBody>
          <a:bodyPr wrap="square" lIns="0" tIns="0" rIns="0" bIns="0" rtlCol="0">
            <a:spAutoFit/>
          </a:bodyPr>
          <a:lstStyle/>
          <a:p>
            <a:pPr lvl="0"/>
            <a:r>
              <a:rPr lang="en-US" altLang="zh-CN" sz="2400" b="1" dirty="0">
                <a:solidFill>
                  <a:srgbClr val="4965AA"/>
                </a:solidFill>
              </a:rPr>
              <a:t>EMSA </a:t>
            </a:r>
            <a:r>
              <a:rPr lang="zh-CN" altLang="en-US" sz="2400" b="1" dirty="0">
                <a:solidFill>
                  <a:srgbClr val="4965AA"/>
                </a:solidFill>
              </a:rPr>
              <a:t>电泳迁移</a:t>
            </a:r>
            <a:endParaRPr lang="zh-CN" altLang="en-US" sz="2400" dirty="0">
              <a:solidFill>
                <a:srgbClr val="4965AA"/>
              </a:solidFill>
            </a:endParaRPr>
          </a:p>
        </p:txBody>
      </p:sp>
      <p:sp>
        <p:nvSpPr>
          <p:cNvPr id="114" name="文本框 113"/>
          <p:cNvSpPr txBox="1"/>
          <p:nvPr/>
        </p:nvSpPr>
        <p:spPr>
          <a:xfrm>
            <a:off x="6399535" y="2788476"/>
            <a:ext cx="2171285" cy="1007007"/>
          </a:xfrm>
          <a:prstGeom prst="rect">
            <a:avLst/>
          </a:prstGeom>
          <a:noFill/>
        </p:spPr>
        <p:txBody>
          <a:bodyPr wrap="square" lIns="0" tIns="0" rIns="0" bIns="0" rtlCol="0">
            <a:spAutoFit/>
          </a:bodyPr>
          <a:lstStyle/>
          <a:p>
            <a:pPr>
              <a:lnSpc>
                <a:spcPct val="125000"/>
              </a:lnSpc>
            </a:pPr>
            <a:r>
              <a:rPr lang="zh-CN" altLang="en-US" dirty="0"/>
              <a:t>通过 </a:t>
            </a:r>
            <a:r>
              <a:rPr lang="en-US" altLang="zh-CN" dirty="0"/>
              <a:t>EMSA </a:t>
            </a:r>
            <a:r>
              <a:rPr lang="zh-CN" altLang="en-US" dirty="0">
                <a:latin typeface="+mn-ea"/>
              </a:rPr>
              <a:t>测定蛋白</a:t>
            </a:r>
            <a:r>
              <a:rPr lang="en-US" altLang="zh-CN" dirty="0">
                <a:latin typeface="+mn-ea"/>
              </a:rPr>
              <a:t>-RNA </a:t>
            </a:r>
            <a:r>
              <a:rPr lang="zh-CN" altLang="en-US" dirty="0">
                <a:latin typeface="+mn-ea"/>
              </a:rPr>
              <a:t>结合的 </a:t>
            </a:r>
            <a:r>
              <a:rPr lang="en-US" altLang="zh-CN" dirty="0" err="1">
                <a:latin typeface="+mn-ea"/>
              </a:rPr>
              <a:t>Kd</a:t>
            </a:r>
            <a:r>
              <a:rPr lang="en-US" altLang="zh-CN" dirty="0">
                <a:latin typeface="+mn-ea"/>
              </a:rPr>
              <a:t> </a:t>
            </a:r>
            <a:r>
              <a:rPr lang="zh-CN" altLang="en-US" dirty="0">
                <a:latin typeface="+mn-ea"/>
              </a:rPr>
              <a:t>值</a:t>
            </a:r>
            <a:endParaRPr lang="en-US" altLang="zh-CN" dirty="0">
              <a:latin typeface="+mn-ea"/>
            </a:endParaRPr>
          </a:p>
          <a:p>
            <a:pPr>
              <a:lnSpc>
                <a:spcPct val="125000"/>
              </a:lnSpc>
            </a:pPr>
            <a:r>
              <a:rPr lang="zh-CN" altLang="en-US" dirty="0">
                <a:latin typeface="+mn-ea"/>
              </a:rPr>
              <a:t>验证靶向模块有效性</a:t>
            </a:r>
            <a:endParaRPr lang="zh-CN" altLang="en-US" dirty="0">
              <a:latin typeface="+mn-ea"/>
            </a:endParaRPr>
          </a:p>
        </p:txBody>
      </p:sp>
      <p:cxnSp>
        <p:nvCxnSpPr>
          <p:cNvPr id="115" name="直接连接符 114"/>
          <p:cNvCxnSpPr/>
          <p:nvPr/>
        </p:nvCxnSpPr>
        <p:spPr>
          <a:xfrm>
            <a:off x="6399535" y="2555568"/>
            <a:ext cx="2113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4965AA"/>
                </a:highlight>
                <a:latin typeface="Eras Bold ITC" panose="020B0907030504020204" pitchFamily="34" charset="0"/>
              </a:rPr>
              <a:t>SUSTech</a:t>
            </a:r>
            <a:r>
              <a:rPr lang="en-US" altLang="zh-CN" sz="3000" dirty="0">
                <a:solidFill>
                  <a:srgbClr val="EFA7A7"/>
                </a:solidFill>
                <a:highlight>
                  <a:srgbClr val="4965AA"/>
                </a:highlight>
                <a:latin typeface="Eras Bold ITC" panose="020B0907030504020204" pitchFamily="34" charset="0"/>
              </a:rPr>
              <a:t>-BIO</a:t>
            </a:r>
            <a:endParaRPr lang="zh-CN" altLang="en-US" sz="3000" dirty="0">
              <a:solidFill>
                <a:srgbClr val="EFA7A7"/>
              </a:solidFill>
              <a:highlight>
                <a:srgbClr val="4965AA"/>
              </a:highlight>
              <a:latin typeface="Eras Bold ITC" panose="020B0907030504020204" pitchFamily="34" charset="0"/>
            </a:endParaRPr>
          </a:p>
        </p:txBody>
      </p:sp>
      <p:grpSp>
        <p:nvGrpSpPr>
          <p:cNvPr id="7" name="组合 6"/>
          <p:cNvGrpSpPr/>
          <p:nvPr/>
        </p:nvGrpSpPr>
        <p:grpSpPr>
          <a:xfrm>
            <a:off x="6262184" y="6303843"/>
            <a:ext cx="5715686" cy="190519"/>
            <a:chOff x="3730218" y="6260069"/>
            <a:chExt cx="5988169" cy="184666"/>
          </a:xfrm>
        </p:grpSpPr>
        <p:grpSp>
          <p:nvGrpSpPr>
            <p:cNvPr id="8" name="组合 7"/>
            <p:cNvGrpSpPr/>
            <p:nvPr/>
          </p:nvGrpSpPr>
          <p:grpSpPr>
            <a:xfrm>
              <a:off x="4682111" y="6260069"/>
              <a:ext cx="897875" cy="184666"/>
              <a:chOff x="4914007" y="6260069"/>
              <a:chExt cx="897875" cy="184666"/>
            </a:xfrm>
          </p:grpSpPr>
          <p:sp>
            <p:nvSpPr>
              <p:cNvPr id="33" name="文本框 32"/>
              <p:cNvSpPr txBox="1"/>
              <p:nvPr/>
            </p:nvSpPr>
            <p:spPr>
              <a:xfrm>
                <a:off x="5042441" y="6260069"/>
                <a:ext cx="769441" cy="184666"/>
              </a:xfrm>
              <a:prstGeom prst="rect">
                <a:avLst/>
              </a:prstGeom>
              <a:noFill/>
            </p:spPr>
            <p:txBody>
              <a:bodyPr wrap="none" lIns="0" tIns="0" rIns="0" bIns="0" rtlCol="0">
                <a:spAutoFit/>
              </a:bodyPr>
              <a:lstStyle/>
              <a:p>
                <a:r>
                  <a:rPr lang="zh-CN" altLang="en-US" sz="1200" dirty="0">
                    <a:solidFill>
                      <a:srgbClr val="4965AA">
                        <a:alpha val="50000"/>
                      </a:srgbClr>
                    </a:solidFill>
                  </a:rPr>
                  <a:t>核心创新点</a:t>
                </a:r>
                <a:endParaRPr lang="zh-CN" altLang="en-US" sz="1200" dirty="0">
                  <a:solidFill>
                    <a:srgbClr val="4965AA">
                      <a:alpha val="50000"/>
                    </a:srgbClr>
                  </a:solidFill>
                </a:endParaRPr>
              </a:p>
            </p:txBody>
          </p:sp>
          <p:sp>
            <p:nvSpPr>
              <p:cNvPr id="34" name="椭圆 33"/>
              <p:cNvSpPr/>
              <p:nvPr/>
            </p:nvSpPr>
            <p:spPr>
              <a:xfrm>
                <a:off x="4914007"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9" name="组合 8"/>
            <p:cNvGrpSpPr/>
            <p:nvPr/>
          </p:nvGrpSpPr>
          <p:grpSpPr>
            <a:xfrm>
              <a:off x="5787892" y="6260069"/>
              <a:ext cx="1565046" cy="184666"/>
              <a:chOff x="6097796" y="6260069"/>
              <a:chExt cx="1565046" cy="184666"/>
            </a:xfrm>
          </p:grpSpPr>
          <p:sp>
            <p:nvSpPr>
              <p:cNvPr id="23" name="文本框 22"/>
              <p:cNvSpPr txBox="1"/>
              <p:nvPr/>
            </p:nvSpPr>
            <p:spPr>
              <a:xfrm>
                <a:off x="6226230" y="6260069"/>
                <a:ext cx="1436612" cy="184666"/>
              </a:xfrm>
              <a:prstGeom prst="rect">
                <a:avLst/>
              </a:prstGeom>
              <a:noFill/>
            </p:spPr>
            <p:txBody>
              <a:bodyPr wrap="none" lIns="0" tIns="0" rIns="0" bIns="0" rtlCol="0">
                <a:spAutoFit/>
              </a:bodyPr>
              <a:lstStyle/>
              <a:p>
                <a:r>
                  <a:rPr lang="zh-CN" altLang="en-US" sz="1200" b="1" dirty="0">
                    <a:solidFill>
                      <a:srgbClr val="4965AA"/>
                    </a:solidFill>
                  </a:rPr>
                  <a:t>系统设计与机制解析</a:t>
                </a:r>
                <a:endParaRPr lang="zh-CN" altLang="en-US" sz="1200" b="1" dirty="0">
                  <a:solidFill>
                    <a:srgbClr val="4965AA"/>
                  </a:solidFill>
                </a:endParaRPr>
              </a:p>
            </p:txBody>
          </p:sp>
          <p:sp>
            <p:nvSpPr>
              <p:cNvPr id="30" name="椭圆 29"/>
              <p:cNvSpPr/>
              <p:nvPr/>
            </p:nvSpPr>
            <p:spPr>
              <a:xfrm>
                <a:off x="6097796"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0" name="组合 9"/>
            <p:cNvGrpSpPr/>
            <p:nvPr/>
          </p:nvGrpSpPr>
          <p:grpSpPr>
            <a:xfrm>
              <a:off x="7560844" y="6260069"/>
              <a:ext cx="1051763" cy="184666"/>
              <a:chOff x="7589362" y="6260069"/>
              <a:chExt cx="1051763" cy="184666"/>
            </a:xfrm>
          </p:grpSpPr>
          <p:sp>
            <p:nvSpPr>
              <p:cNvPr id="18" name="文本框 17"/>
              <p:cNvSpPr txBox="1"/>
              <p:nvPr/>
            </p:nvSpPr>
            <p:spPr>
              <a:xfrm>
                <a:off x="7717795" y="6260069"/>
                <a:ext cx="923330"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预期结果分析</a:t>
                </a:r>
                <a:endParaRPr lang="zh-CN" altLang="en-US" sz="1200" dirty="0">
                  <a:solidFill>
                    <a:schemeClr val="accent1">
                      <a:lumMod val="60000"/>
                      <a:lumOff val="40000"/>
                    </a:schemeClr>
                  </a:solidFill>
                </a:endParaRPr>
              </a:p>
            </p:txBody>
          </p:sp>
          <p:sp>
            <p:nvSpPr>
              <p:cNvPr id="19" name="椭圆 18"/>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1" name="组合 10"/>
            <p:cNvGrpSpPr/>
            <p:nvPr/>
          </p:nvGrpSpPr>
          <p:grpSpPr>
            <a:xfrm>
              <a:off x="3730218" y="6260069"/>
              <a:ext cx="743987" cy="184666"/>
              <a:chOff x="3730218" y="6260069"/>
              <a:chExt cx="743987" cy="184666"/>
            </a:xfrm>
          </p:grpSpPr>
          <p:sp>
            <p:nvSpPr>
              <p:cNvPr id="16" name="文本框 15"/>
              <p:cNvSpPr txBox="1"/>
              <p:nvPr/>
            </p:nvSpPr>
            <p:spPr>
              <a:xfrm>
                <a:off x="3858652" y="6260069"/>
                <a:ext cx="615553" cy="184666"/>
              </a:xfrm>
              <a:prstGeom prst="rect">
                <a:avLst/>
              </a:prstGeom>
              <a:noFill/>
            </p:spPr>
            <p:txBody>
              <a:bodyPr wrap="none" lIns="0" tIns="0" rIns="0" bIns="0" rtlCol="0">
                <a:spAutoFit/>
              </a:bodyPr>
              <a:lstStyle/>
              <a:p>
                <a:r>
                  <a:rPr lang="zh-CN" altLang="en-US" sz="1200" dirty="0">
                    <a:solidFill>
                      <a:srgbClr val="A5B3D6"/>
                    </a:solidFill>
                  </a:rPr>
                  <a:t>科学问题</a:t>
                </a:r>
                <a:endParaRPr lang="zh-CN" altLang="en-US" sz="1200" dirty="0">
                  <a:solidFill>
                    <a:srgbClr val="A5B3D6"/>
                  </a:solidFill>
                </a:endParaRPr>
              </a:p>
            </p:txBody>
          </p:sp>
          <p:sp>
            <p:nvSpPr>
              <p:cNvPr id="17" name="椭圆 16"/>
              <p:cNvSpPr/>
              <p:nvPr/>
            </p:nvSpPr>
            <p:spPr>
              <a:xfrm>
                <a:off x="3730218"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2" name="椭圆 11"/>
            <p:cNvSpPr/>
            <p:nvPr/>
          </p:nvSpPr>
          <p:spPr>
            <a:xfrm>
              <a:off x="5750427" y="6301988"/>
              <a:ext cx="120650" cy="120650"/>
            </a:xfrm>
            <a:prstGeom prst="ellipse">
              <a:avLst/>
            </a:prstGeom>
            <a:noFill/>
            <a:ln w="6350">
              <a:solidFill>
                <a:srgbClr val="4965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13" name="组合 12"/>
            <p:cNvGrpSpPr/>
            <p:nvPr/>
          </p:nvGrpSpPr>
          <p:grpSpPr>
            <a:xfrm>
              <a:off x="8820513" y="6260069"/>
              <a:ext cx="897874" cy="184666"/>
              <a:chOff x="7589362" y="6260069"/>
              <a:chExt cx="897874" cy="184666"/>
            </a:xfrm>
          </p:grpSpPr>
          <p:sp>
            <p:nvSpPr>
              <p:cNvPr id="14" name="文本框 13"/>
              <p:cNvSpPr txBox="1"/>
              <p:nvPr/>
            </p:nvSpPr>
            <p:spPr>
              <a:xfrm>
                <a:off x="7717795" y="6260069"/>
                <a:ext cx="769441"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意义与展望</a:t>
                </a:r>
                <a:endParaRPr lang="zh-CN" altLang="en-US" sz="1200" dirty="0">
                  <a:solidFill>
                    <a:schemeClr val="accent1">
                      <a:lumMod val="60000"/>
                      <a:lumOff val="40000"/>
                    </a:schemeClr>
                  </a:solidFill>
                </a:endParaRPr>
              </a:p>
            </p:txBody>
          </p:sp>
          <p:sp>
            <p:nvSpPr>
              <p:cNvPr id="15" name="椭圆 14"/>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sp>
        <p:nvSpPr>
          <p:cNvPr id="35" name="文本框 34"/>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rgbClr val="4965AA"/>
                </a:solidFill>
                <a:highlight>
                  <a:srgbClr val="FFFFFF"/>
                </a:highlight>
              </a:rPr>
              <a:t>Southern University of </a:t>
            </a:r>
            <a:endParaRPr lang="en-US" altLang="zh-CN" sz="1000" cap="all" dirty="0">
              <a:solidFill>
                <a:srgbClr val="4965AA"/>
              </a:solidFill>
              <a:highlight>
                <a:srgbClr val="FFFFFF"/>
              </a:highlight>
            </a:endParaRPr>
          </a:p>
          <a:p>
            <a:pPr algn="r"/>
            <a:r>
              <a:rPr lang="en-US" altLang="zh-CN" sz="1000" cap="all" dirty="0">
                <a:solidFill>
                  <a:srgbClr val="4965AA"/>
                </a:solidFill>
                <a:highlight>
                  <a:srgbClr val="FFFFFF"/>
                </a:highlight>
              </a:rPr>
              <a:t>science and technology</a:t>
            </a:r>
            <a:endParaRPr lang="zh-CN" altLang="en-US" sz="1000" cap="all" dirty="0">
              <a:solidFill>
                <a:srgbClr val="4965AA"/>
              </a:solidFill>
              <a:highlight>
                <a:srgbClr val="FFFFFF"/>
              </a:highlight>
            </a:endParaRPr>
          </a:p>
        </p:txBody>
      </p:sp>
      <p:grpSp>
        <p:nvGrpSpPr>
          <p:cNvPr id="36" name="组合 35"/>
          <p:cNvGrpSpPr/>
          <p:nvPr/>
        </p:nvGrpSpPr>
        <p:grpSpPr>
          <a:xfrm>
            <a:off x="9799713" y="109178"/>
            <a:ext cx="2256250" cy="713649"/>
            <a:chOff x="9799713" y="109178"/>
            <a:chExt cx="2256250" cy="713649"/>
          </a:xfrm>
        </p:grpSpPr>
        <p:sp>
          <p:nvSpPr>
            <p:cNvPr id="37" name="矩形 36"/>
            <p:cNvSpPr/>
            <p:nvPr/>
          </p:nvSpPr>
          <p:spPr>
            <a:xfrm>
              <a:off x="9799713" y="197831"/>
              <a:ext cx="2117376" cy="5363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pic>
        <p:nvPicPr>
          <p:cNvPr id="57" name="图片 5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6510" y="-379570"/>
            <a:ext cx="1662864" cy="166646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523451" y="2754066"/>
            <a:ext cx="3077766" cy="615553"/>
          </a:xfrm>
          <a:prstGeom prst="rect">
            <a:avLst/>
          </a:prstGeom>
          <a:noFill/>
        </p:spPr>
        <p:txBody>
          <a:bodyPr wrap="none" lIns="0" tIns="0" rIns="0" bIns="0" rtlCol="0">
            <a:spAutoFit/>
          </a:bodyPr>
          <a:lstStyle/>
          <a:p>
            <a:pPr algn="ctr"/>
            <a:r>
              <a:rPr lang="zh-CN" altLang="en-US" sz="4000" dirty="0">
                <a:solidFill>
                  <a:schemeClr val="bg1"/>
                </a:solidFill>
              </a:rPr>
              <a:t>预期结果分析</a:t>
            </a:r>
            <a:endParaRPr lang="zh-CN" altLang="en-US" sz="4000" dirty="0">
              <a:solidFill>
                <a:schemeClr val="bg1"/>
              </a:solidFill>
            </a:endParaRPr>
          </a:p>
        </p:txBody>
      </p:sp>
      <p:sp>
        <p:nvSpPr>
          <p:cNvPr id="5" name="文本框 4"/>
          <p:cNvSpPr txBox="1"/>
          <p:nvPr/>
        </p:nvSpPr>
        <p:spPr>
          <a:xfrm>
            <a:off x="4741463" y="3457789"/>
            <a:ext cx="2709076" cy="276999"/>
          </a:xfrm>
          <a:prstGeom prst="rect">
            <a:avLst/>
          </a:prstGeom>
          <a:noFill/>
        </p:spPr>
        <p:txBody>
          <a:bodyPr wrap="none" lIns="0" tIns="0" rIns="0" bIns="0" rtlCol="0">
            <a:spAutoFit/>
          </a:bodyPr>
          <a:lstStyle/>
          <a:p>
            <a:pPr algn="ctr"/>
            <a:r>
              <a:rPr lang="en-US" altLang="zh-CN" dirty="0">
                <a:solidFill>
                  <a:schemeClr val="bg1"/>
                </a:solidFill>
              </a:rPr>
              <a:t>Expected Outcome Analysis</a:t>
            </a:r>
            <a:endParaRPr lang="en-US" altLang="zh-CN" dirty="0">
              <a:solidFill>
                <a:schemeClr val="bg1"/>
              </a:solidFill>
            </a:endParaRPr>
          </a:p>
        </p:txBody>
      </p:sp>
      <p:sp>
        <p:nvSpPr>
          <p:cNvPr id="6" name="文本框 5"/>
          <p:cNvSpPr txBox="1"/>
          <p:nvPr/>
        </p:nvSpPr>
        <p:spPr>
          <a:xfrm>
            <a:off x="5720898" y="2041451"/>
            <a:ext cx="750205" cy="538609"/>
          </a:xfrm>
          <a:prstGeom prst="rect">
            <a:avLst/>
          </a:prstGeom>
          <a:noFill/>
        </p:spPr>
        <p:txBody>
          <a:bodyPr wrap="none" lIns="0" tIns="0" rIns="0" bIns="0" rtlCol="0">
            <a:spAutoFit/>
          </a:bodyPr>
          <a:lstStyle/>
          <a:p>
            <a:pPr algn="ctr"/>
            <a:r>
              <a:rPr lang="en-US" altLang="zh-CN" sz="4000" dirty="0">
                <a:solidFill>
                  <a:schemeClr val="bg1"/>
                </a:solidFill>
              </a:rPr>
              <a:t>#04</a:t>
            </a:r>
            <a:endParaRPr lang="zh-CN" altLang="en-US" sz="4000" dirty="0">
              <a:solidFill>
                <a:schemeClr val="bg1"/>
              </a:solidFill>
            </a:endParaRPr>
          </a:p>
        </p:txBody>
      </p:sp>
      <p:cxnSp>
        <p:nvCxnSpPr>
          <p:cNvPr id="3" name="直接连接符 2"/>
          <p:cNvCxnSpPr/>
          <p:nvPr/>
        </p:nvCxnSpPr>
        <p:spPr>
          <a:xfrm>
            <a:off x="731838" y="6162908"/>
            <a:ext cx="107283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731838" y="6239103"/>
            <a:ext cx="471283" cy="230832"/>
          </a:xfrm>
          <a:prstGeom prst="rect">
            <a:avLst/>
          </a:prstGeom>
          <a:noFill/>
        </p:spPr>
        <p:txBody>
          <a:bodyPr wrap="square" lIns="0" tIns="0" rIns="0" bIns="0" rtlCol="0">
            <a:spAutoFit/>
          </a:bodyPr>
          <a:lstStyle/>
          <a:p>
            <a:r>
              <a:rPr lang="en-US" altLang="zh-CN" sz="1500" dirty="0">
                <a:solidFill>
                  <a:schemeClr val="bg1"/>
                </a:solidFill>
              </a:rPr>
              <a:t>2026</a:t>
            </a:r>
            <a:endParaRPr lang="zh-CN" altLang="en-US" sz="1500" dirty="0">
              <a:solidFill>
                <a:schemeClr val="bg1"/>
              </a:solidFill>
            </a:endParaRPr>
          </a:p>
        </p:txBody>
      </p:sp>
      <p:sp>
        <p:nvSpPr>
          <p:cNvPr id="26" name="文本框 25"/>
          <p:cNvSpPr txBox="1"/>
          <p:nvPr/>
        </p:nvSpPr>
        <p:spPr>
          <a:xfrm>
            <a:off x="10686535" y="6239103"/>
            <a:ext cx="768865" cy="230832"/>
          </a:xfrm>
          <a:prstGeom prst="rect">
            <a:avLst/>
          </a:prstGeom>
          <a:noFill/>
        </p:spPr>
        <p:txBody>
          <a:bodyPr wrap="none" lIns="0" tIns="0" rIns="0" bIns="0" rtlCol="0">
            <a:spAutoFit/>
          </a:bodyPr>
          <a:lstStyle/>
          <a:p>
            <a:pPr algn="r"/>
            <a:r>
              <a:rPr lang="en-US" altLang="zh-CN" sz="1500" dirty="0">
                <a:solidFill>
                  <a:schemeClr val="bg1"/>
                </a:solidFill>
              </a:rPr>
              <a:t>May 17th</a:t>
            </a:r>
            <a:endParaRPr lang="zh-CN" altLang="en-US" sz="1500" dirty="0">
              <a:solidFill>
                <a:schemeClr val="bg1"/>
              </a:solidFill>
            </a:endParaRPr>
          </a:p>
        </p:txBody>
      </p:sp>
      <p:sp>
        <p:nvSpPr>
          <p:cNvPr id="9" name="矩形 8"/>
          <p:cNvSpPr/>
          <p:nvPr/>
        </p:nvSpPr>
        <p:spPr>
          <a:xfrm>
            <a:off x="3396114" y="1811959"/>
            <a:ext cx="5399773" cy="22715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7" name="矩形 26"/>
          <p:cNvSpPr/>
          <p:nvPr/>
        </p:nvSpPr>
        <p:spPr>
          <a:xfrm>
            <a:off x="3478664" y="1913559"/>
            <a:ext cx="5399773" cy="22715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15" name="组合 14"/>
          <p:cNvGrpSpPr/>
          <p:nvPr/>
        </p:nvGrpSpPr>
        <p:grpSpPr>
          <a:xfrm>
            <a:off x="3120648" y="6260069"/>
            <a:ext cx="5988169" cy="184666"/>
            <a:chOff x="3730218" y="6260069"/>
            <a:chExt cx="5988169" cy="184666"/>
          </a:xfrm>
        </p:grpSpPr>
        <p:grpSp>
          <p:nvGrpSpPr>
            <p:cNvPr id="16" name="组合 15"/>
            <p:cNvGrpSpPr/>
            <p:nvPr/>
          </p:nvGrpSpPr>
          <p:grpSpPr>
            <a:xfrm>
              <a:off x="4682111" y="6260069"/>
              <a:ext cx="897875" cy="184666"/>
              <a:chOff x="4914007" y="6260069"/>
              <a:chExt cx="897875" cy="184666"/>
            </a:xfrm>
          </p:grpSpPr>
          <p:sp>
            <p:nvSpPr>
              <p:cNvPr id="42" name="文本框 41"/>
              <p:cNvSpPr txBox="1"/>
              <p:nvPr/>
            </p:nvSpPr>
            <p:spPr>
              <a:xfrm>
                <a:off x="5042441" y="6260069"/>
                <a:ext cx="769441" cy="184666"/>
              </a:xfrm>
              <a:prstGeom prst="rect">
                <a:avLst/>
              </a:prstGeom>
              <a:noFill/>
            </p:spPr>
            <p:txBody>
              <a:bodyPr wrap="none" lIns="0" tIns="0" rIns="0" bIns="0" rtlCol="0">
                <a:spAutoFit/>
              </a:bodyPr>
              <a:lstStyle/>
              <a:p>
                <a:r>
                  <a:rPr lang="zh-CN" altLang="en-US" sz="1200" dirty="0">
                    <a:solidFill>
                      <a:schemeClr val="bg1">
                        <a:alpha val="50000"/>
                      </a:schemeClr>
                    </a:solidFill>
                  </a:rPr>
                  <a:t>核心创新点</a:t>
                </a:r>
                <a:endParaRPr lang="zh-CN" altLang="en-US" sz="1200" dirty="0">
                  <a:solidFill>
                    <a:schemeClr val="bg1">
                      <a:alpha val="50000"/>
                    </a:schemeClr>
                  </a:solidFill>
                </a:endParaRPr>
              </a:p>
            </p:txBody>
          </p:sp>
          <p:sp>
            <p:nvSpPr>
              <p:cNvPr id="43" name="椭圆 42"/>
              <p:cNvSpPr/>
              <p:nvPr/>
            </p:nvSpPr>
            <p:spPr>
              <a:xfrm>
                <a:off x="4914007"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7" name="组合 16"/>
            <p:cNvGrpSpPr/>
            <p:nvPr/>
          </p:nvGrpSpPr>
          <p:grpSpPr>
            <a:xfrm>
              <a:off x="5787892" y="6260069"/>
              <a:ext cx="1565046" cy="184666"/>
              <a:chOff x="6097796" y="6260069"/>
              <a:chExt cx="1565046" cy="184666"/>
            </a:xfrm>
          </p:grpSpPr>
          <p:sp>
            <p:nvSpPr>
              <p:cNvPr id="40" name="文本框 39"/>
              <p:cNvSpPr txBox="1"/>
              <p:nvPr/>
            </p:nvSpPr>
            <p:spPr>
              <a:xfrm>
                <a:off x="6226230" y="6260069"/>
                <a:ext cx="1436612" cy="184666"/>
              </a:xfrm>
              <a:prstGeom prst="rect">
                <a:avLst/>
              </a:prstGeom>
              <a:noFill/>
            </p:spPr>
            <p:txBody>
              <a:bodyPr wrap="none" lIns="0" tIns="0" rIns="0" bIns="0" rtlCol="0">
                <a:spAutoFit/>
              </a:bodyPr>
              <a:lstStyle/>
              <a:p>
                <a:r>
                  <a:rPr lang="zh-CN" altLang="en-US" sz="1200" dirty="0">
                    <a:solidFill>
                      <a:schemeClr val="bg1">
                        <a:alpha val="50000"/>
                      </a:schemeClr>
                    </a:solidFill>
                  </a:rPr>
                  <a:t>系统设计与机制解析</a:t>
                </a:r>
                <a:endParaRPr lang="zh-CN" altLang="en-US" sz="1200" dirty="0">
                  <a:solidFill>
                    <a:schemeClr val="bg1">
                      <a:alpha val="50000"/>
                    </a:schemeClr>
                  </a:solidFill>
                </a:endParaRPr>
              </a:p>
            </p:txBody>
          </p:sp>
          <p:sp>
            <p:nvSpPr>
              <p:cNvPr id="41" name="椭圆 40"/>
              <p:cNvSpPr/>
              <p:nvPr/>
            </p:nvSpPr>
            <p:spPr>
              <a:xfrm>
                <a:off x="6097796"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8" name="组合 17"/>
            <p:cNvGrpSpPr/>
            <p:nvPr/>
          </p:nvGrpSpPr>
          <p:grpSpPr>
            <a:xfrm>
              <a:off x="7560844" y="6260069"/>
              <a:ext cx="1051763" cy="184666"/>
              <a:chOff x="7589362" y="6260069"/>
              <a:chExt cx="1051763" cy="184666"/>
            </a:xfrm>
          </p:grpSpPr>
          <p:sp>
            <p:nvSpPr>
              <p:cNvPr id="38" name="文本框 37"/>
              <p:cNvSpPr txBox="1"/>
              <p:nvPr/>
            </p:nvSpPr>
            <p:spPr>
              <a:xfrm>
                <a:off x="7717795" y="6260069"/>
                <a:ext cx="923330" cy="184666"/>
              </a:xfrm>
              <a:prstGeom prst="rect">
                <a:avLst/>
              </a:prstGeom>
              <a:noFill/>
            </p:spPr>
            <p:txBody>
              <a:bodyPr wrap="none" lIns="0" tIns="0" rIns="0" bIns="0" rtlCol="0">
                <a:spAutoFit/>
              </a:bodyPr>
              <a:lstStyle/>
              <a:p>
                <a:r>
                  <a:rPr lang="zh-CN" altLang="en-US" sz="1200" b="1" dirty="0">
                    <a:solidFill>
                      <a:schemeClr val="bg1"/>
                    </a:solidFill>
                  </a:rPr>
                  <a:t>预期结果分析</a:t>
                </a:r>
                <a:endParaRPr lang="zh-CN" altLang="en-US" sz="1200" b="1" dirty="0">
                  <a:solidFill>
                    <a:schemeClr val="bg1"/>
                  </a:solidFill>
                </a:endParaRPr>
              </a:p>
            </p:txBody>
          </p:sp>
          <p:sp>
            <p:nvSpPr>
              <p:cNvPr id="39" name="椭圆 38"/>
              <p:cNvSpPr/>
              <p:nvPr/>
            </p:nvSpPr>
            <p:spPr>
              <a:xfrm>
                <a:off x="7589362"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9" name="组合 18"/>
            <p:cNvGrpSpPr/>
            <p:nvPr/>
          </p:nvGrpSpPr>
          <p:grpSpPr>
            <a:xfrm>
              <a:off x="3730218" y="6260069"/>
              <a:ext cx="743987" cy="184666"/>
              <a:chOff x="3730218" y="6260069"/>
              <a:chExt cx="743987" cy="184666"/>
            </a:xfrm>
          </p:grpSpPr>
          <p:sp>
            <p:nvSpPr>
              <p:cNvPr id="25" name="文本框 24"/>
              <p:cNvSpPr txBox="1"/>
              <p:nvPr/>
            </p:nvSpPr>
            <p:spPr>
              <a:xfrm>
                <a:off x="3858652" y="6260069"/>
                <a:ext cx="615553" cy="184666"/>
              </a:xfrm>
              <a:prstGeom prst="rect">
                <a:avLst/>
              </a:prstGeom>
              <a:noFill/>
            </p:spPr>
            <p:txBody>
              <a:bodyPr wrap="none" lIns="0" tIns="0" rIns="0" bIns="0" rtlCol="0">
                <a:spAutoFit/>
              </a:bodyPr>
              <a:lstStyle/>
              <a:p>
                <a:r>
                  <a:rPr lang="zh-CN" altLang="en-US" sz="1200" dirty="0">
                    <a:solidFill>
                      <a:srgbClr val="A5B3D6"/>
                    </a:solidFill>
                  </a:rPr>
                  <a:t>科学问题</a:t>
                </a:r>
                <a:endParaRPr lang="zh-CN" altLang="en-US" sz="1200" dirty="0">
                  <a:solidFill>
                    <a:srgbClr val="A5B3D6"/>
                  </a:solidFill>
                </a:endParaRPr>
              </a:p>
            </p:txBody>
          </p:sp>
          <p:sp>
            <p:nvSpPr>
              <p:cNvPr id="28" name="椭圆 27"/>
              <p:cNvSpPr/>
              <p:nvPr/>
            </p:nvSpPr>
            <p:spPr>
              <a:xfrm>
                <a:off x="3730218"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20" name="椭圆 19"/>
            <p:cNvSpPr/>
            <p:nvPr/>
          </p:nvSpPr>
          <p:spPr>
            <a:xfrm>
              <a:off x="7523379" y="6301988"/>
              <a:ext cx="120650" cy="120650"/>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21" name="组合 20"/>
            <p:cNvGrpSpPr/>
            <p:nvPr/>
          </p:nvGrpSpPr>
          <p:grpSpPr>
            <a:xfrm>
              <a:off x="8820513" y="6260069"/>
              <a:ext cx="897874" cy="184666"/>
              <a:chOff x="7589362" y="6260069"/>
              <a:chExt cx="897874" cy="184666"/>
            </a:xfrm>
          </p:grpSpPr>
          <p:sp>
            <p:nvSpPr>
              <p:cNvPr id="22" name="文本框 21"/>
              <p:cNvSpPr txBox="1"/>
              <p:nvPr/>
            </p:nvSpPr>
            <p:spPr>
              <a:xfrm>
                <a:off x="7717795" y="6260069"/>
                <a:ext cx="769441" cy="184666"/>
              </a:xfrm>
              <a:prstGeom prst="rect">
                <a:avLst/>
              </a:prstGeom>
              <a:noFill/>
            </p:spPr>
            <p:txBody>
              <a:bodyPr wrap="none" lIns="0" tIns="0" rIns="0" bIns="0" rtlCol="0">
                <a:spAutoFit/>
              </a:bodyPr>
              <a:lstStyle/>
              <a:p>
                <a:r>
                  <a:rPr lang="zh-CN" altLang="en-US" sz="1200" dirty="0">
                    <a:solidFill>
                      <a:schemeClr val="bg1">
                        <a:alpha val="50000"/>
                      </a:schemeClr>
                    </a:solidFill>
                  </a:rPr>
                  <a:t>意义与展望</a:t>
                </a:r>
                <a:endParaRPr lang="zh-CN" altLang="en-US" sz="1200" dirty="0">
                  <a:solidFill>
                    <a:schemeClr val="bg1">
                      <a:alpha val="50000"/>
                    </a:schemeClr>
                  </a:solidFill>
                </a:endParaRPr>
              </a:p>
            </p:txBody>
          </p:sp>
          <p:sp>
            <p:nvSpPr>
              <p:cNvPr id="23" name="椭圆 22"/>
              <p:cNvSpPr/>
              <p:nvPr/>
            </p:nvSpPr>
            <p:spPr>
              <a:xfrm>
                <a:off x="7589362"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sp>
        <p:nvSpPr>
          <p:cNvPr id="44" name="文本框 43"/>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chemeClr val="bg1"/>
                </a:solidFill>
                <a:highlight>
                  <a:srgbClr val="4965AA"/>
                </a:highlight>
              </a:rPr>
              <a:t>Southern University of </a:t>
            </a:r>
            <a:endParaRPr lang="en-US" altLang="zh-CN" sz="1000" cap="all" dirty="0">
              <a:solidFill>
                <a:schemeClr val="bg1"/>
              </a:solidFill>
              <a:highlight>
                <a:srgbClr val="4965AA"/>
              </a:highlight>
            </a:endParaRPr>
          </a:p>
          <a:p>
            <a:pPr algn="r"/>
            <a:r>
              <a:rPr lang="en-US" altLang="zh-CN" sz="1000" cap="all" dirty="0">
                <a:solidFill>
                  <a:schemeClr val="bg1"/>
                </a:solidFill>
                <a:highlight>
                  <a:srgbClr val="4965AA"/>
                </a:highlight>
              </a:rPr>
              <a:t>science and technology</a:t>
            </a:r>
            <a:endParaRPr lang="zh-CN" altLang="en-US" sz="1000" cap="all" dirty="0">
              <a:solidFill>
                <a:schemeClr val="bg1"/>
              </a:solidFill>
              <a:highlight>
                <a:srgbClr val="4965AA"/>
              </a:highlight>
            </a:endParaRPr>
          </a:p>
        </p:txBody>
      </p:sp>
      <p:grpSp>
        <p:nvGrpSpPr>
          <p:cNvPr id="2" name="组合 1"/>
          <p:cNvGrpSpPr/>
          <p:nvPr/>
        </p:nvGrpSpPr>
        <p:grpSpPr>
          <a:xfrm>
            <a:off x="9799713" y="109178"/>
            <a:ext cx="2256250" cy="713649"/>
            <a:chOff x="9799713" y="109178"/>
            <a:chExt cx="2256250" cy="713649"/>
          </a:xfrm>
        </p:grpSpPr>
        <p:sp>
          <p:nvSpPr>
            <p:cNvPr id="7" name="矩形 6"/>
            <p:cNvSpPr/>
            <p:nvPr/>
          </p:nvSpPr>
          <p:spPr>
            <a:xfrm>
              <a:off x="9799713" y="197831"/>
              <a:ext cx="2117376" cy="53634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文本框 10"/>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4965AA"/>
                </a:highlight>
                <a:latin typeface="Eras Bold ITC" panose="020B0907030504020204" pitchFamily="34" charset="0"/>
              </a:rPr>
              <a:t>SUSTech</a:t>
            </a:r>
            <a:r>
              <a:rPr lang="en-US" altLang="zh-CN" sz="3000" dirty="0">
                <a:solidFill>
                  <a:srgbClr val="EFA7A7"/>
                </a:solidFill>
                <a:highlight>
                  <a:srgbClr val="4965AA"/>
                </a:highlight>
                <a:latin typeface="Eras Bold ITC" panose="020B0907030504020204" pitchFamily="34" charset="0"/>
              </a:rPr>
              <a:t>-BIO</a:t>
            </a:r>
            <a:endParaRPr lang="zh-CN" altLang="en-US" sz="3000" dirty="0">
              <a:solidFill>
                <a:srgbClr val="EFA7A7"/>
              </a:solidFill>
              <a:highlight>
                <a:srgbClr val="4965AA"/>
              </a:highlight>
              <a:latin typeface="Eras Bold ITC" panose="020B0907030504020204" pitchFamily="34" charset="0"/>
            </a:endParaRPr>
          </a:p>
        </p:txBody>
      </p:sp>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6510" y="-379570"/>
            <a:ext cx="1662864" cy="166646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736600" y="6239103"/>
            <a:ext cx="423193" cy="230832"/>
          </a:xfrm>
        </p:spPr>
        <p:txBody>
          <a:bodyPr>
            <a:spAutoFit/>
          </a:bodyPr>
          <a:lstStyle/>
          <a:p>
            <a:r>
              <a:rPr lang="en-US" altLang="zh-CN" dirty="0"/>
              <a:t>2026</a:t>
            </a:r>
            <a:endParaRPr lang="zh-CN" altLang="en-US" dirty="0"/>
          </a:p>
        </p:txBody>
      </p:sp>
      <p:sp>
        <p:nvSpPr>
          <p:cNvPr id="3" name="文本占位符 2"/>
          <p:cNvSpPr>
            <a:spLocks noGrp="1"/>
          </p:cNvSpPr>
          <p:nvPr>
            <p:ph type="body" sz="quarter" idx="11"/>
          </p:nvPr>
        </p:nvSpPr>
        <p:spPr>
          <a:xfrm>
            <a:off x="10686535" y="6239103"/>
            <a:ext cx="768865" cy="230832"/>
          </a:xfrm>
        </p:spPr>
        <p:txBody>
          <a:bodyPr>
            <a:spAutoFit/>
          </a:bodyPr>
          <a:lstStyle/>
          <a:p>
            <a:r>
              <a:rPr lang="en-US" altLang="zh-CN" dirty="0"/>
              <a:t>May 17th</a:t>
            </a:r>
            <a:endParaRPr lang="en-US" altLang="zh-CN" dirty="0"/>
          </a:p>
        </p:txBody>
      </p:sp>
      <p:sp>
        <p:nvSpPr>
          <p:cNvPr id="4" name="矩形 3"/>
          <p:cNvSpPr/>
          <p:nvPr/>
        </p:nvSpPr>
        <p:spPr>
          <a:xfrm>
            <a:off x="1266716" y="1426899"/>
            <a:ext cx="9753600" cy="3852000"/>
          </a:xfrm>
          <a:prstGeom prst="rect">
            <a:avLst/>
          </a:prstGeom>
          <a:solidFill>
            <a:schemeClr val="bg1"/>
          </a:solidFill>
          <a:ln>
            <a:solidFill>
              <a:schemeClr val="accent1"/>
            </a:solidFill>
          </a:ln>
          <a:effectLst>
            <a:outerShdw blurRad="330200" dist="50800" dir="5400000" algn="ctr" rotWithShape="0">
              <a:schemeClr val="accent1">
                <a:lumMod val="75000"/>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83" name="文本框 82"/>
          <p:cNvSpPr txBox="1"/>
          <p:nvPr/>
        </p:nvSpPr>
        <p:spPr>
          <a:xfrm>
            <a:off x="8386432" y="4260482"/>
            <a:ext cx="65" cy="615553"/>
          </a:xfrm>
          <a:prstGeom prst="rect">
            <a:avLst/>
          </a:prstGeom>
          <a:noFill/>
        </p:spPr>
        <p:txBody>
          <a:bodyPr wrap="none" lIns="0" tIns="0" rIns="0" bIns="0" rtlCol="0">
            <a:spAutoFit/>
          </a:bodyPr>
          <a:lstStyle/>
          <a:p>
            <a:endParaRPr lang="zh-CN" altLang="en-US" sz="4000" b="1" dirty="0">
              <a:solidFill>
                <a:schemeClr val="tx1">
                  <a:lumMod val="85000"/>
                  <a:lumOff val="15000"/>
                </a:schemeClr>
              </a:solidFill>
            </a:endParaRPr>
          </a:p>
        </p:txBody>
      </p:sp>
      <p:sp>
        <p:nvSpPr>
          <p:cNvPr id="84" name="文本框 83"/>
          <p:cNvSpPr txBox="1"/>
          <p:nvPr/>
        </p:nvSpPr>
        <p:spPr>
          <a:xfrm>
            <a:off x="8921420" y="4525594"/>
            <a:ext cx="65" cy="276999"/>
          </a:xfrm>
          <a:prstGeom prst="rect">
            <a:avLst/>
          </a:prstGeom>
          <a:noFill/>
        </p:spPr>
        <p:txBody>
          <a:bodyPr wrap="none" lIns="0" tIns="0" rIns="0" bIns="0" rtlCol="0">
            <a:spAutoFit/>
          </a:bodyPr>
          <a:lstStyle/>
          <a:p>
            <a:endParaRPr lang="zh-CN" altLang="en-US" b="1" dirty="0">
              <a:solidFill>
                <a:schemeClr val="tx1">
                  <a:lumMod val="85000"/>
                  <a:lumOff val="15000"/>
                </a:schemeClr>
              </a:solidFill>
            </a:endParaRPr>
          </a:p>
        </p:txBody>
      </p:sp>
      <p:sp>
        <p:nvSpPr>
          <p:cNvPr id="5" name="文本框 4"/>
          <p:cNvSpPr txBox="1"/>
          <p:nvPr/>
        </p:nvSpPr>
        <p:spPr>
          <a:xfrm>
            <a:off x="1067659" y="749115"/>
            <a:ext cx="2308324" cy="461665"/>
          </a:xfrm>
          <a:prstGeom prst="rect">
            <a:avLst/>
          </a:prstGeom>
          <a:noFill/>
        </p:spPr>
        <p:txBody>
          <a:bodyPr wrap="none" lIns="0" tIns="0" rIns="0" bIns="0" rtlCol="0">
            <a:spAutoFit/>
          </a:bodyPr>
          <a:lstStyle/>
          <a:p>
            <a:r>
              <a:rPr lang="zh-CN" altLang="en-US" sz="3000" b="1" dirty="0">
                <a:solidFill>
                  <a:schemeClr val="bg1"/>
                </a:solidFill>
                <a:latin typeface="+mj-ea"/>
                <a:ea typeface="+mj-ea"/>
              </a:rPr>
              <a:t>关键对照试验</a:t>
            </a:r>
            <a:endParaRPr lang="zh-CN" altLang="en-US" sz="3000" b="1" dirty="0">
              <a:solidFill>
                <a:schemeClr val="bg1"/>
              </a:solidFill>
              <a:latin typeface="+mj-ea"/>
              <a:ea typeface="+mj-ea"/>
            </a:endParaRPr>
          </a:p>
        </p:txBody>
      </p:sp>
      <p:grpSp>
        <p:nvGrpSpPr>
          <p:cNvPr id="6" name="组合 5"/>
          <p:cNvGrpSpPr/>
          <p:nvPr/>
        </p:nvGrpSpPr>
        <p:grpSpPr>
          <a:xfrm>
            <a:off x="574069" y="1102923"/>
            <a:ext cx="222232" cy="225426"/>
            <a:chOff x="1029398" y="1482433"/>
            <a:chExt cx="222232" cy="225426"/>
          </a:xfrm>
        </p:grpSpPr>
        <p:sp>
          <p:nvSpPr>
            <p:cNvPr id="7" name="矩形 6"/>
            <p:cNvSpPr/>
            <p:nvPr/>
          </p:nvSpPr>
          <p:spPr>
            <a:xfrm>
              <a:off x="1029398" y="1482433"/>
              <a:ext cx="183151" cy="1831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8" name="矩形 7"/>
            <p:cNvSpPr/>
            <p:nvPr/>
          </p:nvSpPr>
          <p:spPr>
            <a:xfrm>
              <a:off x="1068478" y="1524708"/>
              <a:ext cx="183152" cy="1831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1" name="文本框 10"/>
          <p:cNvSpPr txBox="1"/>
          <p:nvPr/>
        </p:nvSpPr>
        <p:spPr>
          <a:xfrm>
            <a:off x="2141220" y="3841454"/>
            <a:ext cx="8130316" cy="1006558"/>
          </a:xfrm>
          <a:prstGeom prst="rect">
            <a:avLst/>
          </a:prstGeom>
          <a:noFill/>
        </p:spPr>
        <p:txBody>
          <a:bodyPr wrap="square" lIns="0" tIns="0" rIns="0" bIns="0" rtlCol="0">
            <a:spAutoFit/>
          </a:bodyPr>
          <a:lstStyle/>
          <a:p>
            <a:pPr>
              <a:lnSpc>
                <a:spcPct val="125000"/>
              </a:lnSpc>
            </a:pPr>
            <a:r>
              <a:rPr lang="zh-CN" altLang="en-US" dirty="0"/>
              <a:t>组</a:t>
            </a:r>
            <a:r>
              <a:rPr lang="en-US" altLang="zh-CN" dirty="0"/>
              <a:t>1</a:t>
            </a:r>
            <a:r>
              <a:rPr lang="zh-CN" altLang="en-US" dirty="0"/>
              <a:t>无明显编辑，证明报告蛋白的条件性激活功能有效抑制了对正常 </a:t>
            </a:r>
            <a:r>
              <a:rPr lang="en-US" altLang="zh-CN" dirty="0"/>
              <a:t>RNA </a:t>
            </a:r>
            <a:r>
              <a:rPr lang="zh-CN" altLang="en-US" dirty="0"/>
              <a:t>的误伤；</a:t>
            </a:r>
            <a:endParaRPr lang="en-US" altLang="zh-CN" dirty="0"/>
          </a:p>
          <a:p>
            <a:pPr>
              <a:lnSpc>
                <a:spcPct val="125000"/>
              </a:lnSpc>
            </a:pPr>
            <a:r>
              <a:rPr lang="zh-CN" altLang="en-US" dirty="0"/>
              <a:t>组</a:t>
            </a:r>
            <a:r>
              <a:rPr lang="en-US" altLang="zh-CN" dirty="0"/>
              <a:t>3</a:t>
            </a:r>
            <a:r>
              <a:rPr lang="zh-CN" altLang="en-US" dirty="0"/>
              <a:t>出现编辑，与组</a:t>
            </a:r>
            <a:r>
              <a:rPr lang="en-US" altLang="zh-CN" dirty="0"/>
              <a:t>1</a:t>
            </a:r>
            <a:r>
              <a:rPr lang="zh-CN" altLang="en-US" dirty="0"/>
              <a:t>形成对照，印证调控模块对功能模块的调控作用</a:t>
            </a:r>
            <a:endParaRPr lang="en-US" altLang="zh-CN" dirty="0"/>
          </a:p>
          <a:p>
            <a:pPr>
              <a:lnSpc>
                <a:spcPct val="125000"/>
              </a:lnSpc>
            </a:pPr>
            <a:r>
              <a:rPr lang="zh-CN" altLang="en-US" dirty="0"/>
              <a:t>组</a:t>
            </a:r>
            <a:r>
              <a:rPr lang="en-US" altLang="zh-CN" dirty="0"/>
              <a:t>4</a:t>
            </a:r>
            <a:r>
              <a:rPr lang="zh-CN" altLang="en-US" dirty="0"/>
              <a:t>出现编辑，证明致病 </a:t>
            </a:r>
            <a:r>
              <a:rPr lang="en-US" altLang="zh-CN" dirty="0"/>
              <a:t>RNA</a:t>
            </a:r>
            <a:r>
              <a:rPr lang="zh-CN" altLang="en-US" dirty="0"/>
              <a:t>本身是可被 </a:t>
            </a:r>
            <a:r>
              <a:rPr lang="en-US" altLang="zh-CN" dirty="0"/>
              <a:t>APOBEC </a:t>
            </a:r>
            <a:r>
              <a:rPr lang="zh-CN" altLang="en-US" dirty="0"/>
              <a:t>功能模块切割的</a:t>
            </a:r>
            <a:endParaRPr lang="zh-CN" altLang="en-US" dirty="0"/>
          </a:p>
        </p:txBody>
      </p:sp>
      <p:sp>
        <p:nvSpPr>
          <p:cNvPr id="12" name="矩形 11"/>
          <p:cNvSpPr/>
          <p:nvPr/>
        </p:nvSpPr>
        <p:spPr>
          <a:xfrm>
            <a:off x="2073905" y="5015748"/>
            <a:ext cx="8044190" cy="927681"/>
          </a:xfrm>
          <a:prstGeom prst="rect">
            <a:avLst/>
          </a:prstGeom>
          <a:solidFill>
            <a:schemeClr val="bg1"/>
          </a:solidFill>
          <a:ln>
            <a:solidFill>
              <a:schemeClr val="accent1"/>
            </a:solidFill>
          </a:ln>
          <a:effectLst>
            <a:outerShdw blurRad="330200" dist="50800" dir="5400000" algn="ctr" rotWithShape="0">
              <a:schemeClr val="accent1">
                <a:lumMod val="75000"/>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p>
        </p:txBody>
      </p:sp>
      <p:sp>
        <p:nvSpPr>
          <p:cNvPr id="13" name="文本框 12"/>
          <p:cNvSpPr txBox="1"/>
          <p:nvPr/>
        </p:nvSpPr>
        <p:spPr>
          <a:xfrm>
            <a:off x="3858004" y="5106563"/>
            <a:ext cx="6114833" cy="733662"/>
          </a:xfrm>
          <a:prstGeom prst="rect">
            <a:avLst/>
          </a:prstGeom>
          <a:noFill/>
        </p:spPr>
        <p:txBody>
          <a:bodyPr wrap="square" lIns="0" tIns="0" rIns="0" bIns="0" rtlCol="0">
            <a:spAutoFit/>
          </a:bodyPr>
          <a:lstStyle/>
          <a:p>
            <a:pPr>
              <a:lnSpc>
                <a:spcPct val="125000"/>
              </a:lnSpc>
            </a:pPr>
            <a:r>
              <a:rPr lang="zh-CN" altLang="en-US" sz="2000" dirty="0"/>
              <a:t>系统严格依赖致病 </a:t>
            </a:r>
            <a:r>
              <a:rPr lang="en-US" altLang="zh-CN" sz="2000" dirty="0"/>
              <a:t>RNA </a:t>
            </a:r>
            <a:r>
              <a:rPr lang="zh-CN" altLang="en-US" sz="2000" dirty="0"/>
              <a:t>的特征二级结构实现变构激活，具备高度特异性、结构依赖性与低脱靶特性</a:t>
            </a:r>
            <a:endParaRPr lang="zh-CN" altLang="en-US" sz="2000" dirty="0"/>
          </a:p>
        </p:txBody>
      </p:sp>
      <p:sp>
        <p:nvSpPr>
          <p:cNvPr id="14" name="文本框 13"/>
          <p:cNvSpPr txBox="1"/>
          <p:nvPr/>
        </p:nvSpPr>
        <p:spPr>
          <a:xfrm>
            <a:off x="2276455" y="5246460"/>
            <a:ext cx="1436291" cy="430887"/>
          </a:xfrm>
          <a:prstGeom prst="rect">
            <a:avLst/>
          </a:prstGeom>
          <a:noFill/>
        </p:spPr>
        <p:txBody>
          <a:bodyPr wrap="none" lIns="0" tIns="0" rIns="0" bIns="0" rtlCol="0">
            <a:spAutoFit/>
          </a:bodyPr>
          <a:lstStyle/>
          <a:p>
            <a:pPr lvl="0"/>
            <a:r>
              <a:rPr lang="zh-CN" altLang="en-US" sz="2800" b="1" dirty="0">
                <a:solidFill>
                  <a:srgbClr val="4965AA"/>
                </a:solidFill>
              </a:rPr>
              <a:t>预期结论</a:t>
            </a:r>
            <a:endParaRPr lang="zh-CN" altLang="en-US" sz="2800" dirty="0">
              <a:solidFill>
                <a:srgbClr val="4965AA"/>
              </a:solidFill>
            </a:endParaRPr>
          </a:p>
        </p:txBody>
      </p:sp>
      <p:pic>
        <p:nvPicPr>
          <p:cNvPr id="15" name="图片 1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52498" y="1619773"/>
            <a:ext cx="8507760" cy="2137020"/>
          </a:xfrm>
          <a:prstGeom prst="rect">
            <a:avLst/>
          </a:prstGeom>
        </p:spPr>
      </p:pic>
      <p:sp>
        <p:nvSpPr>
          <p:cNvPr id="16" name="文本框 15"/>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4965AA"/>
                </a:highlight>
                <a:latin typeface="Eras Bold ITC" panose="020B0907030504020204" pitchFamily="34" charset="0"/>
              </a:rPr>
              <a:t>SUSTech</a:t>
            </a:r>
            <a:r>
              <a:rPr lang="en-US" altLang="zh-CN" sz="3000" dirty="0">
                <a:solidFill>
                  <a:srgbClr val="EFA7A7"/>
                </a:solidFill>
                <a:highlight>
                  <a:srgbClr val="4965AA"/>
                </a:highlight>
                <a:latin typeface="Eras Bold ITC" panose="020B0907030504020204" pitchFamily="34" charset="0"/>
              </a:rPr>
              <a:t>-BIO</a:t>
            </a:r>
            <a:endParaRPr lang="zh-CN" altLang="en-US" sz="3000" dirty="0">
              <a:solidFill>
                <a:srgbClr val="EFA7A7"/>
              </a:solidFill>
              <a:highlight>
                <a:srgbClr val="4965AA"/>
              </a:highlight>
              <a:latin typeface="Eras Bold ITC" panose="020B0907030504020204" pitchFamily="34" charset="0"/>
            </a:endParaRPr>
          </a:p>
        </p:txBody>
      </p:sp>
      <p:grpSp>
        <p:nvGrpSpPr>
          <p:cNvPr id="17" name="组合 16"/>
          <p:cNvGrpSpPr/>
          <p:nvPr/>
        </p:nvGrpSpPr>
        <p:grpSpPr>
          <a:xfrm>
            <a:off x="3120648" y="6260069"/>
            <a:ext cx="5988169" cy="184666"/>
            <a:chOff x="3730218" y="6260069"/>
            <a:chExt cx="5988169" cy="184666"/>
          </a:xfrm>
        </p:grpSpPr>
        <p:grpSp>
          <p:nvGrpSpPr>
            <p:cNvPr id="18" name="组合 17"/>
            <p:cNvGrpSpPr/>
            <p:nvPr/>
          </p:nvGrpSpPr>
          <p:grpSpPr>
            <a:xfrm>
              <a:off x="4682111" y="6260069"/>
              <a:ext cx="897875" cy="184666"/>
              <a:chOff x="4914007" y="6260069"/>
              <a:chExt cx="897875" cy="184666"/>
            </a:xfrm>
          </p:grpSpPr>
          <p:sp>
            <p:nvSpPr>
              <p:cNvPr id="32" name="文本框 31"/>
              <p:cNvSpPr txBox="1"/>
              <p:nvPr/>
            </p:nvSpPr>
            <p:spPr>
              <a:xfrm>
                <a:off x="5042441" y="6260069"/>
                <a:ext cx="769441" cy="184666"/>
              </a:xfrm>
              <a:prstGeom prst="rect">
                <a:avLst/>
              </a:prstGeom>
              <a:noFill/>
            </p:spPr>
            <p:txBody>
              <a:bodyPr wrap="none" lIns="0" tIns="0" rIns="0" bIns="0" rtlCol="0">
                <a:spAutoFit/>
              </a:bodyPr>
              <a:lstStyle/>
              <a:p>
                <a:r>
                  <a:rPr lang="zh-CN" altLang="en-US" sz="1200" dirty="0">
                    <a:solidFill>
                      <a:srgbClr val="4965AA">
                        <a:alpha val="50000"/>
                      </a:srgbClr>
                    </a:solidFill>
                  </a:rPr>
                  <a:t>核心创新点</a:t>
                </a:r>
                <a:endParaRPr lang="zh-CN" altLang="en-US" sz="1200" dirty="0">
                  <a:solidFill>
                    <a:srgbClr val="4965AA">
                      <a:alpha val="50000"/>
                    </a:srgbClr>
                  </a:solidFill>
                </a:endParaRPr>
              </a:p>
            </p:txBody>
          </p:sp>
          <p:sp>
            <p:nvSpPr>
              <p:cNvPr id="33" name="椭圆 32"/>
              <p:cNvSpPr/>
              <p:nvPr/>
            </p:nvSpPr>
            <p:spPr>
              <a:xfrm>
                <a:off x="4914007"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9" name="组合 18"/>
            <p:cNvGrpSpPr/>
            <p:nvPr/>
          </p:nvGrpSpPr>
          <p:grpSpPr>
            <a:xfrm>
              <a:off x="5787892" y="6260069"/>
              <a:ext cx="1565046" cy="184666"/>
              <a:chOff x="6097796" y="6260069"/>
              <a:chExt cx="1565046" cy="184666"/>
            </a:xfrm>
          </p:grpSpPr>
          <p:sp>
            <p:nvSpPr>
              <p:cNvPr id="30" name="文本框 29"/>
              <p:cNvSpPr txBox="1"/>
              <p:nvPr/>
            </p:nvSpPr>
            <p:spPr>
              <a:xfrm>
                <a:off x="6226230" y="6260069"/>
                <a:ext cx="1436612" cy="184666"/>
              </a:xfrm>
              <a:prstGeom prst="rect">
                <a:avLst/>
              </a:prstGeom>
              <a:noFill/>
            </p:spPr>
            <p:txBody>
              <a:bodyPr wrap="none" lIns="0" tIns="0" rIns="0" bIns="0" rtlCol="0">
                <a:spAutoFit/>
              </a:bodyPr>
              <a:lstStyle/>
              <a:p>
                <a:r>
                  <a:rPr lang="zh-CN" altLang="en-US" sz="1200" dirty="0">
                    <a:solidFill>
                      <a:srgbClr val="A5B3D6"/>
                    </a:solidFill>
                  </a:rPr>
                  <a:t>系统设计与机制解析</a:t>
                </a:r>
                <a:endParaRPr lang="zh-CN" altLang="en-US" sz="1200" dirty="0">
                  <a:solidFill>
                    <a:srgbClr val="A5B3D6"/>
                  </a:solidFill>
                </a:endParaRPr>
              </a:p>
            </p:txBody>
          </p:sp>
          <p:sp>
            <p:nvSpPr>
              <p:cNvPr id="31" name="椭圆 30"/>
              <p:cNvSpPr/>
              <p:nvPr/>
            </p:nvSpPr>
            <p:spPr>
              <a:xfrm>
                <a:off x="6097796"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20" name="组合 19"/>
            <p:cNvGrpSpPr/>
            <p:nvPr/>
          </p:nvGrpSpPr>
          <p:grpSpPr>
            <a:xfrm>
              <a:off x="7560844" y="6260069"/>
              <a:ext cx="1051763" cy="184666"/>
              <a:chOff x="7589362" y="6260069"/>
              <a:chExt cx="1051763" cy="184666"/>
            </a:xfrm>
          </p:grpSpPr>
          <p:sp>
            <p:nvSpPr>
              <p:cNvPr id="28" name="文本框 27"/>
              <p:cNvSpPr txBox="1"/>
              <p:nvPr/>
            </p:nvSpPr>
            <p:spPr>
              <a:xfrm>
                <a:off x="7717795" y="6260069"/>
                <a:ext cx="923330" cy="184666"/>
              </a:xfrm>
              <a:prstGeom prst="rect">
                <a:avLst/>
              </a:prstGeom>
              <a:noFill/>
            </p:spPr>
            <p:txBody>
              <a:bodyPr wrap="none" lIns="0" tIns="0" rIns="0" bIns="0" rtlCol="0">
                <a:spAutoFit/>
              </a:bodyPr>
              <a:lstStyle/>
              <a:p>
                <a:r>
                  <a:rPr lang="zh-CN" altLang="en-US" sz="1200" b="1" dirty="0">
                    <a:solidFill>
                      <a:srgbClr val="4965AA"/>
                    </a:solidFill>
                  </a:rPr>
                  <a:t>预期结果分析</a:t>
                </a:r>
                <a:endParaRPr lang="zh-CN" altLang="en-US" sz="1200" b="1" dirty="0">
                  <a:solidFill>
                    <a:srgbClr val="4965AA"/>
                  </a:solidFill>
                </a:endParaRPr>
              </a:p>
            </p:txBody>
          </p:sp>
          <p:sp>
            <p:nvSpPr>
              <p:cNvPr id="29" name="椭圆 28"/>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21" name="组合 20"/>
            <p:cNvGrpSpPr/>
            <p:nvPr/>
          </p:nvGrpSpPr>
          <p:grpSpPr>
            <a:xfrm>
              <a:off x="3730218" y="6260069"/>
              <a:ext cx="743987" cy="184666"/>
              <a:chOff x="3730218" y="6260069"/>
              <a:chExt cx="743987" cy="184666"/>
            </a:xfrm>
          </p:grpSpPr>
          <p:sp>
            <p:nvSpPr>
              <p:cNvPr id="26" name="文本框 25"/>
              <p:cNvSpPr txBox="1"/>
              <p:nvPr/>
            </p:nvSpPr>
            <p:spPr>
              <a:xfrm>
                <a:off x="3858652" y="6260069"/>
                <a:ext cx="615553" cy="184666"/>
              </a:xfrm>
              <a:prstGeom prst="rect">
                <a:avLst/>
              </a:prstGeom>
              <a:noFill/>
            </p:spPr>
            <p:txBody>
              <a:bodyPr wrap="none" lIns="0" tIns="0" rIns="0" bIns="0" rtlCol="0">
                <a:spAutoFit/>
              </a:bodyPr>
              <a:lstStyle/>
              <a:p>
                <a:r>
                  <a:rPr lang="zh-CN" altLang="en-US" sz="1200" dirty="0">
                    <a:solidFill>
                      <a:srgbClr val="A5B3D6"/>
                    </a:solidFill>
                  </a:rPr>
                  <a:t>科学问题</a:t>
                </a:r>
                <a:endParaRPr lang="zh-CN" altLang="en-US" sz="1200" dirty="0">
                  <a:solidFill>
                    <a:srgbClr val="A5B3D6"/>
                  </a:solidFill>
                </a:endParaRPr>
              </a:p>
            </p:txBody>
          </p:sp>
          <p:sp>
            <p:nvSpPr>
              <p:cNvPr id="27" name="椭圆 26"/>
              <p:cNvSpPr/>
              <p:nvPr/>
            </p:nvSpPr>
            <p:spPr>
              <a:xfrm>
                <a:off x="3730218"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22" name="椭圆 21"/>
            <p:cNvSpPr/>
            <p:nvPr/>
          </p:nvSpPr>
          <p:spPr>
            <a:xfrm>
              <a:off x="7521320" y="6301988"/>
              <a:ext cx="120650" cy="120650"/>
            </a:xfrm>
            <a:prstGeom prst="ellipse">
              <a:avLst/>
            </a:prstGeom>
            <a:noFill/>
            <a:ln w="6350">
              <a:solidFill>
                <a:srgbClr val="4965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23" name="组合 22"/>
            <p:cNvGrpSpPr/>
            <p:nvPr/>
          </p:nvGrpSpPr>
          <p:grpSpPr>
            <a:xfrm>
              <a:off x="8820513" y="6260069"/>
              <a:ext cx="897874" cy="184666"/>
              <a:chOff x="7589362" y="6260069"/>
              <a:chExt cx="897874" cy="184666"/>
            </a:xfrm>
          </p:grpSpPr>
          <p:sp>
            <p:nvSpPr>
              <p:cNvPr id="24" name="文本框 23"/>
              <p:cNvSpPr txBox="1"/>
              <p:nvPr/>
            </p:nvSpPr>
            <p:spPr>
              <a:xfrm>
                <a:off x="7717795" y="6260069"/>
                <a:ext cx="769441"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意义与展望</a:t>
                </a:r>
                <a:endParaRPr lang="zh-CN" altLang="en-US" sz="1200" dirty="0">
                  <a:solidFill>
                    <a:schemeClr val="accent1">
                      <a:lumMod val="60000"/>
                      <a:lumOff val="40000"/>
                    </a:schemeClr>
                  </a:solidFill>
                </a:endParaRPr>
              </a:p>
            </p:txBody>
          </p:sp>
          <p:sp>
            <p:nvSpPr>
              <p:cNvPr id="25" name="椭圆 24"/>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sp>
        <p:nvSpPr>
          <p:cNvPr id="34" name="文本框 33"/>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chemeClr val="bg1"/>
                </a:solidFill>
                <a:highlight>
                  <a:srgbClr val="4965AA"/>
                </a:highlight>
              </a:rPr>
              <a:t>Southern University of </a:t>
            </a:r>
            <a:endParaRPr lang="en-US" altLang="zh-CN" sz="1000" cap="all" dirty="0">
              <a:solidFill>
                <a:schemeClr val="bg1"/>
              </a:solidFill>
              <a:highlight>
                <a:srgbClr val="4965AA"/>
              </a:highlight>
            </a:endParaRPr>
          </a:p>
          <a:p>
            <a:pPr algn="r"/>
            <a:r>
              <a:rPr lang="en-US" altLang="zh-CN" sz="1000" cap="all" dirty="0">
                <a:solidFill>
                  <a:schemeClr val="bg1"/>
                </a:solidFill>
                <a:highlight>
                  <a:srgbClr val="4965AA"/>
                </a:highlight>
              </a:rPr>
              <a:t>science and technology</a:t>
            </a:r>
            <a:endParaRPr lang="zh-CN" altLang="en-US" sz="1000" cap="all" dirty="0">
              <a:solidFill>
                <a:schemeClr val="bg1"/>
              </a:solidFill>
              <a:highlight>
                <a:srgbClr val="4965AA"/>
              </a:highlight>
            </a:endParaRPr>
          </a:p>
        </p:txBody>
      </p:sp>
      <p:grpSp>
        <p:nvGrpSpPr>
          <p:cNvPr id="9" name="组合 8"/>
          <p:cNvGrpSpPr/>
          <p:nvPr/>
        </p:nvGrpSpPr>
        <p:grpSpPr>
          <a:xfrm>
            <a:off x="9799713" y="109178"/>
            <a:ext cx="2256250" cy="713649"/>
            <a:chOff x="9799713" y="109178"/>
            <a:chExt cx="2256250" cy="713649"/>
          </a:xfrm>
        </p:grpSpPr>
        <p:sp>
          <p:nvSpPr>
            <p:cNvPr id="10" name="矩形 9"/>
            <p:cNvSpPr/>
            <p:nvPr/>
          </p:nvSpPr>
          <p:spPr>
            <a:xfrm>
              <a:off x="9799713" y="197831"/>
              <a:ext cx="2117376" cy="53634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pic>
        <p:nvPicPr>
          <p:cNvPr id="37" name="图片 3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16510" y="-379570"/>
            <a:ext cx="1662864" cy="166646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736600" y="6239103"/>
            <a:ext cx="423193" cy="230832"/>
          </a:xfrm>
        </p:spPr>
        <p:txBody>
          <a:bodyPr>
            <a:spAutoFit/>
          </a:bodyPr>
          <a:lstStyle/>
          <a:p>
            <a:r>
              <a:rPr lang="en-US" altLang="zh-CN" dirty="0"/>
              <a:t>2026</a:t>
            </a:r>
            <a:endParaRPr lang="zh-CN" altLang="en-US" dirty="0"/>
          </a:p>
        </p:txBody>
      </p:sp>
      <p:sp>
        <p:nvSpPr>
          <p:cNvPr id="3" name="文本占位符 2"/>
          <p:cNvSpPr>
            <a:spLocks noGrp="1"/>
          </p:cNvSpPr>
          <p:nvPr>
            <p:ph type="body" sz="quarter" idx="11"/>
          </p:nvPr>
        </p:nvSpPr>
        <p:spPr>
          <a:xfrm>
            <a:off x="10686535" y="6239103"/>
            <a:ext cx="768865" cy="230832"/>
          </a:xfrm>
        </p:spPr>
        <p:txBody>
          <a:bodyPr>
            <a:spAutoFit/>
          </a:bodyPr>
          <a:lstStyle/>
          <a:p>
            <a:r>
              <a:rPr lang="en-US" altLang="zh-CN" dirty="0"/>
              <a:t>May 17th</a:t>
            </a:r>
            <a:endParaRPr lang="en-US" altLang="zh-CN" dirty="0"/>
          </a:p>
        </p:txBody>
      </p:sp>
      <p:sp>
        <p:nvSpPr>
          <p:cNvPr id="83" name="文本框 82"/>
          <p:cNvSpPr txBox="1"/>
          <p:nvPr/>
        </p:nvSpPr>
        <p:spPr>
          <a:xfrm>
            <a:off x="8386432" y="4260482"/>
            <a:ext cx="65" cy="615553"/>
          </a:xfrm>
          <a:prstGeom prst="rect">
            <a:avLst/>
          </a:prstGeom>
          <a:noFill/>
        </p:spPr>
        <p:txBody>
          <a:bodyPr wrap="none" lIns="0" tIns="0" rIns="0" bIns="0" rtlCol="0">
            <a:spAutoFit/>
          </a:bodyPr>
          <a:lstStyle/>
          <a:p>
            <a:endParaRPr lang="zh-CN" altLang="en-US" sz="4000" b="1" dirty="0">
              <a:solidFill>
                <a:schemeClr val="tx1">
                  <a:lumMod val="85000"/>
                  <a:lumOff val="15000"/>
                </a:schemeClr>
              </a:solidFill>
            </a:endParaRPr>
          </a:p>
        </p:txBody>
      </p:sp>
      <p:sp>
        <p:nvSpPr>
          <p:cNvPr id="84" name="文本框 83"/>
          <p:cNvSpPr txBox="1"/>
          <p:nvPr/>
        </p:nvSpPr>
        <p:spPr>
          <a:xfrm>
            <a:off x="8921420" y="4525594"/>
            <a:ext cx="65" cy="276999"/>
          </a:xfrm>
          <a:prstGeom prst="rect">
            <a:avLst/>
          </a:prstGeom>
          <a:noFill/>
        </p:spPr>
        <p:txBody>
          <a:bodyPr wrap="none" lIns="0" tIns="0" rIns="0" bIns="0" rtlCol="0">
            <a:spAutoFit/>
          </a:bodyPr>
          <a:lstStyle/>
          <a:p>
            <a:endParaRPr lang="zh-CN" altLang="en-US" b="1" dirty="0">
              <a:solidFill>
                <a:schemeClr val="tx1">
                  <a:lumMod val="85000"/>
                  <a:lumOff val="15000"/>
                </a:schemeClr>
              </a:solidFill>
            </a:endParaRPr>
          </a:p>
        </p:txBody>
      </p:sp>
      <p:sp>
        <p:nvSpPr>
          <p:cNvPr id="5" name="文本框 4"/>
          <p:cNvSpPr txBox="1"/>
          <p:nvPr/>
        </p:nvSpPr>
        <p:spPr>
          <a:xfrm>
            <a:off x="486199" y="745547"/>
            <a:ext cx="1538883" cy="461665"/>
          </a:xfrm>
          <a:prstGeom prst="rect">
            <a:avLst/>
          </a:prstGeom>
          <a:noFill/>
        </p:spPr>
        <p:txBody>
          <a:bodyPr wrap="none" lIns="0" tIns="0" rIns="0" bIns="0" rtlCol="0">
            <a:spAutoFit/>
          </a:bodyPr>
          <a:lstStyle/>
          <a:p>
            <a:r>
              <a:rPr lang="zh-CN" altLang="en-US" sz="3000" b="1" dirty="0">
                <a:solidFill>
                  <a:schemeClr val="bg1"/>
                </a:solidFill>
                <a:latin typeface="+mj-ea"/>
                <a:ea typeface="+mj-ea"/>
              </a:rPr>
              <a:t>体外水平</a:t>
            </a:r>
            <a:endParaRPr lang="zh-CN" altLang="en-US" sz="3000" b="1" dirty="0">
              <a:solidFill>
                <a:schemeClr val="bg1"/>
              </a:solidFill>
              <a:latin typeface="+mj-ea"/>
              <a:ea typeface="+mj-ea"/>
            </a:endParaRPr>
          </a:p>
        </p:txBody>
      </p:sp>
      <p:grpSp>
        <p:nvGrpSpPr>
          <p:cNvPr id="6" name="组合 5"/>
          <p:cNvGrpSpPr/>
          <p:nvPr/>
        </p:nvGrpSpPr>
        <p:grpSpPr>
          <a:xfrm>
            <a:off x="447119" y="1437411"/>
            <a:ext cx="222232" cy="225426"/>
            <a:chOff x="1029398" y="1482433"/>
            <a:chExt cx="222232" cy="225426"/>
          </a:xfrm>
        </p:grpSpPr>
        <p:sp>
          <p:nvSpPr>
            <p:cNvPr id="7" name="矩形 6"/>
            <p:cNvSpPr/>
            <p:nvPr/>
          </p:nvSpPr>
          <p:spPr>
            <a:xfrm>
              <a:off x="1029398" y="1482433"/>
              <a:ext cx="183151" cy="1831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8" name="矩形 7"/>
            <p:cNvSpPr/>
            <p:nvPr/>
          </p:nvSpPr>
          <p:spPr>
            <a:xfrm>
              <a:off x="1068478" y="1524708"/>
              <a:ext cx="183152" cy="1831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68" name="组合 67"/>
          <p:cNvGrpSpPr/>
          <p:nvPr/>
        </p:nvGrpSpPr>
        <p:grpSpPr>
          <a:xfrm>
            <a:off x="1804949" y="1289325"/>
            <a:ext cx="10118883" cy="1796523"/>
            <a:chOff x="1143345" y="1372006"/>
            <a:chExt cx="10118883" cy="1796523"/>
          </a:xfrm>
        </p:grpSpPr>
        <p:grpSp>
          <p:nvGrpSpPr>
            <p:cNvPr id="9" name="组合 8"/>
            <p:cNvGrpSpPr/>
            <p:nvPr/>
          </p:nvGrpSpPr>
          <p:grpSpPr>
            <a:xfrm>
              <a:off x="1143345" y="1372006"/>
              <a:ext cx="10118883" cy="1796523"/>
              <a:chOff x="3584328" y="964070"/>
              <a:chExt cx="9997094" cy="1796523"/>
            </a:xfrm>
          </p:grpSpPr>
          <p:sp>
            <p:nvSpPr>
              <p:cNvPr id="15" name="矩形 14"/>
              <p:cNvSpPr/>
              <p:nvPr/>
            </p:nvSpPr>
            <p:spPr>
              <a:xfrm>
                <a:off x="3584328" y="964070"/>
                <a:ext cx="9997094" cy="1796523"/>
              </a:xfrm>
              <a:prstGeom prst="rect">
                <a:avLst/>
              </a:prstGeom>
              <a:solidFill>
                <a:schemeClr val="bg1"/>
              </a:solidFill>
              <a:ln>
                <a:solidFill>
                  <a:schemeClr val="accent1"/>
                </a:solidFill>
              </a:ln>
              <a:effectLst>
                <a:outerShdw blurRad="317500" dist="203200" dir="5400000" sx="96000" sy="96000" algn="t"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p>
            </p:txBody>
          </p:sp>
          <p:sp>
            <p:nvSpPr>
              <p:cNvPr id="16" name="文本框 15"/>
              <p:cNvSpPr txBox="1"/>
              <p:nvPr/>
            </p:nvSpPr>
            <p:spPr>
              <a:xfrm>
                <a:off x="3825101" y="1092962"/>
                <a:ext cx="2391819" cy="369332"/>
              </a:xfrm>
              <a:prstGeom prst="rect">
                <a:avLst/>
              </a:prstGeom>
              <a:noFill/>
            </p:spPr>
            <p:txBody>
              <a:bodyPr wrap="square" lIns="0" tIns="0" rIns="0" bIns="0" rtlCol="0">
                <a:spAutoFit/>
              </a:bodyPr>
              <a:lstStyle/>
              <a:p>
                <a:r>
                  <a:rPr lang="en-US" altLang="zh-CN" sz="2400" b="1" dirty="0">
                    <a:solidFill>
                      <a:schemeClr val="accent1"/>
                    </a:solidFill>
                  </a:rPr>
                  <a:t>1. </a:t>
                </a:r>
                <a:r>
                  <a:rPr lang="zh-CN" altLang="en-US" sz="2400" b="1" dirty="0">
                    <a:solidFill>
                      <a:schemeClr val="accent1"/>
                    </a:solidFill>
                  </a:rPr>
                  <a:t>蛋白制备</a:t>
                </a:r>
                <a:endParaRPr lang="zh-CN" altLang="en-US" sz="2400" b="1" dirty="0">
                  <a:solidFill>
                    <a:schemeClr val="accent1"/>
                  </a:solidFill>
                </a:endParaRPr>
              </a:p>
            </p:txBody>
          </p:sp>
          <p:cxnSp>
            <p:nvCxnSpPr>
              <p:cNvPr id="17" name="直接连接符 16"/>
              <p:cNvCxnSpPr/>
              <p:nvPr/>
            </p:nvCxnSpPr>
            <p:spPr>
              <a:xfrm>
                <a:off x="3825101" y="1492384"/>
                <a:ext cx="2346099"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3825102" y="1584081"/>
                <a:ext cx="2474532" cy="977832"/>
              </a:xfrm>
              <a:prstGeom prst="rect">
                <a:avLst/>
              </a:prstGeom>
              <a:noFill/>
            </p:spPr>
            <p:txBody>
              <a:bodyPr wrap="square" lIns="0" tIns="0" rIns="0" bIns="0" rtlCol="0">
                <a:spAutoFit/>
              </a:bodyPr>
              <a:lstStyle/>
              <a:p>
                <a:pPr>
                  <a:lnSpc>
                    <a:spcPts val="2600"/>
                  </a:lnSpc>
                </a:pPr>
                <a:r>
                  <a:rPr lang="zh-CN" altLang="en-US" sz="2000" dirty="0">
                    <a:solidFill>
                      <a:schemeClr val="tx1">
                        <a:lumMod val="85000"/>
                        <a:lumOff val="15000"/>
                      </a:schemeClr>
                    </a:solidFill>
                    <a:latin typeface="+mn-ea"/>
                  </a:rPr>
                  <a:t>完成分子克隆、真核</a:t>
                </a:r>
                <a:endParaRPr lang="en-US" altLang="zh-CN" sz="2000" dirty="0">
                  <a:solidFill>
                    <a:schemeClr val="tx1">
                      <a:lumMod val="85000"/>
                      <a:lumOff val="15000"/>
                    </a:schemeClr>
                  </a:solidFill>
                  <a:latin typeface="+mn-ea"/>
                </a:endParaRPr>
              </a:p>
              <a:p>
                <a:pPr>
                  <a:lnSpc>
                    <a:spcPts val="2600"/>
                  </a:lnSpc>
                </a:pPr>
                <a:r>
                  <a:rPr lang="zh-CN" altLang="en-US" sz="2000" dirty="0">
                    <a:solidFill>
                      <a:schemeClr val="tx1">
                        <a:lumMod val="85000"/>
                        <a:lumOff val="15000"/>
                      </a:schemeClr>
                    </a:solidFill>
                    <a:latin typeface="+mn-ea"/>
                  </a:rPr>
                  <a:t>表达与蛋白纯化，</a:t>
                </a:r>
                <a:endParaRPr lang="en-US" altLang="zh-CN" sz="2000" dirty="0">
                  <a:solidFill>
                    <a:schemeClr val="tx1">
                      <a:lumMod val="85000"/>
                      <a:lumOff val="15000"/>
                    </a:schemeClr>
                  </a:solidFill>
                  <a:latin typeface="+mn-ea"/>
                </a:endParaRPr>
              </a:p>
              <a:p>
                <a:pPr>
                  <a:lnSpc>
                    <a:spcPts val="2600"/>
                  </a:lnSpc>
                </a:pPr>
                <a:r>
                  <a:rPr lang="zh-CN" altLang="en-US" sz="2000" dirty="0">
                    <a:solidFill>
                      <a:schemeClr val="tx1">
                        <a:lumMod val="85000"/>
                        <a:lumOff val="15000"/>
                      </a:schemeClr>
                    </a:solidFill>
                    <a:latin typeface="+mn-ea"/>
                  </a:rPr>
                  <a:t>获得高纯度融合蛋白</a:t>
                </a:r>
                <a:endParaRPr lang="zh-CN" altLang="en-US" sz="2000" dirty="0">
                  <a:solidFill>
                    <a:schemeClr val="tx1">
                      <a:lumMod val="85000"/>
                      <a:lumOff val="15000"/>
                    </a:schemeClr>
                  </a:solidFill>
                  <a:latin typeface="+mn-ea"/>
                </a:endParaRPr>
              </a:p>
            </p:txBody>
          </p:sp>
        </p:grpSp>
        <p:sp>
          <p:nvSpPr>
            <p:cNvPr id="25" name="文本框 24"/>
            <p:cNvSpPr txBox="1"/>
            <p:nvPr/>
          </p:nvSpPr>
          <p:spPr>
            <a:xfrm>
              <a:off x="3943905" y="1500898"/>
              <a:ext cx="2391819" cy="369332"/>
            </a:xfrm>
            <a:prstGeom prst="rect">
              <a:avLst/>
            </a:prstGeom>
            <a:noFill/>
          </p:spPr>
          <p:txBody>
            <a:bodyPr wrap="square" lIns="0" tIns="0" rIns="0" bIns="0" rtlCol="0">
              <a:spAutoFit/>
            </a:bodyPr>
            <a:lstStyle/>
            <a:p>
              <a:r>
                <a:rPr lang="en-US" altLang="zh-CN" sz="2400" b="1" dirty="0">
                  <a:solidFill>
                    <a:schemeClr val="accent1"/>
                  </a:solidFill>
                </a:rPr>
                <a:t>2. </a:t>
              </a:r>
              <a:r>
                <a:rPr lang="zh-CN" altLang="en-US" sz="2400" b="1" dirty="0">
                  <a:solidFill>
                    <a:schemeClr val="accent1"/>
                  </a:solidFill>
                </a:rPr>
                <a:t>靶向验证</a:t>
              </a:r>
              <a:endParaRPr lang="zh-CN" altLang="en-US" sz="2400" b="1" dirty="0">
                <a:solidFill>
                  <a:schemeClr val="accent1"/>
                </a:solidFill>
              </a:endParaRPr>
            </a:p>
          </p:txBody>
        </p:sp>
        <p:cxnSp>
          <p:nvCxnSpPr>
            <p:cNvPr id="26" name="直接连接符 25"/>
            <p:cNvCxnSpPr/>
            <p:nvPr/>
          </p:nvCxnSpPr>
          <p:spPr>
            <a:xfrm>
              <a:off x="3943905" y="1900320"/>
              <a:ext cx="2199611"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3943906" y="1992017"/>
              <a:ext cx="2282324" cy="977832"/>
            </a:xfrm>
            <a:prstGeom prst="rect">
              <a:avLst/>
            </a:prstGeom>
            <a:noFill/>
          </p:spPr>
          <p:txBody>
            <a:bodyPr wrap="square" lIns="0" tIns="0" rIns="0" bIns="0" rtlCol="0">
              <a:spAutoFit/>
            </a:bodyPr>
            <a:lstStyle/>
            <a:p>
              <a:pPr>
                <a:lnSpc>
                  <a:spcPts val="2600"/>
                </a:lnSpc>
              </a:pPr>
              <a:r>
                <a:rPr lang="en-US" altLang="zh-CN" sz="2000" dirty="0"/>
                <a:t>EMSA </a:t>
              </a:r>
              <a:r>
                <a:rPr lang="zh-CN" altLang="en-US" sz="2000" dirty="0"/>
                <a:t>测定结合常数 </a:t>
              </a:r>
              <a:r>
                <a:rPr lang="en-US" altLang="zh-CN" sz="2000" dirty="0" err="1"/>
                <a:t>Kd</a:t>
              </a:r>
              <a:r>
                <a:rPr lang="zh-CN" altLang="en-US" sz="2000" dirty="0"/>
                <a:t>，验证靶向模块高效识别能力</a:t>
              </a:r>
              <a:endParaRPr lang="zh-CN" altLang="en-US" sz="2000" dirty="0">
                <a:solidFill>
                  <a:schemeClr val="tx1">
                    <a:lumMod val="85000"/>
                    <a:lumOff val="15000"/>
                  </a:schemeClr>
                </a:solidFill>
                <a:latin typeface="+mn-ea"/>
              </a:endParaRPr>
            </a:p>
          </p:txBody>
        </p:sp>
        <p:sp>
          <p:nvSpPr>
            <p:cNvPr id="33" name="文本框 32"/>
            <p:cNvSpPr txBox="1"/>
            <p:nvPr/>
          </p:nvSpPr>
          <p:spPr>
            <a:xfrm>
              <a:off x="6357202" y="1500898"/>
              <a:ext cx="2391819" cy="369332"/>
            </a:xfrm>
            <a:prstGeom prst="rect">
              <a:avLst/>
            </a:prstGeom>
            <a:noFill/>
          </p:spPr>
          <p:txBody>
            <a:bodyPr wrap="square" lIns="0" tIns="0" rIns="0" bIns="0" rtlCol="0">
              <a:spAutoFit/>
            </a:bodyPr>
            <a:lstStyle/>
            <a:p>
              <a:r>
                <a:rPr lang="en-US" altLang="zh-CN" sz="2400" b="1" dirty="0">
                  <a:solidFill>
                    <a:schemeClr val="accent1"/>
                  </a:solidFill>
                </a:rPr>
                <a:t>3. </a:t>
              </a:r>
              <a:r>
                <a:rPr lang="zh-CN" altLang="en-US" sz="2400" b="1" dirty="0">
                  <a:solidFill>
                    <a:schemeClr val="accent1"/>
                  </a:solidFill>
                </a:rPr>
                <a:t>功能评价</a:t>
              </a:r>
              <a:endParaRPr lang="zh-CN" altLang="en-US" sz="2400" b="1" dirty="0">
                <a:solidFill>
                  <a:schemeClr val="accent1"/>
                </a:solidFill>
              </a:endParaRPr>
            </a:p>
          </p:txBody>
        </p:sp>
        <p:cxnSp>
          <p:nvCxnSpPr>
            <p:cNvPr id="34" name="直接连接符 33"/>
            <p:cNvCxnSpPr/>
            <p:nvPr/>
          </p:nvCxnSpPr>
          <p:spPr>
            <a:xfrm>
              <a:off x="6357202" y="1900320"/>
              <a:ext cx="2199611" cy="0"/>
            </a:xfrm>
            <a:prstGeom prst="line">
              <a:avLst/>
            </a:prstGeom>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357203" y="1992017"/>
              <a:ext cx="2282324" cy="977832"/>
            </a:xfrm>
            <a:prstGeom prst="rect">
              <a:avLst/>
            </a:prstGeom>
            <a:noFill/>
          </p:spPr>
          <p:txBody>
            <a:bodyPr wrap="square" lIns="0" tIns="0" rIns="0" bIns="0" rtlCol="0">
              <a:spAutoFit/>
            </a:bodyPr>
            <a:lstStyle/>
            <a:p>
              <a:pPr>
                <a:lnSpc>
                  <a:spcPts val="2600"/>
                </a:lnSpc>
              </a:pPr>
              <a:r>
                <a:rPr lang="zh-CN" altLang="en-US" sz="2000" dirty="0"/>
                <a:t>体外编辑实验证实：仅致病 </a:t>
              </a:r>
              <a:r>
                <a:rPr lang="en-US" altLang="zh-CN" sz="2000" dirty="0"/>
                <a:t>RNA </a:t>
              </a:r>
              <a:r>
                <a:rPr lang="zh-CN" altLang="en-US" sz="2000" dirty="0"/>
                <a:t>特异性降解</a:t>
              </a:r>
              <a:endParaRPr lang="zh-CN" altLang="en-US" sz="2000" dirty="0">
                <a:solidFill>
                  <a:schemeClr val="tx1">
                    <a:lumMod val="85000"/>
                    <a:lumOff val="15000"/>
                  </a:schemeClr>
                </a:solidFill>
                <a:latin typeface="+mn-ea"/>
              </a:endParaRPr>
            </a:p>
          </p:txBody>
        </p:sp>
        <p:sp>
          <p:nvSpPr>
            <p:cNvPr id="36" name="文本框 35"/>
            <p:cNvSpPr txBox="1"/>
            <p:nvPr/>
          </p:nvSpPr>
          <p:spPr>
            <a:xfrm>
              <a:off x="8766329" y="1500898"/>
              <a:ext cx="2391819" cy="369332"/>
            </a:xfrm>
            <a:prstGeom prst="rect">
              <a:avLst/>
            </a:prstGeom>
            <a:noFill/>
          </p:spPr>
          <p:txBody>
            <a:bodyPr wrap="square" lIns="0" tIns="0" rIns="0" bIns="0" rtlCol="0">
              <a:spAutoFit/>
            </a:bodyPr>
            <a:lstStyle/>
            <a:p>
              <a:r>
                <a:rPr lang="en-US" altLang="zh-CN" sz="2400" b="1" dirty="0">
                  <a:solidFill>
                    <a:schemeClr val="accent1"/>
                  </a:solidFill>
                </a:rPr>
                <a:t>4. </a:t>
              </a:r>
              <a:r>
                <a:rPr lang="zh-CN" altLang="en-US" sz="2400" b="1" dirty="0">
                  <a:solidFill>
                    <a:schemeClr val="accent1"/>
                  </a:solidFill>
                </a:rPr>
                <a:t>机制研究</a:t>
              </a:r>
              <a:endParaRPr lang="zh-CN" altLang="en-US" sz="2400" b="1" dirty="0">
                <a:solidFill>
                  <a:schemeClr val="accent1"/>
                </a:solidFill>
              </a:endParaRPr>
            </a:p>
          </p:txBody>
        </p:sp>
        <p:cxnSp>
          <p:nvCxnSpPr>
            <p:cNvPr id="37" name="直接连接符 36"/>
            <p:cNvCxnSpPr/>
            <p:nvPr/>
          </p:nvCxnSpPr>
          <p:spPr>
            <a:xfrm>
              <a:off x="8766329" y="1900320"/>
              <a:ext cx="2199611" cy="0"/>
            </a:xfrm>
            <a:prstGeom prst="line">
              <a:avLst/>
            </a:prstGeom>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8766330" y="1992017"/>
              <a:ext cx="2199610" cy="977832"/>
            </a:xfrm>
            <a:prstGeom prst="rect">
              <a:avLst/>
            </a:prstGeom>
            <a:noFill/>
          </p:spPr>
          <p:txBody>
            <a:bodyPr wrap="square" lIns="0" tIns="0" rIns="0" bIns="0" rtlCol="0">
              <a:spAutoFit/>
            </a:bodyPr>
            <a:lstStyle/>
            <a:p>
              <a:pPr>
                <a:lnSpc>
                  <a:spcPts val="2600"/>
                </a:lnSpc>
              </a:pPr>
              <a:r>
                <a:rPr lang="en-US" altLang="zh-CN" sz="2000" dirty="0"/>
                <a:t>SPR/BLI </a:t>
              </a:r>
              <a:r>
                <a:rPr lang="zh-CN" altLang="en-US" sz="2000" dirty="0"/>
                <a:t>实时监测</a:t>
              </a:r>
              <a:endParaRPr lang="en-US" altLang="zh-CN" sz="2000" dirty="0"/>
            </a:p>
            <a:p>
              <a:pPr>
                <a:lnSpc>
                  <a:spcPts val="2600"/>
                </a:lnSpc>
              </a:pPr>
              <a:r>
                <a:rPr lang="zh-CN" altLang="en-US" sz="2000" dirty="0"/>
                <a:t>结合动力学，</a:t>
              </a:r>
              <a:r>
                <a:rPr lang="en-US" altLang="zh-CN" sz="2000" dirty="0"/>
                <a:t>CD</a:t>
              </a:r>
              <a:r>
                <a:rPr lang="zh-CN" altLang="en-US" sz="2000" dirty="0"/>
                <a:t>光谱揭示变构机制</a:t>
              </a:r>
              <a:endParaRPr lang="zh-CN" altLang="en-US" sz="2000" dirty="0">
                <a:solidFill>
                  <a:schemeClr val="tx1">
                    <a:lumMod val="85000"/>
                    <a:lumOff val="15000"/>
                  </a:schemeClr>
                </a:solidFill>
                <a:latin typeface="+mn-ea"/>
              </a:endParaRPr>
            </a:p>
          </p:txBody>
        </p:sp>
      </p:grpSp>
      <p:sp>
        <p:nvSpPr>
          <p:cNvPr id="43" name="文本框 42"/>
          <p:cNvSpPr txBox="1"/>
          <p:nvPr/>
        </p:nvSpPr>
        <p:spPr>
          <a:xfrm>
            <a:off x="1035508" y="5562669"/>
            <a:ext cx="1538883" cy="461665"/>
          </a:xfrm>
          <a:prstGeom prst="rect">
            <a:avLst/>
          </a:prstGeom>
          <a:noFill/>
        </p:spPr>
        <p:txBody>
          <a:bodyPr wrap="none" lIns="0" tIns="0" rIns="0" bIns="0" rtlCol="0">
            <a:spAutoFit/>
          </a:bodyPr>
          <a:lstStyle/>
          <a:p>
            <a:r>
              <a:rPr lang="zh-CN" altLang="en-US" sz="3000" b="1" dirty="0">
                <a:solidFill>
                  <a:srgbClr val="4965AA"/>
                </a:solidFill>
                <a:latin typeface="+mj-ea"/>
                <a:ea typeface="+mj-ea"/>
              </a:rPr>
              <a:t>细胞水平</a:t>
            </a:r>
            <a:endParaRPr lang="zh-CN" altLang="en-US" sz="3000" b="1" dirty="0">
              <a:solidFill>
                <a:srgbClr val="4965AA"/>
              </a:solidFill>
              <a:latin typeface="+mj-ea"/>
              <a:ea typeface="+mj-ea"/>
            </a:endParaRPr>
          </a:p>
        </p:txBody>
      </p:sp>
      <p:grpSp>
        <p:nvGrpSpPr>
          <p:cNvPr id="44" name="组合 43"/>
          <p:cNvGrpSpPr/>
          <p:nvPr/>
        </p:nvGrpSpPr>
        <p:grpSpPr>
          <a:xfrm>
            <a:off x="585510" y="5689861"/>
            <a:ext cx="222232" cy="225426"/>
            <a:chOff x="1029398" y="1482433"/>
            <a:chExt cx="222232" cy="225426"/>
          </a:xfrm>
        </p:grpSpPr>
        <p:sp>
          <p:nvSpPr>
            <p:cNvPr id="45" name="矩形 44"/>
            <p:cNvSpPr/>
            <p:nvPr/>
          </p:nvSpPr>
          <p:spPr>
            <a:xfrm>
              <a:off x="1029398" y="1482433"/>
              <a:ext cx="183151" cy="183151"/>
            </a:xfrm>
            <a:prstGeom prst="rect">
              <a:avLst/>
            </a:prstGeom>
            <a:noFill/>
            <a:ln>
              <a:solidFill>
                <a:srgbClr val="4965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6" name="矩形 45"/>
            <p:cNvSpPr/>
            <p:nvPr/>
          </p:nvSpPr>
          <p:spPr>
            <a:xfrm>
              <a:off x="1068478" y="1524708"/>
              <a:ext cx="183152" cy="183151"/>
            </a:xfrm>
            <a:prstGeom prst="rect">
              <a:avLst/>
            </a:prstGeom>
            <a:noFill/>
            <a:ln>
              <a:solidFill>
                <a:srgbClr val="4965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pic>
        <p:nvPicPr>
          <p:cNvPr id="48" name="图片 4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244268" y="3379840"/>
            <a:ext cx="5893444" cy="1188418"/>
          </a:xfrm>
          <a:prstGeom prst="rect">
            <a:avLst/>
          </a:prstGeom>
        </p:spPr>
      </p:pic>
      <p:pic>
        <p:nvPicPr>
          <p:cNvPr id="59" name="图片 5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8114" y="4702233"/>
            <a:ext cx="7458878" cy="1368990"/>
          </a:xfrm>
          <a:prstGeom prst="rect">
            <a:avLst/>
          </a:prstGeom>
        </p:spPr>
      </p:pic>
      <p:sp>
        <p:nvSpPr>
          <p:cNvPr id="60" name="文本框 59"/>
          <p:cNvSpPr txBox="1"/>
          <p:nvPr/>
        </p:nvSpPr>
        <p:spPr>
          <a:xfrm>
            <a:off x="286509" y="3214740"/>
            <a:ext cx="5783049" cy="2272545"/>
          </a:xfrm>
          <a:prstGeom prst="rect">
            <a:avLst/>
          </a:prstGeom>
          <a:noFill/>
        </p:spPr>
        <p:txBody>
          <a:bodyPr wrap="square" lIns="0" tIns="0" rIns="0" bIns="0" rtlCol="0">
            <a:spAutoFit/>
          </a:bodyPr>
          <a:lstStyle/>
          <a:p>
            <a:pPr>
              <a:lnSpc>
                <a:spcPct val="125000"/>
              </a:lnSpc>
            </a:pPr>
            <a:r>
              <a:rPr lang="en-US" altLang="zh-CN" sz="2000" b="1" dirty="0"/>
              <a:t>1. </a:t>
            </a:r>
            <a:r>
              <a:rPr lang="zh-CN" altLang="en-US" sz="2000" b="1" dirty="0"/>
              <a:t>定量评估：</a:t>
            </a:r>
            <a:r>
              <a:rPr lang="zh-CN" altLang="en-US" sz="2000" dirty="0"/>
              <a:t>构建双荧光报告系统以直观、定量地  </a:t>
            </a:r>
            <a:endParaRPr lang="en-US" altLang="zh-CN" sz="2000" dirty="0"/>
          </a:p>
          <a:p>
            <a:pPr>
              <a:lnSpc>
                <a:spcPct val="125000"/>
              </a:lnSpc>
            </a:pPr>
            <a:r>
              <a:rPr lang="en-US" altLang="zh-CN" sz="2000" dirty="0"/>
              <a:t>     </a:t>
            </a:r>
            <a:r>
              <a:rPr lang="zh-CN" altLang="en-US" sz="2000" dirty="0"/>
              <a:t>评估其细胞内活性和特异性 </a:t>
            </a:r>
            <a:r>
              <a:rPr lang="en-US" altLang="zh-CN" sz="2000" dirty="0"/>
              <a:t>(</a:t>
            </a:r>
            <a:r>
              <a:rPr lang="zh-CN" altLang="en-US" sz="2000" dirty="0"/>
              <a:t>右上表</a:t>
            </a:r>
            <a:r>
              <a:rPr lang="en-US" altLang="zh-CN" sz="2000" dirty="0"/>
              <a:t>)</a:t>
            </a:r>
            <a:endParaRPr lang="zh-CN" altLang="en-US" sz="2000" dirty="0"/>
          </a:p>
          <a:p>
            <a:pPr>
              <a:lnSpc>
                <a:spcPct val="125000"/>
              </a:lnSpc>
            </a:pPr>
            <a:r>
              <a:rPr lang="en-US" altLang="zh-CN" sz="2000" b="1" dirty="0"/>
              <a:t>2.</a:t>
            </a:r>
            <a:r>
              <a:rPr lang="zh-CN" altLang="en-US" sz="2000" b="1" dirty="0"/>
              <a:t> 靶向特异性：</a:t>
            </a:r>
            <a:r>
              <a:rPr lang="zh-CN" altLang="en-US" sz="2000" dirty="0"/>
              <a:t>使致病 </a:t>
            </a:r>
            <a:r>
              <a:rPr lang="en-US" altLang="zh-CN" sz="2000" dirty="0"/>
              <a:t>RNA </a:t>
            </a:r>
            <a:r>
              <a:rPr lang="zh-CN" altLang="en-US" sz="2000" dirty="0"/>
              <a:t>组 </a:t>
            </a:r>
            <a:r>
              <a:rPr lang="en-US" altLang="zh-CN" sz="2000" dirty="0"/>
              <a:t>GFP </a:t>
            </a:r>
            <a:r>
              <a:rPr lang="zh-CN" altLang="en-US" sz="2000" dirty="0"/>
              <a:t>信号显著下降， </a:t>
            </a:r>
            <a:endParaRPr lang="en-US" altLang="zh-CN" sz="2000" dirty="0"/>
          </a:p>
          <a:p>
            <a:pPr>
              <a:lnSpc>
                <a:spcPct val="125000"/>
              </a:lnSpc>
            </a:pPr>
            <a:r>
              <a:rPr lang="en-US" altLang="zh-CN" sz="2000" dirty="0"/>
              <a:t>     </a:t>
            </a:r>
            <a:r>
              <a:rPr lang="zh-CN" altLang="en-US" sz="2000" dirty="0"/>
              <a:t>正常 </a:t>
            </a:r>
            <a:r>
              <a:rPr lang="en-US" altLang="zh-CN" sz="2000" dirty="0"/>
              <a:t>RNA </a:t>
            </a:r>
            <a:r>
              <a:rPr lang="zh-CN" altLang="en-US" sz="2000" dirty="0"/>
              <a:t>组基本不受影响 </a:t>
            </a:r>
            <a:r>
              <a:rPr lang="en-US" altLang="zh-CN" sz="2000" dirty="0"/>
              <a:t>(</a:t>
            </a:r>
            <a:r>
              <a:rPr lang="zh-CN" altLang="en-US" sz="2000" dirty="0"/>
              <a:t>右下表</a:t>
            </a:r>
            <a:r>
              <a:rPr lang="en-US" altLang="zh-CN" sz="2000" dirty="0"/>
              <a:t>)</a:t>
            </a:r>
            <a:endParaRPr lang="zh-CN" altLang="en-US" sz="2000" dirty="0"/>
          </a:p>
          <a:p>
            <a:pPr>
              <a:lnSpc>
                <a:spcPct val="125000"/>
              </a:lnSpc>
            </a:pPr>
            <a:r>
              <a:rPr lang="en-US" altLang="zh-CN" sz="2000" b="1" dirty="0"/>
              <a:t>3.</a:t>
            </a:r>
            <a:r>
              <a:rPr lang="zh-CN" altLang="en-US" sz="2000" b="1" dirty="0"/>
              <a:t> 模型验证：</a:t>
            </a:r>
            <a:r>
              <a:rPr lang="zh-CN" altLang="en-US" sz="2000" dirty="0"/>
              <a:t>在患者成纤维细胞</a:t>
            </a:r>
            <a:endParaRPr lang="en-US" altLang="zh-CN" sz="2000" dirty="0"/>
          </a:p>
          <a:p>
            <a:pPr>
              <a:lnSpc>
                <a:spcPct val="125000"/>
              </a:lnSpc>
            </a:pPr>
            <a:r>
              <a:rPr lang="en-US" altLang="zh-CN" sz="2000" dirty="0"/>
              <a:t>     </a:t>
            </a:r>
            <a:r>
              <a:rPr lang="zh-CN" altLang="en-US" sz="2000" dirty="0"/>
              <a:t>与神经元前体细胞中功能有效</a:t>
            </a:r>
            <a:endParaRPr lang="zh-CN" altLang="en-US" sz="2000" dirty="0">
              <a:solidFill>
                <a:schemeClr val="tx1">
                  <a:lumMod val="85000"/>
                  <a:lumOff val="15000"/>
                </a:schemeClr>
              </a:solidFill>
              <a:latin typeface="+mn-ea"/>
            </a:endParaRPr>
          </a:p>
        </p:txBody>
      </p:sp>
      <p:sp>
        <p:nvSpPr>
          <p:cNvPr id="4" name="文本框 3"/>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4965AA"/>
                </a:highlight>
                <a:latin typeface="Eras Bold ITC" panose="020B0907030504020204" pitchFamily="34" charset="0"/>
              </a:rPr>
              <a:t>SUSTech</a:t>
            </a:r>
            <a:r>
              <a:rPr lang="en-US" altLang="zh-CN" sz="3000" dirty="0">
                <a:solidFill>
                  <a:srgbClr val="EFA7A7"/>
                </a:solidFill>
                <a:highlight>
                  <a:srgbClr val="4965AA"/>
                </a:highlight>
                <a:latin typeface="Eras Bold ITC" panose="020B0907030504020204" pitchFamily="34" charset="0"/>
              </a:rPr>
              <a:t>-BIO</a:t>
            </a:r>
            <a:endParaRPr lang="zh-CN" altLang="en-US" sz="3000" dirty="0">
              <a:solidFill>
                <a:srgbClr val="EFA7A7"/>
              </a:solidFill>
              <a:highlight>
                <a:srgbClr val="4965AA"/>
              </a:highlight>
              <a:latin typeface="Eras Bold ITC" panose="020B0907030504020204" pitchFamily="34" charset="0"/>
            </a:endParaRPr>
          </a:p>
        </p:txBody>
      </p:sp>
      <p:grpSp>
        <p:nvGrpSpPr>
          <p:cNvPr id="10" name="组合 9"/>
          <p:cNvGrpSpPr/>
          <p:nvPr/>
        </p:nvGrpSpPr>
        <p:grpSpPr>
          <a:xfrm>
            <a:off x="3120648" y="6260069"/>
            <a:ext cx="5988169" cy="184666"/>
            <a:chOff x="3730218" y="6260069"/>
            <a:chExt cx="5988169" cy="184666"/>
          </a:xfrm>
        </p:grpSpPr>
        <p:grpSp>
          <p:nvGrpSpPr>
            <p:cNvPr id="11" name="组合 10"/>
            <p:cNvGrpSpPr/>
            <p:nvPr/>
          </p:nvGrpSpPr>
          <p:grpSpPr>
            <a:xfrm>
              <a:off x="4682111" y="6260069"/>
              <a:ext cx="897875" cy="184666"/>
              <a:chOff x="4914007" y="6260069"/>
              <a:chExt cx="897875" cy="184666"/>
            </a:xfrm>
          </p:grpSpPr>
          <p:sp>
            <p:nvSpPr>
              <p:cNvPr id="32" name="文本框 31"/>
              <p:cNvSpPr txBox="1"/>
              <p:nvPr/>
            </p:nvSpPr>
            <p:spPr>
              <a:xfrm>
                <a:off x="5042441" y="6260069"/>
                <a:ext cx="769441" cy="184666"/>
              </a:xfrm>
              <a:prstGeom prst="rect">
                <a:avLst/>
              </a:prstGeom>
              <a:noFill/>
            </p:spPr>
            <p:txBody>
              <a:bodyPr wrap="none" lIns="0" tIns="0" rIns="0" bIns="0" rtlCol="0">
                <a:spAutoFit/>
              </a:bodyPr>
              <a:lstStyle/>
              <a:p>
                <a:r>
                  <a:rPr lang="zh-CN" altLang="en-US" sz="1200" dirty="0">
                    <a:solidFill>
                      <a:srgbClr val="4965AA">
                        <a:alpha val="50000"/>
                      </a:srgbClr>
                    </a:solidFill>
                  </a:rPr>
                  <a:t>核心创新点</a:t>
                </a:r>
                <a:endParaRPr lang="zh-CN" altLang="en-US" sz="1200" dirty="0">
                  <a:solidFill>
                    <a:srgbClr val="4965AA">
                      <a:alpha val="50000"/>
                    </a:srgbClr>
                  </a:solidFill>
                </a:endParaRPr>
              </a:p>
            </p:txBody>
          </p:sp>
          <p:sp>
            <p:nvSpPr>
              <p:cNvPr id="39" name="椭圆 38"/>
              <p:cNvSpPr/>
              <p:nvPr/>
            </p:nvSpPr>
            <p:spPr>
              <a:xfrm>
                <a:off x="4914007"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2" name="组合 11"/>
            <p:cNvGrpSpPr/>
            <p:nvPr/>
          </p:nvGrpSpPr>
          <p:grpSpPr>
            <a:xfrm>
              <a:off x="5787892" y="6260069"/>
              <a:ext cx="1565046" cy="184666"/>
              <a:chOff x="6097796" y="6260069"/>
              <a:chExt cx="1565046" cy="184666"/>
            </a:xfrm>
          </p:grpSpPr>
          <p:sp>
            <p:nvSpPr>
              <p:cNvPr id="30" name="文本框 29"/>
              <p:cNvSpPr txBox="1"/>
              <p:nvPr/>
            </p:nvSpPr>
            <p:spPr>
              <a:xfrm>
                <a:off x="6226230" y="6260069"/>
                <a:ext cx="1436612" cy="184666"/>
              </a:xfrm>
              <a:prstGeom prst="rect">
                <a:avLst/>
              </a:prstGeom>
              <a:noFill/>
            </p:spPr>
            <p:txBody>
              <a:bodyPr wrap="none" lIns="0" tIns="0" rIns="0" bIns="0" rtlCol="0">
                <a:spAutoFit/>
              </a:bodyPr>
              <a:lstStyle/>
              <a:p>
                <a:r>
                  <a:rPr lang="zh-CN" altLang="en-US" sz="1200" dirty="0">
                    <a:solidFill>
                      <a:srgbClr val="A5B3D6"/>
                    </a:solidFill>
                  </a:rPr>
                  <a:t>系统设计与机制解析</a:t>
                </a:r>
                <a:endParaRPr lang="zh-CN" altLang="en-US" sz="1200" dirty="0">
                  <a:solidFill>
                    <a:srgbClr val="A5B3D6"/>
                  </a:solidFill>
                </a:endParaRPr>
              </a:p>
            </p:txBody>
          </p:sp>
          <p:sp>
            <p:nvSpPr>
              <p:cNvPr id="31" name="椭圆 30"/>
              <p:cNvSpPr/>
              <p:nvPr/>
            </p:nvSpPr>
            <p:spPr>
              <a:xfrm>
                <a:off x="6097796"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3" name="组合 12"/>
            <p:cNvGrpSpPr/>
            <p:nvPr/>
          </p:nvGrpSpPr>
          <p:grpSpPr>
            <a:xfrm>
              <a:off x="7560844" y="6260069"/>
              <a:ext cx="1051763" cy="184666"/>
              <a:chOff x="7589362" y="6260069"/>
              <a:chExt cx="1051763" cy="184666"/>
            </a:xfrm>
          </p:grpSpPr>
          <p:sp>
            <p:nvSpPr>
              <p:cNvPr id="28" name="文本框 27"/>
              <p:cNvSpPr txBox="1"/>
              <p:nvPr/>
            </p:nvSpPr>
            <p:spPr>
              <a:xfrm>
                <a:off x="7717795" y="6260069"/>
                <a:ext cx="923330" cy="184666"/>
              </a:xfrm>
              <a:prstGeom prst="rect">
                <a:avLst/>
              </a:prstGeom>
              <a:noFill/>
            </p:spPr>
            <p:txBody>
              <a:bodyPr wrap="none" lIns="0" tIns="0" rIns="0" bIns="0" rtlCol="0">
                <a:spAutoFit/>
              </a:bodyPr>
              <a:lstStyle/>
              <a:p>
                <a:r>
                  <a:rPr lang="zh-CN" altLang="en-US" sz="1200" b="1" dirty="0">
                    <a:solidFill>
                      <a:srgbClr val="4965AA"/>
                    </a:solidFill>
                  </a:rPr>
                  <a:t>预期结果分析</a:t>
                </a:r>
                <a:endParaRPr lang="zh-CN" altLang="en-US" sz="1200" b="1" dirty="0">
                  <a:solidFill>
                    <a:srgbClr val="4965AA"/>
                  </a:solidFill>
                </a:endParaRPr>
              </a:p>
            </p:txBody>
          </p:sp>
          <p:sp>
            <p:nvSpPr>
              <p:cNvPr id="29" name="椭圆 28"/>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4" name="组合 13"/>
            <p:cNvGrpSpPr/>
            <p:nvPr/>
          </p:nvGrpSpPr>
          <p:grpSpPr>
            <a:xfrm>
              <a:off x="3730218" y="6260069"/>
              <a:ext cx="743987" cy="184666"/>
              <a:chOff x="3730218" y="6260069"/>
              <a:chExt cx="743987" cy="184666"/>
            </a:xfrm>
          </p:grpSpPr>
          <p:sp>
            <p:nvSpPr>
              <p:cNvPr id="23" name="文本框 22"/>
              <p:cNvSpPr txBox="1"/>
              <p:nvPr/>
            </p:nvSpPr>
            <p:spPr>
              <a:xfrm>
                <a:off x="3858652" y="6260069"/>
                <a:ext cx="615553" cy="184666"/>
              </a:xfrm>
              <a:prstGeom prst="rect">
                <a:avLst/>
              </a:prstGeom>
              <a:noFill/>
            </p:spPr>
            <p:txBody>
              <a:bodyPr wrap="none" lIns="0" tIns="0" rIns="0" bIns="0" rtlCol="0">
                <a:spAutoFit/>
              </a:bodyPr>
              <a:lstStyle/>
              <a:p>
                <a:r>
                  <a:rPr lang="zh-CN" altLang="en-US" sz="1200" dirty="0">
                    <a:solidFill>
                      <a:srgbClr val="A5B3D6"/>
                    </a:solidFill>
                  </a:rPr>
                  <a:t>科学问题</a:t>
                </a:r>
                <a:endParaRPr lang="zh-CN" altLang="en-US" sz="1200" dirty="0">
                  <a:solidFill>
                    <a:srgbClr val="A5B3D6"/>
                  </a:solidFill>
                </a:endParaRPr>
              </a:p>
            </p:txBody>
          </p:sp>
          <p:sp>
            <p:nvSpPr>
              <p:cNvPr id="24" name="椭圆 23"/>
              <p:cNvSpPr/>
              <p:nvPr/>
            </p:nvSpPr>
            <p:spPr>
              <a:xfrm>
                <a:off x="3730218"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9" name="椭圆 18"/>
            <p:cNvSpPr/>
            <p:nvPr/>
          </p:nvSpPr>
          <p:spPr>
            <a:xfrm>
              <a:off x="7521320" y="6301988"/>
              <a:ext cx="120650" cy="120650"/>
            </a:xfrm>
            <a:prstGeom prst="ellipse">
              <a:avLst/>
            </a:prstGeom>
            <a:noFill/>
            <a:ln w="6350">
              <a:solidFill>
                <a:srgbClr val="4965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20" name="组合 19"/>
            <p:cNvGrpSpPr/>
            <p:nvPr/>
          </p:nvGrpSpPr>
          <p:grpSpPr>
            <a:xfrm>
              <a:off x="8820513" y="6260069"/>
              <a:ext cx="897874" cy="184666"/>
              <a:chOff x="7589362" y="6260069"/>
              <a:chExt cx="897874" cy="184666"/>
            </a:xfrm>
          </p:grpSpPr>
          <p:sp>
            <p:nvSpPr>
              <p:cNvPr id="21" name="文本框 20"/>
              <p:cNvSpPr txBox="1"/>
              <p:nvPr/>
            </p:nvSpPr>
            <p:spPr>
              <a:xfrm>
                <a:off x="7717795" y="6260069"/>
                <a:ext cx="769441" cy="184666"/>
              </a:xfrm>
              <a:prstGeom prst="rect">
                <a:avLst/>
              </a:prstGeom>
              <a:noFill/>
            </p:spPr>
            <p:txBody>
              <a:bodyPr wrap="none" lIns="0" tIns="0" rIns="0" bIns="0" rtlCol="0">
                <a:spAutoFit/>
              </a:bodyPr>
              <a:lstStyle/>
              <a:p>
                <a:r>
                  <a:rPr lang="zh-CN" altLang="en-US" sz="1200" dirty="0">
                    <a:solidFill>
                      <a:schemeClr val="accent1">
                        <a:lumMod val="60000"/>
                        <a:lumOff val="40000"/>
                      </a:schemeClr>
                    </a:solidFill>
                  </a:rPr>
                  <a:t>意义与展望</a:t>
                </a:r>
                <a:endParaRPr lang="zh-CN" altLang="en-US" sz="1200" dirty="0">
                  <a:solidFill>
                    <a:schemeClr val="accent1">
                      <a:lumMod val="60000"/>
                      <a:lumOff val="40000"/>
                    </a:schemeClr>
                  </a:solidFill>
                </a:endParaRPr>
              </a:p>
            </p:txBody>
          </p:sp>
          <p:sp>
            <p:nvSpPr>
              <p:cNvPr id="22" name="椭圆 21"/>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sp>
        <p:nvSpPr>
          <p:cNvPr id="40" name="文本框 39"/>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chemeClr val="bg1"/>
                </a:solidFill>
                <a:highlight>
                  <a:srgbClr val="4965AA"/>
                </a:highlight>
              </a:rPr>
              <a:t>Southern University of </a:t>
            </a:r>
            <a:endParaRPr lang="en-US" altLang="zh-CN" sz="1000" cap="all" dirty="0">
              <a:solidFill>
                <a:schemeClr val="bg1"/>
              </a:solidFill>
              <a:highlight>
                <a:srgbClr val="4965AA"/>
              </a:highlight>
            </a:endParaRPr>
          </a:p>
          <a:p>
            <a:pPr algn="r"/>
            <a:r>
              <a:rPr lang="en-US" altLang="zh-CN" sz="1000" cap="all" dirty="0">
                <a:solidFill>
                  <a:schemeClr val="bg1"/>
                </a:solidFill>
                <a:highlight>
                  <a:srgbClr val="4965AA"/>
                </a:highlight>
              </a:rPr>
              <a:t>science and technology</a:t>
            </a:r>
            <a:endParaRPr lang="zh-CN" altLang="en-US" sz="1000" cap="all" dirty="0">
              <a:solidFill>
                <a:schemeClr val="bg1"/>
              </a:solidFill>
              <a:highlight>
                <a:srgbClr val="4965AA"/>
              </a:highlight>
            </a:endParaRPr>
          </a:p>
        </p:txBody>
      </p:sp>
      <p:grpSp>
        <p:nvGrpSpPr>
          <p:cNvPr id="41" name="组合 40"/>
          <p:cNvGrpSpPr/>
          <p:nvPr/>
        </p:nvGrpSpPr>
        <p:grpSpPr>
          <a:xfrm>
            <a:off x="9799713" y="109178"/>
            <a:ext cx="2256250" cy="713649"/>
            <a:chOff x="9799713" y="109178"/>
            <a:chExt cx="2256250" cy="713649"/>
          </a:xfrm>
        </p:grpSpPr>
        <p:sp>
          <p:nvSpPr>
            <p:cNvPr id="42" name="矩形 41"/>
            <p:cNvSpPr/>
            <p:nvPr/>
          </p:nvSpPr>
          <p:spPr>
            <a:xfrm>
              <a:off x="9799713" y="197831"/>
              <a:ext cx="2117376" cy="53634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图片 4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6510" y="-379570"/>
            <a:ext cx="1662864" cy="166646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79935" y="2754066"/>
            <a:ext cx="2564805" cy="615553"/>
          </a:xfrm>
          <a:prstGeom prst="rect">
            <a:avLst/>
          </a:prstGeom>
          <a:noFill/>
        </p:spPr>
        <p:txBody>
          <a:bodyPr wrap="none" lIns="0" tIns="0" rIns="0" bIns="0" rtlCol="0">
            <a:spAutoFit/>
          </a:bodyPr>
          <a:lstStyle/>
          <a:p>
            <a:pPr algn="ctr"/>
            <a:r>
              <a:rPr lang="zh-CN" altLang="en-US" sz="4000" dirty="0">
                <a:solidFill>
                  <a:schemeClr val="bg1"/>
                </a:solidFill>
              </a:rPr>
              <a:t>意义与展望</a:t>
            </a:r>
            <a:endParaRPr lang="zh-CN" altLang="en-US" sz="4000" dirty="0">
              <a:solidFill>
                <a:schemeClr val="bg1"/>
              </a:solidFill>
            </a:endParaRPr>
          </a:p>
        </p:txBody>
      </p:sp>
      <p:sp>
        <p:nvSpPr>
          <p:cNvPr id="5" name="文本框 4"/>
          <p:cNvSpPr txBox="1"/>
          <p:nvPr/>
        </p:nvSpPr>
        <p:spPr>
          <a:xfrm>
            <a:off x="4791252" y="3457789"/>
            <a:ext cx="2609497" cy="276999"/>
          </a:xfrm>
          <a:prstGeom prst="rect">
            <a:avLst/>
          </a:prstGeom>
          <a:noFill/>
        </p:spPr>
        <p:txBody>
          <a:bodyPr wrap="none" lIns="0" tIns="0" rIns="0" bIns="0" rtlCol="0">
            <a:spAutoFit/>
          </a:bodyPr>
          <a:lstStyle/>
          <a:p>
            <a:pPr algn="ctr"/>
            <a:r>
              <a:rPr lang="en-US" altLang="zh-CN" dirty="0">
                <a:solidFill>
                  <a:schemeClr val="bg1"/>
                </a:solidFill>
              </a:rPr>
              <a:t>Significance and Prospects</a:t>
            </a:r>
            <a:endParaRPr lang="en-US" altLang="zh-CN" dirty="0">
              <a:solidFill>
                <a:schemeClr val="bg1"/>
              </a:solidFill>
            </a:endParaRPr>
          </a:p>
        </p:txBody>
      </p:sp>
      <p:sp>
        <p:nvSpPr>
          <p:cNvPr id="6" name="文本框 5"/>
          <p:cNvSpPr txBox="1"/>
          <p:nvPr/>
        </p:nvSpPr>
        <p:spPr>
          <a:xfrm>
            <a:off x="5653571" y="2041451"/>
            <a:ext cx="884859" cy="615553"/>
          </a:xfrm>
          <a:prstGeom prst="rect">
            <a:avLst/>
          </a:prstGeom>
          <a:noFill/>
        </p:spPr>
        <p:txBody>
          <a:bodyPr wrap="none" lIns="0" tIns="0" rIns="0" bIns="0" rtlCol="0">
            <a:spAutoFit/>
          </a:bodyPr>
          <a:lstStyle/>
          <a:p>
            <a:pPr algn="ctr"/>
            <a:r>
              <a:rPr lang="en-US" altLang="zh-CN" sz="4000" dirty="0">
                <a:solidFill>
                  <a:schemeClr val="bg1"/>
                </a:solidFill>
              </a:rPr>
              <a:t>#05</a:t>
            </a:r>
            <a:endParaRPr lang="zh-CN" altLang="en-US" sz="4000" dirty="0">
              <a:solidFill>
                <a:schemeClr val="bg1"/>
              </a:solidFill>
            </a:endParaRPr>
          </a:p>
        </p:txBody>
      </p:sp>
      <p:cxnSp>
        <p:nvCxnSpPr>
          <p:cNvPr id="3" name="直接连接符 2"/>
          <p:cNvCxnSpPr/>
          <p:nvPr/>
        </p:nvCxnSpPr>
        <p:spPr>
          <a:xfrm>
            <a:off x="731838" y="6162908"/>
            <a:ext cx="107283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731838" y="6239103"/>
            <a:ext cx="471283" cy="230832"/>
          </a:xfrm>
          <a:prstGeom prst="rect">
            <a:avLst/>
          </a:prstGeom>
          <a:noFill/>
        </p:spPr>
        <p:txBody>
          <a:bodyPr wrap="square" lIns="0" tIns="0" rIns="0" bIns="0" rtlCol="0">
            <a:spAutoFit/>
          </a:bodyPr>
          <a:lstStyle/>
          <a:p>
            <a:r>
              <a:rPr lang="en-US" altLang="zh-CN" sz="1500" dirty="0">
                <a:solidFill>
                  <a:schemeClr val="bg1"/>
                </a:solidFill>
              </a:rPr>
              <a:t>2026</a:t>
            </a:r>
            <a:endParaRPr lang="zh-CN" altLang="en-US" sz="1500" dirty="0">
              <a:solidFill>
                <a:schemeClr val="bg1"/>
              </a:solidFill>
            </a:endParaRPr>
          </a:p>
        </p:txBody>
      </p:sp>
      <p:sp>
        <p:nvSpPr>
          <p:cNvPr id="26" name="文本框 25"/>
          <p:cNvSpPr txBox="1"/>
          <p:nvPr/>
        </p:nvSpPr>
        <p:spPr>
          <a:xfrm>
            <a:off x="10686535" y="6239103"/>
            <a:ext cx="768865" cy="230832"/>
          </a:xfrm>
          <a:prstGeom prst="rect">
            <a:avLst/>
          </a:prstGeom>
          <a:noFill/>
        </p:spPr>
        <p:txBody>
          <a:bodyPr wrap="none" lIns="0" tIns="0" rIns="0" bIns="0" rtlCol="0">
            <a:spAutoFit/>
          </a:bodyPr>
          <a:lstStyle/>
          <a:p>
            <a:pPr algn="r"/>
            <a:r>
              <a:rPr lang="en-US" altLang="zh-CN" sz="1500" dirty="0">
                <a:solidFill>
                  <a:schemeClr val="bg1"/>
                </a:solidFill>
              </a:rPr>
              <a:t>May 17th</a:t>
            </a:r>
            <a:endParaRPr lang="zh-CN" altLang="en-US" sz="1500" dirty="0">
              <a:solidFill>
                <a:schemeClr val="bg1"/>
              </a:solidFill>
            </a:endParaRPr>
          </a:p>
        </p:txBody>
      </p:sp>
      <p:sp>
        <p:nvSpPr>
          <p:cNvPr id="9" name="矩形 8"/>
          <p:cNvSpPr/>
          <p:nvPr/>
        </p:nvSpPr>
        <p:spPr>
          <a:xfrm>
            <a:off x="3396114" y="1811959"/>
            <a:ext cx="5399773" cy="22715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7" name="矩形 26"/>
          <p:cNvSpPr/>
          <p:nvPr/>
        </p:nvSpPr>
        <p:spPr>
          <a:xfrm>
            <a:off x="3478664" y="1913559"/>
            <a:ext cx="5399773" cy="22715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7" name="组合 6"/>
          <p:cNvGrpSpPr/>
          <p:nvPr/>
        </p:nvGrpSpPr>
        <p:grpSpPr>
          <a:xfrm>
            <a:off x="3120648" y="6260069"/>
            <a:ext cx="5988169" cy="184666"/>
            <a:chOff x="3730218" y="6260069"/>
            <a:chExt cx="5988169" cy="184666"/>
          </a:xfrm>
        </p:grpSpPr>
        <p:grpSp>
          <p:nvGrpSpPr>
            <p:cNvPr id="8" name="组合 7"/>
            <p:cNvGrpSpPr/>
            <p:nvPr/>
          </p:nvGrpSpPr>
          <p:grpSpPr>
            <a:xfrm>
              <a:off x="4682111" y="6260069"/>
              <a:ext cx="897875" cy="184666"/>
              <a:chOff x="4914007" y="6260069"/>
              <a:chExt cx="897875" cy="184666"/>
            </a:xfrm>
          </p:grpSpPr>
          <p:sp>
            <p:nvSpPr>
              <p:cNvPr id="23" name="文本框 22"/>
              <p:cNvSpPr txBox="1"/>
              <p:nvPr/>
            </p:nvSpPr>
            <p:spPr>
              <a:xfrm>
                <a:off x="5042441" y="6260069"/>
                <a:ext cx="769441" cy="184666"/>
              </a:xfrm>
              <a:prstGeom prst="rect">
                <a:avLst/>
              </a:prstGeom>
              <a:noFill/>
            </p:spPr>
            <p:txBody>
              <a:bodyPr wrap="none" lIns="0" tIns="0" rIns="0" bIns="0" rtlCol="0">
                <a:spAutoFit/>
              </a:bodyPr>
              <a:lstStyle/>
              <a:p>
                <a:r>
                  <a:rPr lang="zh-CN" altLang="en-US" sz="1200" dirty="0">
                    <a:solidFill>
                      <a:schemeClr val="bg1">
                        <a:alpha val="50000"/>
                      </a:schemeClr>
                    </a:solidFill>
                  </a:rPr>
                  <a:t>核心创新点</a:t>
                </a:r>
                <a:endParaRPr lang="zh-CN" altLang="en-US" sz="1200" dirty="0">
                  <a:solidFill>
                    <a:schemeClr val="bg1">
                      <a:alpha val="50000"/>
                    </a:schemeClr>
                  </a:solidFill>
                </a:endParaRPr>
              </a:p>
            </p:txBody>
          </p:sp>
          <p:sp>
            <p:nvSpPr>
              <p:cNvPr id="25" name="椭圆 24"/>
              <p:cNvSpPr/>
              <p:nvPr/>
            </p:nvSpPr>
            <p:spPr>
              <a:xfrm>
                <a:off x="4914007"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0" name="组合 9"/>
            <p:cNvGrpSpPr/>
            <p:nvPr/>
          </p:nvGrpSpPr>
          <p:grpSpPr>
            <a:xfrm>
              <a:off x="5787892" y="6260069"/>
              <a:ext cx="1565046" cy="184666"/>
              <a:chOff x="6097796" y="6260069"/>
              <a:chExt cx="1565046" cy="184666"/>
            </a:xfrm>
          </p:grpSpPr>
          <p:sp>
            <p:nvSpPr>
              <p:cNvPr id="21" name="文本框 20"/>
              <p:cNvSpPr txBox="1"/>
              <p:nvPr/>
            </p:nvSpPr>
            <p:spPr>
              <a:xfrm>
                <a:off x="6226230" y="6260069"/>
                <a:ext cx="1436612" cy="184666"/>
              </a:xfrm>
              <a:prstGeom prst="rect">
                <a:avLst/>
              </a:prstGeom>
              <a:noFill/>
            </p:spPr>
            <p:txBody>
              <a:bodyPr wrap="none" lIns="0" tIns="0" rIns="0" bIns="0" rtlCol="0">
                <a:spAutoFit/>
              </a:bodyPr>
              <a:lstStyle/>
              <a:p>
                <a:r>
                  <a:rPr lang="zh-CN" altLang="en-US" sz="1200" dirty="0">
                    <a:solidFill>
                      <a:schemeClr val="bg1">
                        <a:alpha val="50000"/>
                      </a:schemeClr>
                    </a:solidFill>
                  </a:rPr>
                  <a:t>系统设计与机制解析</a:t>
                </a:r>
                <a:endParaRPr lang="zh-CN" altLang="en-US" sz="1200" dirty="0">
                  <a:solidFill>
                    <a:schemeClr val="bg1">
                      <a:alpha val="50000"/>
                    </a:schemeClr>
                  </a:solidFill>
                </a:endParaRPr>
              </a:p>
            </p:txBody>
          </p:sp>
          <p:sp>
            <p:nvSpPr>
              <p:cNvPr id="22" name="椭圆 21"/>
              <p:cNvSpPr/>
              <p:nvPr/>
            </p:nvSpPr>
            <p:spPr>
              <a:xfrm>
                <a:off x="6097796"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1" name="组合 10"/>
            <p:cNvGrpSpPr/>
            <p:nvPr/>
          </p:nvGrpSpPr>
          <p:grpSpPr>
            <a:xfrm>
              <a:off x="7560844" y="6260069"/>
              <a:ext cx="1051763" cy="184666"/>
              <a:chOff x="7589362" y="6260069"/>
              <a:chExt cx="1051763" cy="184666"/>
            </a:xfrm>
          </p:grpSpPr>
          <p:sp>
            <p:nvSpPr>
              <p:cNvPr id="19" name="文本框 18"/>
              <p:cNvSpPr txBox="1"/>
              <p:nvPr/>
            </p:nvSpPr>
            <p:spPr>
              <a:xfrm>
                <a:off x="7717795" y="6260069"/>
                <a:ext cx="923330" cy="184666"/>
              </a:xfrm>
              <a:prstGeom prst="rect">
                <a:avLst/>
              </a:prstGeom>
              <a:noFill/>
            </p:spPr>
            <p:txBody>
              <a:bodyPr wrap="none" lIns="0" tIns="0" rIns="0" bIns="0" rtlCol="0">
                <a:spAutoFit/>
              </a:bodyPr>
              <a:lstStyle/>
              <a:p>
                <a:r>
                  <a:rPr lang="zh-CN" altLang="en-US" sz="1200" dirty="0">
                    <a:solidFill>
                      <a:schemeClr val="bg1">
                        <a:alpha val="50000"/>
                      </a:schemeClr>
                    </a:solidFill>
                  </a:rPr>
                  <a:t>预期结果分析</a:t>
                </a:r>
                <a:endParaRPr lang="zh-CN" altLang="en-US" sz="1200" dirty="0">
                  <a:solidFill>
                    <a:schemeClr val="bg1">
                      <a:alpha val="50000"/>
                    </a:schemeClr>
                  </a:solidFill>
                </a:endParaRPr>
              </a:p>
            </p:txBody>
          </p:sp>
          <p:sp>
            <p:nvSpPr>
              <p:cNvPr id="20" name="椭圆 19"/>
              <p:cNvSpPr/>
              <p:nvPr/>
            </p:nvSpPr>
            <p:spPr>
              <a:xfrm>
                <a:off x="7589362"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12" name="组合 11"/>
            <p:cNvGrpSpPr/>
            <p:nvPr/>
          </p:nvGrpSpPr>
          <p:grpSpPr>
            <a:xfrm>
              <a:off x="3730218" y="6260069"/>
              <a:ext cx="743987" cy="184666"/>
              <a:chOff x="3730218" y="6260069"/>
              <a:chExt cx="743987" cy="184666"/>
            </a:xfrm>
          </p:grpSpPr>
          <p:sp>
            <p:nvSpPr>
              <p:cNvPr id="17" name="文本框 16"/>
              <p:cNvSpPr txBox="1"/>
              <p:nvPr/>
            </p:nvSpPr>
            <p:spPr>
              <a:xfrm>
                <a:off x="3858652" y="6260069"/>
                <a:ext cx="615553" cy="184666"/>
              </a:xfrm>
              <a:prstGeom prst="rect">
                <a:avLst/>
              </a:prstGeom>
              <a:noFill/>
            </p:spPr>
            <p:txBody>
              <a:bodyPr wrap="none" lIns="0" tIns="0" rIns="0" bIns="0" rtlCol="0">
                <a:spAutoFit/>
              </a:bodyPr>
              <a:lstStyle/>
              <a:p>
                <a:r>
                  <a:rPr lang="zh-CN" altLang="en-US" sz="1200" dirty="0">
                    <a:solidFill>
                      <a:srgbClr val="A5B3D6"/>
                    </a:solidFill>
                  </a:rPr>
                  <a:t>科学问题</a:t>
                </a:r>
                <a:endParaRPr lang="zh-CN" altLang="en-US" sz="1200" dirty="0">
                  <a:solidFill>
                    <a:srgbClr val="A5B3D6"/>
                  </a:solidFill>
                </a:endParaRPr>
              </a:p>
            </p:txBody>
          </p:sp>
          <p:sp>
            <p:nvSpPr>
              <p:cNvPr id="18" name="椭圆 17"/>
              <p:cNvSpPr/>
              <p:nvPr/>
            </p:nvSpPr>
            <p:spPr>
              <a:xfrm>
                <a:off x="3730218"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3" name="椭圆 12"/>
            <p:cNvSpPr/>
            <p:nvPr/>
          </p:nvSpPr>
          <p:spPr>
            <a:xfrm>
              <a:off x="8783048" y="6301988"/>
              <a:ext cx="120650" cy="120650"/>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14" name="组合 13"/>
            <p:cNvGrpSpPr/>
            <p:nvPr/>
          </p:nvGrpSpPr>
          <p:grpSpPr>
            <a:xfrm>
              <a:off x="8820513" y="6260069"/>
              <a:ext cx="897874" cy="184666"/>
              <a:chOff x="7589362" y="6260069"/>
              <a:chExt cx="897874" cy="184666"/>
            </a:xfrm>
          </p:grpSpPr>
          <p:sp>
            <p:nvSpPr>
              <p:cNvPr id="15" name="文本框 14"/>
              <p:cNvSpPr txBox="1"/>
              <p:nvPr/>
            </p:nvSpPr>
            <p:spPr>
              <a:xfrm>
                <a:off x="7717795" y="6260069"/>
                <a:ext cx="769441" cy="184666"/>
              </a:xfrm>
              <a:prstGeom prst="rect">
                <a:avLst/>
              </a:prstGeom>
              <a:noFill/>
            </p:spPr>
            <p:txBody>
              <a:bodyPr wrap="none" lIns="0" tIns="0" rIns="0" bIns="0" rtlCol="0">
                <a:spAutoFit/>
              </a:bodyPr>
              <a:lstStyle/>
              <a:p>
                <a:r>
                  <a:rPr lang="zh-CN" altLang="en-US" sz="1200" b="1" dirty="0">
                    <a:solidFill>
                      <a:schemeClr val="bg1"/>
                    </a:solidFill>
                  </a:rPr>
                  <a:t>意义与展望</a:t>
                </a:r>
                <a:endParaRPr lang="zh-CN" altLang="en-US" sz="1200" b="1" dirty="0">
                  <a:solidFill>
                    <a:schemeClr val="bg1"/>
                  </a:solidFill>
                </a:endParaRPr>
              </a:p>
            </p:txBody>
          </p:sp>
          <p:sp>
            <p:nvSpPr>
              <p:cNvPr id="16" name="椭圆 15"/>
              <p:cNvSpPr/>
              <p:nvPr/>
            </p:nvSpPr>
            <p:spPr>
              <a:xfrm>
                <a:off x="7589362"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sp>
        <p:nvSpPr>
          <p:cNvPr id="28" name="文本框 27"/>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chemeClr val="bg1"/>
                </a:solidFill>
                <a:highlight>
                  <a:srgbClr val="4965AA"/>
                </a:highlight>
              </a:rPr>
              <a:t>Southern University of </a:t>
            </a:r>
            <a:endParaRPr lang="en-US" altLang="zh-CN" sz="1000" cap="all" dirty="0">
              <a:solidFill>
                <a:schemeClr val="bg1"/>
              </a:solidFill>
              <a:highlight>
                <a:srgbClr val="4965AA"/>
              </a:highlight>
            </a:endParaRPr>
          </a:p>
          <a:p>
            <a:pPr algn="r"/>
            <a:r>
              <a:rPr lang="en-US" altLang="zh-CN" sz="1000" cap="all" dirty="0">
                <a:solidFill>
                  <a:schemeClr val="bg1"/>
                </a:solidFill>
                <a:highlight>
                  <a:srgbClr val="4965AA"/>
                </a:highlight>
              </a:rPr>
              <a:t>science and technology</a:t>
            </a:r>
            <a:endParaRPr lang="zh-CN" altLang="en-US" sz="1000" cap="all" dirty="0">
              <a:solidFill>
                <a:schemeClr val="bg1"/>
              </a:solidFill>
              <a:highlight>
                <a:srgbClr val="4965AA"/>
              </a:highlight>
            </a:endParaRPr>
          </a:p>
        </p:txBody>
      </p:sp>
      <p:grpSp>
        <p:nvGrpSpPr>
          <p:cNvPr id="2" name="组合 1"/>
          <p:cNvGrpSpPr/>
          <p:nvPr/>
        </p:nvGrpSpPr>
        <p:grpSpPr>
          <a:xfrm>
            <a:off x="9799713" y="109178"/>
            <a:ext cx="2256250" cy="713649"/>
            <a:chOff x="9799713" y="109178"/>
            <a:chExt cx="2256250" cy="713649"/>
          </a:xfrm>
        </p:grpSpPr>
        <p:sp>
          <p:nvSpPr>
            <p:cNvPr id="29" name="矩形 28"/>
            <p:cNvSpPr/>
            <p:nvPr/>
          </p:nvSpPr>
          <p:spPr>
            <a:xfrm>
              <a:off x="9799713" y="197831"/>
              <a:ext cx="2117376" cy="53634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文本框 31"/>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4965AA"/>
                </a:highlight>
                <a:latin typeface="Eras Bold ITC" panose="020B0907030504020204" pitchFamily="34" charset="0"/>
              </a:rPr>
              <a:t>SUSTech</a:t>
            </a:r>
            <a:r>
              <a:rPr lang="en-US" altLang="zh-CN" sz="3000" dirty="0">
                <a:solidFill>
                  <a:srgbClr val="EFA7A7"/>
                </a:solidFill>
                <a:highlight>
                  <a:srgbClr val="4965AA"/>
                </a:highlight>
                <a:latin typeface="Eras Bold ITC" panose="020B0907030504020204" pitchFamily="34" charset="0"/>
              </a:rPr>
              <a:t>-BIO</a:t>
            </a:r>
            <a:endParaRPr lang="zh-CN" altLang="en-US" sz="3000" dirty="0">
              <a:solidFill>
                <a:srgbClr val="EFA7A7"/>
              </a:solidFill>
              <a:highlight>
                <a:srgbClr val="4965AA"/>
              </a:highlight>
              <a:latin typeface="Eras Bold ITC" panose="020B0907030504020204" pitchFamily="34" charset="0"/>
            </a:endParaRPr>
          </a:p>
        </p:txBody>
      </p:sp>
      <p:pic>
        <p:nvPicPr>
          <p:cNvPr id="33" name="图片 3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6510" y="-379570"/>
            <a:ext cx="1662864" cy="166646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0"/>
          </p:nvPr>
        </p:nvSpPr>
        <p:spPr>
          <a:xfrm>
            <a:off x="736600" y="6239103"/>
            <a:ext cx="423193" cy="230832"/>
          </a:xfrm>
        </p:spPr>
        <p:txBody>
          <a:bodyPr>
            <a:spAutoFit/>
          </a:bodyPr>
          <a:lstStyle/>
          <a:p>
            <a:r>
              <a:rPr lang="en-US" altLang="zh-CN" dirty="0"/>
              <a:t>2026</a:t>
            </a:r>
            <a:endParaRPr lang="zh-CN" altLang="en-US" dirty="0"/>
          </a:p>
        </p:txBody>
      </p:sp>
      <p:sp>
        <p:nvSpPr>
          <p:cNvPr id="16" name="文本占位符 15"/>
          <p:cNvSpPr>
            <a:spLocks noGrp="1"/>
          </p:cNvSpPr>
          <p:nvPr>
            <p:ph type="body" sz="quarter" idx="11"/>
          </p:nvPr>
        </p:nvSpPr>
        <p:spPr>
          <a:xfrm>
            <a:off x="10686535" y="6239103"/>
            <a:ext cx="768865" cy="230832"/>
          </a:xfrm>
        </p:spPr>
        <p:txBody>
          <a:bodyPr>
            <a:spAutoFit/>
          </a:bodyPr>
          <a:lstStyle/>
          <a:p>
            <a:r>
              <a:rPr lang="en-US" altLang="zh-CN" sz="1500" dirty="0">
                <a:solidFill>
                  <a:schemeClr val="accent1"/>
                </a:solidFill>
              </a:rPr>
              <a:t>May 17th</a:t>
            </a:r>
            <a:endParaRPr lang="zh-CN" altLang="en-US" sz="1500" dirty="0">
              <a:solidFill>
                <a:schemeClr val="accent1"/>
              </a:solidFill>
            </a:endParaRPr>
          </a:p>
        </p:txBody>
      </p:sp>
      <p:sp>
        <p:nvSpPr>
          <p:cNvPr id="28" name="文本框 27"/>
          <p:cNvSpPr txBox="1"/>
          <p:nvPr/>
        </p:nvSpPr>
        <p:spPr>
          <a:xfrm>
            <a:off x="736600" y="874904"/>
            <a:ext cx="1538883" cy="461665"/>
          </a:xfrm>
          <a:prstGeom prst="rect">
            <a:avLst/>
          </a:prstGeom>
          <a:noFill/>
        </p:spPr>
        <p:txBody>
          <a:bodyPr wrap="none" lIns="0" tIns="0" rIns="0" bIns="0" rtlCol="0">
            <a:spAutoFit/>
          </a:bodyPr>
          <a:lstStyle/>
          <a:p>
            <a:r>
              <a:rPr lang="zh-CN" altLang="en-US" sz="3000" b="1" dirty="0">
                <a:latin typeface="+mj-ea"/>
                <a:ea typeface="+mj-ea"/>
              </a:rPr>
              <a:t>临床价值</a:t>
            </a:r>
            <a:endParaRPr lang="zh-CN" altLang="en-US" sz="3000" b="1" dirty="0">
              <a:latin typeface="+mj-ea"/>
              <a:ea typeface="+mj-ea"/>
            </a:endParaRPr>
          </a:p>
        </p:txBody>
      </p:sp>
      <p:grpSp>
        <p:nvGrpSpPr>
          <p:cNvPr id="3" name="组合 2"/>
          <p:cNvGrpSpPr/>
          <p:nvPr/>
        </p:nvGrpSpPr>
        <p:grpSpPr>
          <a:xfrm>
            <a:off x="2395848" y="967602"/>
            <a:ext cx="222232" cy="225426"/>
            <a:chOff x="2395848" y="967602"/>
            <a:chExt cx="222232" cy="225426"/>
          </a:xfrm>
        </p:grpSpPr>
        <p:sp>
          <p:nvSpPr>
            <p:cNvPr id="2" name="矩形 1"/>
            <p:cNvSpPr/>
            <p:nvPr/>
          </p:nvSpPr>
          <p:spPr>
            <a:xfrm>
              <a:off x="2395848" y="967602"/>
              <a:ext cx="183151" cy="18315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5" name="矩形 34"/>
            <p:cNvSpPr/>
            <p:nvPr/>
          </p:nvSpPr>
          <p:spPr>
            <a:xfrm>
              <a:off x="2434928" y="1009877"/>
              <a:ext cx="183152" cy="183151"/>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56" name="矩形 55"/>
          <p:cNvSpPr/>
          <p:nvPr/>
        </p:nvSpPr>
        <p:spPr>
          <a:xfrm>
            <a:off x="4379414" y="1771047"/>
            <a:ext cx="3428410" cy="364797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62" name="矩形 61"/>
          <p:cNvSpPr/>
          <p:nvPr/>
        </p:nvSpPr>
        <p:spPr>
          <a:xfrm>
            <a:off x="8026989" y="1771047"/>
            <a:ext cx="3428410" cy="364797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5" name="矩形 4"/>
          <p:cNvSpPr/>
          <p:nvPr/>
        </p:nvSpPr>
        <p:spPr>
          <a:xfrm>
            <a:off x="731838" y="1771047"/>
            <a:ext cx="3428410" cy="364797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 name="文本框 3"/>
          <p:cNvSpPr txBox="1"/>
          <p:nvPr/>
        </p:nvSpPr>
        <p:spPr>
          <a:xfrm>
            <a:off x="4383562" y="874904"/>
            <a:ext cx="1538883" cy="461665"/>
          </a:xfrm>
          <a:prstGeom prst="rect">
            <a:avLst/>
          </a:prstGeom>
          <a:noFill/>
        </p:spPr>
        <p:txBody>
          <a:bodyPr wrap="none" lIns="0" tIns="0" rIns="0" bIns="0" rtlCol="0">
            <a:spAutoFit/>
          </a:bodyPr>
          <a:lstStyle/>
          <a:p>
            <a:r>
              <a:rPr lang="zh-CN" altLang="en-US" sz="3000" b="1" dirty="0">
                <a:latin typeface="+mj-ea"/>
                <a:ea typeface="+mj-ea"/>
              </a:rPr>
              <a:t>学术价值</a:t>
            </a:r>
            <a:endParaRPr lang="zh-CN" altLang="en-US" sz="3000" b="1" dirty="0">
              <a:latin typeface="+mj-ea"/>
              <a:ea typeface="+mj-ea"/>
            </a:endParaRPr>
          </a:p>
        </p:txBody>
      </p:sp>
      <p:grpSp>
        <p:nvGrpSpPr>
          <p:cNvPr id="6" name="组合 5"/>
          <p:cNvGrpSpPr/>
          <p:nvPr/>
        </p:nvGrpSpPr>
        <p:grpSpPr>
          <a:xfrm>
            <a:off x="6042810" y="967602"/>
            <a:ext cx="222232" cy="225426"/>
            <a:chOff x="2395848" y="967602"/>
            <a:chExt cx="222232" cy="225426"/>
          </a:xfrm>
        </p:grpSpPr>
        <p:sp>
          <p:nvSpPr>
            <p:cNvPr id="7" name="矩形 6"/>
            <p:cNvSpPr/>
            <p:nvPr/>
          </p:nvSpPr>
          <p:spPr>
            <a:xfrm>
              <a:off x="2395848" y="967602"/>
              <a:ext cx="183151" cy="18315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8" name="矩形 7"/>
            <p:cNvSpPr/>
            <p:nvPr/>
          </p:nvSpPr>
          <p:spPr>
            <a:xfrm>
              <a:off x="2434928" y="1009877"/>
              <a:ext cx="183152" cy="183151"/>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9" name="文本框 8"/>
          <p:cNvSpPr txBox="1"/>
          <p:nvPr/>
        </p:nvSpPr>
        <p:spPr>
          <a:xfrm>
            <a:off x="8026989" y="874904"/>
            <a:ext cx="1538883" cy="461665"/>
          </a:xfrm>
          <a:prstGeom prst="rect">
            <a:avLst/>
          </a:prstGeom>
          <a:noFill/>
        </p:spPr>
        <p:txBody>
          <a:bodyPr wrap="none" lIns="0" tIns="0" rIns="0" bIns="0" rtlCol="0">
            <a:spAutoFit/>
          </a:bodyPr>
          <a:lstStyle/>
          <a:p>
            <a:r>
              <a:rPr lang="zh-CN" altLang="en-US" sz="3000" b="1" dirty="0">
                <a:latin typeface="+mj-ea"/>
                <a:ea typeface="+mj-ea"/>
              </a:rPr>
              <a:t>社会意义</a:t>
            </a:r>
            <a:endParaRPr lang="zh-CN" altLang="en-US" sz="3000" b="1" dirty="0">
              <a:latin typeface="+mj-ea"/>
              <a:ea typeface="+mj-ea"/>
            </a:endParaRPr>
          </a:p>
        </p:txBody>
      </p:sp>
      <p:grpSp>
        <p:nvGrpSpPr>
          <p:cNvPr id="10" name="组合 9"/>
          <p:cNvGrpSpPr/>
          <p:nvPr/>
        </p:nvGrpSpPr>
        <p:grpSpPr>
          <a:xfrm>
            <a:off x="9686237" y="967602"/>
            <a:ext cx="222232" cy="225426"/>
            <a:chOff x="2395848" y="967602"/>
            <a:chExt cx="222232" cy="225426"/>
          </a:xfrm>
        </p:grpSpPr>
        <p:sp>
          <p:nvSpPr>
            <p:cNvPr id="11" name="矩形 10"/>
            <p:cNvSpPr/>
            <p:nvPr/>
          </p:nvSpPr>
          <p:spPr>
            <a:xfrm>
              <a:off x="2395848" y="967602"/>
              <a:ext cx="183151" cy="18315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2" name="矩形 11"/>
            <p:cNvSpPr/>
            <p:nvPr/>
          </p:nvSpPr>
          <p:spPr>
            <a:xfrm>
              <a:off x="2434928" y="1009877"/>
              <a:ext cx="183152" cy="183151"/>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3" name="文本框 12"/>
          <p:cNvSpPr txBox="1"/>
          <p:nvPr/>
        </p:nvSpPr>
        <p:spPr>
          <a:xfrm>
            <a:off x="906384" y="2071184"/>
            <a:ext cx="3162077" cy="2952731"/>
          </a:xfrm>
          <a:prstGeom prst="rect">
            <a:avLst/>
          </a:prstGeom>
          <a:noFill/>
        </p:spPr>
        <p:txBody>
          <a:bodyPr wrap="square" lIns="0" tIns="0" rIns="0" bIns="0" rtlCol="0">
            <a:spAutoFit/>
          </a:bodyPr>
          <a:lstStyle/>
          <a:p>
            <a:pPr>
              <a:lnSpc>
                <a:spcPts val="2600"/>
              </a:lnSpc>
              <a:spcAft>
                <a:spcPts val="1200"/>
              </a:spcAft>
            </a:pPr>
            <a:r>
              <a:rPr lang="zh-CN" altLang="en-US" sz="2000" b="1" dirty="0">
                <a:solidFill>
                  <a:schemeClr val="tx1">
                    <a:lumMod val="85000"/>
                    <a:lumOff val="15000"/>
                  </a:schemeClr>
                </a:solidFill>
                <a:latin typeface="+mn-ea"/>
              </a:rPr>
              <a:t>精准识别：</a:t>
            </a:r>
            <a:r>
              <a:rPr lang="zh-CN" altLang="en-US" sz="2000" dirty="0">
                <a:solidFill>
                  <a:schemeClr val="tx1">
                    <a:lumMod val="85000"/>
                    <a:lumOff val="15000"/>
                  </a:schemeClr>
                </a:solidFill>
                <a:latin typeface="+mn-ea"/>
              </a:rPr>
              <a:t>突破亨廷顿病高度同源 </a:t>
            </a:r>
            <a:r>
              <a:rPr lang="en-US" altLang="zh-CN" sz="2000" dirty="0">
                <a:solidFill>
                  <a:schemeClr val="tx1">
                    <a:lumMod val="85000"/>
                    <a:lumOff val="15000"/>
                  </a:schemeClr>
                </a:solidFill>
                <a:latin typeface="+mn-ea"/>
              </a:rPr>
              <a:t>RNA </a:t>
            </a:r>
            <a:r>
              <a:rPr lang="zh-CN" altLang="en-US" sz="2000" dirty="0">
                <a:solidFill>
                  <a:schemeClr val="tx1">
                    <a:lumMod val="85000"/>
                    <a:lumOff val="15000"/>
                  </a:schemeClr>
                </a:solidFill>
                <a:latin typeface="+mn-ea"/>
              </a:rPr>
              <a:t>区分的瓶颈</a:t>
            </a:r>
            <a:endParaRPr lang="zh-CN" altLang="en-US" sz="2000" dirty="0">
              <a:solidFill>
                <a:schemeClr val="tx1">
                  <a:lumMod val="85000"/>
                  <a:lumOff val="15000"/>
                </a:schemeClr>
              </a:solidFill>
              <a:latin typeface="+mn-ea"/>
            </a:endParaRPr>
          </a:p>
          <a:p>
            <a:pPr>
              <a:lnSpc>
                <a:spcPts val="2600"/>
              </a:lnSpc>
              <a:spcAft>
                <a:spcPts val="1200"/>
              </a:spcAft>
            </a:pPr>
            <a:r>
              <a:rPr lang="zh-CN" altLang="en-US" sz="2000" b="1" dirty="0">
                <a:solidFill>
                  <a:schemeClr val="tx1">
                    <a:lumMod val="85000"/>
                    <a:lumOff val="15000"/>
                  </a:schemeClr>
                </a:solidFill>
                <a:latin typeface="+mn-ea"/>
              </a:rPr>
              <a:t>安全增益：</a:t>
            </a:r>
            <a:r>
              <a:rPr lang="zh-CN" altLang="en-US" sz="2000" dirty="0">
                <a:solidFill>
                  <a:schemeClr val="tx1">
                    <a:lumMod val="85000"/>
                    <a:lumOff val="15000"/>
                  </a:schemeClr>
                </a:solidFill>
                <a:latin typeface="+mn-ea"/>
              </a:rPr>
              <a:t>保留野生型 </a:t>
            </a:r>
            <a:r>
              <a:rPr lang="en-US" altLang="zh-CN" sz="2000" dirty="0">
                <a:solidFill>
                  <a:schemeClr val="tx1">
                    <a:lumMod val="85000"/>
                    <a:lumOff val="15000"/>
                  </a:schemeClr>
                </a:solidFill>
                <a:latin typeface="+mn-ea"/>
              </a:rPr>
              <a:t>HTT </a:t>
            </a:r>
            <a:r>
              <a:rPr lang="zh-CN" altLang="en-US" sz="2000" dirty="0">
                <a:solidFill>
                  <a:schemeClr val="tx1">
                    <a:lumMod val="85000"/>
                    <a:lumOff val="15000"/>
                  </a:schemeClr>
                </a:solidFill>
                <a:latin typeface="+mn-ea"/>
              </a:rPr>
              <a:t>生理功能，从源头规避脱靶风险。</a:t>
            </a:r>
            <a:endParaRPr lang="en-US" altLang="zh-CN" sz="2000" b="1" dirty="0">
              <a:solidFill>
                <a:schemeClr val="tx1">
                  <a:lumMod val="85000"/>
                  <a:lumOff val="15000"/>
                </a:schemeClr>
              </a:solidFill>
              <a:latin typeface="+mn-ea"/>
            </a:endParaRPr>
          </a:p>
          <a:p>
            <a:pPr>
              <a:lnSpc>
                <a:spcPts val="2600"/>
              </a:lnSpc>
              <a:spcAft>
                <a:spcPts val="1200"/>
              </a:spcAft>
            </a:pPr>
            <a:r>
              <a:rPr lang="zh-CN" altLang="en-US" sz="2000" b="1" dirty="0">
                <a:solidFill>
                  <a:schemeClr val="tx1">
                    <a:lumMod val="85000"/>
                    <a:lumOff val="15000"/>
                  </a:schemeClr>
                </a:solidFill>
                <a:latin typeface="+mn-ea"/>
              </a:rPr>
              <a:t>广谱治疗：</a:t>
            </a:r>
            <a:r>
              <a:rPr lang="zh-CN" altLang="en-US" sz="2000" dirty="0">
                <a:solidFill>
                  <a:schemeClr val="tx1">
                    <a:lumMod val="85000"/>
                    <a:lumOff val="15000"/>
                  </a:schemeClr>
                </a:solidFill>
                <a:latin typeface="+mn-ea"/>
              </a:rPr>
              <a:t>可拓展至多种 </a:t>
            </a:r>
            <a:r>
              <a:rPr lang="en-US" altLang="zh-CN" sz="2000" dirty="0">
                <a:solidFill>
                  <a:schemeClr val="tx1">
                    <a:lumMod val="85000"/>
                    <a:lumOff val="15000"/>
                  </a:schemeClr>
                </a:solidFill>
                <a:latin typeface="+mn-ea"/>
              </a:rPr>
              <a:t>CAG </a:t>
            </a:r>
            <a:r>
              <a:rPr lang="zh-CN" altLang="en-US" sz="2000" dirty="0">
                <a:solidFill>
                  <a:schemeClr val="tx1">
                    <a:lumMod val="85000"/>
                    <a:lumOff val="15000"/>
                  </a:schemeClr>
                </a:solidFill>
                <a:latin typeface="+mn-ea"/>
              </a:rPr>
              <a:t>重复疾病、肿瘤 </a:t>
            </a:r>
            <a:r>
              <a:rPr lang="en-US" altLang="zh-CN" sz="2000" dirty="0">
                <a:solidFill>
                  <a:schemeClr val="tx1">
                    <a:lumMod val="85000"/>
                    <a:lumOff val="15000"/>
                  </a:schemeClr>
                </a:solidFill>
                <a:latin typeface="+mn-ea"/>
              </a:rPr>
              <a:t>RNA </a:t>
            </a:r>
            <a:r>
              <a:rPr lang="zh-CN" altLang="en-US" sz="2000" dirty="0">
                <a:solidFill>
                  <a:schemeClr val="tx1">
                    <a:lumMod val="85000"/>
                    <a:lumOff val="15000"/>
                  </a:schemeClr>
                </a:solidFill>
                <a:latin typeface="+mn-ea"/>
              </a:rPr>
              <a:t>等精准治疗</a:t>
            </a:r>
            <a:endParaRPr lang="zh-CN" altLang="en-US" sz="2000" dirty="0">
              <a:solidFill>
                <a:schemeClr val="tx1">
                  <a:lumMod val="85000"/>
                  <a:lumOff val="15000"/>
                </a:schemeClr>
              </a:solidFill>
              <a:latin typeface="+mn-ea"/>
            </a:endParaRPr>
          </a:p>
        </p:txBody>
      </p:sp>
      <p:sp>
        <p:nvSpPr>
          <p:cNvPr id="17" name="文本框 16"/>
          <p:cNvSpPr txBox="1"/>
          <p:nvPr/>
        </p:nvSpPr>
        <p:spPr>
          <a:xfrm>
            <a:off x="4512580" y="1956863"/>
            <a:ext cx="3205215" cy="3286156"/>
          </a:xfrm>
          <a:prstGeom prst="rect">
            <a:avLst/>
          </a:prstGeom>
          <a:noFill/>
        </p:spPr>
        <p:txBody>
          <a:bodyPr wrap="square" lIns="0" tIns="0" rIns="0" bIns="0" rtlCol="0">
            <a:spAutoFit/>
          </a:bodyPr>
          <a:lstStyle/>
          <a:p>
            <a:pPr>
              <a:lnSpc>
                <a:spcPts val="2600"/>
              </a:lnSpc>
              <a:spcAft>
                <a:spcPts val="1200"/>
              </a:spcAft>
            </a:pPr>
            <a:r>
              <a:rPr lang="zh-CN" altLang="en-US" sz="2000" b="1" dirty="0">
                <a:solidFill>
                  <a:schemeClr val="tx1">
                    <a:lumMod val="85000"/>
                    <a:lumOff val="15000"/>
                  </a:schemeClr>
                </a:solidFill>
                <a:latin typeface="+mn-ea"/>
              </a:rPr>
              <a:t>标准定义：</a:t>
            </a:r>
            <a:r>
              <a:rPr lang="zh-CN" altLang="en-US" sz="2000" dirty="0">
                <a:solidFill>
                  <a:schemeClr val="tx1">
                    <a:lumMod val="85000"/>
                    <a:lumOff val="15000"/>
                  </a:schemeClr>
                </a:solidFill>
                <a:latin typeface="+mn-ea"/>
              </a:rPr>
              <a:t>建立 </a:t>
            </a:r>
            <a:r>
              <a:rPr lang="en-US" altLang="zh-CN" sz="2000" dirty="0">
                <a:solidFill>
                  <a:schemeClr val="tx1">
                    <a:lumMod val="85000"/>
                    <a:lumOff val="15000"/>
                  </a:schemeClr>
                </a:solidFill>
                <a:latin typeface="+mn-ea"/>
              </a:rPr>
              <a:t>RNA </a:t>
            </a:r>
            <a:r>
              <a:rPr lang="zh-CN" altLang="en-US" sz="2000" dirty="0">
                <a:solidFill>
                  <a:schemeClr val="tx1">
                    <a:lumMod val="85000"/>
                    <a:lumOff val="15000"/>
                  </a:schemeClr>
                </a:solidFill>
                <a:latin typeface="+mn-ea"/>
              </a:rPr>
              <a:t>结构感应型变构调控元件的设计标准</a:t>
            </a:r>
            <a:endParaRPr lang="zh-CN" altLang="en-US" sz="2000" dirty="0">
              <a:solidFill>
                <a:schemeClr val="tx1">
                  <a:lumMod val="85000"/>
                  <a:lumOff val="15000"/>
                </a:schemeClr>
              </a:solidFill>
              <a:latin typeface="+mn-ea"/>
            </a:endParaRPr>
          </a:p>
          <a:p>
            <a:pPr>
              <a:lnSpc>
                <a:spcPts val="2600"/>
              </a:lnSpc>
              <a:spcAft>
                <a:spcPts val="1200"/>
              </a:spcAft>
            </a:pPr>
            <a:r>
              <a:rPr lang="zh-CN" altLang="en-US" sz="2000" b="1" dirty="0">
                <a:solidFill>
                  <a:schemeClr val="tx1">
                    <a:lumMod val="85000"/>
                    <a:lumOff val="15000"/>
                  </a:schemeClr>
                </a:solidFill>
                <a:latin typeface="+mn-ea"/>
              </a:rPr>
              <a:t>范式革新：</a:t>
            </a:r>
            <a:r>
              <a:rPr lang="en-US" altLang="zh-CN" sz="2000" dirty="0">
                <a:solidFill>
                  <a:schemeClr val="tx1">
                    <a:lumMod val="85000"/>
                    <a:lumOff val="15000"/>
                  </a:schemeClr>
                </a:solidFill>
                <a:latin typeface="+mn-ea"/>
              </a:rPr>
              <a:t>AI </a:t>
            </a:r>
            <a:r>
              <a:rPr lang="zh-CN" altLang="en-US" sz="2000" dirty="0">
                <a:solidFill>
                  <a:schemeClr val="tx1">
                    <a:lumMod val="85000"/>
                    <a:lumOff val="15000"/>
                  </a:schemeClr>
                </a:solidFill>
                <a:latin typeface="+mn-ea"/>
              </a:rPr>
              <a:t>驱动、干湿闭环的合成生物学元件理性设计新范式</a:t>
            </a:r>
            <a:endParaRPr lang="zh-CN" altLang="en-US" sz="2000" dirty="0">
              <a:solidFill>
                <a:schemeClr val="tx1">
                  <a:lumMod val="85000"/>
                  <a:lumOff val="15000"/>
                </a:schemeClr>
              </a:solidFill>
              <a:latin typeface="+mn-ea"/>
            </a:endParaRPr>
          </a:p>
          <a:p>
            <a:pPr>
              <a:lnSpc>
                <a:spcPts val="2600"/>
              </a:lnSpc>
              <a:spcAft>
                <a:spcPts val="1200"/>
              </a:spcAft>
            </a:pPr>
            <a:r>
              <a:rPr lang="zh-CN" altLang="en-US" sz="2000" b="1" dirty="0">
                <a:solidFill>
                  <a:schemeClr val="tx1">
                    <a:lumMod val="85000"/>
                    <a:lumOff val="15000"/>
                  </a:schemeClr>
                </a:solidFill>
                <a:latin typeface="+mn-ea"/>
              </a:rPr>
              <a:t>底层底座：</a:t>
            </a:r>
            <a:r>
              <a:rPr lang="zh-CN" altLang="en-US" sz="2000" dirty="0">
                <a:solidFill>
                  <a:schemeClr val="tx1">
                    <a:lumMod val="85000"/>
                    <a:lumOff val="15000"/>
                  </a:schemeClr>
                </a:solidFill>
                <a:latin typeface="+mn-ea"/>
              </a:rPr>
              <a:t>提供模块化、可复用、可扩展的 </a:t>
            </a:r>
            <a:r>
              <a:rPr lang="en-US" altLang="zh-CN" sz="2000" dirty="0">
                <a:solidFill>
                  <a:schemeClr val="tx1">
                    <a:lumMod val="85000"/>
                    <a:lumOff val="15000"/>
                  </a:schemeClr>
                </a:solidFill>
                <a:latin typeface="+mn-ea"/>
              </a:rPr>
              <a:t>RNA </a:t>
            </a:r>
            <a:r>
              <a:rPr lang="zh-CN" altLang="en-US" sz="2000" dirty="0">
                <a:solidFill>
                  <a:schemeClr val="tx1">
                    <a:lumMod val="85000"/>
                    <a:lumOff val="15000"/>
                  </a:schemeClr>
                </a:solidFill>
                <a:latin typeface="+mn-ea"/>
              </a:rPr>
              <a:t>精准操控底层平台</a:t>
            </a:r>
            <a:endParaRPr lang="zh-CN" altLang="en-US" sz="2000" dirty="0">
              <a:solidFill>
                <a:schemeClr val="tx1">
                  <a:lumMod val="85000"/>
                  <a:lumOff val="15000"/>
                </a:schemeClr>
              </a:solidFill>
              <a:latin typeface="+mn-ea"/>
            </a:endParaRPr>
          </a:p>
        </p:txBody>
      </p:sp>
      <p:sp>
        <p:nvSpPr>
          <p:cNvPr id="18" name="文本框 17"/>
          <p:cNvSpPr txBox="1"/>
          <p:nvPr/>
        </p:nvSpPr>
        <p:spPr>
          <a:xfrm>
            <a:off x="8160155" y="2071182"/>
            <a:ext cx="3162077" cy="1798569"/>
          </a:xfrm>
          <a:prstGeom prst="rect">
            <a:avLst/>
          </a:prstGeom>
          <a:noFill/>
        </p:spPr>
        <p:txBody>
          <a:bodyPr wrap="square" lIns="0" tIns="0" rIns="0" bIns="0" rtlCol="0">
            <a:spAutoFit/>
          </a:bodyPr>
          <a:lstStyle/>
          <a:p>
            <a:pPr>
              <a:lnSpc>
                <a:spcPts val="2600"/>
              </a:lnSpc>
              <a:spcAft>
                <a:spcPts val="1200"/>
              </a:spcAft>
            </a:pPr>
            <a:r>
              <a:rPr lang="zh-CN" altLang="en-US" sz="2000" b="1" dirty="0">
                <a:solidFill>
                  <a:schemeClr val="tx1">
                    <a:lumMod val="85000"/>
                    <a:lumOff val="15000"/>
                  </a:schemeClr>
                </a:solidFill>
                <a:latin typeface="+mn-ea"/>
              </a:rPr>
              <a:t>普惠民生：</a:t>
            </a:r>
            <a:r>
              <a:rPr lang="zh-CN" altLang="en-US" sz="2000" dirty="0">
                <a:solidFill>
                  <a:schemeClr val="tx1">
                    <a:lumMod val="85000"/>
                    <a:lumOff val="15000"/>
                  </a:schemeClr>
                </a:solidFill>
                <a:latin typeface="+mn-ea"/>
              </a:rPr>
              <a:t>减轻罕见病家庭与社会医疗经济负担</a:t>
            </a:r>
            <a:r>
              <a:rPr lang="en-US" altLang="zh-CN" sz="2000" baseline="30000" dirty="0">
                <a:solidFill>
                  <a:schemeClr val="tx1">
                    <a:lumMod val="85000"/>
                    <a:lumOff val="15000"/>
                  </a:schemeClr>
                </a:solidFill>
                <a:latin typeface="+mn-ea"/>
              </a:rPr>
              <a:t>[1]</a:t>
            </a:r>
            <a:endParaRPr lang="en-US" altLang="zh-CN" sz="2000" baseline="30000" dirty="0">
              <a:solidFill>
                <a:schemeClr val="tx1">
                  <a:lumMod val="85000"/>
                  <a:lumOff val="15000"/>
                </a:schemeClr>
              </a:solidFill>
              <a:latin typeface="+mn-ea"/>
            </a:endParaRPr>
          </a:p>
          <a:p>
            <a:pPr>
              <a:lnSpc>
                <a:spcPts val="2600"/>
              </a:lnSpc>
              <a:spcAft>
                <a:spcPts val="1200"/>
              </a:spcAft>
            </a:pPr>
            <a:r>
              <a:rPr lang="zh-CN" altLang="en-US" sz="2000" b="1" dirty="0">
                <a:solidFill>
                  <a:schemeClr val="tx1">
                    <a:lumMod val="85000"/>
                    <a:lumOff val="15000"/>
                  </a:schemeClr>
                </a:solidFill>
                <a:latin typeface="+mn-ea"/>
              </a:rPr>
              <a:t>战略领先：</a:t>
            </a:r>
            <a:r>
              <a:rPr lang="zh-CN" altLang="en-US" sz="2000" dirty="0">
                <a:solidFill>
                  <a:schemeClr val="tx1">
                    <a:lumMod val="85000"/>
                    <a:lumOff val="15000"/>
                  </a:schemeClr>
                </a:solidFill>
                <a:latin typeface="+mn-ea"/>
              </a:rPr>
              <a:t>提升我国在核酸药物底层源头创新领域的国际竞争力</a:t>
            </a:r>
            <a:endParaRPr lang="zh-CN" altLang="en-US" sz="2000" dirty="0">
              <a:solidFill>
                <a:schemeClr val="tx1">
                  <a:lumMod val="85000"/>
                  <a:lumOff val="15000"/>
                </a:schemeClr>
              </a:solidFill>
              <a:latin typeface="+mn-ea"/>
            </a:endParaRPr>
          </a:p>
        </p:txBody>
      </p:sp>
      <p:sp>
        <p:nvSpPr>
          <p:cNvPr id="19" name="文本框 18"/>
          <p:cNvSpPr txBox="1"/>
          <p:nvPr/>
        </p:nvSpPr>
        <p:spPr>
          <a:xfrm>
            <a:off x="5245641" y="5682259"/>
            <a:ext cx="6747830" cy="367088"/>
          </a:xfrm>
          <a:prstGeom prst="rect">
            <a:avLst/>
          </a:prstGeom>
          <a:noFill/>
        </p:spPr>
        <p:txBody>
          <a:bodyPr wrap="square" lIns="0" tIns="0" rIns="0" bIns="0" rtlCol="0">
            <a:spAutoFit/>
          </a:bodyPr>
          <a:lstStyle/>
          <a:p>
            <a:pPr>
              <a:lnSpc>
                <a:spcPct val="125000"/>
              </a:lnSpc>
            </a:pPr>
            <a:r>
              <a:rPr lang="en-US" altLang="zh-CN" sz="1000" dirty="0">
                <a:solidFill>
                  <a:srgbClr val="4965AA"/>
                </a:solidFill>
                <a:latin typeface="+mn-ea"/>
              </a:rPr>
              <a:t>[1] Nandi, A., et al. (2024). The global macroeconomic burden of Alzheimer's disease and other dementias: estimates and projections for 152 countries or territories. The Lancet Global Health, 12(9), e1534-e1543.</a:t>
            </a:r>
            <a:endParaRPr lang="en-US" altLang="zh-CN" sz="1000" dirty="0">
              <a:solidFill>
                <a:srgbClr val="4965AA"/>
              </a:solidFill>
              <a:latin typeface="+mn-ea"/>
            </a:endParaRPr>
          </a:p>
        </p:txBody>
      </p:sp>
      <p:sp>
        <p:nvSpPr>
          <p:cNvPr id="14" name="文本框 13"/>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FFFFFF"/>
                </a:highlight>
                <a:latin typeface="Eras Bold ITC" panose="020B0907030504020204" pitchFamily="34" charset="0"/>
              </a:rPr>
              <a:t>SUSTech</a:t>
            </a:r>
            <a:r>
              <a:rPr lang="en-US" altLang="zh-CN" sz="3000" dirty="0">
                <a:solidFill>
                  <a:srgbClr val="EFA7A7"/>
                </a:solidFill>
                <a:highlight>
                  <a:srgbClr val="FFFFFF"/>
                </a:highlight>
                <a:latin typeface="Eras Bold ITC" panose="020B0907030504020204" pitchFamily="34" charset="0"/>
              </a:rPr>
              <a:t>-BIO</a:t>
            </a:r>
            <a:endParaRPr lang="zh-CN" altLang="en-US" sz="3000" dirty="0">
              <a:solidFill>
                <a:srgbClr val="EFA7A7"/>
              </a:solidFill>
              <a:highlight>
                <a:srgbClr val="FFFFFF"/>
              </a:highlight>
              <a:latin typeface="Eras Bold ITC" panose="020B0907030504020204" pitchFamily="34" charset="0"/>
            </a:endParaRPr>
          </a:p>
        </p:txBody>
      </p:sp>
      <p:grpSp>
        <p:nvGrpSpPr>
          <p:cNvPr id="29" name="组合 28"/>
          <p:cNvGrpSpPr/>
          <p:nvPr/>
        </p:nvGrpSpPr>
        <p:grpSpPr>
          <a:xfrm>
            <a:off x="3120648" y="6260069"/>
            <a:ext cx="5988169" cy="184666"/>
            <a:chOff x="3730218" y="6260069"/>
            <a:chExt cx="5988169" cy="184666"/>
          </a:xfrm>
        </p:grpSpPr>
        <p:grpSp>
          <p:nvGrpSpPr>
            <p:cNvPr id="30" name="组合 29"/>
            <p:cNvGrpSpPr/>
            <p:nvPr/>
          </p:nvGrpSpPr>
          <p:grpSpPr>
            <a:xfrm>
              <a:off x="4682111" y="6260069"/>
              <a:ext cx="897875" cy="184666"/>
              <a:chOff x="4914007" y="6260069"/>
              <a:chExt cx="897875" cy="184666"/>
            </a:xfrm>
          </p:grpSpPr>
          <p:sp>
            <p:nvSpPr>
              <p:cNvPr id="54" name="文本框 53"/>
              <p:cNvSpPr txBox="1"/>
              <p:nvPr/>
            </p:nvSpPr>
            <p:spPr>
              <a:xfrm>
                <a:off x="5042441" y="6260069"/>
                <a:ext cx="769441" cy="184666"/>
              </a:xfrm>
              <a:prstGeom prst="rect">
                <a:avLst/>
              </a:prstGeom>
              <a:noFill/>
            </p:spPr>
            <p:txBody>
              <a:bodyPr wrap="none" lIns="0" tIns="0" rIns="0" bIns="0" rtlCol="0">
                <a:spAutoFit/>
              </a:bodyPr>
              <a:lstStyle/>
              <a:p>
                <a:r>
                  <a:rPr lang="zh-CN" altLang="en-US" sz="1200" dirty="0">
                    <a:solidFill>
                      <a:srgbClr val="4965AA">
                        <a:alpha val="50000"/>
                      </a:srgbClr>
                    </a:solidFill>
                  </a:rPr>
                  <a:t>核心创新点</a:t>
                </a:r>
                <a:endParaRPr lang="zh-CN" altLang="en-US" sz="1200" dirty="0">
                  <a:solidFill>
                    <a:srgbClr val="4965AA">
                      <a:alpha val="50000"/>
                    </a:srgbClr>
                  </a:solidFill>
                </a:endParaRPr>
              </a:p>
            </p:txBody>
          </p:sp>
          <p:sp>
            <p:nvSpPr>
              <p:cNvPr id="55" name="椭圆 54"/>
              <p:cNvSpPr/>
              <p:nvPr/>
            </p:nvSpPr>
            <p:spPr>
              <a:xfrm>
                <a:off x="4914007"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31" name="组合 30"/>
            <p:cNvGrpSpPr/>
            <p:nvPr/>
          </p:nvGrpSpPr>
          <p:grpSpPr>
            <a:xfrm>
              <a:off x="5787892" y="6260069"/>
              <a:ext cx="1565046" cy="184666"/>
              <a:chOff x="6097796" y="6260069"/>
              <a:chExt cx="1565046" cy="184666"/>
            </a:xfrm>
          </p:grpSpPr>
          <p:sp>
            <p:nvSpPr>
              <p:cNvPr id="52" name="文本框 51"/>
              <p:cNvSpPr txBox="1"/>
              <p:nvPr/>
            </p:nvSpPr>
            <p:spPr>
              <a:xfrm>
                <a:off x="6226230" y="6260069"/>
                <a:ext cx="1436612" cy="184666"/>
              </a:xfrm>
              <a:prstGeom prst="rect">
                <a:avLst/>
              </a:prstGeom>
              <a:noFill/>
            </p:spPr>
            <p:txBody>
              <a:bodyPr wrap="none" lIns="0" tIns="0" rIns="0" bIns="0" rtlCol="0">
                <a:spAutoFit/>
              </a:bodyPr>
              <a:lstStyle/>
              <a:p>
                <a:r>
                  <a:rPr lang="zh-CN" altLang="en-US" sz="1200" dirty="0">
                    <a:solidFill>
                      <a:srgbClr val="A5B3D6"/>
                    </a:solidFill>
                  </a:rPr>
                  <a:t>系统设计与机制解析</a:t>
                </a:r>
                <a:endParaRPr lang="zh-CN" altLang="en-US" sz="1200" dirty="0">
                  <a:solidFill>
                    <a:srgbClr val="A5B3D6"/>
                  </a:solidFill>
                </a:endParaRPr>
              </a:p>
            </p:txBody>
          </p:sp>
          <p:sp>
            <p:nvSpPr>
              <p:cNvPr id="53" name="椭圆 52"/>
              <p:cNvSpPr/>
              <p:nvPr/>
            </p:nvSpPr>
            <p:spPr>
              <a:xfrm>
                <a:off x="6097796"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32" name="组合 31"/>
            <p:cNvGrpSpPr/>
            <p:nvPr/>
          </p:nvGrpSpPr>
          <p:grpSpPr>
            <a:xfrm>
              <a:off x="7560844" y="6260069"/>
              <a:ext cx="1051763" cy="184666"/>
              <a:chOff x="7589362" y="6260069"/>
              <a:chExt cx="1051763" cy="184666"/>
            </a:xfrm>
          </p:grpSpPr>
          <p:sp>
            <p:nvSpPr>
              <p:cNvPr id="50" name="文本框 49"/>
              <p:cNvSpPr txBox="1"/>
              <p:nvPr/>
            </p:nvSpPr>
            <p:spPr>
              <a:xfrm>
                <a:off x="7717795" y="6260069"/>
                <a:ext cx="923330" cy="184666"/>
              </a:xfrm>
              <a:prstGeom prst="rect">
                <a:avLst/>
              </a:prstGeom>
              <a:noFill/>
            </p:spPr>
            <p:txBody>
              <a:bodyPr wrap="none" lIns="0" tIns="0" rIns="0" bIns="0" rtlCol="0">
                <a:spAutoFit/>
              </a:bodyPr>
              <a:lstStyle/>
              <a:p>
                <a:r>
                  <a:rPr lang="zh-CN" altLang="en-US" sz="1200" dirty="0">
                    <a:solidFill>
                      <a:srgbClr val="A5B3D6"/>
                    </a:solidFill>
                  </a:rPr>
                  <a:t>预期结果分析</a:t>
                </a:r>
                <a:endParaRPr lang="zh-CN" altLang="en-US" sz="1200" dirty="0">
                  <a:solidFill>
                    <a:srgbClr val="A5B3D6"/>
                  </a:solidFill>
                </a:endParaRPr>
              </a:p>
            </p:txBody>
          </p:sp>
          <p:sp>
            <p:nvSpPr>
              <p:cNvPr id="51" name="椭圆 50"/>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nvGrpSpPr>
            <p:cNvPr id="33" name="组合 32"/>
            <p:cNvGrpSpPr/>
            <p:nvPr/>
          </p:nvGrpSpPr>
          <p:grpSpPr>
            <a:xfrm>
              <a:off x="3730218" y="6260069"/>
              <a:ext cx="743987" cy="184666"/>
              <a:chOff x="3730218" y="6260069"/>
              <a:chExt cx="743987" cy="184666"/>
            </a:xfrm>
          </p:grpSpPr>
          <p:sp>
            <p:nvSpPr>
              <p:cNvPr id="39" name="文本框 38"/>
              <p:cNvSpPr txBox="1"/>
              <p:nvPr/>
            </p:nvSpPr>
            <p:spPr>
              <a:xfrm>
                <a:off x="3858652" y="6260069"/>
                <a:ext cx="615553" cy="184666"/>
              </a:xfrm>
              <a:prstGeom prst="rect">
                <a:avLst/>
              </a:prstGeom>
              <a:noFill/>
            </p:spPr>
            <p:txBody>
              <a:bodyPr wrap="none" lIns="0" tIns="0" rIns="0" bIns="0" rtlCol="0">
                <a:spAutoFit/>
              </a:bodyPr>
              <a:lstStyle/>
              <a:p>
                <a:r>
                  <a:rPr lang="zh-CN" altLang="en-US" sz="1200" dirty="0">
                    <a:solidFill>
                      <a:srgbClr val="A5B3D6"/>
                    </a:solidFill>
                  </a:rPr>
                  <a:t>科学问题</a:t>
                </a:r>
                <a:endParaRPr lang="zh-CN" altLang="en-US" sz="1200" dirty="0">
                  <a:solidFill>
                    <a:srgbClr val="A5B3D6"/>
                  </a:solidFill>
                </a:endParaRPr>
              </a:p>
            </p:txBody>
          </p:sp>
          <p:sp>
            <p:nvSpPr>
              <p:cNvPr id="40" name="椭圆 39"/>
              <p:cNvSpPr/>
              <p:nvPr/>
            </p:nvSpPr>
            <p:spPr>
              <a:xfrm>
                <a:off x="3730218"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34" name="椭圆 33"/>
            <p:cNvSpPr/>
            <p:nvPr/>
          </p:nvSpPr>
          <p:spPr>
            <a:xfrm>
              <a:off x="8783048" y="6296421"/>
              <a:ext cx="120650" cy="120650"/>
            </a:xfrm>
            <a:prstGeom prst="ellipse">
              <a:avLst/>
            </a:prstGeom>
            <a:noFill/>
            <a:ln w="6350">
              <a:solidFill>
                <a:srgbClr val="4965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nvGrpSpPr>
            <p:cNvPr id="36" name="组合 35"/>
            <p:cNvGrpSpPr/>
            <p:nvPr/>
          </p:nvGrpSpPr>
          <p:grpSpPr>
            <a:xfrm>
              <a:off x="8820513" y="6260069"/>
              <a:ext cx="897874" cy="184666"/>
              <a:chOff x="7589362" y="6260069"/>
              <a:chExt cx="897874" cy="184666"/>
            </a:xfrm>
          </p:grpSpPr>
          <p:sp>
            <p:nvSpPr>
              <p:cNvPr id="37" name="文本框 36"/>
              <p:cNvSpPr txBox="1"/>
              <p:nvPr/>
            </p:nvSpPr>
            <p:spPr>
              <a:xfrm>
                <a:off x="7717795" y="6260069"/>
                <a:ext cx="769441" cy="184666"/>
              </a:xfrm>
              <a:prstGeom prst="rect">
                <a:avLst/>
              </a:prstGeom>
              <a:noFill/>
            </p:spPr>
            <p:txBody>
              <a:bodyPr wrap="none" lIns="0" tIns="0" rIns="0" bIns="0" rtlCol="0">
                <a:spAutoFit/>
              </a:bodyPr>
              <a:lstStyle/>
              <a:p>
                <a:r>
                  <a:rPr lang="zh-CN" altLang="en-US" sz="1200" b="1" dirty="0">
                    <a:solidFill>
                      <a:srgbClr val="4965AA"/>
                    </a:solidFill>
                  </a:rPr>
                  <a:t>意义与展望</a:t>
                </a:r>
                <a:endParaRPr lang="zh-CN" altLang="en-US" sz="1200" b="1" dirty="0">
                  <a:solidFill>
                    <a:srgbClr val="4965AA"/>
                  </a:solidFill>
                </a:endParaRPr>
              </a:p>
            </p:txBody>
          </p:sp>
          <p:sp>
            <p:nvSpPr>
              <p:cNvPr id="38" name="椭圆 37"/>
              <p:cNvSpPr/>
              <p:nvPr/>
            </p:nvSpPr>
            <p:spPr>
              <a:xfrm>
                <a:off x="7589362" y="6339453"/>
                <a:ext cx="45720" cy="45720"/>
              </a:xfrm>
              <a:prstGeom prst="ellipse">
                <a:avLst/>
              </a:prstGeom>
              <a:solidFill>
                <a:srgbClr val="496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sp>
        <p:nvSpPr>
          <p:cNvPr id="57" name="文本框 56"/>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rgbClr val="4965AA"/>
                </a:solidFill>
                <a:highlight>
                  <a:srgbClr val="FFFFFF"/>
                </a:highlight>
              </a:rPr>
              <a:t>Southern University of </a:t>
            </a:r>
            <a:endParaRPr lang="en-US" altLang="zh-CN" sz="1000" cap="all" dirty="0">
              <a:solidFill>
                <a:srgbClr val="4965AA"/>
              </a:solidFill>
              <a:highlight>
                <a:srgbClr val="FFFFFF"/>
              </a:highlight>
            </a:endParaRPr>
          </a:p>
          <a:p>
            <a:pPr algn="r"/>
            <a:r>
              <a:rPr lang="en-US" altLang="zh-CN" sz="1000" cap="all" dirty="0">
                <a:solidFill>
                  <a:srgbClr val="4965AA"/>
                </a:solidFill>
                <a:highlight>
                  <a:srgbClr val="FFFFFF"/>
                </a:highlight>
              </a:rPr>
              <a:t>science and technology</a:t>
            </a:r>
            <a:endParaRPr lang="zh-CN" altLang="en-US" sz="1000" cap="all" dirty="0">
              <a:solidFill>
                <a:srgbClr val="4965AA"/>
              </a:solidFill>
              <a:highlight>
                <a:srgbClr val="FFFFFF"/>
              </a:highlight>
            </a:endParaRPr>
          </a:p>
        </p:txBody>
      </p:sp>
      <p:grpSp>
        <p:nvGrpSpPr>
          <p:cNvPr id="20" name="组合 19"/>
          <p:cNvGrpSpPr/>
          <p:nvPr/>
        </p:nvGrpSpPr>
        <p:grpSpPr>
          <a:xfrm>
            <a:off x="9799713" y="109178"/>
            <a:ext cx="2256250" cy="713649"/>
            <a:chOff x="9799713" y="109178"/>
            <a:chExt cx="2256250" cy="713649"/>
          </a:xfrm>
        </p:grpSpPr>
        <p:sp>
          <p:nvSpPr>
            <p:cNvPr id="21" name="矩形 20"/>
            <p:cNvSpPr/>
            <p:nvPr/>
          </p:nvSpPr>
          <p:spPr>
            <a:xfrm>
              <a:off x="9799713" y="197831"/>
              <a:ext cx="2117376" cy="5363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pic>
        <p:nvPicPr>
          <p:cNvPr id="24" name="图片 2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6510" y="-379570"/>
            <a:ext cx="1662864" cy="166646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459023" y="1115766"/>
            <a:ext cx="2397451" cy="615553"/>
          </a:xfrm>
          <a:prstGeom prst="rect">
            <a:avLst/>
          </a:prstGeom>
          <a:noFill/>
        </p:spPr>
        <p:txBody>
          <a:bodyPr wrap="none" lIns="0" tIns="0" rIns="0" bIns="0" rtlCol="0">
            <a:spAutoFit/>
          </a:bodyPr>
          <a:lstStyle/>
          <a:p>
            <a:pPr algn="ctr"/>
            <a:r>
              <a:rPr lang="en-US" altLang="zh-CN" sz="4000" dirty="0">
                <a:solidFill>
                  <a:schemeClr val="bg1"/>
                </a:solidFill>
              </a:rPr>
              <a:t>References</a:t>
            </a:r>
            <a:endParaRPr lang="zh-CN" altLang="en-US" sz="4000" dirty="0">
              <a:solidFill>
                <a:schemeClr val="bg1"/>
              </a:solidFill>
            </a:endParaRPr>
          </a:p>
        </p:txBody>
      </p:sp>
      <p:sp>
        <p:nvSpPr>
          <p:cNvPr id="5" name="文本框 4"/>
          <p:cNvSpPr txBox="1"/>
          <p:nvPr/>
        </p:nvSpPr>
        <p:spPr>
          <a:xfrm>
            <a:off x="2041212" y="1994094"/>
            <a:ext cx="8558207" cy="3877985"/>
          </a:xfrm>
          <a:prstGeom prst="rect">
            <a:avLst/>
          </a:prstGeom>
          <a:noFill/>
        </p:spPr>
        <p:txBody>
          <a:bodyPr wrap="square" lIns="0" tIns="0" rIns="0" bIns="0" rtlCol="0">
            <a:spAutoFit/>
          </a:bodyPr>
          <a:lstStyle/>
          <a:p>
            <a:r>
              <a:rPr lang="en-US" altLang="zh-CN" dirty="0">
                <a:solidFill>
                  <a:schemeClr val="bg1"/>
                </a:solidFill>
              </a:rPr>
              <a:t>[1] Nandi, A., et al. (2024). The global macroeconomic burden of Alzheimer's disease 	and other dementias: estimates and projections for 152 countries or 	territories. The Lancet Global Health, 12(9), e1534-e1543.</a:t>
            </a:r>
            <a:endParaRPr lang="en-US" altLang="zh-CN" dirty="0">
              <a:solidFill>
                <a:schemeClr val="bg1"/>
              </a:solidFill>
            </a:endParaRPr>
          </a:p>
          <a:p>
            <a:endParaRPr lang="en-US" altLang="zh-CN" dirty="0">
              <a:solidFill>
                <a:schemeClr val="bg1"/>
              </a:solidFill>
            </a:endParaRPr>
          </a:p>
          <a:p>
            <a:r>
              <a:rPr lang="en-US" altLang="zh-CN" dirty="0">
                <a:solidFill>
                  <a:schemeClr val="bg1"/>
                </a:solidFill>
              </a:rPr>
              <a:t>[2] </a:t>
            </a:r>
            <a:r>
              <a:rPr lang="en-US" altLang="zh-CN" dirty="0" err="1">
                <a:solidFill>
                  <a:schemeClr val="bg1"/>
                </a:solidFill>
              </a:rPr>
              <a:t>Monian</a:t>
            </a:r>
            <a:r>
              <a:rPr lang="en-US" altLang="zh-CN" dirty="0">
                <a:solidFill>
                  <a:schemeClr val="bg1"/>
                </a:solidFill>
              </a:rPr>
              <a:t>, P., et al. (2023). RNA editing: Expanding the potential of RNA therapeutics. 	Molecular Therapy, 31(1), 34-44.</a:t>
            </a:r>
            <a:endParaRPr lang="en-US" altLang="zh-CN" dirty="0">
              <a:solidFill>
                <a:schemeClr val="bg1"/>
              </a:solidFill>
            </a:endParaRPr>
          </a:p>
          <a:p>
            <a:endParaRPr lang="en-US" altLang="zh-CN" dirty="0">
              <a:solidFill>
                <a:schemeClr val="bg1"/>
              </a:solidFill>
            </a:endParaRPr>
          </a:p>
          <a:p>
            <a:r>
              <a:rPr lang="en-US" altLang="zh-CN" dirty="0">
                <a:solidFill>
                  <a:schemeClr val="bg1"/>
                </a:solidFill>
              </a:rPr>
              <a:t>[3] Heinz, L. C., &amp; </a:t>
            </a:r>
            <a:r>
              <a:rPr lang="en-US" altLang="zh-CN" dirty="0" err="1">
                <a:solidFill>
                  <a:schemeClr val="bg1"/>
                </a:solidFill>
              </a:rPr>
              <a:t>Süßmuth</a:t>
            </a:r>
            <a:r>
              <a:rPr lang="en-US" altLang="zh-CN" dirty="0">
                <a:solidFill>
                  <a:schemeClr val="bg1"/>
                </a:solidFill>
              </a:rPr>
              <a:t>, S. D. (2021). Huntingtin and Its Role in Mechanisms of RNA-	Mediated Toxicity. Toxins, 13(7), 487.</a:t>
            </a:r>
            <a:endParaRPr lang="en-US" altLang="zh-CN" dirty="0">
              <a:solidFill>
                <a:schemeClr val="bg1"/>
              </a:solidFill>
            </a:endParaRPr>
          </a:p>
          <a:p>
            <a:endParaRPr lang="en-US" altLang="zh-CN" dirty="0">
              <a:solidFill>
                <a:schemeClr val="bg1"/>
              </a:solidFill>
            </a:endParaRPr>
          </a:p>
          <a:p>
            <a:r>
              <a:rPr lang="en-US" altLang="zh-CN" dirty="0">
                <a:solidFill>
                  <a:schemeClr val="bg1"/>
                </a:solidFill>
              </a:rPr>
              <a:t>[4] Abramson, J., et al. (2024). Accurate structure prediction of biomolecular 	interactions with AlphaFold 3. Nature, 630(8016), 493-500.</a:t>
            </a:r>
            <a:endParaRPr lang="en-US" altLang="zh-CN" dirty="0">
              <a:solidFill>
                <a:schemeClr val="bg1"/>
              </a:solidFill>
            </a:endParaRPr>
          </a:p>
          <a:p>
            <a:endParaRPr lang="en-US" altLang="zh-CN" dirty="0">
              <a:solidFill>
                <a:schemeClr val="bg1"/>
              </a:solidFill>
            </a:endParaRPr>
          </a:p>
          <a:p>
            <a:endParaRPr lang="en-US" altLang="zh-CN" dirty="0">
              <a:solidFill>
                <a:schemeClr val="bg1"/>
              </a:solidFill>
            </a:endParaRPr>
          </a:p>
        </p:txBody>
      </p:sp>
      <p:cxnSp>
        <p:nvCxnSpPr>
          <p:cNvPr id="3" name="直接连接符 2"/>
          <p:cNvCxnSpPr/>
          <p:nvPr/>
        </p:nvCxnSpPr>
        <p:spPr>
          <a:xfrm>
            <a:off x="731838" y="6162908"/>
            <a:ext cx="107283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731838" y="6239103"/>
            <a:ext cx="471283" cy="230832"/>
          </a:xfrm>
          <a:prstGeom prst="rect">
            <a:avLst/>
          </a:prstGeom>
          <a:noFill/>
        </p:spPr>
        <p:txBody>
          <a:bodyPr wrap="square" lIns="0" tIns="0" rIns="0" bIns="0" rtlCol="0">
            <a:spAutoFit/>
          </a:bodyPr>
          <a:lstStyle/>
          <a:p>
            <a:r>
              <a:rPr lang="en-US" altLang="zh-CN" sz="1500" dirty="0">
                <a:solidFill>
                  <a:schemeClr val="bg1"/>
                </a:solidFill>
              </a:rPr>
              <a:t>2026</a:t>
            </a:r>
            <a:endParaRPr lang="zh-CN" altLang="en-US" sz="1500" dirty="0">
              <a:solidFill>
                <a:schemeClr val="bg1"/>
              </a:solidFill>
            </a:endParaRPr>
          </a:p>
        </p:txBody>
      </p:sp>
      <p:sp>
        <p:nvSpPr>
          <p:cNvPr id="26" name="文本框 25"/>
          <p:cNvSpPr txBox="1"/>
          <p:nvPr/>
        </p:nvSpPr>
        <p:spPr>
          <a:xfrm>
            <a:off x="10686535" y="6239103"/>
            <a:ext cx="768865" cy="230832"/>
          </a:xfrm>
          <a:prstGeom prst="rect">
            <a:avLst/>
          </a:prstGeom>
          <a:noFill/>
        </p:spPr>
        <p:txBody>
          <a:bodyPr wrap="none" lIns="0" tIns="0" rIns="0" bIns="0" rtlCol="0">
            <a:spAutoFit/>
          </a:bodyPr>
          <a:lstStyle/>
          <a:p>
            <a:pPr algn="r"/>
            <a:r>
              <a:rPr lang="en-US" altLang="zh-CN" sz="1500" dirty="0">
                <a:solidFill>
                  <a:schemeClr val="bg1"/>
                </a:solidFill>
              </a:rPr>
              <a:t>May</a:t>
            </a:r>
            <a:r>
              <a:rPr lang="zh-CN" altLang="en-US" sz="1500" dirty="0">
                <a:solidFill>
                  <a:schemeClr val="bg1"/>
                </a:solidFill>
              </a:rPr>
              <a:t> </a:t>
            </a:r>
            <a:r>
              <a:rPr lang="en-US" altLang="zh-CN" sz="1500" dirty="0">
                <a:solidFill>
                  <a:schemeClr val="bg1"/>
                </a:solidFill>
              </a:rPr>
              <a:t>17th</a:t>
            </a:r>
            <a:endParaRPr lang="zh-CN" altLang="en-US" sz="1500" dirty="0">
              <a:solidFill>
                <a:schemeClr val="bg1"/>
              </a:solidFill>
            </a:endParaRPr>
          </a:p>
        </p:txBody>
      </p:sp>
      <p:grpSp>
        <p:nvGrpSpPr>
          <p:cNvPr id="2" name="组合 1"/>
          <p:cNvGrpSpPr/>
          <p:nvPr/>
        </p:nvGrpSpPr>
        <p:grpSpPr>
          <a:xfrm>
            <a:off x="872699" y="737748"/>
            <a:ext cx="10379279" cy="5263742"/>
            <a:chOff x="3396114" y="1811959"/>
            <a:chExt cx="5462273" cy="2316155"/>
          </a:xfrm>
        </p:grpSpPr>
        <p:sp>
          <p:nvSpPr>
            <p:cNvPr id="9" name="矩形 8"/>
            <p:cNvSpPr/>
            <p:nvPr/>
          </p:nvSpPr>
          <p:spPr>
            <a:xfrm>
              <a:off x="3396114" y="1811959"/>
              <a:ext cx="5399773" cy="22715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7" name="矩形 26"/>
            <p:cNvSpPr/>
            <p:nvPr/>
          </p:nvSpPr>
          <p:spPr>
            <a:xfrm>
              <a:off x="3458614" y="1856558"/>
              <a:ext cx="5399773" cy="22715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grpSp>
      <p:sp>
        <p:nvSpPr>
          <p:cNvPr id="29" name="文本框 28"/>
          <p:cNvSpPr txBox="1"/>
          <p:nvPr/>
        </p:nvSpPr>
        <p:spPr>
          <a:xfrm>
            <a:off x="3858652" y="6260069"/>
            <a:ext cx="769441" cy="184666"/>
          </a:xfrm>
          <a:prstGeom prst="rect">
            <a:avLst/>
          </a:prstGeom>
          <a:noFill/>
        </p:spPr>
        <p:txBody>
          <a:bodyPr wrap="none" lIns="0" tIns="0" rIns="0" bIns="0" rtlCol="0">
            <a:spAutoFit/>
          </a:bodyPr>
          <a:lstStyle>
            <a:defPPr>
              <a:defRPr lang="zh-CN"/>
            </a:defPPr>
            <a:lvl1pPr>
              <a:defRPr sz="1200">
                <a:solidFill>
                  <a:schemeClr val="bg1">
                    <a:alpha val="50000"/>
                  </a:schemeClr>
                </a:solidFill>
              </a:defRPr>
            </a:lvl1pPr>
          </a:lstStyle>
          <a:p>
            <a:r>
              <a:rPr lang="zh-CN" altLang="en-US" dirty="0"/>
              <a:t>背景与意义</a:t>
            </a:r>
            <a:endParaRPr lang="zh-CN" altLang="en-US" dirty="0"/>
          </a:p>
        </p:txBody>
      </p:sp>
      <p:sp>
        <p:nvSpPr>
          <p:cNvPr id="30" name="文本框 29"/>
          <p:cNvSpPr txBox="1"/>
          <p:nvPr/>
        </p:nvSpPr>
        <p:spPr>
          <a:xfrm>
            <a:off x="5042441" y="6260069"/>
            <a:ext cx="769441" cy="184666"/>
          </a:xfrm>
          <a:prstGeom prst="rect">
            <a:avLst/>
          </a:prstGeom>
          <a:noFill/>
        </p:spPr>
        <p:txBody>
          <a:bodyPr wrap="none" lIns="0" tIns="0" rIns="0" bIns="0" rtlCol="0">
            <a:spAutoFit/>
          </a:bodyPr>
          <a:lstStyle/>
          <a:p>
            <a:r>
              <a:rPr lang="zh-CN" altLang="en-US" sz="1200" dirty="0">
                <a:solidFill>
                  <a:schemeClr val="bg1">
                    <a:alpha val="50000"/>
                  </a:schemeClr>
                </a:solidFill>
              </a:rPr>
              <a:t>方法及过程</a:t>
            </a:r>
            <a:endParaRPr lang="zh-CN" altLang="en-US" sz="1200" dirty="0">
              <a:solidFill>
                <a:schemeClr val="bg1">
                  <a:alpha val="50000"/>
                </a:schemeClr>
              </a:solidFill>
            </a:endParaRPr>
          </a:p>
        </p:txBody>
      </p:sp>
      <p:sp>
        <p:nvSpPr>
          <p:cNvPr id="31" name="文本框 30"/>
          <p:cNvSpPr txBox="1"/>
          <p:nvPr/>
        </p:nvSpPr>
        <p:spPr>
          <a:xfrm>
            <a:off x="6226230" y="6260069"/>
            <a:ext cx="1077218" cy="184666"/>
          </a:xfrm>
          <a:prstGeom prst="rect">
            <a:avLst/>
          </a:prstGeom>
          <a:noFill/>
        </p:spPr>
        <p:txBody>
          <a:bodyPr wrap="none" lIns="0" tIns="0" rIns="0" bIns="0" rtlCol="0">
            <a:spAutoFit/>
          </a:bodyPr>
          <a:lstStyle/>
          <a:p>
            <a:r>
              <a:rPr lang="zh-CN" altLang="en-US" sz="1200" dirty="0">
                <a:solidFill>
                  <a:schemeClr val="bg1">
                    <a:alpha val="50000"/>
                  </a:schemeClr>
                </a:solidFill>
              </a:rPr>
              <a:t>成果展示及应用</a:t>
            </a:r>
            <a:endParaRPr lang="zh-CN" altLang="en-US" sz="1200" dirty="0">
              <a:solidFill>
                <a:schemeClr val="bg1">
                  <a:alpha val="50000"/>
                </a:schemeClr>
              </a:solidFill>
            </a:endParaRPr>
          </a:p>
        </p:txBody>
      </p:sp>
      <p:sp>
        <p:nvSpPr>
          <p:cNvPr id="32" name="文本框 31"/>
          <p:cNvSpPr txBox="1"/>
          <p:nvPr/>
        </p:nvSpPr>
        <p:spPr>
          <a:xfrm>
            <a:off x="7717795" y="6260069"/>
            <a:ext cx="615553" cy="184666"/>
          </a:xfrm>
          <a:prstGeom prst="rect">
            <a:avLst/>
          </a:prstGeom>
          <a:noFill/>
        </p:spPr>
        <p:txBody>
          <a:bodyPr wrap="none" lIns="0" tIns="0" rIns="0" bIns="0" rtlCol="0">
            <a:spAutoFit/>
          </a:bodyPr>
          <a:lstStyle>
            <a:defPPr>
              <a:defRPr lang="zh-CN"/>
            </a:defPPr>
            <a:lvl1pPr>
              <a:defRPr sz="1200" b="1">
                <a:solidFill>
                  <a:schemeClr val="bg1"/>
                </a:solidFill>
              </a:defRPr>
            </a:lvl1pPr>
          </a:lstStyle>
          <a:p>
            <a:r>
              <a:rPr lang="zh-CN" altLang="en-US" dirty="0"/>
              <a:t>总结致谢</a:t>
            </a:r>
            <a:endParaRPr lang="zh-CN" altLang="en-US" dirty="0"/>
          </a:p>
        </p:txBody>
      </p:sp>
      <p:sp>
        <p:nvSpPr>
          <p:cNvPr id="33" name="椭圆 32"/>
          <p:cNvSpPr/>
          <p:nvPr/>
        </p:nvSpPr>
        <p:spPr>
          <a:xfrm>
            <a:off x="4914007"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4" name="椭圆 33"/>
          <p:cNvSpPr/>
          <p:nvPr/>
        </p:nvSpPr>
        <p:spPr>
          <a:xfrm>
            <a:off x="6097796"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5" name="椭圆 34"/>
          <p:cNvSpPr/>
          <p:nvPr/>
        </p:nvSpPr>
        <p:spPr>
          <a:xfrm>
            <a:off x="7589362"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6" name="椭圆 35"/>
          <p:cNvSpPr/>
          <p:nvPr/>
        </p:nvSpPr>
        <p:spPr>
          <a:xfrm>
            <a:off x="3730218" y="6339453"/>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7" name="椭圆 36"/>
          <p:cNvSpPr/>
          <p:nvPr/>
        </p:nvSpPr>
        <p:spPr>
          <a:xfrm>
            <a:off x="7551897" y="6301988"/>
            <a:ext cx="120650" cy="120650"/>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6" name="文本框 5"/>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4965AA"/>
                </a:highlight>
                <a:latin typeface="Eras Bold ITC" panose="020B0907030504020204" pitchFamily="34" charset="0"/>
              </a:rPr>
              <a:t>SUSTech</a:t>
            </a:r>
            <a:r>
              <a:rPr lang="en-US" altLang="zh-CN" sz="3000" dirty="0">
                <a:solidFill>
                  <a:srgbClr val="EFA7A7"/>
                </a:solidFill>
                <a:highlight>
                  <a:srgbClr val="4965AA"/>
                </a:highlight>
                <a:latin typeface="Eras Bold ITC" panose="020B0907030504020204" pitchFamily="34" charset="0"/>
              </a:rPr>
              <a:t>-BIO</a:t>
            </a:r>
            <a:endParaRPr lang="zh-CN" altLang="en-US" sz="3000" dirty="0">
              <a:solidFill>
                <a:srgbClr val="EFA7A7"/>
              </a:solidFill>
              <a:highlight>
                <a:srgbClr val="4965AA"/>
              </a:highlight>
              <a:latin typeface="Eras Bold ITC" panose="020B0907030504020204" pitchFamily="34" charset="0"/>
            </a:endParaRPr>
          </a:p>
        </p:txBody>
      </p:sp>
      <p:sp>
        <p:nvSpPr>
          <p:cNvPr id="7" name="文本框 6"/>
          <p:cNvSpPr txBox="1"/>
          <p:nvPr/>
        </p:nvSpPr>
        <p:spPr>
          <a:xfrm>
            <a:off x="10128122" y="244475"/>
            <a:ext cx="1577355" cy="307777"/>
          </a:xfrm>
          <a:prstGeom prst="rect">
            <a:avLst/>
          </a:prstGeom>
          <a:noFill/>
        </p:spPr>
        <p:txBody>
          <a:bodyPr wrap="none" lIns="0" tIns="0" rIns="0" bIns="0" rtlCol="0">
            <a:spAutoFit/>
          </a:bodyPr>
          <a:lstStyle/>
          <a:p>
            <a:pPr algn="r"/>
            <a:r>
              <a:rPr lang="en-US" altLang="zh-CN" sz="1000" cap="all" dirty="0">
                <a:solidFill>
                  <a:schemeClr val="bg1"/>
                </a:solidFill>
                <a:highlight>
                  <a:srgbClr val="4965AA"/>
                </a:highlight>
              </a:rPr>
              <a:t>Southern University of </a:t>
            </a:r>
            <a:endParaRPr lang="en-US" altLang="zh-CN" sz="1000" cap="all" dirty="0">
              <a:solidFill>
                <a:schemeClr val="bg1"/>
              </a:solidFill>
              <a:highlight>
                <a:srgbClr val="4965AA"/>
              </a:highlight>
            </a:endParaRPr>
          </a:p>
          <a:p>
            <a:pPr algn="r"/>
            <a:r>
              <a:rPr lang="en-US" altLang="zh-CN" sz="1000" cap="all" dirty="0">
                <a:solidFill>
                  <a:schemeClr val="bg1"/>
                </a:solidFill>
                <a:highlight>
                  <a:srgbClr val="4965AA"/>
                </a:highlight>
              </a:rPr>
              <a:t>science and technology</a:t>
            </a:r>
            <a:endParaRPr lang="zh-CN" altLang="en-US" sz="1000" cap="all" dirty="0">
              <a:solidFill>
                <a:schemeClr val="bg1"/>
              </a:solidFill>
              <a:highlight>
                <a:srgbClr val="4965AA"/>
              </a:highlight>
            </a:endParaRPr>
          </a:p>
        </p:txBody>
      </p:sp>
      <p:grpSp>
        <p:nvGrpSpPr>
          <p:cNvPr id="8" name="组合 7"/>
          <p:cNvGrpSpPr/>
          <p:nvPr/>
        </p:nvGrpSpPr>
        <p:grpSpPr>
          <a:xfrm>
            <a:off x="9799713" y="109178"/>
            <a:ext cx="2256250" cy="713649"/>
            <a:chOff x="9799713" y="109178"/>
            <a:chExt cx="2256250" cy="713649"/>
          </a:xfrm>
        </p:grpSpPr>
        <p:sp>
          <p:nvSpPr>
            <p:cNvPr id="10" name="矩形 9"/>
            <p:cNvSpPr/>
            <p:nvPr/>
          </p:nvSpPr>
          <p:spPr>
            <a:xfrm>
              <a:off x="9799713" y="197831"/>
              <a:ext cx="2117376" cy="53634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6510" y="-379570"/>
            <a:ext cx="1662864" cy="166646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2244440" y="1670051"/>
            <a:ext cx="7703119" cy="2996327"/>
            <a:chOff x="2445409" y="4030432"/>
            <a:chExt cx="6998837" cy="2373156"/>
          </a:xfrm>
        </p:grpSpPr>
        <p:sp>
          <p:nvSpPr>
            <p:cNvPr id="9" name="矩形 8"/>
            <p:cNvSpPr/>
            <p:nvPr/>
          </p:nvSpPr>
          <p:spPr>
            <a:xfrm>
              <a:off x="2445409" y="4030432"/>
              <a:ext cx="6916287" cy="2271556"/>
            </a:xfrm>
            <a:prstGeom prst="rect">
              <a:avLst/>
            </a:prstGeom>
            <a:solidFill>
              <a:schemeClr val="bg1"/>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27" name="矩形 26"/>
            <p:cNvSpPr/>
            <p:nvPr/>
          </p:nvSpPr>
          <p:spPr>
            <a:xfrm>
              <a:off x="2527959" y="4132032"/>
              <a:ext cx="6916287" cy="2271556"/>
            </a:xfrm>
            <a:prstGeom prst="rect">
              <a:avLst/>
            </a:prstGeom>
            <a:solidFill>
              <a:schemeClr val="bg1"/>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4" name="文本框 3"/>
            <p:cNvSpPr txBox="1"/>
            <p:nvPr/>
          </p:nvSpPr>
          <p:spPr>
            <a:xfrm>
              <a:off x="5529246" y="4960033"/>
              <a:ext cx="3590728" cy="615553"/>
            </a:xfrm>
            <a:prstGeom prst="rect">
              <a:avLst/>
            </a:prstGeom>
            <a:noFill/>
          </p:spPr>
          <p:txBody>
            <a:bodyPr wrap="none" lIns="0" tIns="0" rIns="0" bIns="0" rtlCol="0">
              <a:spAutoFit/>
            </a:bodyPr>
            <a:lstStyle/>
            <a:p>
              <a:pPr algn="ctr"/>
              <a:r>
                <a:rPr lang="zh-CN" altLang="en-US" sz="4000" dirty="0">
                  <a:solidFill>
                    <a:srgbClr val="4965AA"/>
                  </a:solidFill>
                </a:rPr>
                <a:t>感谢您的聆听！</a:t>
              </a:r>
              <a:endParaRPr lang="zh-CN" altLang="en-US" sz="4000" dirty="0">
                <a:solidFill>
                  <a:srgbClr val="4965AA"/>
                </a:solidFill>
              </a:endParaRPr>
            </a:p>
          </p:txBody>
        </p:sp>
      </p:grpSp>
      <p:cxnSp>
        <p:nvCxnSpPr>
          <p:cNvPr id="3" name="直接连接符 2"/>
          <p:cNvCxnSpPr/>
          <p:nvPr/>
        </p:nvCxnSpPr>
        <p:spPr>
          <a:xfrm>
            <a:off x="731838" y="6162908"/>
            <a:ext cx="107283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731838" y="6239103"/>
            <a:ext cx="471283" cy="230832"/>
          </a:xfrm>
          <a:prstGeom prst="rect">
            <a:avLst/>
          </a:prstGeom>
          <a:noFill/>
        </p:spPr>
        <p:txBody>
          <a:bodyPr wrap="square" lIns="0" tIns="0" rIns="0" bIns="0" rtlCol="0">
            <a:spAutoFit/>
          </a:bodyPr>
          <a:lstStyle/>
          <a:p>
            <a:r>
              <a:rPr lang="en-US" altLang="zh-CN" sz="1500" dirty="0">
                <a:solidFill>
                  <a:schemeClr val="bg1"/>
                </a:solidFill>
              </a:rPr>
              <a:t>2026</a:t>
            </a:r>
            <a:endParaRPr lang="zh-CN" altLang="en-US" sz="1500" dirty="0">
              <a:solidFill>
                <a:schemeClr val="bg1"/>
              </a:solidFill>
            </a:endParaRPr>
          </a:p>
        </p:txBody>
      </p:sp>
      <p:sp>
        <p:nvSpPr>
          <p:cNvPr id="26" name="文本框 25"/>
          <p:cNvSpPr txBox="1"/>
          <p:nvPr/>
        </p:nvSpPr>
        <p:spPr>
          <a:xfrm>
            <a:off x="10686535" y="6239103"/>
            <a:ext cx="768865" cy="230832"/>
          </a:xfrm>
          <a:prstGeom prst="rect">
            <a:avLst/>
          </a:prstGeom>
          <a:noFill/>
        </p:spPr>
        <p:txBody>
          <a:bodyPr wrap="none" lIns="0" tIns="0" rIns="0" bIns="0" rtlCol="0">
            <a:spAutoFit/>
          </a:bodyPr>
          <a:lstStyle/>
          <a:p>
            <a:pPr algn="r"/>
            <a:r>
              <a:rPr lang="en-US" altLang="zh-CN" sz="1500" dirty="0">
                <a:solidFill>
                  <a:schemeClr val="bg1"/>
                </a:solidFill>
              </a:rPr>
              <a:t>May 17th</a:t>
            </a:r>
            <a:endParaRPr lang="zh-CN" altLang="en-US" sz="1500" dirty="0">
              <a:solidFill>
                <a:schemeClr val="bg1"/>
              </a:solidFill>
            </a:endParaRPr>
          </a:p>
        </p:txBody>
      </p:sp>
      <p:sp>
        <p:nvSpPr>
          <p:cNvPr id="2" name="文本框 1"/>
          <p:cNvSpPr txBox="1"/>
          <p:nvPr/>
        </p:nvSpPr>
        <p:spPr>
          <a:xfrm>
            <a:off x="556703" y="167530"/>
            <a:ext cx="2494273" cy="461665"/>
          </a:xfrm>
          <a:prstGeom prst="rect">
            <a:avLst/>
          </a:prstGeom>
          <a:noFill/>
        </p:spPr>
        <p:txBody>
          <a:bodyPr wrap="none" lIns="0" tIns="0" rIns="0" bIns="0" rtlCol="0">
            <a:spAutoFit/>
          </a:bodyPr>
          <a:lstStyle/>
          <a:p>
            <a:r>
              <a:rPr lang="en-US" altLang="zh-CN" sz="3000" dirty="0" err="1">
                <a:solidFill>
                  <a:srgbClr val="EFA7A7"/>
                </a:solidFill>
                <a:highlight>
                  <a:srgbClr val="4965AA"/>
                </a:highlight>
                <a:latin typeface="Eras Bold ITC" panose="020B0907030504020204" pitchFamily="34" charset="0"/>
              </a:rPr>
              <a:t>SUSTech</a:t>
            </a:r>
            <a:r>
              <a:rPr lang="en-US" altLang="zh-CN" sz="3000" dirty="0">
                <a:solidFill>
                  <a:srgbClr val="EFA7A7"/>
                </a:solidFill>
                <a:highlight>
                  <a:srgbClr val="4965AA"/>
                </a:highlight>
                <a:latin typeface="Eras Bold ITC" panose="020B0907030504020204" pitchFamily="34" charset="0"/>
              </a:rPr>
              <a:t>-BIO</a:t>
            </a:r>
            <a:endParaRPr lang="zh-CN" altLang="en-US" sz="3000" dirty="0">
              <a:solidFill>
                <a:srgbClr val="EFA7A7"/>
              </a:solidFill>
              <a:highlight>
                <a:srgbClr val="4965AA"/>
              </a:highlight>
              <a:latin typeface="Eras Bold ITC" panose="020B0907030504020204" pitchFamily="34" charset="0"/>
            </a:endParaRPr>
          </a:p>
        </p:txBody>
      </p:sp>
      <p:pic>
        <p:nvPicPr>
          <p:cNvPr id="31" name="图片 3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53583" y="1028305"/>
            <a:ext cx="4050367" cy="4059134"/>
          </a:xfrm>
          <a:prstGeom prst="rect">
            <a:avLst/>
          </a:prstGeom>
        </p:spPr>
      </p:pic>
      <p:grpSp>
        <p:nvGrpSpPr>
          <p:cNvPr id="7" name="组合 6"/>
          <p:cNvGrpSpPr/>
          <p:nvPr/>
        </p:nvGrpSpPr>
        <p:grpSpPr>
          <a:xfrm>
            <a:off x="9647057" y="109178"/>
            <a:ext cx="2408906" cy="713649"/>
            <a:chOff x="9647057" y="109178"/>
            <a:chExt cx="2408906" cy="713649"/>
          </a:xfrm>
        </p:grpSpPr>
        <p:sp>
          <p:nvSpPr>
            <p:cNvPr id="6" name="矩形 5"/>
            <p:cNvSpPr/>
            <p:nvPr/>
          </p:nvSpPr>
          <p:spPr>
            <a:xfrm>
              <a:off x="9799713" y="197831"/>
              <a:ext cx="2117376" cy="53634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9647057" y="244473"/>
              <a:ext cx="1577355" cy="307777"/>
            </a:xfrm>
            <a:prstGeom prst="rect">
              <a:avLst/>
            </a:prstGeom>
            <a:noFill/>
          </p:spPr>
          <p:txBody>
            <a:bodyPr wrap="square" lIns="0" tIns="0" rIns="0" bIns="0" rtlCol="0">
              <a:spAutoFit/>
            </a:bodyPr>
            <a:lstStyle/>
            <a:p>
              <a:pPr algn="r"/>
              <a:r>
                <a:rPr lang="en-US" altLang="zh-CN" sz="1000" cap="all" dirty="0">
                  <a:solidFill>
                    <a:schemeClr val="bg1"/>
                  </a:solidFill>
                  <a:highlight>
                    <a:srgbClr val="4965AA"/>
                  </a:highlight>
                </a:rPr>
                <a:t>Southern University of </a:t>
              </a:r>
              <a:endParaRPr lang="en-US" altLang="zh-CN" sz="1000" cap="all" dirty="0">
                <a:solidFill>
                  <a:schemeClr val="bg1"/>
                </a:solidFill>
                <a:highlight>
                  <a:srgbClr val="4965AA"/>
                </a:highlight>
              </a:endParaRPr>
            </a:p>
            <a:p>
              <a:pPr algn="r"/>
              <a:r>
                <a:rPr lang="en-US" altLang="zh-CN" sz="1000" cap="all" dirty="0">
                  <a:solidFill>
                    <a:schemeClr val="bg1"/>
                  </a:solidFill>
                  <a:highlight>
                    <a:srgbClr val="4965AA"/>
                  </a:highlight>
                </a:rPr>
                <a:t>science and technology</a:t>
              </a:r>
              <a:endParaRPr lang="zh-CN" altLang="en-US" sz="1000" cap="all" dirty="0">
                <a:solidFill>
                  <a:schemeClr val="bg1"/>
                </a:solidFill>
                <a:highlight>
                  <a:srgbClr val="4965AA"/>
                </a:highlight>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16466" y="109178"/>
              <a:ext cx="739497" cy="713649"/>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tags/tag1.xml><?xml version="1.0" encoding="utf-8"?>
<p:tagLst xmlns:p="http://schemas.openxmlformats.org/presentationml/2006/main">
  <p:tag name="ISLIDE.GUIDESSETTING" val="{&quot;Id&quot;:&quot;55f52171-deb4-4d87-9864-47bd9ea656bf&quot;,&quot;Name&quot;:&quot;2&quot;,&quot;Kind&quot;:&quot;Custom&quot;,&quot;OldGuidesSetting&quot;:{&quot;HeaderHeight&quot;:0.0,&quot;FooterHeight&quot;:0.0,&quot;SideMargin&quot;:6.0,&quot;TopMargin&quot;:4.0,&quot;BottomMargin&quot;:8.0,&quot;IntervalMargin&quot;:0.0}}"/>
</p:tagLst>
</file>

<file path=ppt/theme/theme1.xml><?xml version="1.0" encoding="utf-8"?>
<a:theme xmlns:a="http://schemas.openxmlformats.org/drawingml/2006/main" name="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经典华文中宋">
      <a:majorFont>
        <a:latin typeface="Cambria"/>
        <a:ea typeface="华文中宋"/>
        <a:cs typeface=""/>
      </a:majorFont>
      <a:minorFont>
        <a:latin typeface="Cambria"/>
        <a:ea typeface="华文中宋"/>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5926</Words>
  <Application>WPS 演示</Application>
  <PresentationFormat>宽屏</PresentationFormat>
  <Paragraphs>711</Paragraphs>
  <Slides>19</Slides>
  <Notes>13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宋体</vt:lpstr>
      <vt:lpstr>Wingdings</vt:lpstr>
      <vt:lpstr>Eras Bold ITC</vt:lpstr>
      <vt:lpstr>Cambria</vt:lpstr>
      <vt:lpstr>华文中宋</vt:lpstr>
      <vt:lpstr>Cambria</vt:lpstr>
      <vt:lpstr>微软雅黑</vt:lpstr>
      <vt:lpstr>Arial Unicode MS</vt:lpstr>
      <vt:lpstr>等线</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滚筒洗衣机, WeChat:cooljyh</dc:creator>
  <cp:lastModifiedBy>缘衣煤考</cp:lastModifiedBy>
  <cp:revision>146</cp:revision>
  <dcterms:created xsi:type="dcterms:W3CDTF">2022-03-15T01:56:00Z</dcterms:created>
  <dcterms:modified xsi:type="dcterms:W3CDTF">2026-04-25T10:09:05Z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7074F46B8995478E8398019E79ACF2F5_12</vt:lpwstr>
  </property>
  <property fmtid="{D5CDD505-2E9C-101B-9397-08002B2CF9AE}" pid="3" name="KSOProductBuildVer">
    <vt:lpwstr>2052-12.1.0.25865</vt:lpwstr>
  </property>
</Properties>
</file>