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9296400" cy="129159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3"/>
  </p:normalViewPr>
  <p:slideViewPr>
    <p:cSldViewPr snapToGrid="0">
      <p:cViewPr>
        <p:scale>
          <a:sx n="73" d="100"/>
          <a:sy n="73" d="100"/>
        </p:scale>
        <p:origin x="1136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52B6D99-53B8-43AF-9C52-C540C0CA0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0" y="4174067"/>
            <a:ext cx="13716000" cy="159596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F9D78DF-0A53-4531-BA4A-034E6CFFFF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1750" y="6076950"/>
            <a:ext cx="12001500" cy="122766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0F66290-E10F-4070-9EF7-43D052209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0" y="4603750"/>
            <a:ext cx="13716000" cy="1841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F49324B-CD2A-4E6F-90B7-7B347D3E7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406" y="859367"/>
            <a:ext cx="15216188" cy="135043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2FC22238-7E36-405A-9DAC-3050E8960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406" y="3069167"/>
            <a:ext cx="15216188" cy="687493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500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787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73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359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4645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932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3218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750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C2E2882-C7F7-43E0-B091-4BEDA3785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406" y="859367"/>
            <a:ext cx="15216188" cy="135043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A5260AA-7596-4C5E-A263-58E8CF1AE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406" y="3069167"/>
            <a:ext cx="7072313" cy="687493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500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787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73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359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4645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932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3218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750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31A9BFB-73C7-4C86-A5FB-5DD18A46E4A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9108281" y="3069167"/>
            <a:ext cx="7072313" cy="687493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500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787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73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359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4645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932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3218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750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C3C1241-42BB-49A3-9009-4DFD88992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406" y="859367"/>
            <a:ext cx="15216188" cy="135043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9B782B3-C781-4345-A610-9B65C2577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406" y="3069167"/>
            <a:ext cx="7072313" cy="687493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500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787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73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359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4645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932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3218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750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MODEL module frame">
            <a:extLst>
              <a:ext uri="{FF2B5EF4-FFF2-40B4-BE49-F238E27FC236}">
                <a16:creationId xmlns:a16="http://schemas.microsoft.com/office/drawing/2014/main" id="{DE6D098D-2B9F-4F18-9765-C2DAB11073F0}"/>
              </a:ext>
            </a:extLst>
          </p:cNvPr>
          <p:cNvSpPr>
            <a:spLocks noGrp="1"/>
          </p:cNvSpPr>
          <p:nvPr/>
        </p:nvSpPr>
        <p:spPr>
          <a:xfrm>
            <a:off x="3048000" y="304800"/>
            <a:ext cx="5943600" cy="2190750"/>
          </a:xfrm>
          <a:prstGeom prst="roundRect">
            <a:avLst>
              <a:gd name="adj" fmla="val 4242"/>
            </a:avLst>
          </a:prstGeom>
          <a:solidFill>
            <a:srgbClr val="EDF8F3"/>
          </a:solidFill>
          <a:ln w="26670">
            <a:solidFill>
              <a:srgbClr val="087B6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EDIT module frame">
            <a:extLst>
              <a:ext uri="{FF2B5EF4-FFF2-40B4-BE49-F238E27FC236}">
                <a16:creationId xmlns:a16="http://schemas.microsoft.com/office/drawing/2014/main" id="{5BCE7A2E-2A3F-43D1-954C-3050F29B5E4B}"/>
              </a:ext>
            </a:extLst>
          </p:cNvPr>
          <p:cNvSpPr>
            <a:spLocks noGrp="1"/>
          </p:cNvSpPr>
          <p:nvPr/>
        </p:nvSpPr>
        <p:spPr>
          <a:xfrm>
            <a:off x="304800" y="2762250"/>
            <a:ext cx="4762500" cy="4572000"/>
          </a:xfrm>
          <a:prstGeom prst="roundRect">
            <a:avLst>
              <a:gd name="adj" fmla="val 2333"/>
            </a:avLst>
          </a:prstGeom>
          <a:solidFill>
            <a:srgbClr val="EFF7FC"/>
          </a:solidFill>
          <a:ln w="26670">
            <a:solidFill>
              <a:srgbClr val="087DA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DELIVER module frame">
            <a:extLst>
              <a:ext uri="{FF2B5EF4-FFF2-40B4-BE49-F238E27FC236}">
                <a16:creationId xmlns:a16="http://schemas.microsoft.com/office/drawing/2014/main" id="{486458B2-B122-4BAE-8477-AF44F46BDF43}"/>
              </a:ext>
            </a:extLst>
          </p:cNvPr>
          <p:cNvSpPr>
            <a:spLocks noGrp="1"/>
          </p:cNvSpPr>
          <p:nvPr/>
        </p:nvSpPr>
        <p:spPr>
          <a:xfrm>
            <a:off x="304800" y="304800"/>
            <a:ext cx="2552700" cy="2190750"/>
          </a:xfrm>
          <a:prstGeom prst="roundRect">
            <a:avLst>
              <a:gd name="adj" fmla="val 7778"/>
            </a:avLst>
          </a:prstGeom>
          <a:solidFill>
            <a:srgbClr val="EFF4FD"/>
          </a:solidFill>
          <a:ln w="26670">
            <a:solidFill>
              <a:srgbClr val="285FA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MEASURE module frame">
            <a:extLst>
              <a:ext uri="{FF2B5EF4-FFF2-40B4-BE49-F238E27FC236}">
                <a16:creationId xmlns:a16="http://schemas.microsoft.com/office/drawing/2014/main" id="{48E8DB36-484E-46E3-A882-BF428D880A7F}"/>
              </a:ext>
            </a:extLst>
          </p:cNvPr>
          <p:cNvSpPr>
            <a:spLocks noGrp="1"/>
          </p:cNvSpPr>
          <p:nvPr/>
        </p:nvSpPr>
        <p:spPr>
          <a:xfrm>
            <a:off x="5257800" y="2762250"/>
            <a:ext cx="3733800" cy="4572000"/>
          </a:xfrm>
          <a:prstGeom prst="roundRect">
            <a:avLst>
              <a:gd name="adj" fmla="val 2527"/>
            </a:avLst>
          </a:prstGeom>
          <a:solidFill>
            <a:srgbClr val="FFF5EB"/>
          </a:solidFill>
          <a:ln w="26670">
            <a:solidFill>
              <a:srgbClr val="B9571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CONTROL module frame">
            <a:extLst>
              <a:ext uri="{FF2B5EF4-FFF2-40B4-BE49-F238E27FC236}">
                <a16:creationId xmlns:a16="http://schemas.microsoft.com/office/drawing/2014/main" id="{BB988593-7EA6-433A-A6D1-490AA60EF865}"/>
              </a:ext>
            </a:extLst>
          </p:cNvPr>
          <p:cNvSpPr>
            <a:spLocks noGrp="1"/>
          </p:cNvSpPr>
          <p:nvPr/>
        </p:nvSpPr>
        <p:spPr>
          <a:xfrm>
            <a:off x="304800" y="7600950"/>
            <a:ext cx="8686800" cy="5010150"/>
          </a:xfrm>
          <a:prstGeom prst="roundRect">
            <a:avLst>
              <a:gd name="adj" fmla="val 4000"/>
            </a:avLst>
          </a:prstGeom>
          <a:solidFill>
            <a:srgbClr val="F4EEFB"/>
          </a:solidFill>
          <a:ln w="26670">
            <a:solidFill>
              <a:srgbClr val="7845A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object-2">
            <a:extLst>
              <a:ext uri="{FF2B5EF4-FFF2-40B4-BE49-F238E27FC236}">
                <a16:creationId xmlns:a16="http://schemas.microsoft.com/office/drawing/2014/main" id="{470087A9-337B-4F52-B5FE-A93D73F95265}"/>
              </a:ext>
            </a:extLst>
          </p:cNvPr>
          <p:cNvSpPr>
            <a:spLocks noGrp="1"/>
          </p:cNvSpPr>
          <p:nvPr/>
        </p:nvSpPr>
        <p:spPr>
          <a:xfrm>
            <a:off x="3238500" y="495300"/>
            <a:ext cx="1409700" cy="438150"/>
          </a:xfrm>
          <a:prstGeom prst="roundRect">
            <a:avLst>
              <a:gd name="adj" fmla="val 22000"/>
            </a:avLst>
          </a:prstGeom>
          <a:solidFill>
            <a:srgbClr val="087B61"/>
          </a:solidFill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defPPr>
            <a:lvl1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lvl1pPr>
            <a:lvl2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lvl2pPr>
            <a:lvl3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lvl3pPr>
            <a:lvl4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lvl4pPr>
            <a:lvl5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lvl5pPr>
            <a:lvl6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lvl6pPr>
            <a:lvl7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lvl7pPr>
            <a:lvl8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lvl8pPr>
            <a:lvl9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pPr>
            <a:r>
              <a: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rPr>
              <a:t>MODEL</a:t>
            </a:r>
          </a:p>
        </p:txBody>
      </p:sp>
      <p:cxnSp>
        <p:nvCxnSpPr>
          <p:cNvPr id="10" name="line-5">
            <a:extLst>
              <a:ext uri="{FF2B5EF4-FFF2-40B4-BE49-F238E27FC236}">
                <a16:creationId xmlns:a16="http://schemas.microsoft.com/office/drawing/2014/main" id="{88B468AA-81A0-4D5A-8777-986A4444D8E8}"/>
              </a:ext>
            </a:extLst>
          </p:cNvPr>
          <p:cNvCxnSpPr/>
          <p:nvPr/>
        </p:nvCxnSpPr>
        <p:spPr>
          <a:xfrm>
            <a:off x="3409950" y="1285875"/>
            <a:ext cx="790575" cy="0"/>
          </a:xfrm>
          <a:prstGeom prst="straightConnector1">
            <a:avLst/>
          </a:prstGeom>
          <a:ln w="30480">
            <a:solidFill>
              <a:srgbClr val="087B61"/>
            </a:solidFill>
            <a:prstDash val="solid"/>
            <a:tailEnd type="none" w="med" len="med"/>
          </a:ln>
        </p:spPr>
      </p:cxnSp>
      <p:sp>
        <p:nvSpPr>
          <p:cNvPr id="11" name="object-6">
            <a:extLst>
              <a:ext uri="{FF2B5EF4-FFF2-40B4-BE49-F238E27FC236}">
                <a16:creationId xmlns:a16="http://schemas.microsoft.com/office/drawing/2014/main" id="{5E970618-C18A-4C2E-8FA1-BFA10B1E2D9D}"/>
              </a:ext>
            </a:extLst>
          </p:cNvPr>
          <p:cNvSpPr>
            <a:spLocks noGrp="1"/>
          </p:cNvSpPr>
          <p:nvPr/>
        </p:nvSpPr>
        <p:spPr>
          <a:xfrm>
            <a:off x="3857625" y="1238250"/>
            <a:ext cx="76200" cy="95250"/>
          </a:xfrm>
          <a:prstGeom prst="rect">
            <a:avLst/>
          </a:prstGeom>
          <a:solidFill>
            <a:srgbClr val="E3A052"/>
          </a:solidFill>
          <a:ln w="17145">
            <a:noFill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12" name="line-7">
            <a:extLst>
              <a:ext uri="{FF2B5EF4-FFF2-40B4-BE49-F238E27FC236}">
                <a16:creationId xmlns:a16="http://schemas.microsoft.com/office/drawing/2014/main" id="{9E189A48-98A3-41F3-B5BD-CBA2EB13088C}"/>
              </a:ext>
            </a:extLst>
          </p:cNvPr>
          <p:cNvCxnSpPr/>
          <p:nvPr/>
        </p:nvCxnSpPr>
        <p:spPr>
          <a:xfrm>
            <a:off x="3495675" y="1400175"/>
            <a:ext cx="790575" cy="0"/>
          </a:xfrm>
          <a:prstGeom prst="straightConnector1">
            <a:avLst/>
          </a:prstGeom>
          <a:ln w="30480">
            <a:solidFill>
              <a:srgbClr val="087B61"/>
            </a:solidFill>
            <a:prstDash val="solid"/>
            <a:tailEnd type="none" w="med" len="med"/>
          </a:ln>
        </p:spPr>
      </p:cxnSp>
      <p:sp>
        <p:nvSpPr>
          <p:cNvPr id="13" name="object-8">
            <a:extLst>
              <a:ext uri="{FF2B5EF4-FFF2-40B4-BE49-F238E27FC236}">
                <a16:creationId xmlns:a16="http://schemas.microsoft.com/office/drawing/2014/main" id="{76FBCC55-6FDB-4221-871D-F867F1DB757A}"/>
              </a:ext>
            </a:extLst>
          </p:cNvPr>
          <p:cNvSpPr>
            <a:spLocks noGrp="1"/>
          </p:cNvSpPr>
          <p:nvPr/>
        </p:nvSpPr>
        <p:spPr>
          <a:xfrm>
            <a:off x="3857625" y="1352550"/>
            <a:ext cx="76200" cy="95250"/>
          </a:xfrm>
          <a:prstGeom prst="rect">
            <a:avLst/>
          </a:prstGeom>
          <a:solidFill>
            <a:srgbClr val="E3A052"/>
          </a:solidFill>
          <a:ln w="17145">
            <a:noFill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14" name="line-9">
            <a:extLst>
              <a:ext uri="{FF2B5EF4-FFF2-40B4-BE49-F238E27FC236}">
                <a16:creationId xmlns:a16="http://schemas.microsoft.com/office/drawing/2014/main" id="{D4E49B78-9301-47F9-9741-01713FCDEF90}"/>
              </a:ext>
            </a:extLst>
          </p:cNvPr>
          <p:cNvCxnSpPr/>
          <p:nvPr/>
        </p:nvCxnSpPr>
        <p:spPr>
          <a:xfrm>
            <a:off x="3409950" y="1514475"/>
            <a:ext cx="790575" cy="0"/>
          </a:xfrm>
          <a:prstGeom prst="straightConnector1">
            <a:avLst/>
          </a:prstGeom>
          <a:ln w="30480">
            <a:solidFill>
              <a:srgbClr val="087B61"/>
            </a:solidFill>
            <a:prstDash val="solid"/>
            <a:tailEnd type="none" w="med" len="med"/>
          </a:ln>
        </p:spPr>
      </p:cxnSp>
      <p:sp>
        <p:nvSpPr>
          <p:cNvPr id="15" name="object-10">
            <a:extLst>
              <a:ext uri="{FF2B5EF4-FFF2-40B4-BE49-F238E27FC236}">
                <a16:creationId xmlns:a16="http://schemas.microsoft.com/office/drawing/2014/main" id="{16EA96BE-E0C7-4B45-B64C-F5A4D184E7DC}"/>
              </a:ext>
            </a:extLst>
          </p:cNvPr>
          <p:cNvSpPr>
            <a:spLocks noGrp="1"/>
          </p:cNvSpPr>
          <p:nvPr/>
        </p:nvSpPr>
        <p:spPr>
          <a:xfrm>
            <a:off x="3857625" y="1466850"/>
            <a:ext cx="76200" cy="95250"/>
          </a:xfrm>
          <a:prstGeom prst="rect">
            <a:avLst/>
          </a:prstGeom>
          <a:solidFill>
            <a:srgbClr val="E3A052"/>
          </a:solidFill>
          <a:ln w="17145">
            <a:noFill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16" name="line-11">
            <a:extLst>
              <a:ext uri="{FF2B5EF4-FFF2-40B4-BE49-F238E27FC236}">
                <a16:creationId xmlns:a16="http://schemas.microsoft.com/office/drawing/2014/main" id="{673796EF-0CE9-41AE-9313-2A7BBC3A3464}"/>
              </a:ext>
            </a:extLst>
          </p:cNvPr>
          <p:cNvCxnSpPr/>
          <p:nvPr/>
        </p:nvCxnSpPr>
        <p:spPr>
          <a:xfrm>
            <a:off x="3495675" y="1628775"/>
            <a:ext cx="790575" cy="0"/>
          </a:xfrm>
          <a:prstGeom prst="straightConnector1">
            <a:avLst/>
          </a:prstGeom>
          <a:ln w="30480">
            <a:solidFill>
              <a:srgbClr val="087B61"/>
            </a:solidFill>
            <a:prstDash val="solid"/>
            <a:tailEnd type="none" w="med" len="med"/>
          </a:ln>
        </p:spPr>
      </p:cxnSp>
      <p:sp>
        <p:nvSpPr>
          <p:cNvPr id="17" name="object-12">
            <a:extLst>
              <a:ext uri="{FF2B5EF4-FFF2-40B4-BE49-F238E27FC236}">
                <a16:creationId xmlns:a16="http://schemas.microsoft.com/office/drawing/2014/main" id="{D8B69A33-4958-49A8-9189-671D4A7055B2}"/>
              </a:ext>
            </a:extLst>
          </p:cNvPr>
          <p:cNvSpPr>
            <a:spLocks noGrp="1"/>
          </p:cNvSpPr>
          <p:nvPr/>
        </p:nvSpPr>
        <p:spPr>
          <a:xfrm>
            <a:off x="3857625" y="1581150"/>
            <a:ext cx="76200" cy="95250"/>
          </a:xfrm>
          <a:prstGeom prst="rect">
            <a:avLst/>
          </a:prstGeom>
          <a:solidFill>
            <a:srgbClr val="E3A052"/>
          </a:solidFill>
          <a:ln w="1714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object-13">
            <a:extLst>
              <a:ext uri="{FF2B5EF4-FFF2-40B4-BE49-F238E27FC236}">
                <a16:creationId xmlns:a16="http://schemas.microsoft.com/office/drawing/2014/main" id="{2BEB80F8-46DB-4D13-ABD2-52AC938A2203}"/>
              </a:ext>
            </a:extLst>
          </p:cNvPr>
          <p:cNvSpPr>
            <a:spLocks noGrp="1"/>
          </p:cNvSpPr>
          <p:nvPr/>
        </p:nvSpPr>
        <p:spPr>
          <a:xfrm>
            <a:off x="3238500" y="1943100"/>
            <a:ext cx="1238250" cy="266700"/>
          </a:xfrm>
          <a:prstGeom prst="rect">
            <a:avLst/>
          </a:prstGeom>
          <a:noFill/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1" i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defPPr>
            <a:lvl1pPr algn="ctr">
              <a:defRPr sz="1425" b="1" i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1pPr>
            <a:lvl2pPr algn="ctr">
              <a:defRPr sz="1425" b="1" i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2pPr>
            <a:lvl3pPr algn="ctr">
              <a:defRPr sz="1425" b="1" i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3pPr>
            <a:lvl4pPr algn="ctr">
              <a:defRPr sz="1425" b="1" i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4pPr>
            <a:lvl5pPr algn="ctr">
              <a:defRPr sz="1425" b="1" i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5pPr>
            <a:lvl6pPr algn="ctr">
              <a:defRPr sz="1425" b="1" i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6pPr>
            <a:lvl7pPr algn="ctr">
              <a:defRPr sz="1425" b="1" i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7pPr>
            <a:lvl8pPr algn="ctr">
              <a:defRPr sz="1425" b="1" i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8pPr>
            <a:lvl9pPr algn="ctr">
              <a:defRPr sz="1425" b="1" i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ctr">
              <a:defRPr sz="1425" b="1" i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pPr>
            <a:r>
              <a:rPr sz="1425" b="1" i="0">
                <a:solidFill>
                  <a:srgbClr val="087B61"/>
                </a:solidFill>
                <a:latin typeface="Futura"/>
                <a:ea typeface="Futura"/>
                <a:cs typeface="Futura"/>
              </a:rPr>
              <a:t>RNA-seq</a:t>
            </a:r>
          </a:p>
        </p:txBody>
      </p:sp>
      <p:sp>
        <p:nvSpPr>
          <p:cNvPr id="19" name="object-14">
            <a:extLst>
              <a:ext uri="{FF2B5EF4-FFF2-40B4-BE49-F238E27FC236}">
                <a16:creationId xmlns:a16="http://schemas.microsoft.com/office/drawing/2014/main" id="{46C7C3C2-7E94-4B31-BDC9-AEC497924F93}"/>
              </a:ext>
            </a:extLst>
          </p:cNvPr>
          <p:cNvSpPr>
            <a:spLocks noGrp="1"/>
          </p:cNvSpPr>
          <p:nvPr/>
        </p:nvSpPr>
        <p:spPr>
          <a:xfrm>
            <a:off x="4714875" y="1333500"/>
            <a:ext cx="123825" cy="304800"/>
          </a:xfrm>
          <a:prstGeom prst="roundRect">
            <a:avLst>
              <a:gd name="adj" fmla="val 50000"/>
            </a:avLst>
          </a:prstGeom>
          <a:solidFill>
            <a:srgbClr val="86C9AB"/>
          </a:solidFill>
          <a:ln w="17145">
            <a:solidFill>
              <a:srgbClr val="087B6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object-15">
            <a:extLst>
              <a:ext uri="{FF2B5EF4-FFF2-40B4-BE49-F238E27FC236}">
                <a16:creationId xmlns:a16="http://schemas.microsoft.com/office/drawing/2014/main" id="{CF53BE03-F36E-4AAA-AA33-7596290A5A2D}"/>
              </a:ext>
            </a:extLst>
          </p:cNvPr>
          <p:cNvSpPr>
            <a:spLocks noGrp="1"/>
          </p:cNvSpPr>
          <p:nvPr/>
        </p:nvSpPr>
        <p:spPr>
          <a:xfrm>
            <a:off x="4867275" y="1267509"/>
            <a:ext cx="123825" cy="304800"/>
          </a:xfrm>
          <a:prstGeom prst="roundRect">
            <a:avLst>
              <a:gd name="adj" fmla="val 50000"/>
            </a:avLst>
          </a:prstGeom>
          <a:solidFill>
            <a:srgbClr val="86C9AB"/>
          </a:solidFill>
          <a:ln w="17145">
            <a:solidFill>
              <a:srgbClr val="087B6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object-16">
            <a:extLst>
              <a:ext uri="{FF2B5EF4-FFF2-40B4-BE49-F238E27FC236}">
                <a16:creationId xmlns:a16="http://schemas.microsoft.com/office/drawing/2014/main" id="{E0F2D066-DE4F-403D-8856-894893C40E7C}"/>
              </a:ext>
            </a:extLst>
          </p:cNvPr>
          <p:cNvSpPr>
            <a:spLocks noGrp="1"/>
          </p:cNvSpPr>
          <p:nvPr/>
        </p:nvSpPr>
        <p:spPr>
          <a:xfrm>
            <a:off x="5019675" y="1267509"/>
            <a:ext cx="123825" cy="304800"/>
          </a:xfrm>
          <a:prstGeom prst="roundRect">
            <a:avLst>
              <a:gd name="adj" fmla="val 50000"/>
            </a:avLst>
          </a:prstGeom>
          <a:solidFill>
            <a:srgbClr val="86C9AB"/>
          </a:solidFill>
          <a:ln w="17145">
            <a:solidFill>
              <a:srgbClr val="087B6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object-17">
            <a:extLst>
              <a:ext uri="{FF2B5EF4-FFF2-40B4-BE49-F238E27FC236}">
                <a16:creationId xmlns:a16="http://schemas.microsoft.com/office/drawing/2014/main" id="{E0ED99BF-9954-4751-8F5B-DE70F06D81BF}"/>
              </a:ext>
            </a:extLst>
          </p:cNvPr>
          <p:cNvSpPr>
            <a:spLocks noGrp="1"/>
          </p:cNvSpPr>
          <p:nvPr/>
        </p:nvSpPr>
        <p:spPr>
          <a:xfrm>
            <a:off x="5172075" y="1333500"/>
            <a:ext cx="123825" cy="304800"/>
          </a:xfrm>
          <a:prstGeom prst="roundRect">
            <a:avLst>
              <a:gd name="adj" fmla="val 50000"/>
            </a:avLst>
          </a:prstGeom>
          <a:solidFill>
            <a:srgbClr val="86C9AB"/>
          </a:solidFill>
          <a:ln w="17145">
            <a:solidFill>
              <a:srgbClr val="087B6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path-18">
            <a:extLst>
              <a:ext uri="{FF2B5EF4-FFF2-40B4-BE49-F238E27FC236}">
                <a16:creationId xmlns:a16="http://schemas.microsoft.com/office/drawing/2014/main" id="{E6E7375F-E12F-4D34-B241-DF89C357FA5D}"/>
              </a:ext>
            </a:extLst>
          </p:cNvPr>
          <p:cNvSpPr>
            <a:spLocks noGrp="1"/>
          </p:cNvSpPr>
          <p:nvPr/>
        </p:nvSpPr>
        <p:spPr>
          <a:xfrm>
            <a:off x="5314950" y="1362075"/>
            <a:ext cx="142875" cy="114300"/>
          </a:xfrm>
          <a:custGeom>
            <a:avLst/>
            <a:gdLst/>
            <a:ahLst/>
            <a:cxnLst/>
            <a:rect l="0" t="0" r="0" b="0"/>
            <a:pathLst>
              <a:path w="142875" h="114300">
                <a:moveTo>
                  <a:pt x="0" y="114300"/>
                </a:moveTo>
                <a:cubicBezTo>
                  <a:pt x="57150" y="76200"/>
                  <a:pt x="76200" y="0"/>
                  <a:pt x="142875" y="47625"/>
                </a:cubicBezTo>
              </a:path>
            </a:pathLst>
          </a:custGeom>
          <a:noFill/>
          <a:ln w="23813">
            <a:solidFill>
              <a:srgbClr val="087B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object-19">
            <a:extLst>
              <a:ext uri="{FF2B5EF4-FFF2-40B4-BE49-F238E27FC236}">
                <a16:creationId xmlns:a16="http://schemas.microsoft.com/office/drawing/2014/main" id="{E80E5347-F100-48E0-A048-A3EAF4F8059E}"/>
              </a:ext>
            </a:extLst>
          </p:cNvPr>
          <p:cNvSpPr>
            <a:spLocks noGrp="1"/>
          </p:cNvSpPr>
          <p:nvPr/>
        </p:nvSpPr>
        <p:spPr>
          <a:xfrm>
            <a:off x="5429250" y="1238250"/>
            <a:ext cx="323850" cy="333375"/>
          </a:xfrm>
          <a:prstGeom prst="ellipse">
            <a:avLst/>
          </a:prstGeom>
          <a:solidFill>
            <a:srgbClr val="E7B571"/>
          </a:solidFill>
          <a:ln w="17145">
            <a:solidFill>
              <a:srgbClr val="AE772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object-20">
            <a:extLst>
              <a:ext uri="{FF2B5EF4-FFF2-40B4-BE49-F238E27FC236}">
                <a16:creationId xmlns:a16="http://schemas.microsoft.com/office/drawing/2014/main" id="{B0115F75-76B5-4668-BCDB-5EA528BCFCF9}"/>
              </a:ext>
            </a:extLst>
          </p:cNvPr>
          <p:cNvSpPr>
            <a:spLocks noGrp="1"/>
          </p:cNvSpPr>
          <p:nvPr/>
        </p:nvSpPr>
        <p:spPr>
          <a:xfrm>
            <a:off x="4448175" y="1943100"/>
            <a:ext cx="1619250" cy="266700"/>
          </a:xfrm>
          <a:prstGeom prst="rect">
            <a:avLst/>
          </a:prstGeom>
          <a:noFill/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1" i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defPPr>
            <a:lvl1pPr algn="ctr">
              <a:defRPr sz="1425" b="1" i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1pPr>
            <a:lvl2pPr algn="ctr">
              <a:defRPr sz="1425" b="1" i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2pPr>
            <a:lvl3pPr algn="ctr">
              <a:defRPr sz="1425" b="1" i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3pPr>
            <a:lvl4pPr algn="ctr">
              <a:defRPr sz="1425" b="1" i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4pPr>
            <a:lvl5pPr algn="ctr">
              <a:defRPr sz="1425" b="1" i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5pPr>
            <a:lvl6pPr algn="ctr">
              <a:defRPr sz="1425" b="1" i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6pPr>
            <a:lvl7pPr algn="ctr">
              <a:defRPr sz="1425" b="1" i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7pPr>
            <a:lvl8pPr algn="ctr">
              <a:defRPr sz="1425" b="1" i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8pPr>
            <a:lvl9pPr algn="ctr">
              <a:defRPr sz="1425" b="1" i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ctr">
              <a:defRPr sz="1425" b="1" i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pPr>
            <a:r>
              <a:rPr sz="1425" b="1" i="0">
                <a:solidFill>
                  <a:srgbClr val="087B61"/>
                </a:solidFill>
                <a:latin typeface="Futura"/>
                <a:ea typeface="Futura"/>
                <a:cs typeface="Futura"/>
              </a:rPr>
              <a:t>PUF / APOBEC</a:t>
            </a:r>
          </a:p>
        </p:txBody>
      </p:sp>
      <p:cxnSp>
        <p:nvCxnSpPr>
          <p:cNvPr id="26" name="line-21">
            <a:extLst>
              <a:ext uri="{FF2B5EF4-FFF2-40B4-BE49-F238E27FC236}">
                <a16:creationId xmlns:a16="http://schemas.microsoft.com/office/drawing/2014/main" id="{4915CF0B-B6C1-4A02-8226-97D03567F588}"/>
              </a:ext>
            </a:extLst>
          </p:cNvPr>
          <p:cNvCxnSpPr/>
          <p:nvPr/>
        </p:nvCxnSpPr>
        <p:spPr>
          <a:xfrm flipV="1">
            <a:off x="6172200" y="1238250"/>
            <a:ext cx="247650" cy="85725"/>
          </a:xfrm>
          <a:prstGeom prst="straightConnector1">
            <a:avLst/>
          </a:prstGeom>
          <a:ln w="20955">
            <a:solidFill>
              <a:srgbClr val="84B7A0"/>
            </a:solidFill>
            <a:prstDash val="solid"/>
            <a:tailEnd type="none" w="med" len="med"/>
          </a:ln>
        </p:spPr>
      </p:cxnSp>
      <p:cxnSp>
        <p:nvCxnSpPr>
          <p:cNvPr id="27" name="line-22">
            <a:extLst>
              <a:ext uri="{FF2B5EF4-FFF2-40B4-BE49-F238E27FC236}">
                <a16:creationId xmlns:a16="http://schemas.microsoft.com/office/drawing/2014/main" id="{8480E896-81A5-46C1-8060-0AE2CBA8BA00}"/>
              </a:ext>
            </a:extLst>
          </p:cNvPr>
          <p:cNvCxnSpPr/>
          <p:nvPr/>
        </p:nvCxnSpPr>
        <p:spPr>
          <a:xfrm>
            <a:off x="6172200" y="1323975"/>
            <a:ext cx="247650" cy="142875"/>
          </a:xfrm>
          <a:prstGeom prst="straightConnector1">
            <a:avLst/>
          </a:prstGeom>
          <a:ln w="20955">
            <a:solidFill>
              <a:srgbClr val="84B7A0"/>
            </a:solidFill>
            <a:prstDash val="solid"/>
            <a:tailEnd type="none" w="med" len="med"/>
          </a:ln>
        </p:spPr>
      </p:cxnSp>
      <p:cxnSp>
        <p:nvCxnSpPr>
          <p:cNvPr id="28" name="line-23">
            <a:extLst>
              <a:ext uri="{FF2B5EF4-FFF2-40B4-BE49-F238E27FC236}">
                <a16:creationId xmlns:a16="http://schemas.microsoft.com/office/drawing/2014/main" id="{FEE942E6-0EE7-4EBE-A90F-2E3CB2911D02}"/>
              </a:ext>
            </a:extLst>
          </p:cNvPr>
          <p:cNvCxnSpPr/>
          <p:nvPr/>
        </p:nvCxnSpPr>
        <p:spPr>
          <a:xfrm>
            <a:off x="6172200" y="1323975"/>
            <a:ext cx="247650" cy="390525"/>
          </a:xfrm>
          <a:prstGeom prst="straightConnector1">
            <a:avLst/>
          </a:prstGeom>
          <a:ln w="20955">
            <a:solidFill>
              <a:srgbClr val="84B7A0"/>
            </a:solidFill>
            <a:prstDash val="solid"/>
            <a:tailEnd type="none" w="med" len="med"/>
          </a:ln>
        </p:spPr>
      </p:cxnSp>
      <p:cxnSp>
        <p:nvCxnSpPr>
          <p:cNvPr id="29" name="line-24">
            <a:extLst>
              <a:ext uri="{FF2B5EF4-FFF2-40B4-BE49-F238E27FC236}">
                <a16:creationId xmlns:a16="http://schemas.microsoft.com/office/drawing/2014/main" id="{476ED64B-0818-4F3B-B1E8-CC9F18C2F427}"/>
              </a:ext>
            </a:extLst>
          </p:cNvPr>
          <p:cNvCxnSpPr/>
          <p:nvPr/>
        </p:nvCxnSpPr>
        <p:spPr>
          <a:xfrm flipV="1">
            <a:off x="6172200" y="1238250"/>
            <a:ext cx="247650" cy="371475"/>
          </a:xfrm>
          <a:prstGeom prst="straightConnector1">
            <a:avLst/>
          </a:prstGeom>
          <a:ln w="20955">
            <a:solidFill>
              <a:srgbClr val="84B7A0"/>
            </a:solidFill>
            <a:prstDash val="solid"/>
            <a:tailEnd type="none" w="med" len="med"/>
          </a:ln>
        </p:spPr>
      </p:cxnSp>
      <p:cxnSp>
        <p:nvCxnSpPr>
          <p:cNvPr id="30" name="line-25">
            <a:extLst>
              <a:ext uri="{FF2B5EF4-FFF2-40B4-BE49-F238E27FC236}">
                <a16:creationId xmlns:a16="http://schemas.microsoft.com/office/drawing/2014/main" id="{B74A0C7D-D1D9-4E8F-BF13-1728C924E079}"/>
              </a:ext>
            </a:extLst>
          </p:cNvPr>
          <p:cNvCxnSpPr/>
          <p:nvPr/>
        </p:nvCxnSpPr>
        <p:spPr>
          <a:xfrm flipV="1">
            <a:off x="6172200" y="1466850"/>
            <a:ext cx="247650" cy="142875"/>
          </a:xfrm>
          <a:prstGeom prst="straightConnector1">
            <a:avLst/>
          </a:prstGeom>
          <a:ln w="20955">
            <a:solidFill>
              <a:srgbClr val="84B7A0"/>
            </a:solidFill>
            <a:prstDash val="solid"/>
            <a:tailEnd type="none" w="med" len="med"/>
          </a:ln>
        </p:spPr>
      </p:cxnSp>
      <p:cxnSp>
        <p:nvCxnSpPr>
          <p:cNvPr id="31" name="line-26">
            <a:extLst>
              <a:ext uri="{FF2B5EF4-FFF2-40B4-BE49-F238E27FC236}">
                <a16:creationId xmlns:a16="http://schemas.microsoft.com/office/drawing/2014/main" id="{26FA8507-6D7C-407D-B492-D76323C1C291}"/>
              </a:ext>
            </a:extLst>
          </p:cNvPr>
          <p:cNvCxnSpPr/>
          <p:nvPr/>
        </p:nvCxnSpPr>
        <p:spPr>
          <a:xfrm>
            <a:off x="6172200" y="1609725"/>
            <a:ext cx="247650" cy="104775"/>
          </a:xfrm>
          <a:prstGeom prst="straightConnector1">
            <a:avLst/>
          </a:prstGeom>
          <a:ln w="20955">
            <a:solidFill>
              <a:srgbClr val="84B7A0"/>
            </a:solidFill>
            <a:prstDash val="solid"/>
            <a:tailEnd type="none" w="med" len="med"/>
          </a:ln>
        </p:spPr>
      </p:cxnSp>
      <p:cxnSp>
        <p:nvCxnSpPr>
          <p:cNvPr id="32" name="line-27">
            <a:extLst>
              <a:ext uri="{FF2B5EF4-FFF2-40B4-BE49-F238E27FC236}">
                <a16:creationId xmlns:a16="http://schemas.microsoft.com/office/drawing/2014/main" id="{595F9733-969C-4027-8A6B-E169D547153E}"/>
              </a:ext>
            </a:extLst>
          </p:cNvPr>
          <p:cNvCxnSpPr/>
          <p:nvPr/>
        </p:nvCxnSpPr>
        <p:spPr>
          <a:xfrm>
            <a:off x="6419850" y="1238250"/>
            <a:ext cx="247650" cy="85725"/>
          </a:xfrm>
          <a:prstGeom prst="straightConnector1">
            <a:avLst/>
          </a:prstGeom>
          <a:ln w="20955">
            <a:solidFill>
              <a:srgbClr val="84B7A0"/>
            </a:solidFill>
            <a:prstDash val="solid"/>
            <a:tailEnd type="none" w="med" len="med"/>
          </a:ln>
        </p:spPr>
      </p:cxnSp>
      <p:cxnSp>
        <p:nvCxnSpPr>
          <p:cNvPr id="33" name="line-28">
            <a:extLst>
              <a:ext uri="{FF2B5EF4-FFF2-40B4-BE49-F238E27FC236}">
                <a16:creationId xmlns:a16="http://schemas.microsoft.com/office/drawing/2014/main" id="{94476106-FD3F-493F-9F99-C3853475816F}"/>
              </a:ext>
            </a:extLst>
          </p:cNvPr>
          <p:cNvCxnSpPr/>
          <p:nvPr/>
        </p:nvCxnSpPr>
        <p:spPr>
          <a:xfrm>
            <a:off x="6419850" y="1238250"/>
            <a:ext cx="247650" cy="371475"/>
          </a:xfrm>
          <a:prstGeom prst="straightConnector1">
            <a:avLst/>
          </a:prstGeom>
          <a:ln w="20955">
            <a:solidFill>
              <a:srgbClr val="84B7A0"/>
            </a:solidFill>
            <a:prstDash val="solid"/>
            <a:tailEnd type="none" w="med" len="med"/>
          </a:ln>
        </p:spPr>
      </p:cxnSp>
      <p:cxnSp>
        <p:nvCxnSpPr>
          <p:cNvPr id="34" name="line-29">
            <a:extLst>
              <a:ext uri="{FF2B5EF4-FFF2-40B4-BE49-F238E27FC236}">
                <a16:creationId xmlns:a16="http://schemas.microsoft.com/office/drawing/2014/main" id="{0162B908-83C1-4055-A0FF-200F49BB168F}"/>
              </a:ext>
            </a:extLst>
          </p:cNvPr>
          <p:cNvCxnSpPr/>
          <p:nvPr/>
        </p:nvCxnSpPr>
        <p:spPr>
          <a:xfrm flipV="1">
            <a:off x="6419850" y="1323975"/>
            <a:ext cx="247650" cy="142875"/>
          </a:xfrm>
          <a:prstGeom prst="straightConnector1">
            <a:avLst/>
          </a:prstGeom>
          <a:ln w="20955">
            <a:solidFill>
              <a:srgbClr val="84B7A0"/>
            </a:solidFill>
            <a:prstDash val="solid"/>
            <a:tailEnd type="none" w="med" len="med"/>
          </a:ln>
        </p:spPr>
      </p:cxnSp>
      <p:cxnSp>
        <p:nvCxnSpPr>
          <p:cNvPr id="35" name="line-30">
            <a:extLst>
              <a:ext uri="{FF2B5EF4-FFF2-40B4-BE49-F238E27FC236}">
                <a16:creationId xmlns:a16="http://schemas.microsoft.com/office/drawing/2014/main" id="{383B525D-BCBE-43CE-8AF0-FB288A0356F9}"/>
              </a:ext>
            </a:extLst>
          </p:cNvPr>
          <p:cNvCxnSpPr/>
          <p:nvPr/>
        </p:nvCxnSpPr>
        <p:spPr>
          <a:xfrm>
            <a:off x="6419850" y="1466850"/>
            <a:ext cx="247650" cy="142875"/>
          </a:xfrm>
          <a:prstGeom prst="straightConnector1">
            <a:avLst/>
          </a:prstGeom>
          <a:ln w="20955">
            <a:solidFill>
              <a:srgbClr val="84B7A0"/>
            </a:solidFill>
            <a:prstDash val="solid"/>
            <a:tailEnd type="none" w="med" len="med"/>
          </a:ln>
        </p:spPr>
      </p:cxnSp>
      <p:cxnSp>
        <p:nvCxnSpPr>
          <p:cNvPr id="36" name="line-31">
            <a:extLst>
              <a:ext uri="{FF2B5EF4-FFF2-40B4-BE49-F238E27FC236}">
                <a16:creationId xmlns:a16="http://schemas.microsoft.com/office/drawing/2014/main" id="{B128AFA8-899F-48F3-ABE5-17A67A28A8E0}"/>
              </a:ext>
            </a:extLst>
          </p:cNvPr>
          <p:cNvCxnSpPr/>
          <p:nvPr/>
        </p:nvCxnSpPr>
        <p:spPr>
          <a:xfrm flipV="1">
            <a:off x="6419850" y="1323975"/>
            <a:ext cx="247650" cy="390525"/>
          </a:xfrm>
          <a:prstGeom prst="straightConnector1">
            <a:avLst/>
          </a:prstGeom>
          <a:ln w="20955">
            <a:solidFill>
              <a:srgbClr val="84B7A0"/>
            </a:solidFill>
            <a:prstDash val="solid"/>
            <a:tailEnd type="none" w="med" len="med"/>
          </a:ln>
        </p:spPr>
      </p:cxnSp>
      <p:cxnSp>
        <p:nvCxnSpPr>
          <p:cNvPr id="37" name="line-32">
            <a:extLst>
              <a:ext uri="{FF2B5EF4-FFF2-40B4-BE49-F238E27FC236}">
                <a16:creationId xmlns:a16="http://schemas.microsoft.com/office/drawing/2014/main" id="{EE50221E-A1CE-4A71-8666-DFC5B684CBFD}"/>
              </a:ext>
            </a:extLst>
          </p:cNvPr>
          <p:cNvCxnSpPr/>
          <p:nvPr/>
        </p:nvCxnSpPr>
        <p:spPr>
          <a:xfrm flipV="1">
            <a:off x="6419850" y="1609725"/>
            <a:ext cx="247650" cy="104775"/>
          </a:xfrm>
          <a:prstGeom prst="straightConnector1">
            <a:avLst/>
          </a:prstGeom>
          <a:ln w="20955">
            <a:solidFill>
              <a:srgbClr val="84B7A0"/>
            </a:solidFill>
            <a:prstDash val="solid"/>
            <a:tailEnd type="none" w="med" len="med"/>
          </a:ln>
        </p:spPr>
      </p:cxnSp>
      <p:sp>
        <p:nvSpPr>
          <p:cNvPr id="38" name="object-33">
            <a:extLst>
              <a:ext uri="{FF2B5EF4-FFF2-40B4-BE49-F238E27FC236}">
                <a16:creationId xmlns:a16="http://schemas.microsoft.com/office/drawing/2014/main" id="{0FFCDD24-4DF8-473D-A56B-406B4E4597FC}"/>
              </a:ext>
            </a:extLst>
          </p:cNvPr>
          <p:cNvSpPr>
            <a:spLocks noGrp="1"/>
          </p:cNvSpPr>
          <p:nvPr/>
        </p:nvSpPr>
        <p:spPr>
          <a:xfrm>
            <a:off x="6134100" y="1285875"/>
            <a:ext cx="76200" cy="76200"/>
          </a:xfrm>
          <a:prstGeom prst="ellipse">
            <a:avLst/>
          </a:prstGeom>
          <a:solidFill>
            <a:srgbClr val="087B61"/>
          </a:solidFill>
          <a:ln w="1714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object-34">
            <a:extLst>
              <a:ext uri="{FF2B5EF4-FFF2-40B4-BE49-F238E27FC236}">
                <a16:creationId xmlns:a16="http://schemas.microsoft.com/office/drawing/2014/main" id="{B0E75108-05DB-4044-9330-D26677A4B26E}"/>
              </a:ext>
            </a:extLst>
          </p:cNvPr>
          <p:cNvSpPr>
            <a:spLocks noGrp="1"/>
          </p:cNvSpPr>
          <p:nvPr/>
        </p:nvSpPr>
        <p:spPr>
          <a:xfrm>
            <a:off x="6134100" y="1571625"/>
            <a:ext cx="76200" cy="76200"/>
          </a:xfrm>
          <a:prstGeom prst="ellipse">
            <a:avLst/>
          </a:prstGeom>
          <a:solidFill>
            <a:srgbClr val="087B61"/>
          </a:solidFill>
          <a:ln w="1714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object-35">
            <a:extLst>
              <a:ext uri="{FF2B5EF4-FFF2-40B4-BE49-F238E27FC236}">
                <a16:creationId xmlns:a16="http://schemas.microsoft.com/office/drawing/2014/main" id="{3FDADA36-1C20-4D05-9717-A027C9D920A4}"/>
              </a:ext>
            </a:extLst>
          </p:cNvPr>
          <p:cNvSpPr>
            <a:spLocks noGrp="1"/>
          </p:cNvSpPr>
          <p:nvPr/>
        </p:nvSpPr>
        <p:spPr>
          <a:xfrm>
            <a:off x="6381750" y="1200150"/>
            <a:ext cx="76200" cy="76200"/>
          </a:xfrm>
          <a:prstGeom prst="ellipse">
            <a:avLst/>
          </a:prstGeom>
          <a:solidFill>
            <a:srgbClr val="087B61"/>
          </a:solidFill>
          <a:ln w="1714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object-36">
            <a:extLst>
              <a:ext uri="{FF2B5EF4-FFF2-40B4-BE49-F238E27FC236}">
                <a16:creationId xmlns:a16="http://schemas.microsoft.com/office/drawing/2014/main" id="{C316ACF0-926B-4707-A186-F34A0284946D}"/>
              </a:ext>
            </a:extLst>
          </p:cNvPr>
          <p:cNvSpPr>
            <a:spLocks noGrp="1"/>
          </p:cNvSpPr>
          <p:nvPr/>
        </p:nvSpPr>
        <p:spPr>
          <a:xfrm>
            <a:off x="6381750" y="1428750"/>
            <a:ext cx="76200" cy="76200"/>
          </a:xfrm>
          <a:prstGeom prst="ellipse">
            <a:avLst/>
          </a:prstGeom>
          <a:solidFill>
            <a:srgbClr val="087B61"/>
          </a:solidFill>
          <a:ln w="1714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object-37">
            <a:extLst>
              <a:ext uri="{FF2B5EF4-FFF2-40B4-BE49-F238E27FC236}">
                <a16:creationId xmlns:a16="http://schemas.microsoft.com/office/drawing/2014/main" id="{8AF7014C-FD8B-455A-83DA-9CF3453EE646}"/>
              </a:ext>
            </a:extLst>
          </p:cNvPr>
          <p:cNvSpPr>
            <a:spLocks noGrp="1"/>
          </p:cNvSpPr>
          <p:nvPr/>
        </p:nvSpPr>
        <p:spPr>
          <a:xfrm>
            <a:off x="6381750" y="1676400"/>
            <a:ext cx="76200" cy="76200"/>
          </a:xfrm>
          <a:prstGeom prst="ellipse">
            <a:avLst/>
          </a:prstGeom>
          <a:solidFill>
            <a:srgbClr val="087B61"/>
          </a:solidFill>
          <a:ln w="1714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object-38">
            <a:extLst>
              <a:ext uri="{FF2B5EF4-FFF2-40B4-BE49-F238E27FC236}">
                <a16:creationId xmlns:a16="http://schemas.microsoft.com/office/drawing/2014/main" id="{14789442-42C9-40DE-9CDF-5DD9FD043DF3}"/>
              </a:ext>
            </a:extLst>
          </p:cNvPr>
          <p:cNvSpPr>
            <a:spLocks noGrp="1"/>
          </p:cNvSpPr>
          <p:nvPr/>
        </p:nvSpPr>
        <p:spPr>
          <a:xfrm>
            <a:off x="6629400" y="1285875"/>
            <a:ext cx="76200" cy="76200"/>
          </a:xfrm>
          <a:prstGeom prst="ellipse">
            <a:avLst/>
          </a:prstGeom>
          <a:solidFill>
            <a:srgbClr val="087B61"/>
          </a:solidFill>
          <a:ln w="1714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object-39">
            <a:extLst>
              <a:ext uri="{FF2B5EF4-FFF2-40B4-BE49-F238E27FC236}">
                <a16:creationId xmlns:a16="http://schemas.microsoft.com/office/drawing/2014/main" id="{FBDACF6E-508F-4284-94A6-D03A1DF7EA9B}"/>
              </a:ext>
            </a:extLst>
          </p:cNvPr>
          <p:cNvSpPr>
            <a:spLocks noGrp="1"/>
          </p:cNvSpPr>
          <p:nvPr/>
        </p:nvSpPr>
        <p:spPr>
          <a:xfrm>
            <a:off x="6629400" y="1571625"/>
            <a:ext cx="76200" cy="76200"/>
          </a:xfrm>
          <a:prstGeom prst="ellipse">
            <a:avLst/>
          </a:prstGeom>
          <a:solidFill>
            <a:srgbClr val="087B61"/>
          </a:solidFill>
          <a:ln w="17145">
            <a:noFill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45" name="line-40">
            <a:extLst>
              <a:ext uri="{FF2B5EF4-FFF2-40B4-BE49-F238E27FC236}">
                <a16:creationId xmlns:a16="http://schemas.microsoft.com/office/drawing/2014/main" id="{B1F895A0-B283-456A-BBFF-ED88BA75D7C9}"/>
              </a:ext>
            </a:extLst>
          </p:cNvPr>
          <p:cNvCxnSpPr/>
          <p:nvPr/>
        </p:nvCxnSpPr>
        <p:spPr>
          <a:xfrm>
            <a:off x="6762750" y="1466850"/>
            <a:ext cx="142875" cy="0"/>
          </a:xfrm>
          <a:prstGeom prst="straightConnector1">
            <a:avLst/>
          </a:prstGeom>
          <a:ln w="20955">
            <a:solidFill>
              <a:srgbClr val="087B61"/>
            </a:solidFill>
            <a:prstDash val="solid"/>
            <a:tailEnd type="triangle" w="med" len="med"/>
          </a:ln>
        </p:spPr>
      </p:cxnSp>
      <p:sp>
        <p:nvSpPr>
          <p:cNvPr id="46" name="object-41">
            <a:extLst>
              <a:ext uri="{FF2B5EF4-FFF2-40B4-BE49-F238E27FC236}">
                <a16:creationId xmlns:a16="http://schemas.microsoft.com/office/drawing/2014/main" id="{41C32578-EBBD-4753-B97E-B82FE1CB64D5}"/>
              </a:ext>
            </a:extLst>
          </p:cNvPr>
          <p:cNvSpPr>
            <a:spLocks noGrp="1"/>
          </p:cNvSpPr>
          <p:nvPr/>
        </p:nvSpPr>
        <p:spPr>
          <a:xfrm>
            <a:off x="6953250" y="1323975"/>
            <a:ext cx="228600" cy="276225"/>
          </a:xfrm>
          <a:prstGeom prst="rect">
            <a:avLst/>
          </a:prstGeom>
          <a:noFill/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defPPr>
            <a:lvl1pPr algn="l">
              <a:defRPr sz="1650" b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1pPr>
            <a:lvl2pPr algn="l">
              <a:defRPr sz="1650" b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2pPr>
            <a:lvl3pPr algn="l">
              <a:defRPr sz="1650" b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3pPr>
            <a:lvl4pPr algn="l">
              <a:defRPr sz="1650" b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4pPr>
            <a:lvl5pPr algn="l">
              <a:defRPr sz="1650" b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5pPr>
            <a:lvl6pPr algn="l">
              <a:defRPr sz="1650" b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6pPr>
            <a:lvl7pPr algn="l">
              <a:defRPr sz="1650" b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7pPr>
            <a:lvl8pPr algn="l">
              <a:defRPr sz="1650" b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8pPr>
            <a:lvl9pPr algn="l">
              <a:defRPr sz="1650" b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l">
              <a:defRPr sz="1650" b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pPr>
            <a:r>
              <a:rPr sz="1650" b="0">
                <a:solidFill>
                  <a:srgbClr val="087B61"/>
                </a:solidFill>
                <a:latin typeface="Futura"/>
                <a:ea typeface="Futura"/>
                <a:cs typeface="Futura"/>
              </a:rPr>
              <a:t>C</a:t>
            </a:r>
          </a:p>
        </p:txBody>
      </p:sp>
      <p:sp>
        <p:nvSpPr>
          <p:cNvPr id="47" name="object-42">
            <a:extLst>
              <a:ext uri="{FF2B5EF4-FFF2-40B4-BE49-F238E27FC236}">
                <a16:creationId xmlns:a16="http://schemas.microsoft.com/office/drawing/2014/main" id="{148D08A9-3BC8-479E-A833-E5EFE5958A8F}"/>
              </a:ext>
            </a:extLst>
          </p:cNvPr>
          <p:cNvSpPr>
            <a:spLocks noGrp="1"/>
          </p:cNvSpPr>
          <p:nvPr/>
        </p:nvSpPr>
        <p:spPr>
          <a:xfrm>
            <a:off x="5981700" y="1943100"/>
            <a:ext cx="1238250" cy="266700"/>
          </a:xfrm>
          <a:prstGeom prst="rect">
            <a:avLst/>
          </a:prstGeom>
          <a:noFill/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1" i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defPPr>
            <a:lvl1pPr algn="ctr">
              <a:defRPr sz="1425" b="1" i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1pPr>
            <a:lvl2pPr algn="ctr">
              <a:defRPr sz="1425" b="1" i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2pPr>
            <a:lvl3pPr algn="ctr">
              <a:defRPr sz="1425" b="1" i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3pPr>
            <a:lvl4pPr algn="ctr">
              <a:defRPr sz="1425" b="1" i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4pPr>
            <a:lvl5pPr algn="ctr">
              <a:defRPr sz="1425" b="1" i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5pPr>
            <a:lvl6pPr algn="ctr">
              <a:defRPr sz="1425" b="1" i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6pPr>
            <a:lvl7pPr algn="ctr">
              <a:defRPr sz="1425" b="1" i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7pPr>
            <a:lvl8pPr algn="ctr">
              <a:defRPr sz="1425" b="1" i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8pPr>
            <a:lvl9pPr algn="ctr">
              <a:defRPr sz="1425" b="1" i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ctr">
              <a:defRPr sz="1425" b="1" i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pPr>
            <a:r>
              <a:rPr sz="1425" b="1" i="0">
                <a:solidFill>
                  <a:srgbClr val="087B61"/>
                </a:solidFill>
                <a:latin typeface="Futura"/>
                <a:ea typeface="Futura"/>
                <a:cs typeface="Futura"/>
              </a:rPr>
              <a:t>LAMAR</a:t>
            </a:r>
          </a:p>
        </p:txBody>
      </p:sp>
      <p:cxnSp>
        <p:nvCxnSpPr>
          <p:cNvPr id="48" name="line-43">
            <a:extLst>
              <a:ext uri="{FF2B5EF4-FFF2-40B4-BE49-F238E27FC236}">
                <a16:creationId xmlns:a16="http://schemas.microsoft.com/office/drawing/2014/main" id="{9E248F78-6E2B-46D7-87FB-EBE8E8A959B9}"/>
              </a:ext>
            </a:extLst>
          </p:cNvPr>
          <p:cNvCxnSpPr/>
          <p:nvPr/>
        </p:nvCxnSpPr>
        <p:spPr>
          <a:xfrm>
            <a:off x="7896225" y="1352550"/>
            <a:ext cx="314325" cy="0"/>
          </a:xfrm>
          <a:prstGeom prst="straightConnector1">
            <a:avLst/>
          </a:prstGeom>
          <a:ln w="20955">
            <a:solidFill>
              <a:srgbClr val="087B61"/>
            </a:solidFill>
            <a:prstDash val="solid"/>
            <a:tailEnd type="triangle" w="med" len="med"/>
          </a:ln>
        </p:spPr>
      </p:cxnSp>
      <p:cxnSp>
        <p:nvCxnSpPr>
          <p:cNvPr id="49" name="line-44">
            <a:extLst>
              <a:ext uri="{FF2B5EF4-FFF2-40B4-BE49-F238E27FC236}">
                <a16:creationId xmlns:a16="http://schemas.microsoft.com/office/drawing/2014/main" id="{76EFC961-A378-4918-B8B3-065C5209EBDD}"/>
              </a:ext>
            </a:extLst>
          </p:cNvPr>
          <p:cNvCxnSpPr/>
          <p:nvPr/>
        </p:nvCxnSpPr>
        <p:spPr>
          <a:xfrm>
            <a:off x="7724775" y="1476375"/>
            <a:ext cx="238125" cy="95250"/>
          </a:xfrm>
          <a:prstGeom prst="straightConnector1">
            <a:avLst/>
          </a:prstGeom>
          <a:ln w="20955">
            <a:solidFill>
              <a:srgbClr val="087B61"/>
            </a:solidFill>
            <a:prstDash val="solid"/>
            <a:tailEnd type="triangle" w="med" len="med"/>
          </a:ln>
        </p:spPr>
      </p:cxnSp>
      <p:cxnSp>
        <p:nvCxnSpPr>
          <p:cNvPr id="50" name="line-45">
            <a:extLst>
              <a:ext uri="{FF2B5EF4-FFF2-40B4-BE49-F238E27FC236}">
                <a16:creationId xmlns:a16="http://schemas.microsoft.com/office/drawing/2014/main" id="{C317B725-D4EC-4A75-901B-1CAA8D6E8E52}"/>
              </a:ext>
            </a:extLst>
          </p:cNvPr>
          <p:cNvCxnSpPr/>
          <p:nvPr/>
        </p:nvCxnSpPr>
        <p:spPr>
          <a:xfrm flipH="1">
            <a:off x="8162925" y="1476375"/>
            <a:ext cx="200025" cy="95250"/>
          </a:xfrm>
          <a:prstGeom prst="straightConnector1">
            <a:avLst/>
          </a:prstGeom>
          <a:ln w="20955">
            <a:solidFill>
              <a:srgbClr val="087B61"/>
            </a:solidFill>
            <a:prstDash val="solid"/>
            <a:tailEnd type="triangle" w="med" len="med"/>
          </a:ln>
        </p:spPr>
      </p:cxnSp>
      <p:sp>
        <p:nvSpPr>
          <p:cNvPr id="51" name="object-46">
            <a:extLst>
              <a:ext uri="{FF2B5EF4-FFF2-40B4-BE49-F238E27FC236}">
                <a16:creationId xmlns:a16="http://schemas.microsoft.com/office/drawing/2014/main" id="{8A4DF76C-2397-44FF-9D68-49255FFCC9D8}"/>
              </a:ext>
            </a:extLst>
          </p:cNvPr>
          <p:cNvSpPr>
            <a:spLocks noGrp="1"/>
          </p:cNvSpPr>
          <p:nvPr/>
        </p:nvSpPr>
        <p:spPr>
          <a:xfrm>
            <a:off x="7562850" y="1238250"/>
            <a:ext cx="333375" cy="228600"/>
          </a:xfrm>
          <a:prstGeom prst="roundRect">
            <a:avLst>
              <a:gd name="adj" fmla="val 33333"/>
            </a:avLst>
          </a:prstGeom>
          <a:solidFill>
            <a:srgbClr val="D0EBDD"/>
          </a:solidFill>
          <a:ln w="19050">
            <a:solidFill>
              <a:srgbClr val="087B6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object-47">
            <a:extLst>
              <a:ext uri="{FF2B5EF4-FFF2-40B4-BE49-F238E27FC236}">
                <a16:creationId xmlns:a16="http://schemas.microsoft.com/office/drawing/2014/main" id="{59221DE5-E8A7-44B8-9675-A1031AEB2EFF}"/>
              </a:ext>
            </a:extLst>
          </p:cNvPr>
          <p:cNvSpPr>
            <a:spLocks noGrp="1"/>
          </p:cNvSpPr>
          <p:nvPr/>
        </p:nvSpPr>
        <p:spPr>
          <a:xfrm>
            <a:off x="8210550" y="1238250"/>
            <a:ext cx="333375" cy="228600"/>
          </a:xfrm>
          <a:prstGeom prst="roundRect">
            <a:avLst>
              <a:gd name="adj" fmla="val 33333"/>
            </a:avLst>
          </a:prstGeom>
          <a:solidFill>
            <a:srgbClr val="D0EBDD"/>
          </a:solidFill>
          <a:ln w="19050">
            <a:solidFill>
              <a:srgbClr val="087B6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object-48">
            <a:extLst>
              <a:ext uri="{FF2B5EF4-FFF2-40B4-BE49-F238E27FC236}">
                <a16:creationId xmlns:a16="http://schemas.microsoft.com/office/drawing/2014/main" id="{453F52A9-1901-44FA-A53B-F1AA9C3B406F}"/>
              </a:ext>
            </a:extLst>
          </p:cNvPr>
          <p:cNvSpPr>
            <a:spLocks noGrp="1"/>
          </p:cNvSpPr>
          <p:nvPr/>
        </p:nvSpPr>
        <p:spPr>
          <a:xfrm>
            <a:off x="7886700" y="1552575"/>
            <a:ext cx="333375" cy="228600"/>
          </a:xfrm>
          <a:prstGeom prst="roundRect">
            <a:avLst>
              <a:gd name="adj" fmla="val 33333"/>
            </a:avLst>
          </a:prstGeom>
          <a:solidFill>
            <a:srgbClr val="D0EBDD"/>
          </a:solidFill>
          <a:ln w="19050">
            <a:solidFill>
              <a:srgbClr val="087B6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object-49">
            <a:extLst>
              <a:ext uri="{FF2B5EF4-FFF2-40B4-BE49-F238E27FC236}">
                <a16:creationId xmlns:a16="http://schemas.microsoft.com/office/drawing/2014/main" id="{D2EB06DC-59C9-4A05-B431-7CE2D490B133}"/>
              </a:ext>
            </a:extLst>
          </p:cNvPr>
          <p:cNvSpPr>
            <a:spLocks noGrp="1"/>
          </p:cNvSpPr>
          <p:nvPr/>
        </p:nvSpPr>
        <p:spPr>
          <a:xfrm>
            <a:off x="7410450" y="1943100"/>
            <a:ext cx="1295400" cy="266700"/>
          </a:xfrm>
          <a:prstGeom prst="rect">
            <a:avLst/>
          </a:prstGeom>
          <a:noFill/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1" i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defPPr>
            <a:lvl1pPr algn="ctr">
              <a:defRPr sz="1425" b="1" i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1pPr>
            <a:lvl2pPr algn="ctr">
              <a:defRPr sz="1425" b="1" i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2pPr>
            <a:lvl3pPr algn="ctr">
              <a:defRPr sz="1425" b="1" i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3pPr>
            <a:lvl4pPr algn="ctr">
              <a:defRPr sz="1425" b="1" i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4pPr>
            <a:lvl5pPr algn="ctr">
              <a:defRPr sz="1425" b="1" i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5pPr>
            <a:lvl6pPr algn="ctr">
              <a:defRPr sz="1425" b="1" i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6pPr>
            <a:lvl7pPr algn="ctr">
              <a:defRPr sz="1425" b="1" i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7pPr>
            <a:lvl8pPr algn="ctr">
              <a:defRPr sz="1425" b="1" i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8pPr>
            <a:lvl9pPr algn="ctr">
              <a:defRPr sz="1425" b="1" i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ctr">
              <a:defRPr sz="1425" b="1" i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pPr>
            <a:r>
              <a:rPr sz="1425" b="1" i="0">
                <a:solidFill>
                  <a:srgbClr val="087B61"/>
                </a:solidFill>
                <a:latin typeface="Futura"/>
                <a:ea typeface="Futura"/>
                <a:cs typeface="Futura"/>
              </a:rPr>
              <a:t>Whole-body</a:t>
            </a:r>
          </a:p>
        </p:txBody>
      </p:sp>
      <p:sp>
        <p:nvSpPr>
          <p:cNvPr id="56" name="object-51">
            <a:extLst>
              <a:ext uri="{FF2B5EF4-FFF2-40B4-BE49-F238E27FC236}">
                <a16:creationId xmlns:a16="http://schemas.microsoft.com/office/drawing/2014/main" id="{C820F2F4-8A81-4CCE-99B2-4F6B65715B50}"/>
              </a:ext>
            </a:extLst>
          </p:cNvPr>
          <p:cNvSpPr>
            <a:spLocks noGrp="1"/>
          </p:cNvSpPr>
          <p:nvPr/>
        </p:nvSpPr>
        <p:spPr>
          <a:xfrm>
            <a:off x="495300" y="495300"/>
            <a:ext cx="1409700" cy="438150"/>
          </a:xfrm>
          <a:prstGeom prst="roundRect">
            <a:avLst>
              <a:gd name="adj" fmla="val 22000"/>
            </a:avLst>
          </a:prstGeom>
          <a:solidFill>
            <a:srgbClr val="285FA8"/>
          </a:solidFill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defPPr>
            <a:lvl1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lvl1pPr>
            <a:lvl2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lvl2pPr>
            <a:lvl3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lvl3pPr>
            <a:lvl4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lvl4pPr>
            <a:lvl5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lvl5pPr>
            <a:lvl6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lvl6pPr>
            <a:lvl7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lvl7pPr>
            <a:lvl8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lvl8pPr>
            <a:lvl9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pPr>
            <a:r>
              <a: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rPr>
              <a:t>DELIVER</a:t>
            </a:r>
          </a:p>
        </p:txBody>
      </p:sp>
      <p:sp>
        <p:nvSpPr>
          <p:cNvPr id="57" name="object-52">
            <a:extLst>
              <a:ext uri="{FF2B5EF4-FFF2-40B4-BE49-F238E27FC236}">
                <a16:creationId xmlns:a16="http://schemas.microsoft.com/office/drawing/2014/main" id="{575B40D4-A69D-4511-9B96-24BAD08041D7}"/>
              </a:ext>
            </a:extLst>
          </p:cNvPr>
          <p:cNvSpPr>
            <a:spLocks noGrp="1"/>
          </p:cNvSpPr>
          <p:nvPr/>
        </p:nvSpPr>
        <p:spPr>
          <a:xfrm>
            <a:off x="495300" y="1104900"/>
            <a:ext cx="1200150" cy="438150"/>
          </a:xfrm>
          <a:prstGeom prst="roundRect">
            <a:avLst>
              <a:gd name="adj" fmla="val 22000"/>
            </a:avLst>
          </a:prstGeom>
          <a:solidFill>
            <a:srgbClr val="DCE6F6"/>
          </a:solidFill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1" u="none">
                <a:solidFill>
                  <a:srgbClr val="285FA8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1875" b="1" u="none">
                <a:solidFill>
                  <a:srgbClr val="285FA8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1875" b="1" u="none">
                <a:solidFill>
                  <a:srgbClr val="285FA8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1875" b="1" u="none">
                <a:solidFill>
                  <a:srgbClr val="285FA8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1875" b="1" u="none">
                <a:solidFill>
                  <a:srgbClr val="285FA8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1875" b="1" u="none">
                <a:solidFill>
                  <a:srgbClr val="285FA8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1875" b="1" u="none">
                <a:solidFill>
                  <a:srgbClr val="285FA8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1875" b="1" u="none">
                <a:solidFill>
                  <a:srgbClr val="285FA8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1875" b="1" u="none">
                <a:solidFill>
                  <a:srgbClr val="285FA8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1875" b="1" u="none">
                <a:solidFill>
                  <a:srgbClr val="285FA8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ctr">
              <a:defRPr sz="1875" b="1" u="none">
                <a:solidFill>
                  <a:srgbClr val="285FA8"/>
                </a:solidFill>
                <a:latin typeface="Georgia"/>
                <a:ea typeface="Georgia"/>
                <a:cs typeface="Georgia"/>
              </a:defRPr>
            </a:pPr>
            <a:r>
              <a:rPr sz="1875" b="1" dirty="0" u="none">
                <a:solidFill>
                  <a:srgbClr val="285FA8"/>
                </a:solidFill>
                <a:latin typeface="Georgia"/>
                <a:ea typeface="Georgia"/>
                <a:cs typeface="Georgia"/>
              </a:rPr>
              <a:t>AAV9</a:t>
            </a:r>
          </a:p>
        </p:txBody>
      </p:sp>
      <p:pic>
        <p:nvPicPr>
          <p:cNvPr id="58" name="图片 57">
            <a:extLst>
              <a:ext uri="{FF2B5EF4-FFF2-40B4-BE49-F238E27FC236}">
                <a16:creationId xmlns:a16="http://schemas.microsoft.com/office/drawing/2014/main" id="{4BC4B715-8A3E-4004-8568-A04B7CC08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71650" y="1266825"/>
            <a:ext cx="857250" cy="857250"/>
          </a:xfrm>
          <a:prstGeom prst="rect">
            <a:avLst/>
          </a:prstGeom>
        </p:spPr>
      </p:pic>
      <p:sp>
        <p:nvSpPr>
          <p:cNvPr id="62" name="object-56">
            <a:extLst>
              <a:ext uri="{FF2B5EF4-FFF2-40B4-BE49-F238E27FC236}">
                <a16:creationId xmlns:a16="http://schemas.microsoft.com/office/drawing/2014/main" id="{D3B1DF4B-47E0-4619-AABF-B87C6FF6EDEA}"/>
              </a:ext>
            </a:extLst>
          </p:cNvPr>
          <p:cNvSpPr>
            <a:spLocks noGrp="1"/>
          </p:cNvSpPr>
          <p:nvPr/>
        </p:nvSpPr>
        <p:spPr>
          <a:xfrm>
            <a:off x="495300" y="2952750"/>
            <a:ext cx="1409700" cy="438150"/>
          </a:xfrm>
          <a:prstGeom prst="roundRect">
            <a:avLst>
              <a:gd name="adj" fmla="val 22000"/>
            </a:avLst>
          </a:prstGeom>
          <a:solidFill>
            <a:srgbClr val="087DAA"/>
          </a:solidFill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defPPr>
            <a:lvl1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lvl1pPr>
            <a:lvl2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lvl2pPr>
            <a:lvl3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lvl3pPr>
            <a:lvl4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lvl4pPr>
            <a:lvl5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lvl5pPr>
            <a:lvl6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lvl6pPr>
            <a:lvl7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lvl7pPr>
            <a:lvl8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lvl8pPr>
            <a:lvl9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pPr>
            <a:r>
              <a: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rPr>
              <a:t>EDIT</a:t>
            </a:r>
          </a:p>
        </p:txBody>
      </p:sp>
      <p:sp>
        <p:nvSpPr>
          <p:cNvPr id="63" name="object-57">
            <a:extLst>
              <a:ext uri="{FF2B5EF4-FFF2-40B4-BE49-F238E27FC236}">
                <a16:creationId xmlns:a16="http://schemas.microsoft.com/office/drawing/2014/main" id="{A6BE828E-F5BD-4590-98A3-AA058FBEFD1F}"/>
              </a:ext>
            </a:extLst>
          </p:cNvPr>
          <p:cNvSpPr>
            <a:spLocks noGrp="1"/>
          </p:cNvSpPr>
          <p:nvPr/>
        </p:nvSpPr>
        <p:spPr>
          <a:xfrm>
            <a:off x="1175385" y="4162425"/>
            <a:ext cx="952500" cy="285750"/>
          </a:xfrm>
          <a:prstGeom prst="rect">
            <a:avLst/>
          </a:prstGeom>
          <a:noFill/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1">
                <a:solidFill>
                  <a:srgbClr val="087DAA"/>
                </a:solidFill>
                <a:latin typeface="Futura"/>
                <a:ea typeface="Futura"/>
                <a:cs typeface="Futura"/>
              </a:defRPr>
            </a:defPPr>
            <a:lvl1pPr algn="ctr">
              <a:defRPr sz="1650" b="1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1pPr>
            <a:lvl2pPr algn="ctr">
              <a:defRPr sz="1650" b="1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2pPr>
            <a:lvl3pPr algn="ctr">
              <a:defRPr sz="1650" b="1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3pPr>
            <a:lvl4pPr algn="ctr">
              <a:defRPr sz="1650" b="1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4pPr>
            <a:lvl5pPr algn="ctr">
              <a:defRPr sz="1650" b="1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5pPr>
            <a:lvl6pPr algn="ctr">
              <a:defRPr sz="1650" b="1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6pPr>
            <a:lvl7pPr algn="ctr">
              <a:defRPr sz="1650" b="1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7pPr>
            <a:lvl8pPr algn="ctr">
              <a:defRPr sz="1650" b="1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8pPr>
            <a:lvl9pPr algn="ctr">
              <a:defRPr sz="1650" b="1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ctr">
              <a:defRPr sz="1650" b="1">
                <a:solidFill>
                  <a:srgbClr val="087DAA"/>
                </a:solidFill>
                <a:latin typeface="Futura"/>
                <a:ea typeface="Futura"/>
                <a:cs typeface="Futura"/>
              </a:defRPr>
            </a:pPr>
            <a:r>
              <a:rPr sz="1650" b="1">
                <a:solidFill>
                  <a:srgbClr val="087DAA"/>
                </a:solidFill>
                <a:latin typeface="Futura"/>
                <a:ea typeface="Futura"/>
                <a:cs typeface="Futura"/>
              </a:rPr>
              <a:t>POD</a:t>
            </a:r>
          </a:p>
        </p:txBody>
      </p:sp>
      <p:sp>
        <p:nvSpPr>
          <p:cNvPr id="64" name="POD repeat 1">
            <a:extLst>
              <a:ext uri="{FF2B5EF4-FFF2-40B4-BE49-F238E27FC236}">
                <a16:creationId xmlns:a16="http://schemas.microsoft.com/office/drawing/2014/main" id="{3D2AD6E2-B958-4DED-8D07-F702E080F083}"/>
              </a:ext>
            </a:extLst>
          </p:cNvPr>
          <p:cNvSpPr>
            <a:spLocks noGrp="1"/>
          </p:cNvSpPr>
          <p:nvPr/>
        </p:nvSpPr>
        <p:spPr>
          <a:xfrm rot="-990000">
            <a:off x="1108710" y="4620578"/>
            <a:ext cx="153352" cy="333375"/>
          </a:xfrm>
          <a:prstGeom prst="roundRect">
            <a:avLst>
              <a:gd name="adj" fmla="val 34783"/>
            </a:avLst>
          </a:prstGeom>
          <a:solidFill>
            <a:srgbClr val="70BDE0"/>
          </a:solidFill>
          <a:ln w="17145">
            <a:solidFill>
              <a:srgbClr val="087DA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POD repeat 2">
            <a:extLst>
              <a:ext uri="{FF2B5EF4-FFF2-40B4-BE49-F238E27FC236}">
                <a16:creationId xmlns:a16="http://schemas.microsoft.com/office/drawing/2014/main" id="{599958D0-7F13-448A-9E2E-AC50BC3CEF59}"/>
              </a:ext>
            </a:extLst>
          </p:cNvPr>
          <p:cNvSpPr>
            <a:spLocks noGrp="1"/>
          </p:cNvSpPr>
          <p:nvPr/>
        </p:nvSpPr>
        <p:spPr>
          <a:xfrm rot="-810000">
            <a:off x="1275397" y="4567981"/>
            <a:ext cx="153352" cy="333375"/>
          </a:xfrm>
          <a:prstGeom prst="roundRect">
            <a:avLst>
              <a:gd name="adj" fmla="val 34783"/>
            </a:avLst>
          </a:prstGeom>
          <a:solidFill>
            <a:srgbClr val="45A4CE"/>
          </a:solidFill>
          <a:ln w="17145">
            <a:solidFill>
              <a:srgbClr val="087DA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POD repeat 3">
            <a:extLst>
              <a:ext uri="{FF2B5EF4-FFF2-40B4-BE49-F238E27FC236}">
                <a16:creationId xmlns:a16="http://schemas.microsoft.com/office/drawing/2014/main" id="{1C322173-E404-4AE5-B374-CE4159B00E47}"/>
              </a:ext>
            </a:extLst>
          </p:cNvPr>
          <p:cNvSpPr>
            <a:spLocks noGrp="1"/>
          </p:cNvSpPr>
          <p:nvPr/>
        </p:nvSpPr>
        <p:spPr>
          <a:xfrm rot="-630000">
            <a:off x="1442085" y="4519645"/>
            <a:ext cx="153352" cy="333375"/>
          </a:xfrm>
          <a:prstGeom prst="roundRect">
            <a:avLst>
              <a:gd name="adj" fmla="val 34783"/>
            </a:avLst>
          </a:prstGeom>
          <a:solidFill>
            <a:srgbClr val="70BDE0"/>
          </a:solidFill>
          <a:ln w="17145">
            <a:solidFill>
              <a:srgbClr val="087DA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POD repeat 4">
            <a:extLst>
              <a:ext uri="{FF2B5EF4-FFF2-40B4-BE49-F238E27FC236}">
                <a16:creationId xmlns:a16="http://schemas.microsoft.com/office/drawing/2014/main" id="{8263C376-DFE0-4257-9A4D-ECBED96EE931}"/>
              </a:ext>
            </a:extLst>
          </p:cNvPr>
          <p:cNvSpPr>
            <a:spLocks noGrp="1"/>
          </p:cNvSpPr>
          <p:nvPr/>
        </p:nvSpPr>
        <p:spPr>
          <a:xfrm rot="-450000">
            <a:off x="1608772" y="4479487"/>
            <a:ext cx="153352" cy="333375"/>
          </a:xfrm>
          <a:prstGeom prst="roundRect">
            <a:avLst>
              <a:gd name="adj" fmla="val 34783"/>
            </a:avLst>
          </a:prstGeom>
          <a:solidFill>
            <a:srgbClr val="45A4CE"/>
          </a:solidFill>
          <a:ln w="17145">
            <a:solidFill>
              <a:srgbClr val="087DA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POD repeat 5">
            <a:extLst>
              <a:ext uri="{FF2B5EF4-FFF2-40B4-BE49-F238E27FC236}">
                <a16:creationId xmlns:a16="http://schemas.microsoft.com/office/drawing/2014/main" id="{FD7D2355-F261-4002-BB77-F8FAE3BB77FE}"/>
              </a:ext>
            </a:extLst>
          </p:cNvPr>
          <p:cNvSpPr>
            <a:spLocks noGrp="1"/>
          </p:cNvSpPr>
          <p:nvPr/>
        </p:nvSpPr>
        <p:spPr>
          <a:xfrm rot="-270000">
            <a:off x="1775460" y="4450758"/>
            <a:ext cx="153352" cy="333375"/>
          </a:xfrm>
          <a:prstGeom prst="roundRect">
            <a:avLst>
              <a:gd name="adj" fmla="val 34783"/>
            </a:avLst>
          </a:prstGeom>
          <a:solidFill>
            <a:srgbClr val="70BDE0"/>
          </a:solidFill>
          <a:ln w="17145">
            <a:solidFill>
              <a:srgbClr val="087DA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POD repeat 6">
            <a:extLst>
              <a:ext uri="{FF2B5EF4-FFF2-40B4-BE49-F238E27FC236}">
                <a16:creationId xmlns:a16="http://schemas.microsoft.com/office/drawing/2014/main" id="{551C1E08-E47E-4672-9568-DC04E588992A}"/>
              </a:ext>
            </a:extLst>
          </p:cNvPr>
          <p:cNvSpPr>
            <a:spLocks noGrp="1"/>
          </p:cNvSpPr>
          <p:nvPr/>
        </p:nvSpPr>
        <p:spPr>
          <a:xfrm rot="-90000">
            <a:off x="1942147" y="4435788"/>
            <a:ext cx="153352" cy="333375"/>
          </a:xfrm>
          <a:prstGeom prst="roundRect">
            <a:avLst>
              <a:gd name="adj" fmla="val 34783"/>
            </a:avLst>
          </a:prstGeom>
          <a:solidFill>
            <a:srgbClr val="45A4CE"/>
          </a:solidFill>
          <a:ln w="17145">
            <a:solidFill>
              <a:srgbClr val="087DA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POD repeat 7">
            <a:extLst>
              <a:ext uri="{FF2B5EF4-FFF2-40B4-BE49-F238E27FC236}">
                <a16:creationId xmlns:a16="http://schemas.microsoft.com/office/drawing/2014/main" id="{89251BB0-EC30-480D-9DD7-8889A1BEE88A}"/>
              </a:ext>
            </a:extLst>
          </p:cNvPr>
          <p:cNvSpPr>
            <a:spLocks noGrp="1"/>
          </p:cNvSpPr>
          <p:nvPr/>
        </p:nvSpPr>
        <p:spPr>
          <a:xfrm rot="90000">
            <a:off x="2108835" y="4435788"/>
            <a:ext cx="153352" cy="333375"/>
          </a:xfrm>
          <a:prstGeom prst="roundRect">
            <a:avLst>
              <a:gd name="adj" fmla="val 34783"/>
            </a:avLst>
          </a:prstGeom>
          <a:solidFill>
            <a:srgbClr val="70BDE0"/>
          </a:solidFill>
          <a:ln w="17145">
            <a:solidFill>
              <a:srgbClr val="087DA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POD repeat 8">
            <a:extLst>
              <a:ext uri="{FF2B5EF4-FFF2-40B4-BE49-F238E27FC236}">
                <a16:creationId xmlns:a16="http://schemas.microsoft.com/office/drawing/2014/main" id="{BFE15F55-DA0C-4F66-AFED-70F7B9793E33}"/>
              </a:ext>
            </a:extLst>
          </p:cNvPr>
          <p:cNvSpPr>
            <a:spLocks noGrp="1"/>
          </p:cNvSpPr>
          <p:nvPr/>
        </p:nvSpPr>
        <p:spPr>
          <a:xfrm rot="270000">
            <a:off x="2275522" y="4450758"/>
            <a:ext cx="153352" cy="333375"/>
          </a:xfrm>
          <a:prstGeom prst="roundRect">
            <a:avLst>
              <a:gd name="adj" fmla="val 34783"/>
            </a:avLst>
          </a:prstGeom>
          <a:solidFill>
            <a:srgbClr val="45A4CE"/>
          </a:solidFill>
          <a:ln w="17145">
            <a:solidFill>
              <a:srgbClr val="087DA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POD repeat 9">
            <a:extLst>
              <a:ext uri="{FF2B5EF4-FFF2-40B4-BE49-F238E27FC236}">
                <a16:creationId xmlns:a16="http://schemas.microsoft.com/office/drawing/2014/main" id="{2D23D27F-6106-4A9A-909C-5FD804F267F4}"/>
              </a:ext>
            </a:extLst>
          </p:cNvPr>
          <p:cNvSpPr>
            <a:spLocks noGrp="1"/>
          </p:cNvSpPr>
          <p:nvPr/>
        </p:nvSpPr>
        <p:spPr>
          <a:xfrm rot="450000">
            <a:off x="2442210" y="4479487"/>
            <a:ext cx="153352" cy="333375"/>
          </a:xfrm>
          <a:prstGeom prst="roundRect">
            <a:avLst>
              <a:gd name="adj" fmla="val 34783"/>
            </a:avLst>
          </a:prstGeom>
          <a:solidFill>
            <a:srgbClr val="70BDE0"/>
          </a:solidFill>
          <a:ln w="17145">
            <a:solidFill>
              <a:srgbClr val="087DA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POD repeat 10">
            <a:extLst>
              <a:ext uri="{FF2B5EF4-FFF2-40B4-BE49-F238E27FC236}">
                <a16:creationId xmlns:a16="http://schemas.microsoft.com/office/drawing/2014/main" id="{BCEAE232-E98B-4987-B3BA-11B0EB5858BC}"/>
              </a:ext>
            </a:extLst>
          </p:cNvPr>
          <p:cNvSpPr>
            <a:spLocks noGrp="1"/>
          </p:cNvSpPr>
          <p:nvPr/>
        </p:nvSpPr>
        <p:spPr>
          <a:xfrm rot="630000">
            <a:off x="2608898" y="4519645"/>
            <a:ext cx="153352" cy="333375"/>
          </a:xfrm>
          <a:prstGeom prst="roundRect">
            <a:avLst>
              <a:gd name="adj" fmla="val 34783"/>
            </a:avLst>
          </a:prstGeom>
          <a:solidFill>
            <a:srgbClr val="45A4CE"/>
          </a:solidFill>
          <a:ln w="17145">
            <a:solidFill>
              <a:srgbClr val="087DA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POD repeat 11">
            <a:extLst>
              <a:ext uri="{FF2B5EF4-FFF2-40B4-BE49-F238E27FC236}">
                <a16:creationId xmlns:a16="http://schemas.microsoft.com/office/drawing/2014/main" id="{2EC8A0D6-FAB8-4BC0-8671-DA24FBD420DE}"/>
              </a:ext>
            </a:extLst>
          </p:cNvPr>
          <p:cNvSpPr>
            <a:spLocks noGrp="1"/>
          </p:cNvSpPr>
          <p:nvPr/>
        </p:nvSpPr>
        <p:spPr>
          <a:xfrm rot="810000">
            <a:off x="2775585" y="4567981"/>
            <a:ext cx="153352" cy="333375"/>
          </a:xfrm>
          <a:prstGeom prst="roundRect">
            <a:avLst>
              <a:gd name="adj" fmla="val 34783"/>
            </a:avLst>
          </a:prstGeom>
          <a:solidFill>
            <a:srgbClr val="70BDE0"/>
          </a:solidFill>
          <a:ln w="17145">
            <a:solidFill>
              <a:srgbClr val="087DA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POD repeat 12">
            <a:extLst>
              <a:ext uri="{FF2B5EF4-FFF2-40B4-BE49-F238E27FC236}">
                <a16:creationId xmlns:a16="http://schemas.microsoft.com/office/drawing/2014/main" id="{65AA9BA7-05F4-45C8-9D3C-E11E11B8E393}"/>
              </a:ext>
            </a:extLst>
          </p:cNvPr>
          <p:cNvSpPr>
            <a:spLocks noGrp="1"/>
          </p:cNvSpPr>
          <p:nvPr/>
        </p:nvSpPr>
        <p:spPr>
          <a:xfrm rot="990000">
            <a:off x="2942272" y="4620578"/>
            <a:ext cx="153352" cy="333375"/>
          </a:xfrm>
          <a:prstGeom prst="roundRect">
            <a:avLst>
              <a:gd name="adj" fmla="val 34783"/>
            </a:avLst>
          </a:prstGeom>
          <a:solidFill>
            <a:srgbClr val="45A4CE"/>
          </a:solidFill>
          <a:ln w="17145">
            <a:solidFill>
              <a:srgbClr val="087DA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" name="path-58">
            <a:extLst>
              <a:ext uri="{FF2B5EF4-FFF2-40B4-BE49-F238E27FC236}">
                <a16:creationId xmlns:a16="http://schemas.microsoft.com/office/drawing/2014/main" id="{0E5102DE-B0C3-4A4C-A7B2-D4E66E5E7A8B}"/>
              </a:ext>
            </a:extLst>
          </p:cNvPr>
          <p:cNvSpPr>
            <a:spLocks noGrp="1"/>
          </p:cNvSpPr>
          <p:nvPr/>
        </p:nvSpPr>
        <p:spPr>
          <a:xfrm>
            <a:off x="3048952" y="4500562"/>
            <a:ext cx="413385" cy="213360"/>
          </a:xfrm>
          <a:custGeom>
            <a:avLst/>
            <a:gdLst/>
            <a:ahLst/>
            <a:cxnLst/>
            <a:rect l="0" t="0" r="0" b="0"/>
            <a:pathLst>
              <a:path w="590550" h="304800">
                <a:moveTo>
                  <a:pt x="0" y="266700"/>
                </a:moveTo>
                <a:cubicBezTo>
                  <a:pt x="161925" y="257175"/>
                  <a:pt x="219075" y="0"/>
                  <a:pt x="371475" y="66675"/>
                </a:cubicBezTo>
                <a:cubicBezTo>
                  <a:pt x="466725" y="142875"/>
                  <a:pt x="495300" y="228600"/>
                  <a:pt x="590550" y="200025"/>
                </a:cubicBezTo>
              </a:path>
            </a:pathLst>
          </a:custGeom>
          <a:noFill/>
          <a:ln w="38100">
            <a:solidFill>
              <a:srgbClr val="3F53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CETUS schematic">
            <a:extLst>
              <a:ext uri="{FF2B5EF4-FFF2-40B4-BE49-F238E27FC236}">
                <a16:creationId xmlns:a16="http://schemas.microsoft.com/office/drawing/2014/main" id="{4C906830-D63E-4D9A-8713-58C9C26F0B00}"/>
              </a:ext>
            </a:extLst>
          </p:cNvPr>
          <p:cNvSpPr>
            <a:spLocks noGrp="1"/>
          </p:cNvSpPr>
          <p:nvPr/>
        </p:nvSpPr>
        <p:spPr>
          <a:xfrm>
            <a:off x="3402330" y="4387215"/>
            <a:ext cx="873442" cy="620078"/>
          </a:xfrm>
          <a:prstGeom prst="ellipse">
            <a:avLst/>
          </a:prstGeom>
          <a:solidFill>
            <a:srgbClr val="F0AF68"/>
          </a:solidFill>
          <a:ln w="19050">
            <a:solidFill>
              <a:srgbClr val="D8751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" name="object-59">
            <a:extLst>
              <a:ext uri="{FF2B5EF4-FFF2-40B4-BE49-F238E27FC236}">
                <a16:creationId xmlns:a16="http://schemas.microsoft.com/office/drawing/2014/main" id="{CD9184E4-CDCE-47FA-B730-712E480D63A1}"/>
              </a:ext>
            </a:extLst>
          </p:cNvPr>
          <p:cNvSpPr>
            <a:spLocks noGrp="1"/>
          </p:cNvSpPr>
          <p:nvPr/>
        </p:nvSpPr>
        <p:spPr>
          <a:xfrm>
            <a:off x="3406616" y="4580830"/>
            <a:ext cx="866775" cy="285750"/>
          </a:xfrm>
          <a:prstGeom prst="rect">
            <a:avLst/>
          </a:prstGeom>
          <a:noFill/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1">
                <a:solidFill>
                  <a:srgbClr val="793A11"/>
                </a:solidFill>
                <a:latin typeface="Futura"/>
                <a:ea typeface="Futura"/>
                <a:cs typeface="Futura"/>
              </a:defRPr>
            </a:defPPr>
            <a:lvl1pPr algn="ctr">
              <a:defRPr sz="1500" b="1">
                <a:solidFill>
                  <a:srgbClr val="793A11"/>
                </a:solidFill>
                <a:latin typeface="Futura"/>
                <a:ea typeface="Futura"/>
                <a:cs typeface="Futura"/>
              </a:defRPr>
            </a:lvl1pPr>
            <a:lvl2pPr algn="ctr">
              <a:defRPr sz="1500" b="1">
                <a:solidFill>
                  <a:srgbClr val="793A11"/>
                </a:solidFill>
                <a:latin typeface="Futura"/>
                <a:ea typeface="Futura"/>
                <a:cs typeface="Futura"/>
              </a:defRPr>
            </a:lvl2pPr>
            <a:lvl3pPr algn="ctr">
              <a:defRPr sz="1500" b="1">
                <a:solidFill>
                  <a:srgbClr val="793A11"/>
                </a:solidFill>
                <a:latin typeface="Futura"/>
                <a:ea typeface="Futura"/>
                <a:cs typeface="Futura"/>
              </a:defRPr>
            </a:lvl3pPr>
            <a:lvl4pPr algn="ctr">
              <a:defRPr sz="1500" b="1">
                <a:solidFill>
                  <a:srgbClr val="793A11"/>
                </a:solidFill>
                <a:latin typeface="Futura"/>
                <a:ea typeface="Futura"/>
                <a:cs typeface="Futura"/>
              </a:defRPr>
            </a:lvl4pPr>
            <a:lvl5pPr algn="ctr">
              <a:defRPr sz="1500" b="1">
                <a:solidFill>
                  <a:srgbClr val="793A11"/>
                </a:solidFill>
                <a:latin typeface="Futura"/>
                <a:ea typeface="Futura"/>
                <a:cs typeface="Futura"/>
              </a:defRPr>
            </a:lvl5pPr>
            <a:lvl6pPr algn="ctr">
              <a:defRPr sz="1500" b="1">
                <a:solidFill>
                  <a:srgbClr val="793A11"/>
                </a:solidFill>
                <a:latin typeface="Futura"/>
                <a:ea typeface="Futura"/>
                <a:cs typeface="Futura"/>
              </a:defRPr>
            </a:lvl6pPr>
            <a:lvl7pPr algn="ctr">
              <a:defRPr sz="1500" b="1">
                <a:solidFill>
                  <a:srgbClr val="793A11"/>
                </a:solidFill>
                <a:latin typeface="Futura"/>
                <a:ea typeface="Futura"/>
                <a:cs typeface="Futura"/>
              </a:defRPr>
            </a:lvl7pPr>
            <a:lvl8pPr algn="ctr">
              <a:defRPr sz="1500" b="1">
                <a:solidFill>
                  <a:srgbClr val="793A11"/>
                </a:solidFill>
                <a:latin typeface="Futura"/>
                <a:ea typeface="Futura"/>
                <a:cs typeface="Futura"/>
              </a:defRPr>
            </a:lvl8pPr>
            <a:lvl9pPr algn="ctr">
              <a:defRPr sz="1500" b="1">
                <a:solidFill>
                  <a:srgbClr val="793A11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ctr">
              <a:defRPr sz="1500" b="1">
                <a:solidFill>
                  <a:srgbClr val="793A11"/>
                </a:solidFill>
                <a:latin typeface="Futura"/>
                <a:ea typeface="Futura"/>
                <a:cs typeface="Futura"/>
              </a:defRPr>
            </a:pPr>
            <a:r>
              <a:rPr sz="1500" b="1" dirty="0">
                <a:solidFill>
                  <a:srgbClr val="793A11"/>
                </a:solidFill>
                <a:latin typeface="Futura"/>
                <a:ea typeface="Futura"/>
                <a:cs typeface="Futura"/>
              </a:rPr>
              <a:t>CETUS</a:t>
            </a:r>
          </a:p>
        </p:txBody>
      </p:sp>
      <p:sp>
        <p:nvSpPr>
          <p:cNvPr id="79" name="path-60">
            <a:extLst>
              <a:ext uri="{FF2B5EF4-FFF2-40B4-BE49-F238E27FC236}">
                <a16:creationId xmlns:a16="http://schemas.microsoft.com/office/drawing/2014/main" id="{02219EAB-6BA7-450C-AF06-028C83FF9487}"/>
              </a:ext>
            </a:extLst>
          </p:cNvPr>
          <p:cNvSpPr>
            <a:spLocks noGrp="1"/>
          </p:cNvSpPr>
          <p:nvPr/>
        </p:nvSpPr>
        <p:spPr>
          <a:xfrm>
            <a:off x="741997" y="5147310"/>
            <a:ext cx="3767138" cy="93345"/>
          </a:xfrm>
          <a:custGeom>
            <a:avLst/>
            <a:gdLst/>
            <a:ahLst/>
            <a:cxnLst/>
            <a:rect l="0" t="0" r="0" b="0"/>
            <a:pathLst>
              <a:path w="5381625" h="133350">
                <a:moveTo>
                  <a:pt x="0" y="66675"/>
                </a:moveTo>
                <a:cubicBezTo>
                  <a:pt x="645795" y="-38100"/>
                  <a:pt x="914876" y="171450"/>
                  <a:pt x="1506855" y="66675"/>
                </a:cubicBezTo>
                <a:cubicBezTo>
                  <a:pt x="2098834" y="-38100"/>
                  <a:pt x="2367915" y="171450"/>
                  <a:pt x="3013710" y="66675"/>
                </a:cubicBezTo>
                <a:cubicBezTo>
                  <a:pt x="3767138" y="-38100"/>
                  <a:pt x="4520565" y="171450"/>
                  <a:pt x="5381625" y="66675"/>
                </a:cubicBezTo>
              </a:path>
            </a:pathLst>
          </a:custGeom>
          <a:noFill/>
          <a:ln w="28575">
            <a:solidFill>
              <a:srgbClr val="3556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" name="object-61">
            <a:extLst>
              <a:ext uri="{FF2B5EF4-FFF2-40B4-BE49-F238E27FC236}">
                <a16:creationId xmlns:a16="http://schemas.microsoft.com/office/drawing/2014/main" id="{5EB9B489-783F-448C-9947-165610665D10}"/>
              </a:ext>
            </a:extLst>
          </p:cNvPr>
          <p:cNvSpPr>
            <a:spLocks noGrp="1"/>
          </p:cNvSpPr>
          <p:nvPr/>
        </p:nvSpPr>
        <p:spPr>
          <a:xfrm>
            <a:off x="495300" y="5067300"/>
            <a:ext cx="266700" cy="226695"/>
          </a:xfrm>
          <a:prstGeom prst="rect">
            <a:avLst/>
          </a:prstGeom>
          <a:noFill/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defPPr>
            <a:lvl1pPr algn="l">
              <a:defRPr sz="1500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1pPr>
            <a:lvl2pPr algn="l">
              <a:defRPr sz="1500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2pPr>
            <a:lvl3pPr algn="l">
              <a:defRPr sz="1500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3pPr>
            <a:lvl4pPr algn="l">
              <a:defRPr sz="1500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4pPr>
            <a:lvl5pPr algn="l">
              <a:defRPr sz="1500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5pPr>
            <a:lvl6pPr algn="l">
              <a:defRPr sz="1500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6pPr>
            <a:lvl7pPr algn="l">
              <a:defRPr sz="1500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7pPr>
            <a:lvl8pPr algn="l">
              <a:defRPr sz="1500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8pPr>
            <a:lvl9pPr algn="l">
              <a:defRPr sz="1500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l">
              <a:defRPr sz="1500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pPr>
            <a:r>
              <a:rPr sz="1500" b="0">
                <a:solidFill>
                  <a:srgbClr val="172C3B"/>
                </a:solidFill>
                <a:latin typeface="Futura"/>
                <a:ea typeface="Futura"/>
                <a:cs typeface="Futura"/>
              </a:rPr>
              <a:t>5′</a:t>
            </a:r>
          </a:p>
        </p:txBody>
      </p:sp>
      <p:sp>
        <p:nvSpPr>
          <p:cNvPr id="81" name="object-62">
            <a:extLst>
              <a:ext uri="{FF2B5EF4-FFF2-40B4-BE49-F238E27FC236}">
                <a16:creationId xmlns:a16="http://schemas.microsoft.com/office/drawing/2014/main" id="{167FA562-B021-4B2A-8BA9-3C66A8E06091}"/>
              </a:ext>
            </a:extLst>
          </p:cNvPr>
          <p:cNvSpPr>
            <a:spLocks noGrp="1"/>
          </p:cNvSpPr>
          <p:nvPr/>
        </p:nvSpPr>
        <p:spPr>
          <a:xfrm>
            <a:off x="4575810" y="5067300"/>
            <a:ext cx="266700" cy="226695"/>
          </a:xfrm>
          <a:prstGeom prst="rect">
            <a:avLst/>
          </a:prstGeom>
          <a:noFill/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defPPr>
            <a:lvl1pPr algn="l">
              <a:defRPr sz="1500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1pPr>
            <a:lvl2pPr algn="l">
              <a:defRPr sz="1500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2pPr>
            <a:lvl3pPr algn="l">
              <a:defRPr sz="1500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3pPr>
            <a:lvl4pPr algn="l">
              <a:defRPr sz="1500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4pPr>
            <a:lvl5pPr algn="l">
              <a:defRPr sz="1500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5pPr>
            <a:lvl6pPr algn="l">
              <a:defRPr sz="1500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6pPr>
            <a:lvl7pPr algn="l">
              <a:defRPr sz="1500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7pPr>
            <a:lvl8pPr algn="l">
              <a:defRPr sz="1500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8pPr>
            <a:lvl9pPr algn="l">
              <a:defRPr sz="1500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l">
              <a:defRPr sz="1500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pPr>
            <a:r>
              <a:rPr sz="1500" b="0">
                <a:solidFill>
                  <a:srgbClr val="172C3B"/>
                </a:solidFill>
                <a:latin typeface="Futura"/>
                <a:ea typeface="Futura"/>
                <a:cs typeface="Futura"/>
              </a:rPr>
              <a:t>3′</a:t>
            </a:r>
          </a:p>
        </p:txBody>
      </p:sp>
      <p:sp>
        <p:nvSpPr>
          <p:cNvPr id="82" name="object-63">
            <a:extLst>
              <a:ext uri="{FF2B5EF4-FFF2-40B4-BE49-F238E27FC236}">
                <a16:creationId xmlns:a16="http://schemas.microsoft.com/office/drawing/2014/main" id="{5DDF6516-AEA4-416E-AE33-4611801A38CA}"/>
              </a:ext>
            </a:extLst>
          </p:cNvPr>
          <p:cNvSpPr>
            <a:spLocks noGrp="1"/>
          </p:cNvSpPr>
          <p:nvPr/>
        </p:nvSpPr>
        <p:spPr>
          <a:xfrm>
            <a:off x="1128712" y="5120640"/>
            <a:ext cx="106680" cy="166688"/>
          </a:xfrm>
          <a:prstGeom prst="roundRect">
            <a:avLst>
              <a:gd name="adj" fmla="val 50000"/>
            </a:avLst>
          </a:prstGeom>
          <a:solidFill>
            <a:srgbClr val="A7D7EC"/>
          </a:solidFill>
          <a:ln w="17145">
            <a:solidFill>
              <a:srgbClr val="087DAA"/>
            </a:solidFill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83" name="line-64">
            <a:extLst>
              <a:ext uri="{FF2B5EF4-FFF2-40B4-BE49-F238E27FC236}">
                <a16:creationId xmlns:a16="http://schemas.microsoft.com/office/drawing/2014/main" id="{2B5195F8-7339-4D93-B496-0ACCB35A3945}"/>
              </a:ext>
            </a:extLst>
          </p:cNvPr>
          <p:cNvCxnSpPr/>
          <p:nvPr/>
        </p:nvCxnSpPr>
        <p:spPr>
          <a:xfrm>
            <a:off x="1182053" y="4987290"/>
            <a:ext cx="0" cy="133350"/>
          </a:xfrm>
          <a:prstGeom prst="straightConnector1">
            <a:avLst/>
          </a:prstGeom>
          <a:ln w="20955">
            <a:solidFill>
              <a:srgbClr val="5C99B5"/>
            </a:solidFill>
            <a:prstDash val="solid"/>
            <a:tailEnd type="none" w="med" len="med"/>
          </a:ln>
        </p:spPr>
      </p:cxnSp>
      <p:sp>
        <p:nvSpPr>
          <p:cNvPr id="84" name="object-65">
            <a:extLst>
              <a:ext uri="{FF2B5EF4-FFF2-40B4-BE49-F238E27FC236}">
                <a16:creationId xmlns:a16="http://schemas.microsoft.com/office/drawing/2014/main" id="{7AEF1F72-7EF9-43A7-81C0-C1BBBC67DF83}"/>
              </a:ext>
            </a:extLst>
          </p:cNvPr>
          <p:cNvSpPr>
            <a:spLocks noGrp="1"/>
          </p:cNvSpPr>
          <p:nvPr/>
        </p:nvSpPr>
        <p:spPr>
          <a:xfrm>
            <a:off x="1288732" y="5120640"/>
            <a:ext cx="106680" cy="166688"/>
          </a:xfrm>
          <a:prstGeom prst="roundRect">
            <a:avLst>
              <a:gd name="adj" fmla="val 50000"/>
            </a:avLst>
          </a:prstGeom>
          <a:solidFill>
            <a:srgbClr val="A7D7EC"/>
          </a:solidFill>
          <a:ln w="17145">
            <a:solidFill>
              <a:srgbClr val="087DAA"/>
            </a:solidFill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85" name="line-66">
            <a:extLst>
              <a:ext uri="{FF2B5EF4-FFF2-40B4-BE49-F238E27FC236}">
                <a16:creationId xmlns:a16="http://schemas.microsoft.com/office/drawing/2014/main" id="{328BEB23-45B4-4BFB-A962-CA83E5A5446E}"/>
              </a:ext>
            </a:extLst>
          </p:cNvPr>
          <p:cNvCxnSpPr/>
          <p:nvPr/>
        </p:nvCxnSpPr>
        <p:spPr>
          <a:xfrm>
            <a:off x="1342072" y="4987290"/>
            <a:ext cx="0" cy="133350"/>
          </a:xfrm>
          <a:prstGeom prst="straightConnector1">
            <a:avLst/>
          </a:prstGeom>
          <a:ln w="20955">
            <a:solidFill>
              <a:srgbClr val="5C99B5"/>
            </a:solidFill>
            <a:prstDash val="solid"/>
            <a:tailEnd type="none" w="med" len="med"/>
          </a:ln>
        </p:spPr>
      </p:cxnSp>
      <p:sp>
        <p:nvSpPr>
          <p:cNvPr id="86" name="object-67">
            <a:extLst>
              <a:ext uri="{FF2B5EF4-FFF2-40B4-BE49-F238E27FC236}">
                <a16:creationId xmlns:a16="http://schemas.microsoft.com/office/drawing/2014/main" id="{C75F5B47-88B5-4B7D-BCEA-863CC2BB97F0}"/>
              </a:ext>
            </a:extLst>
          </p:cNvPr>
          <p:cNvSpPr>
            <a:spLocks noGrp="1"/>
          </p:cNvSpPr>
          <p:nvPr/>
        </p:nvSpPr>
        <p:spPr>
          <a:xfrm>
            <a:off x="1448753" y="5120640"/>
            <a:ext cx="106680" cy="166688"/>
          </a:xfrm>
          <a:prstGeom prst="roundRect">
            <a:avLst>
              <a:gd name="adj" fmla="val 50000"/>
            </a:avLst>
          </a:prstGeom>
          <a:solidFill>
            <a:srgbClr val="A7D7EC"/>
          </a:solidFill>
          <a:ln w="17145">
            <a:solidFill>
              <a:srgbClr val="087DAA"/>
            </a:solidFill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87" name="line-68">
            <a:extLst>
              <a:ext uri="{FF2B5EF4-FFF2-40B4-BE49-F238E27FC236}">
                <a16:creationId xmlns:a16="http://schemas.microsoft.com/office/drawing/2014/main" id="{6EDE15E2-79EA-49D6-B524-D2EFEAF99161}"/>
              </a:ext>
            </a:extLst>
          </p:cNvPr>
          <p:cNvCxnSpPr/>
          <p:nvPr/>
        </p:nvCxnSpPr>
        <p:spPr>
          <a:xfrm>
            <a:off x="1502092" y="4987290"/>
            <a:ext cx="0" cy="133350"/>
          </a:xfrm>
          <a:prstGeom prst="straightConnector1">
            <a:avLst/>
          </a:prstGeom>
          <a:ln w="20955">
            <a:solidFill>
              <a:srgbClr val="5C99B5"/>
            </a:solidFill>
            <a:prstDash val="solid"/>
            <a:tailEnd type="none" w="med" len="med"/>
          </a:ln>
        </p:spPr>
      </p:cxnSp>
      <p:sp>
        <p:nvSpPr>
          <p:cNvPr id="88" name="object-69">
            <a:extLst>
              <a:ext uri="{FF2B5EF4-FFF2-40B4-BE49-F238E27FC236}">
                <a16:creationId xmlns:a16="http://schemas.microsoft.com/office/drawing/2014/main" id="{519827ED-E264-46D0-BD31-4AC208FF41EE}"/>
              </a:ext>
            </a:extLst>
          </p:cNvPr>
          <p:cNvSpPr>
            <a:spLocks noGrp="1"/>
          </p:cNvSpPr>
          <p:nvPr/>
        </p:nvSpPr>
        <p:spPr>
          <a:xfrm>
            <a:off x="1608772" y="5120640"/>
            <a:ext cx="106680" cy="166688"/>
          </a:xfrm>
          <a:prstGeom prst="roundRect">
            <a:avLst>
              <a:gd name="adj" fmla="val 50000"/>
            </a:avLst>
          </a:prstGeom>
          <a:solidFill>
            <a:srgbClr val="A7D7EC"/>
          </a:solidFill>
          <a:ln w="17145">
            <a:solidFill>
              <a:srgbClr val="087DAA"/>
            </a:solidFill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89" name="line-70">
            <a:extLst>
              <a:ext uri="{FF2B5EF4-FFF2-40B4-BE49-F238E27FC236}">
                <a16:creationId xmlns:a16="http://schemas.microsoft.com/office/drawing/2014/main" id="{953C9AF6-B4C8-420E-979F-9A6D959FAEB1}"/>
              </a:ext>
            </a:extLst>
          </p:cNvPr>
          <p:cNvCxnSpPr/>
          <p:nvPr/>
        </p:nvCxnSpPr>
        <p:spPr>
          <a:xfrm>
            <a:off x="1662112" y="4987290"/>
            <a:ext cx="0" cy="133350"/>
          </a:xfrm>
          <a:prstGeom prst="straightConnector1">
            <a:avLst/>
          </a:prstGeom>
          <a:ln w="20955">
            <a:solidFill>
              <a:srgbClr val="5C99B5"/>
            </a:solidFill>
            <a:prstDash val="solid"/>
            <a:tailEnd type="none" w="med" len="med"/>
          </a:ln>
        </p:spPr>
      </p:cxnSp>
      <p:sp>
        <p:nvSpPr>
          <p:cNvPr id="90" name="object-71">
            <a:extLst>
              <a:ext uri="{FF2B5EF4-FFF2-40B4-BE49-F238E27FC236}">
                <a16:creationId xmlns:a16="http://schemas.microsoft.com/office/drawing/2014/main" id="{404F5124-BB93-4BBD-85AC-CDD200896B8A}"/>
              </a:ext>
            </a:extLst>
          </p:cNvPr>
          <p:cNvSpPr>
            <a:spLocks noGrp="1"/>
          </p:cNvSpPr>
          <p:nvPr/>
        </p:nvSpPr>
        <p:spPr>
          <a:xfrm>
            <a:off x="1768792" y="5120640"/>
            <a:ext cx="106680" cy="166688"/>
          </a:xfrm>
          <a:prstGeom prst="roundRect">
            <a:avLst>
              <a:gd name="adj" fmla="val 50000"/>
            </a:avLst>
          </a:prstGeom>
          <a:solidFill>
            <a:srgbClr val="A7D7EC"/>
          </a:solidFill>
          <a:ln w="17145">
            <a:solidFill>
              <a:srgbClr val="087DAA"/>
            </a:solidFill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91" name="line-72">
            <a:extLst>
              <a:ext uri="{FF2B5EF4-FFF2-40B4-BE49-F238E27FC236}">
                <a16:creationId xmlns:a16="http://schemas.microsoft.com/office/drawing/2014/main" id="{A6CFC02E-2645-41CE-93D6-436EA6FFCD54}"/>
              </a:ext>
            </a:extLst>
          </p:cNvPr>
          <p:cNvCxnSpPr/>
          <p:nvPr/>
        </p:nvCxnSpPr>
        <p:spPr>
          <a:xfrm>
            <a:off x="1822132" y="4987290"/>
            <a:ext cx="0" cy="133350"/>
          </a:xfrm>
          <a:prstGeom prst="straightConnector1">
            <a:avLst/>
          </a:prstGeom>
          <a:ln w="20955">
            <a:solidFill>
              <a:srgbClr val="5C99B5"/>
            </a:solidFill>
            <a:prstDash val="solid"/>
            <a:tailEnd type="none" w="med" len="med"/>
          </a:ln>
        </p:spPr>
      </p:cxnSp>
      <p:sp>
        <p:nvSpPr>
          <p:cNvPr id="92" name="object-73">
            <a:extLst>
              <a:ext uri="{FF2B5EF4-FFF2-40B4-BE49-F238E27FC236}">
                <a16:creationId xmlns:a16="http://schemas.microsoft.com/office/drawing/2014/main" id="{CF54626D-7DDF-49C7-B18D-40A341E912A5}"/>
              </a:ext>
            </a:extLst>
          </p:cNvPr>
          <p:cNvSpPr>
            <a:spLocks noGrp="1"/>
          </p:cNvSpPr>
          <p:nvPr/>
        </p:nvSpPr>
        <p:spPr>
          <a:xfrm>
            <a:off x="1928812" y="5120640"/>
            <a:ext cx="106680" cy="166688"/>
          </a:xfrm>
          <a:prstGeom prst="roundRect">
            <a:avLst>
              <a:gd name="adj" fmla="val 50000"/>
            </a:avLst>
          </a:prstGeom>
          <a:solidFill>
            <a:srgbClr val="A7D7EC"/>
          </a:solidFill>
          <a:ln w="17145">
            <a:solidFill>
              <a:srgbClr val="087DAA"/>
            </a:solidFill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93" name="line-74">
            <a:extLst>
              <a:ext uri="{FF2B5EF4-FFF2-40B4-BE49-F238E27FC236}">
                <a16:creationId xmlns:a16="http://schemas.microsoft.com/office/drawing/2014/main" id="{B0F4E28B-160D-4D81-9311-EB238F3467E7}"/>
              </a:ext>
            </a:extLst>
          </p:cNvPr>
          <p:cNvCxnSpPr/>
          <p:nvPr/>
        </p:nvCxnSpPr>
        <p:spPr>
          <a:xfrm>
            <a:off x="1982152" y="4987290"/>
            <a:ext cx="0" cy="133350"/>
          </a:xfrm>
          <a:prstGeom prst="straightConnector1">
            <a:avLst/>
          </a:prstGeom>
          <a:ln w="20955">
            <a:solidFill>
              <a:srgbClr val="5C99B5"/>
            </a:solidFill>
            <a:prstDash val="solid"/>
            <a:tailEnd type="none" w="med" len="med"/>
          </a:ln>
        </p:spPr>
      </p:cxnSp>
      <p:sp>
        <p:nvSpPr>
          <p:cNvPr id="94" name="object-75">
            <a:extLst>
              <a:ext uri="{FF2B5EF4-FFF2-40B4-BE49-F238E27FC236}">
                <a16:creationId xmlns:a16="http://schemas.microsoft.com/office/drawing/2014/main" id="{3F873CD2-C1F1-46A4-89B8-E90E42D85A3E}"/>
              </a:ext>
            </a:extLst>
          </p:cNvPr>
          <p:cNvSpPr>
            <a:spLocks noGrp="1"/>
          </p:cNvSpPr>
          <p:nvPr/>
        </p:nvSpPr>
        <p:spPr>
          <a:xfrm>
            <a:off x="2088832" y="5120640"/>
            <a:ext cx="106680" cy="166688"/>
          </a:xfrm>
          <a:prstGeom prst="roundRect">
            <a:avLst>
              <a:gd name="adj" fmla="val 50000"/>
            </a:avLst>
          </a:prstGeom>
          <a:solidFill>
            <a:srgbClr val="A7D7EC"/>
          </a:solidFill>
          <a:ln w="17145">
            <a:solidFill>
              <a:srgbClr val="087DAA"/>
            </a:solidFill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95" name="line-76">
            <a:extLst>
              <a:ext uri="{FF2B5EF4-FFF2-40B4-BE49-F238E27FC236}">
                <a16:creationId xmlns:a16="http://schemas.microsoft.com/office/drawing/2014/main" id="{8BA539E8-8698-4800-B373-AFCECFC451BE}"/>
              </a:ext>
            </a:extLst>
          </p:cNvPr>
          <p:cNvCxnSpPr/>
          <p:nvPr/>
        </p:nvCxnSpPr>
        <p:spPr>
          <a:xfrm>
            <a:off x="2142172" y="4987290"/>
            <a:ext cx="0" cy="133350"/>
          </a:xfrm>
          <a:prstGeom prst="straightConnector1">
            <a:avLst/>
          </a:prstGeom>
          <a:ln w="20955">
            <a:solidFill>
              <a:srgbClr val="5C99B5"/>
            </a:solidFill>
            <a:prstDash val="solid"/>
            <a:tailEnd type="none" w="med" len="med"/>
          </a:ln>
        </p:spPr>
      </p:cxnSp>
      <p:sp>
        <p:nvSpPr>
          <p:cNvPr id="96" name="object-77">
            <a:extLst>
              <a:ext uri="{FF2B5EF4-FFF2-40B4-BE49-F238E27FC236}">
                <a16:creationId xmlns:a16="http://schemas.microsoft.com/office/drawing/2014/main" id="{B4B63C16-1B1D-4636-9F6F-4AF59E70A1AA}"/>
              </a:ext>
            </a:extLst>
          </p:cNvPr>
          <p:cNvSpPr>
            <a:spLocks noGrp="1"/>
          </p:cNvSpPr>
          <p:nvPr/>
        </p:nvSpPr>
        <p:spPr>
          <a:xfrm>
            <a:off x="2248852" y="5120640"/>
            <a:ext cx="106680" cy="166688"/>
          </a:xfrm>
          <a:prstGeom prst="roundRect">
            <a:avLst>
              <a:gd name="adj" fmla="val 50000"/>
            </a:avLst>
          </a:prstGeom>
          <a:solidFill>
            <a:srgbClr val="A7D7EC"/>
          </a:solidFill>
          <a:ln w="17145">
            <a:solidFill>
              <a:srgbClr val="087DAA"/>
            </a:solidFill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97" name="line-78">
            <a:extLst>
              <a:ext uri="{FF2B5EF4-FFF2-40B4-BE49-F238E27FC236}">
                <a16:creationId xmlns:a16="http://schemas.microsoft.com/office/drawing/2014/main" id="{EEFAB0C4-2DE0-451E-AFA2-663A46E5FD7C}"/>
              </a:ext>
            </a:extLst>
          </p:cNvPr>
          <p:cNvCxnSpPr/>
          <p:nvPr/>
        </p:nvCxnSpPr>
        <p:spPr>
          <a:xfrm>
            <a:off x="2302192" y="4987290"/>
            <a:ext cx="0" cy="133350"/>
          </a:xfrm>
          <a:prstGeom prst="straightConnector1">
            <a:avLst/>
          </a:prstGeom>
          <a:ln w="20955">
            <a:solidFill>
              <a:srgbClr val="5C99B5"/>
            </a:solidFill>
            <a:prstDash val="solid"/>
            <a:tailEnd type="none" w="med" len="med"/>
          </a:ln>
        </p:spPr>
      </p:cxnSp>
      <p:sp>
        <p:nvSpPr>
          <p:cNvPr id="98" name="object-79">
            <a:extLst>
              <a:ext uri="{FF2B5EF4-FFF2-40B4-BE49-F238E27FC236}">
                <a16:creationId xmlns:a16="http://schemas.microsoft.com/office/drawing/2014/main" id="{6A0719B4-9149-4E17-86FE-C93A17D44BDD}"/>
              </a:ext>
            </a:extLst>
          </p:cNvPr>
          <p:cNvSpPr>
            <a:spLocks noGrp="1"/>
          </p:cNvSpPr>
          <p:nvPr/>
        </p:nvSpPr>
        <p:spPr>
          <a:xfrm>
            <a:off x="2408872" y="5120640"/>
            <a:ext cx="106680" cy="166688"/>
          </a:xfrm>
          <a:prstGeom prst="roundRect">
            <a:avLst>
              <a:gd name="adj" fmla="val 50000"/>
            </a:avLst>
          </a:prstGeom>
          <a:solidFill>
            <a:srgbClr val="A7D7EC"/>
          </a:solidFill>
          <a:ln w="17145">
            <a:solidFill>
              <a:srgbClr val="087DAA"/>
            </a:solidFill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99" name="line-80">
            <a:extLst>
              <a:ext uri="{FF2B5EF4-FFF2-40B4-BE49-F238E27FC236}">
                <a16:creationId xmlns:a16="http://schemas.microsoft.com/office/drawing/2014/main" id="{F9D1E78C-54AE-4098-8DA0-699867D1C748}"/>
              </a:ext>
            </a:extLst>
          </p:cNvPr>
          <p:cNvCxnSpPr/>
          <p:nvPr/>
        </p:nvCxnSpPr>
        <p:spPr>
          <a:xfrm>
            <a:off x="2462212" y="4987290"/>
            <a:ext cx="0" cy="133350"/>
          </a:xfrm>
          <a:prstGeom prst="straightConnector1">
            <a:avLst/>
          </a:prstGeom>
          <a:ln w="20955">
            <a:solidFill>
              <a:srgbClr val="5C99B5"/>
            </a:solidFill>
            <a:prstDash val="solid"/>
            <a:tailEnd type="none" w="med" len="med"/>
          </a:ln>
        </p:spPr>
      </p:cxnSp>
      <p:sp>
        <p:nvSpPr>
          <p:cNvPr id="100" name="object-81">
            <a:extLst>
              <a:ext uri="{FF2B5EF4-FFF2-40B4-BE49-F238E27FC236}">
                <a16:creationId xmlns:a16="http://schemas.microsoft.com/office/drawing/2014/main" id="{98D381FB-3B9A-41F9-9E01-284403697069}"/>
              </a:ext>
            </a:extLst>
          </p:cNvPr>
          <p:cNvSpPr>
            <a:spLocks noGrp="1"/>
          </p:cNvSpPr>
          <p:nvPr/>
        </p:nvSpPr>
        <p:spPr>
          <a:xfrm>
            <a:off x="2568892" y="5120640"/>
            <a:ext cx="106680" cy="166688"/>
          </a:xfrm>
          <a:prstGeom prst="roundRect">
            <a:avLst>
              <a:gd name="adj" fmla="val 50000"/>
            </a:avLst>
          </a:prstGeom>
          <a:solidFill>
            <a:srgbClr val="A7D7EC"/>
          </a:solidFill>
          <a:ln w="17145">
            <a:solidFill>
              <a:srgbClr val="087DAA"/>
            </a:solidFill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101" name="line-82">
            <a:extLst>
              <a:ext uri="{FF2B5EF4-FFF2-40B4-BE49-F238E27FC236}">
                <a16:creationId xmlns:a16="http://schemas.microsoft.com/office/drawing/2014/main" id="{428E4D5F-34F2-4783-885E-0D6A357D6577}"/>
              </a:ext>
            </a:extLst>
          </p:cNvPr>
          <p:cNvCxnSpPr/>
          <p:nvPr/>
        </p:nvCxnSpPr>
        <p:spPr>
          <a:xfrm>
            <a:off x="2622232" y="4987290"/>
            <a:ext cx="0" cy="133350"/>
          </a:xfrm>
          <a:prstGeom prst="straightConnector1">
            <a:avLst/>
          </a:prstGeom>
          <a:ln w="20955">
            <a:solidFill>
              <a:srgbClr val="5C99B5"/>
            </a:solidFill>
            <a:prstDash val="solid"/>
            <a:tailEnd type="none" w="med" len="med"/>
          </a:ln>
        </p:spPr>
      </p:cxnSp>
      <p:sp>
        <p:nvSpPr>
          <p:cNvPr id="102" name="object-83">
            <a:extLst>
              <a:ext uri="{FF2B5EF4-FFF2-40B4-BE49-F238E27FC236}">
                <a16:creationId xmlns:a16="http://schemas.microsoft.com/office/drawing/2014/main" id="{298AA457-DAED-4DF9-B6BD-36201664597C}"/>
              </a:ext>
            </a:extLst>
          </p:cNvPr>
          <p:cNvSpPr>
            <a:spLocks noGrp="1"/>
          </p:cNvSpPr>
          <p:nvPr/>
        </p:nvSpPr>
        <p:spPr>
          <a:xfrm>
            <a:off x="2728912" y="5120640"/>
            <a:ext cx="106680" cy="166688"/>
          </a:xfrm>
          <a:prstGeom prst="roundRect">
            <a:avLst>
              <a:gd name="adj" fmla="val 50000"/>
            </a:avLst>
          </a:prstGeom>
          <a:solidFill>
            <a:srgbClr val="A7D7EC"/>
          </a:solidFill>
          <a:ln w="17145">
            <a:solidFill>
              <a:srgbClr val="087DAA"/>
            </a:solidFill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103" name="line-84">
            <a:extLst>
              <a:ext uri="{FF2B5EF4-FFF2-40B4-BE49-F238E27FC236}">
                <a16:creationId xmlns:a16="http://schemas.microsoft.com/office/drawing/2014/main" id="{C596D9DE-8896-4CD1-B4CD-2161CEE9B7E5}"/>
              </a:ext>
            </a:extLst>
          </p:cNvPr>
          <p:cNvCxnSpPr/>
          <p:nvPr/>
        </p:nvCxnSpPr>
        <p:spPr>
          <a:xfrm>
            <a:off x="2782252" y="4987290"/>
            <a:ext cx="0" cy="133350"/>
          </a:xfrm>
          <a:prstGeom prst="straightConnector1">
            <a:avLst/>
          </a:prstGeom>
          <a:ln w="20955">
            <a:solidFill>
              <a:srgbClr val="5C99B5"/>
            </a:solidFill>
            <a:prstDash val="solid"/>
            <a:tailEnd type="none" w="med" len="med"/>
          </a:ln>
        </p:spPr>
      </p:cxnSp>
      <p:sp>
        <p:nvSpPr>
          <p:cNvPr id="104" name="object-85">
            <a:extLst>
              <a:ext uri="{FF2B5EF4-FFF2-40B4-BE49-F238E27FC236}">
                <a16:creationId xmlns:a16="http://schemas.microsoft.com/office/drawing/2014/main" id="{EF896B9C-4D74-4788-9D4A-183FFE1A3179}"/>
              </a:ext>
            </a:extLst>
          </p:cNvPr>
          <p:cNvSpPr>
            <a:spLocks noGrp="1"/>
          </p:cNvSpPr>
          <p:nvPr/>
        </p:nvSpPr>
        <p:spPr>
          <a:xfrm>
            <a:off x="2888932" y="5120640"/>
            <a:ext cx="106680" cy="166688"/>
          </a:xfrm>
          <a:prstGeom prst="roundRect">
            <a:avLst>
              <a:gd name="adj" fmla="val 50000"/>
            </a:avLst>
          </a:prstGeom>
          <a:solidFill>
            <a:srgbClr val="A7D7EC"/>
          </a:solidFill>
          <a:ln w="17145">
            <a:solidFill>
              <a:srgbClr val="087DAA"/>
            </a:solidFill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105" name="line-86">
            <a:extLst>
              <a:ext uri="{FF2B5EF4-FFF2-40B4-BE49-F238E27FC236}">
                <a16:creationId xmlns:a16="http://schemas.microsoft.com/office/drawing/2014/main" id="{F43026A9-1BEF-4EFD-8052-E9E79CAF1C1A}"/>
              </a:ext>
            </a:extLst>
          </p:cNvPr>
          <p:cNvCxnSpPr/>
          <p:nvPr/>
        </p:nvCxnSpPr>
        <p:spPr>
          <a:xfrm>
            <a:off x="2942272" y="4987290"/>
            <a:ext cx="0" cy="133350"/>
          </a:xfrm>
          <a:prstGeom prst="straightConnector1">
            <a:avLst/>
          </a:prstGeom>
          <a:ln w="20955">
            <a:solidFill>
              <a:srgbClr val="5C99B5"/>
            </a:solidFill>
            <a:prstDash val="solid"/>
            <a:tailEnd type="none" w="med" len="med"/>
          </a:ln>
        </p:spPr>
      </p:cxnSp>
      <p:sp>
        <p:nvSpPr>
          <p:cNvPr id="106" name="object-87">
            <a:extLst>
              <a:ext uri="{FF2B5EF4-FFF2-40B4-BE49-F238E27FC236}">
                <a16:creationId xmlns:a16="http://schemas.microsoft.com/office/drawing/2014/main" id="{B59A097C-2515-4D25-9A19-EF6988887AF9}"/>
              </a:ext>
            </a:extLst>
          </p:cNvPr>
          <p:cNvSpPr>
            <a:spLocks noGrp="1"/>
          </p:cNvSpPr>
          <p:nvPr/>
        </p:nvSpPr>
        <p:spPr>
          <a:xfrm>
            <a:off x="3709035" y="5053965"/>
            <a:ext cx="280035" cy="280035"/>
          </a:xfrm>
          <a:prstGeom prst="ellipse">
            <a:avLst/>
          </a:prstGeom>
          <a:solidFill>
            <a:srgbClr val="F6C28E"/>
          </a:solidFill>
          <a:ln w="17145">
            <a:solidFill>
              <a:srgbClr val="D8751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object-88">
            <a:extLst>
              <a:ext uri="{FF2B5EF4-FFF2-40B4-BE49-F238E27FC236}">
                <a16:creationId xmlns:a16="http://schemas.microsoft.com/office/drawing/2014/main" id="{311347C7-93E1-4654-8F4E-03017A26297A}"/>
              </a:ext>
            </a:extLst>
          </p:cNvPr>
          <p:cNvSpPr>
            <a:spLocks noGrp="1"/>
          </p:cNvSpPr>
          <p:nvPr/>
        </p:nvSpPr>
        <p:spPr>
          <a:xfrm>
            <a:off x="3709035" y="5053965"/>
            <a:ext cx="280035" cy="280035"/>
          </a:xfrm>
          <a:prstGeom prst="rect">
            <a:avLst/>
          </a:prstGeom>
          <a:noFill/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>
                <a:solidFill>
                  <a:srgbClr val="793A11"/>
                </a:solidFill>
                <a:latin typeface="Futura"/>
                <a:ea typeface="Futura"/>
                <a:cs typeface="Futura"/>
              </a:defRPr>
            </a:defPPr>
            <a:lvl1pPr algn="ctr">
              <a:defRPr sz="1650" b="0">
                <a:solidFill>
                  <a:srgbClr val="793A11"/>
                </a:solidFill>
                <a:latin typeface="Futura"/>
                <a:ea typeface="Futura"/>
                <a:cs typeface="Futura"/>
              </a:defRPr>
            </a:lvl1pPr>
            <a:lvl2pPr algn="ctr">
              <a:defRPr sz="1650" b="0">
                <a:solidFill>
                  <a:srgbClr val="793A11"/>
                </a:solidFill>
                <a:latin typeface="Futura"/>
                <a:ea typeface="Futura"/>
                <a:cs typeface="Futura"/>
              </a:defRPr>
            </a:lvl2pPr>
            <a:lvl3pPr algn="ctr">
              <a:defRPr sz="1650" b="0">
                <a:solidFill>
                  <a:srgbClr val="793A11"/>
                </a:solidFill>
                <a:latin typeface="Futura"/>
                <a:ea typeface="Futura"/>
                <a:cs typeface="Futura"/>
              </a:defRPr>
            </a:lvl3pPr>
            <a:lvl4pPr algn="ctr">
              <a:defRPr sz="1650" b="0">
                <a:solidFill>
                  <a:srgbClr val="793A11"/>
                </a:solidFill>
                <a:latin typeface="Futura"/>
                <a:ea typeface="Futura"/>
                <a:cs typeface="Futura"/>
              </a:defRPr>
            </a:lvl4pPr>
            <a:lvl5pPr algn="ctr">
              <a:defRPr sz="1650" b="0">
                <a:solidFill>
                  <a:srgbClr val="793A11"/>
                </a:solidFill>
                <a:latin typeface="Futura"/>
                <a:ea typeface="Futura"/>
                <a:cs typeface="Futura"/>
              </a:defRPr>
            </a:lvl5pPr>
            <a:lvl6pPr algn="ctr">
              <a:defRPr sz="1650" b="0">
                <a:solidFill>
                  <a:srgbClr val="793A11"/>
                </a:solidFill>
                <a:latin typeface="Futura"/>
                <a:ea typeface="Futura"/>
                <a:cs typeface="Futura"/>
              </a:defRPr>
            </a:lvl6pPr>
            <a:lvl7pPr algn="ctr">
              <a:defRPr sz="1650" b="0">
                <a:solidFill>
                  <a:srgbClr val="793A11"/>
                </a:solidFill>
                <a:latin typeface="Futura"/>
                <a:ea typeface="Futura"/>
                <a:cs typeface="Futura"/>
              </a:defRPr>
            </a:lvl7pPr>
            <a:lvl8pPr algn="ctr">
              <a:defRPr sz="1650" b="0">
                <a:solidFill>
                  <a:srgbClr val="793A11"/>
                </a:solidFill>
                <a:latin typeface="Futura"/>
                <a:ea typeface="Futura"/>
                <a:cs typeface="Futura"/>
              </a:defRPr>
            </a:lvl8pPr>
            <a:lvl9pPr algn="ctr">
              <a:defRPr sz="1650" b="0">
                <a:solidFill>
                  <a:srgbClr val="793A11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ctr">
              <a:defRPr sz="1650" b="0">
                <a:solidFill>
                  <a:srgbClr val="793A11"/>
                </a:solidFill>
                <a:latin typeface="Futura"/>
                <a:ea typeface="Futura"/>
                <a:cs typeface="Futura"/>
              </a:defRPr>
            </a:pPr>
            <a:r>
              <a:rPr sz="1650" b="0">
                <a:solidFill>
                  <a:srgbClr val="793A11"/>
                </a:solidFill>
                <a:latin typeface="Futura"/>
                <a:ea typeface="Futura"/>
                <a:cs typeface="Futura"/>
              </a:rPr>
              <a:t>C</a:t>
            </a:r>
          </a:p>
        </p:txBody>
      </p:sp>
      <p:cxnSp>
        <p:nvCxnSpPr>
          <p:cNvPr id="108" name="line-89">
            <a:extLst>
              <a:ext uri="{FF2B5EF4-FFF2-40B4-BE49-F238E27FC236}">
                <a16:creationId xmlns:a16="http://schemas.microsoft.com/office/drawing/2014/main" id="{DE5501BD-D56E-4189-A515-E321C4681846}"/>
              </a:ext>
            </a:extLst>
          </p:cNvPr>
          <p:cNvCxnSpPr/>
          <p:nvPr/>
        </p:nvCxnSpPr>
        <p:spPr>
          <a:xfrm>
            <a:off x="3849052" y="5013960"/>
            <a:ext cx="0" cy="33338"/>
          </a:xfrm>
          <a:prstGeom prst="straightConnector1">
            <a:avLst/>
          </a:prstGeom>
          <a:ln w="20955">
            <a:solidFill>
              <a:srgbClr val="D8751C"/>
            </a:solidFill>
            <a:prstDash val="solid"/>
            <a:tailEnd type="triangle" w="med" len="med"/>
          </a:ln>
        </p:spPr>
      </p:cxnSp>
      <p:sp>
        <p:nvSpPr>
          <p:cNvPr id="109" name="object-90">
            <a:extLst>
              <a:ext uri="{FF2B5EF4-FFF2-40B4-BE49-F238E27FC236}">
                <a16:creationId xmlns:a16="http://schemas.microsoft.com/office/drawing/2014/main" id="{B5E608EE-0A77-4B92-BE36-E5F20F669447}"/>
              </a:ext>
            </a:extLst>
          </p:cNvPr>
          <p:cNvSpPr>
            <a:spLocks noGrp="1"/>
          </p:cNvSpPr>
          <p:nvPr/>
        </p:nvSpPr>
        <p:spPr>
          <a:xfrm>
            <a:off x="723900" y="6010275"/>
            <a:ext cx="2095500" cy="304800"/>
          </a:xfrm>
          <a:prstGeom prst="rect">
            <a:avLst/>
          </a:prstGeom>
          <a:noFill/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defPPr>
            <a:lvl1pPr algn="l">
              <a:defRPr sz="1650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1pPr>
            <a:lvl2pPr algn="l">
              <a:defRPr sz="1650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2pPr>
            <a:lvl3pPr algn="l">
              <a:defRPr sz="1650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3pPr>
            <a:lvl4pPr algn="l">
              <a:defRPr sz="1650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4pPr>
            <a:lvl5pPr algn="l">
              <a:defRPr sz="1650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5pPr>
            <a:lvl6pPr algn="l">
              <a:defRPr sz="1650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6pPr>
            <a:lvl7pPr algn="l">
              <a:defRPr sz="1650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7pPr>
            <a:lvl8pPr algn="l">
              <a:defRPr sz="1650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8pPr>
            <a:lvl9pPr algn="l">
              <a:defRPr sz="1650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l">
              <a:defRPr sz="1650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pPr>
            <a:r>
              <a:rPr sz="1650" b="0" dirty="0">
                <a:solidFill>
                  <a:srgbClr val="172C3B"/>
                </a:solidFill>
                <a:latin typeface="Futura"/>
                <a:ea typeface="Futura"/>
                <a:cs typeface="Futura"/>
              </a:rPr>
              <a:t>APOE4 RNA</a:t>
            </a:r>
          </a:p>
        </p:txBody>
      </p:sp>
      <p:cxnSp>
        <p:nvCxnSpPr>
          <p:cNvPr id="110" name="line-91">
            <a:extLst>
              <a:ext uri="{FF2B5EF4-FFF2-40B4-BE49-F238E27FC236}">
                <a16:creationId xmlns:a16="http://schemas.microsoft.com/office/drawing/2014/main" id="{A4D102E3-26BA-448E-AEBF-FB3BA038B94A}"/>
              </a:ext>
            </a:extLst>
          </p:cNvPr>
          <p:cNvCxnSpPr/>
          <p:nvPr/>
        </p:nvCxnSpPr>
        <p:spPr>
          <a:xfrm>
            <a:off x="3849052" y="5374005"/>
            <a:ext cx="0" cy="293370"/>
          </a:xfrm>
          <a:prstGeom prst="straightConnector1">
            <a:avLst/>
          </a:prstGeom>
          <a:ln w="20955">
            <a:solidFill>
              <a:srgbClr val="D8751C"/>
            </a:solidFill>
            <a:prstDash val="solid"/>
            <a:tailEnd type="triangle" w="med" len="med"/>
          </a:ln>
        </p:spPr>
      </p:cxnSp>
      <p:sp>
        <p:nvSpPr>
          <p:cNvPr id="111" name="object-92">
            <a:extLst>
              <a:ext uri="{FF2B5EF4-FFF2-40B4-BE49-F238E27FC236}">
                <a16:creationId xmlns:a16="http://schemas.microsoft.com/office/drawing/2014/main" id="{C647B270-C926-444A-BE27-D19277936F4E}"/>
              </a:ext>
            </a:extLst>
          </p:cNvPr>
          <p:cNvSpPr>
            <a:spLocks noGrp="1"/>
          </p:cNvSpPr>
          <p:nvPr/>
        </p:nvSpPr>
        <p:spPr>
          <a:xfrm>
            <a:off x="3709035" y="5720715"/>
            <a:ext cx="280035" cy="280035"/>
          </a:xfrm>
          <a:prstGeom prst="ellipse">
            <a:avLst/>
          </a:prstGeom>
          <a:solidFill>
            <a:srgbClr val="A9D9B9"/>
          </a:solidFill>
          <a:ln w="17145">
            <a:solidFill>
              <a:srgbClr val="24824E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" name="object-93">
            <a:extLst>
              <a:ext uri="{FF2B5EF4-FFF2-40B4-BE49-F238E27FC236}">
                <a16:creationId xmlns:a16="http://schemas.microsoft.com/office/drawing/2014/main" id="{BAB287D2-5F07-456F-983E-911684F6BE60}"/>
              </a:ext>
            </a:extLst>
          </p:cNvPr>
          <p:cNvSpPr>
            <a:spLocks noGrp="1"/>
          </p:cNvSpPr>
          <p:nvPr/>
        </p:nvSpPr>
        <p:spPr>
          <a:xfrm>
            <a:off x="3709035" y="5720715"/>
            <a:ext cx="280035" cy="280035"/>
          </a:xfrm>
          <a:prstGeom prst="rect">
            <a:avLst/>
          </a:prstGeom>
          <a:noFill/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>
                <a:solidFill>
                  <a:srgbClr val="1E633B"/>
                </a:solidFill>
                <a:latin typeface="Futura"/>
                <a:ea typeface="Futura"/>
                <a:cs typeface="Futura"/>
              </a:defRPr>
            </a:defPPr>
            <a:lvl1pPr algn="ctr">
              <a:defRPr sz="1650" b="0">
                <a:solidFill>
                  <a:srgbClr val="1E633B"/>
                </a:solidFill>
                <a:latin typeface="Futura"/>
                <a:ea typeface="Futura"/>
                <a:cs typeface="Futura"/>
              </a:defRPr>
            </a:lvl1pPr>
            <a:lvl2pPr algn="ctr">
              <a:defRPr sz="1650" b="0">
                <a:solidFill>
                  <a:srgbClr val="1E633B"/>
                </a:solidFill>
                <a:latin typeface="Futura"/>
                <a:ea typeface="Futura"/>
                <a:cs typeface="Futura"/>
              </a:defRPr>
            </a:lvl2pPr>
            <a:lvl3pPr algn="ctr">
              <a:defRPr sz="1650" b="0">
                <a:solidFill>
                  <a:srgbClr val="1E633B"/>
                </a:solidFill>
                <a:latin typeface="Futura"/>
                <a:ea typeface="Futura"/>
                <a:cs typeface="Futura"/>
              </a:defRPr>
            </a:lvl3pPr>
            <a:lvl4pPr algn="ctr">
              <a:defRPr sz="1650" b="0">
                <a:solidFill>
                  <a:srgbClr val="1E633B"/>
                </a:solidFill>
                <a:latin typeface="Futura"/>
                <a:ea typeface="Futura"/>
                <a:cs typeface="Futura"/>
              </a:defRPr>
            </a:lvl4pPr>
            <a:lvl5pPr algn="ctr">
              <a:defRPr sz="1650" b="0">
                <a:solidFill>
                  <a:srgbClr val="1E633B"/>
                </a:solidFill>
                <a:latin typeface="Futura"/>
                <a:ea typeface="Futura"/>
                <a:cs typeface="Futura"/>
              </a:defRPr>
            </a:lvl5pPr>
            <a:lvl6pPr algn="ctr">
              <a:defRPr sz="1650" b="0">
                <a:solidFill>
                  <a:srgbClr val="1E633B"/>
                </a:solidFill>
                <a:latin typeface="Futura"/>
                <a:ea typeface="Futura"/>
                <a:cs typeface="Futura"/>
              </a:defRPr>
            </a:lvl6pPr>
            <a:lvl7pPr algn="ctr">
              <a:defRPr sz="1650" b="0">
                <a:solidFill>
                  <a:srgbClr val="1E633B"/>
                </a:solidFill>
                <a:latin typeface="Futura"/>
                <a:ea typeface="Futura"/>
                <a:cs typeface="Futura"/>
              </a:defRPr>
            </a:lvl7pPr>
            <a:lvl8pPr algn="ctr">
              <a:defRPr sz="1650" b="0">
                <a:solidFill>
                  <a:srgbClr val="1E633B"/>
                </a:solidFill>
                <a:latin typeface="Futura"/>
                <a:ea typeface="Futura"/>
                <a:cs typeface="Futura"/>
              </a:defRPr>
            </a:lvl8pPr>
            <a:lvl9pPr algn="ctr">
              <a:defRPr sz="1650" b="0">
                <a:solidFill>
                  <a:srgbClr val="1E633B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ctr">
              <a:defRPr sz="1650" b="0">
                <a:solidFill>
                  <a:srgbClr val="1E633B"/>
                </a:solidFill>
                <a:latin typeface="Futura"/>
                <a:ea typeface="Futura"/>
                <a:cs typeface="Futura"/>
              </a:defRPr>
            </a:pPr>
            <a:r>
              <a:rPr sz="1650" b="0">
                <a:solidFill>
                  <a:srgbClr val="1E633B"/>
                </a:solidFill>
                <a:latin typeface="Futura"/>
                <a:ea typeface="Futura"/>
                <a:cs typeface="Futura"/>
              </a:rPr>
              <a:t>U</a:t>
            </a:r>
          </a:p>
        </p:txBody>
      </p:sp>
      <p:cxnSp>
        <p:nvCxnSpPr>
          <p:cNvPr id="113" name="line-94">
            <a:extLst>
              <a:ext uri="{FF2B5EF4-FFF2-40B4-BE49-F238E27FC236}">
                <a16:creationId xmlns:a16="http://schemas.microsoft.com/office/drawing/2014/main" id="{28E7093D-FEBD-4515-A598-24AEA84FEE5C}"/>
              </a:ext>
            </a:extLst>
          </p:cNvPr>
          <p:cNvCxnSpPr/>
          <p:nvPr/>
        </p:nvCxnSpPr>
        <p:spPr>
          <a:xfrm>
            <a:off x="3542348" y="5860732"/>
            <a:ext cx="160020" cy="0"/>
          </a:xfrm>
          <a:prstGeom prst="straightConnector1">
            <a:avLst/>
          </a:prstGeom>
          <a:ln w="28575">
            <a:solidFill>
              <a:srgbClr val="35566A"/>
            </a:solidFill>
            <a:prstDash val="solid"/>
            <a:tailEnd type="none" w="med" len="med"/>
          </a:ln>
        </p:spPr>
      </p:cxnSp>
      <p:cxnSp>
        <p:nvCxnSpPr>
          <p:cNvPr id="114" name="line-95">
            <a:extLst>
              <a:ext uri="{FF2B5EF4-FFF2-40B4-BE49-F238E27FC236}">
                <a16:creationId xmlns:a16="http://schemas.microsoft.com/office/drawing/2014/main" id="{51E11502-048E-4838-BAF8-20BF7C770870}"/>
              </a:ext>
            </a:extLst>
          </p:cNvPr>
          <p:cNvCxnSpPr/>
          <p:nvPr/>
        </p:nvCxnSpPr>
        <p:spPr>
          <a:xfrm>
            <a:off x="3995738" y="5860732"/>
            <a:ext cx="166688" cy="0"/>
          </a:xfrm>
          <a:prstGeom prst="straightConnector1">
            <a:avLst/>
          </a:prstGeom>
          <a:ln w="28575">
            <a:solidFill>
              <a:srgbClr val="35566A"/>
            </a:solidFill>
            <a:prstDash val="solid"/>
            <a:tailEnd type="none" w="med" len="med"/>
          </a:ln>
        </p:spPr>
      </p:cxnSp>
      <p:sp>
        <p:nvSpPr>
          <p:cNvPr id="115" name="object-96">
            <a:extLst>
              <a:ext uri="{FF2B5EF4-FFF2-40B4-BE49-F238E27FC236}">
                <a16:creationId xmlns:a16="http://schemas.microsoft.com/office/drawing/2014/main" id="{B0D2199E-74FB-4563-A50D-43B2782831F4}"/>
              </a:ext>
            </a:extLst>
          </p:cNvPr>
          <p:cNvSpPr>
            <a:spLocks noGrp="1"/>
          </p:cNvSpPr>
          <p:nvPr/>
        </p:nvSpPr>
        <p:spPr>
          <a:xfrm>
            <a:off x="5448300" y="2952750"/>
            <a:ext cx="1409700" cy="438150"/>
          </a:xfrm>
          <a:prstGeom prst="roundRect">
            <a:avLst>
              <a:gd name="adj" fmla="val 22000"/>
            </a:avLst>
          </a:prstGeom>
          <a:solidFill>
            <a:srgbClr val="B95712"/>
          </a:solidFill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defPPr>
            <a:lvl1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lvl1pPr>
            <a:lvl2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lvl2pPr>
            <a:lvl3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lvl3pPr>
            <a:lvl4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lvl4pPr>
            <a:lvl5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lvl5pPr>
            <a:lvl6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lvl6pPr>
            <a:lvl7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lvl7pPr>
            <a:lvl8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lvl8pPr>
            <a:lvl9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pPr>
            <a:r>
              <a: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rPr>
              <a:t>MEASURE</a:t>
            </a:r>
          </a:p>
        </p:txBody>
      </p:sp>
      <p:sp>
        <p:nvSpPr>
          <p:cNvPr id="118" name="object-99">
            <a:extLst>
              <a:ext uri="{FF2B5EF4-FFF2-40B4-BE49-F238E27FC236}">
                <a16:creationId xmlns:a16="http://schemas.microsoft.com/office/drawing/2014/main" id="{0B96AF52-C5D4-40AA-8B52-FCC87E0263EF}"/>
              </a:ext>
            </a:extLst>
          </p:cNvPr>
          <p:cNvSpPr>
            <a:spLocks noGrp="1"/>
          </p:cNvSpPr>
          <p:nvPr/>
        </p:nvSpPr>
        <p:spPr>
          <a:xfrm>
            <a:off x="5448300" y="3790950"/>
            <a:ext cx="285750" cy="238125"/>
          </a:xfrm>
          <a:prstGeom prst="rect">
            <a:avLst/>
          </a:prstGeom>
          <a:noFill/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35566A"/>
                </a:solidFill>
                <a:latin typeface="Futura"/>
                <a:ea typeface="Futura"/>
                <a:cs typeface="Futura"/>
              </a:defRPr>
            </a:defPPr>
            <a:lvl1pPr algn="l">
              <a:defRPr sz="1425" b="0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1pPr>
            <a:lvl2pPr algn="l">
              <a:defRPr sz="1425" b="0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2pPr>
            <a:lvl3pPr algn="l">
              <a:defRPr sz="1425" b="0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3pPr>
            <a:lvl4pPr algn="l">
              <a:defRPr sz="1425" b="0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4pPr>
            <a:lvl5pPr algn="l">
              <a:defRPr sz="1425" b="0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5pPr>
            <a:lvl6pPr algn="l">
              <a:defRPr sz="1425" b="0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6pPr>
            <a:lvl7pPr algn="l">
              <a:defRPr sz="1425" b="0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7pPr>
            <a:lvl8pPr algn="l">
              <a:defRPr sz="1425" b="0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8pPr>
            <a:lvl9pPr algn="l">
              <a:defRPr sz="1425" b="0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l">
              <a:defRPr sz="1425" b="0">
                <a:solidFill>
                  <a:srgbClr val="35566A"/>
                </a:solidFill>
                <a:latin typeface="Futura"/>
                <a:ea typeface="Futura"/>
                <a:cs typeface="Futura"/>
              </a:defRPr>
            </a:pPr>
            <a:r>
              <a:rPr sz="1425" b="0">
                <a:solidFill>
                  <a:srgbClr val="35566A"/>
                </a:solidFill>
                <a:latin typeface="Futura"/>
                <a:ea typeface="Futura"/>
                <a:cs typeface="Futura"/>
              </a:rPr>
              <a:t>5′</a:t>
            </a:r>
          </a:p>
        </p:txBody>
      </p:sp>
      <p:sp>
        <p:nvSpPr>
          <p:cNvPr id="119" name="object-100">
            <a:extLst>
              <a:ext uri="{FF2B5EF4-FFF2-40B4-BE49-F238E27FC236}">
                <a16:creationId xmlns:a16="http://schemas.microsoft.com/office/drawing/2014/main" id="{1CEE0D7A-30A8-4070-9511-32AD90C193EB}"/>
              </a:ext>
            </a:extLst>
          </p:cNvPr>
          <p:cNvSpPr>
            <a:spLocks noGrp="1"/>
          </p:cNvSpPr>
          <p:nvPr/>
        </p:nvSpPr>
        <p:spPr>
          <a:xfrm>
            <a:off x="8315325" y="4733925"/>
            <a:ext cx="285750" cy="238125"/>
          </a:xfrm>
          <a:prstGeom prst="rect">
            <a:avLst/>
          </a:prstGeom>
          <a:noFill/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35566A"/>
                </a:solidFill>
                <a:latin typeface="Futura"/>
                <a:ea typeface="Futura"/>
                <a:cs typeface="Futura"/>
              </a:defRPr>
            </a:defPPr>
            <a:lvl1pPr algn="l">
              <a:defRPr sz="1425" b="0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1pPr>
            <a:lvl2pPr algn="l">
              <a:defRPr sz="1425" b="0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2pPr>
            <a:lvl3pPr algn="l">
              <a:defRPr sz="1425" b="0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3pPr>
            <a:lvl4pPr algn="l">
              <a:defRPr sz="1425" b="0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4pPr>
            <a:lvl5pPr algn="l">
              <a:defRPr sz="1425" b="0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5pPr>
            <a:lvl6pPr algn="l">
              <a:defRPr sz="1425" b="0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6pPr>
            <a:lvl7pPr algn="l">
              <a:defRPr sz="1425" b="0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7pPr>
            <a:lvl8pPr algn="l">
              <a:defRPr sz="1425" b="0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8pPr>
            <a:lvl9pPr algn="l">
              <a:defRPr sz="1425" b="0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l">
              <a:defRPr sz="1425" b="0">
                <a:solidFill>
                  <a:srgbClr val="35566A"/>
                </a:solidFill>
                <a:latin typeface="Futura"/>
                <a:ea typeface="Futura"/>
                <a:cs typeface="Futura"/>
              </a:defRPr>
            </a:pPr>
            <a:r>
              <a:rPr sz="1425" b="0">
                <a:solidFill>
                  <a:srgbClr val="35566A"/>
                </a:solidFill>
                <a:latin typeface="Futura"/>
                <a:ea typeface="Futura"/>
                <a:cs typeface="Futura"/>
              </a:rPr>
              <a:t>3′</a:t>
            </a:r>
          </a:p>
        </p:txBody>
      </p:sp>
      <p:cxnSp>
        <p:nvCxnSpPr>
          <p:cNvPr id="401" name="Portrait connector 401"/>
          <p:cNvCxnSpPr/>
          <p:nvPr/>
        </p:nvCxnSpPr>
        <p:spPr>
          <a:xfrm>
            <a:off x="5543550" y="4276725"/>
            <a:ext cx="2724150" cy="0"/>
          </a:xfrm>
          <a:prstGeom prst="straightConnector1">
            <a:avLst/>
          </a:prstGeom>
          <a:ln w="28575">
            <a:solidFill>
              <a:srgbClr val="35566A"/>
            </a:solidFill>
            <a:prstDash val="solid"/>
            <a:tailEnd type="none" w="med" len="med"/>
          </a:ln>
        </p:spPr>
      </p:cxnSp>
      <p:cxnSp>
        <p:nvCxnSpPr>
          <p:cNvPr id="402" name="Portrait connector 402"/>
          <p:cNvCxnSpPr/>
          <p:nvPr/>
        </p:nvCxnSpPr>
        <p:spPr>
          <a:xfrm>
            <a:off x="8267700" y="4276725"/>
            <a:ext cx="190500" cy="0"/>
          </a:xfrm>
          <a:prstGeom prst="straightConnector1">
            <a:avLst/>
          </a:prstGeom>
          <a:ln w="28575">
            <a:solidFill>
              <a:srgbClr val="35566A"/>
            </a:solidFill>
            <a:prstDash val="solid"/>
            <a:tailEnd type="none" w="med" len="med"/>
          </a:ln>
        </p:spPr>
      </p:cxnSp>
      <p:cxnSp>
        <p:nvCxnSpPr>
          <p:cNvPr id="403" name="Portrait connector 403"/>
          <p:cNvCxnSpPr/>
          <p:nvPr/>
        </p:nvCxnSpPr>
        <p:spPr>
          <a:xfrm>
            <a:off x="8458200" y="4276725"/>
            <a:ext cx="0" cy="295275"/>
          </a:xfrm>
          <a:prstGeom prst="straightConnector1">
            <a:avLst/>
          </a:prstGeom>
          <a:ln w="28575">
            <a:solidFill>
              <a:srgbClr val="35566A"/>
            </a:solidFill>
            <a:prstDash val="solid"/>
            <a:tailEnd type="none" w="med" len="med"/>
          </a:ln>
        </p:spPr>
      </p:cxnSp>
      <p:cxnSp>
        <p:nvCxnSpPr>
          <p:cNvPr id="404" name="Portrait connector 404"/>
          <p:cNvCxnSpPr/>
          <p:nvPr/>
        </p:nvCxnSpPr>
        <p:spPr>
          <a:xfrm flipH="1">
            <a:off x="5543550" y="4572000"/>
            <a:ext cx="2914650" cy="0"/>
          </a:xfrm>
          <a:prstGeom prst="straightConnector1">
            <a:avLst/>
          </a:prstGeom>
          <a:ln w="28575">
            <a:solidFill>
              <a:srgbClr val="35566A"/>
            </a:solidFill>
            <a:prstDash val="solid"/>
            <a:tailEnd type="none" w="med" len="med"/>
          </a:ln>
        </p:spPr>
      </p:cxnSp>
      <p:cxnSp>
        <p:nvCxnSpPr>
          <p:cNvPr id="405" name="Portrait connector 405"/>
          <p:cNvCxnSpPr/>
          <p:nvPr/>
        </p:nvCxnSpPr>
        <p:spPr>
          <a:xfrm>
            <a:off x="5543550" y="4572000"/>
            <a:ext cx="0" cy="295275"/>
          </a:xfrm>
          <a:prstGeom prst="straightConnector1">
            <a:avLst/>
          </a:prstGeom>
          <a:ln w="28575">
            <a:solidFill>
              <a:srgbClr val="35566A"/>
            </a:solidFill>
            <a:prstDash val="solid"/>
            <a:tailEnd type="none" w="med" len="med"/>
          </a:ln>
        </p:spPr>
      </p:cxnSp>
      <p:cxnSp>
        <p:nvCxnSpPr>
          <p:cNvPr id="406" name="Portrait connector 406"/>
          <p:cNvCxnSpPr/>
          <p:nvPr/>
        </p:nvCxnSpPr>
        <p:spPr>
          <a:xfrm>
            <a:off x="5543550" y="4867275"/>
            <a:ext cx="2724150" cy="0"/>
          </a:xfrm>
          <a:prstGeom prst="straightConnector1">
            <a:avLst/>
          </a:prstGeom>
          <a:ln w="28575">
            <a:solidFill>
              <a:srgbClr val="35566A"/>
            </a:solidFill>
            <a:prstDash val="solid"/>
            <a:tailEnd type="none" w="med" len="med"/>
          </a:ln>
        </p:spPr>
      </p:cxnSp>
      <p:sp>
        <p:nvSpPr>
          <p:cNvPr id="120" name="object-101">
            <a:extLst>
              <a:ext uri="{FF2B5EF4-FFF2-40B4-BE49-F238E27FC236}">
                <a16:creationId xmlns:a16="http://schemas.microsoft.com/office/drawing/2014/main" id="{69A0EA10-3C32-4B7A-BC48-E48AFEEB2257}"/>
              </a:ext>
            </a:extLst>
          </p:cNvPr>
          <p:cNvSpPr>
            <a:spLocks noGrp="1"/>
          </p:cNvSpPr>
          <p:nvPr/>
        </p:nvSpPr>
        <p:spPr>
          <a:xfrm>
            <a:off x="5638800" y="4105275"/>
            <a:ext cx="895350" cy="342900"/>
          </a:xfrm>
          <a:prstGeom prst="roundRect">
            <a:avLst>
              <a:gd name="adj" fmla="val 22222"/>
            </a:avLst>
          </a:prstGeom>
          <a:solidFill>
            <a:srgbClr val="F6C7CF"/>
          </a:solidFill>
          <a:ln w="21908">
            <a:solidFill>
              <a:srgbClr val="CB3D5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1" name="object-102">
            <a:extLst>
              <a:ext uri="{FF2B5EF4-FFF2-40B4-BE49-F238E27FC236}">
                <a16:creationId xmlns:a16="http://schemas.microsoft.com/office/drawing/2014/main" id="{2CC0D623-2A14-459E-8601-E57591651B59}"/>
              </a:ext>
            </a:extLst>
          </p:cNvPr>
          <p:cNvSpPr>
            <a:spLocks noGrp="1"/>
          </p:cNvSpPr>
          <p:nvPr/>
        </p:nvSpPr>
        <p:spPr>
          <a:xfrm>
            <a:off x="5638800" y="4105275"/>
            <a:ext cx="895350" cy="342900"/>
          </a:xfrm>
          <a:prstGeom prst="rect">
            <a:avLst/>
          </a:prstGeom>
          <a:noFill/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>
                <a:solidFill>
                  <a:srgbClr val="CB3D58"/>
                </a:solidFill>
                <a:latin typeface="Futura"/>
                <a:ea typeface="Futura"/>
                <a:cs typeface="Futura"/>
              </a:defRPr>
            </a:defPPr>
            <a:lvl1pPr algn="ctr">
              <a:defRPr sz="1575" b="0">
                <a:solidFill>
                  <a:srgbClr val="CB3D58"/>
                </a:solidFill>
                <a:latin typeface="Futura"/>
                <a:ea typeface="Futura"/>
                <a:cs typeface="Futura"/>
              </a:defRPr>
            </a:lvl1pPr>
            <a:lvl2pPr algn="ctr">
              <a:defRPr sz="1575" b="0">
                <a:solidFill>
                  <a:srgbClr val="CB3D58"/>
                </a:solidFill>
                <a:latin typeface="Futura"/>
                <a:ea typeface="Futura"/>
                <a:cs typeface="Futura"/>
              </a:defRPr>
            </a:lvl2pPr>
            <a:lvl3pPr algn="ctr">
              <a:defRPr sz="1575" b="0">
                <a:solidFill>
                  <a:srgbClr val="CB3D58"/>
                </a:solidFill>
                <a:latin typeface="Futura"/>
                <a:ea typeface="Futura"/>
                <a:cs typeface="Futura"/>
              </a:defRPr>
            </a:lvl3pPr>
            <a:lvl4pPr algn="ctr">
              <a:defRPr sz="1575" b="0">
                <a:solidFill>
                  <a:srgbClr val="CB3D58"/>
                </a:solidFill>
                <a:latin typeface="Futura"/>
                <a:ea typeface="Futura"/>
                <a:cs typeface="Futura"/>
              </a:defRPr>
            </a:lvl4pPr>
            <a:lvl5pPr algn="ctr">
              <a:defRPr sz="1575" b="0">
                <a:solidFill>
                  <a:srgbClr val="CB3D58"/>
                </a:solidFill>
                <a:latin typeface="Futura"/>
                <a:ea typeface="Futura"/>
                <a:cs typeface="Futura"/>
              </a:defRPr>
            </a:lvl5pPr>
            <a:lvl6pPr algn="ctr">
              <a:defRPr sz="1575" b="0">
                <a:solidFill>
                  <a:srgbClr val="CB3D58"/>
                </a:solidFill>
                <a:latin typeface="Futura"/>
                <a:ea typeface="Futura"/>
                <a:cs typeface="Futura"/>
              </a:defRPr>
            </a:lvl6pPr>
            <a:lvl7pPr algn="ctr">
              <a:defRPr sz="1575" b="0">
                <a:solidFill>
                  <a:srgbClr val="CB3D58"/>
                </a:solidFill>
                <a:latin typeface="Futura"/>
                <a:ea typeface="Futura"/>
                <a:cs typeface="Futura"/>
              </a:defRPr>
            </a:lvl7pPr>
            <a:lvl8pPr algn="ctr">
              <a:defRPr sz="1575" b="0">
                <a:solidFill>
                  <a:srgbClr val="CB3D58"/>
                </a:solidFill>
                <a:latin typeface="Futura"/>
                <a:ea typeface="Futura"/>
                <a:cs typeface="Futura"/>
              </a:defRPr>
            </a:lvl8pPr>
            <a:lvl9pPr algn="ctr">
              <a:defRPr sz="1575" b="0">
                <a:solidFill>
                  <a:srgbClr val="CB3D58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ctr">
              <a:defRPr sz="1575" b="0">
                <a:solidFill>
                  <a:srgbClr val="CB3D58"/>
                </a:solidFill>
                <a:latin typeface="Futura"/>
                <a:ea typeface="Futura"/>
                <a:cs typeface="Futura"/>
              </a:defRPr>
            </a:pPr>
            <a:r>
              <a:rPr sz="1575" b="0">
                <a:solidFill>
                  <a:srgbClr val="CB3D58"/>
                </a:solidFill>
                <a:latin typeface="Futura"/>
                <a:ea typeface="Futura"/>
                <a:cs typeface="Futura"/>
              </a:rPr>
              <a:t>mCherry</a:t>
            </a:r>
          </a:p>
        </p:txBody>
      </p:sp>
      <p:sp>
        <p:nvSpPr>
          <p:cNvPr id="122" name="object-103">
            <a:extLst>
              <a:ext uri="{FF2B5EF4-FFF2-40B4-BE49-F238E27FC236}">
                <a16:creationId xmlns:a16="http://schemas.microsoft.com/office/drawing/2014/main" id="{D94EA09B-C9AD-468C-A40F-037FC51A9793}"/>
              </a:ext>
            </a:extLst>
          </p:cNvPr>
          <p:cNvSpPr>
            <a:spLocks noGrp="1"/>
          </p:cNvSpPr>
          <p:nvPr/>
        </p:nvSpPr>
        <p:spPr>
          <a:xfrm>
            <a:off x="6648450" y="4105275"/>
            <a:ext cx="457200" cy="342900"/>
          </a:xfrm>
          <a:prstGeom prst="roundRect">
            <a:avLst>
              <a:gd name="adj" fmla="val 22222"/>
            </a:avLst>
          </a:prstGeom>
          <a:solidFill>
            <a:srgbClr val="E2E9EE"/>
          </a:solidFill>
          <a:ln w="21908">
            <a:solidFill>
              <a:srgbClr val="536C8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" name="object-104">
            <a:extLst>
              <a:ext uri="{FF2B5EF4-FFF2-40B4-BE49-F238E27FC236}">
                <a16:creationId xmlns:a16="http://schemas.microsoft.com/office/drawing/2014/main" id="{65BB5679-9CFD-449B-B228-21E06A310D9B}"/>
              </a:ext>
            </a:extLst>
          </p:cNvPr>
          <p:cNvSpPr>
            <a:spLocks noGrp="1"/>
          </p:cNvSpPr>
          <p:nvPr/>
        </p:nvSpPr>
        <p:spPr>
          <a:xfrm>
            <a:off x="6648450" y="4105275"/>
            <a:ext cx="457200" cy="342900"/>
          </a:xfrm>
          <a:prstGeom prst="rect">
            <a:avLst/>
          </a:prstGeom>
          <a:noFill/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>
                <a:solidFill>
                  <a:srgbClr val="536C80"/>
                </a:solidFill>
                <a:latin typeface="Futura"/>
                <a:ea typeface="Futura"/>
                <a:cs typeface="Futura"/>
              </a:defRPr>
            </a:defPPr>
            <a:lvl1pPr algn="ctr">
              <a:defRPr sz="1350" b="0">
                <a:solidFill>
                  <a:srgbClr val="536C80"/>
                </a:solidFill>
                <a:latin typeface="Futura"/>
                <a:ea typeface="Futura"/>
                <a:cs typeface="Futura"/>
              </a:defRPr>
            </a:lvl1pPr>
            <a:lvl2pPr algn="ctr">
              <a:defRPr sz="1350" b="0">
                <a:solidFill>
                  <a:srgbClr val="536C80"/>
                </a:solidFill>
                <a:latin typeface="Futura"/>
                <a:ea typeface="Futura"/>
                <a:cs typeface="Futura"/>
              </a:defRPr>
            </a:lvl2pPr>
            <a:lvl3pPr algn="ctr">
              <a:defRPr sz="1350" b="0">
                <a:solidFill>
                  <a:srgbClr val="536C80"/>
                </a:solidFill>
                <a:latin typeface="Futura"/>
                <a:ea typeface="Futura"/>
                <a:cs typeface="Futura"/>
              </a:defRPr>
            </a:lvl3pPr>
            <a:lvl4pPr algn="ctr">
              <a:defRPr sz="1350" b="0">
                <a:solidFill>
                  <a:srgbClr val="536C80"/>
                </a:solidFill>
                <a:latin typeface="Futura"/>
                <a:ea typeface="Futura"/>
                <a:cs typeface="Futura"/>
              </a:defRPr>
            </a:lvl4pPr>
            <a:lvl5pPr algn="ctr">
              <a:defRPr sz="1350" b="0">
                <a:solidFill>
                  <a:srgbClr val="536C80"/>
                </a:solidFill>
                <a:latin typeface="Futura"/>
                <a:ea typeface="Futura"/>
                <a:cs typeface="Futura"/>
              </a:defRPr>
            </a:lvl5pPr>
            <a:lvl6pPr algn="ctr">
              <a:defRPr sz="1350" b="0">
                <a:solidFill>
                  <a:srgbClr val="536C80"/>
                </a:solidFill>
                <a:latin typeface="Futura"/>
                <a:ea typeface="Futura"/>
                <a:cs typeface="Futura"/>
              </a:defRPr>
            </a:lvl6pPr>
            <a:lvl7pPr algn="ctr">
              <a:defRPr sz="1350" b="0">
                <a:solidFill>
                  <a:srgbClr val="536C80"/>
                </a:solidFill>
                <a:latin typeface="Futura"/>
                <a:ea typeface="Futura"/>
                <a:cs typeface="Futura"/>
              </a:defRPr>
            </a:lvl7pPr>
            <a:lvl8pPr algn="ctr">
              <a:defRPr sz="1350" b="0">
                <a:solidFill>
                  <a:srgbClr val="536C80"/>
                </a:solidFill>
                <a:latin typeface="Futura"/>
                <a:ea typeface="Futura"/>
                <a:cs typeface="Futura"/>
              </a:defRPr>
            </a:lvl8pPr>
            <a:lvl9pPr algn="ctr">
              <a:defRPr sz="1350" b="0">
                <a:solidFill>
                  <a:srgbClr val="536C80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ctr">
              <a:defRPr sz="1350" b="0">
                <a:solidFill>
                  <a:srgbClr val="536C80"/>
                </a:solidFill>
                <a:latin typeface="Futura"/>
                <a:ea typeface="Futura"/>
                <a:cs typeface="Futura"/>
              </a:defRPr>
            </a:pPr>
            <a:r>
              <a:rPr sz="1350" b="0">
                <a:solidFill>
                  <a:srgbClr val="536C80"/>
                </a:solidFill>
                <a:latin typeface="Futura"/>
                <a:ea typeface="Futura"/>
                <a:cs typeface="Futura"/>
              </a:rPr>
              <a:t>P2A</a:t>
            </a:r>
          </a:p>
        </p:txBody>
      </p:sp>
      <p:sp>
        <p:nvSpPr>
          <p:cNvPr id="124" name="object-105">
            <a:extLst>
              <a:ext uri="{FF2B5EF4-FFF2-40B4-BE49-F238E27FC236}">
                <a16:creationId xmlns:a16="http://schemas.microsoft.com/office/drawing/2014/main" id="{EC8C40A9-744C-4C1E-BD75-BBE458622C3A}"/>
              </a:ext>
            </a:extLst>
          </p:cNvPr>
          <p:cNvSpPr>
            <a:spLocks noGrp="1"/>
          </p:cNvSpPr>
          <p:nvPr/>
        </p:nvSpPr>
        <p:spPr>
          <a:xfrm>
            <a:off x="7219950" y="4105275"/>
            <a:ext cx="809625" cy="342900"/>
          </a:xfrm>
          <a:prstGeom prst="roundRect">
            <a:avLst>
              <a:gd name="adj" fmla="val 22222"/>
            </a:avLst>
          </a:prstGeom>
          <a:solidFill>
            <a:srgbClr val="BDE5CA"/>
          </a:solidFill>
          <a:ln w="21908">
            <a:solidFill>
              <a:srgbClr val="23855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5" name="object-106">
            <a:extLst>
              <a:ext uri="{FF2B5EF4-FFF2-40B4-BE49-F238E27FC236}">
                <a16:creationId xmlns:a16="http://schemas.microsoft.com/office/drawing/2014/main" id="{D6F36DDA-D14B-4E36-B4E8-443D85F510EE}"/>
              </a:ext>
            </a:extLst>
          </p:cNvPr>
          <p:cNvSpPr>
            <a:spLocks noGrp="1"/>
          </p:cNvSpPr>
          <p:nvPr/>
        </p:nvSpPr>
        <p:spPr>
          <a:xfrm>
            <a:off x="7219950" y="4105275"/>
            <a:ext cx="809625" cy="342900"/>
          </a:xfrm>
          <a:prstGeom prst="rect">
            <a:avLst/>
          </a:prstGeom>
          <a:noFill/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>
                <a:solidFill>
                  <a:srgbClr val="238552"/>
                </a:solidFill>
                <a:latin typeface="Futura"/>
                <a:ea typeface="Futura"/>
                <a:cs typeface="Futura"/>
              </a:defRPr>
            </a:defPPr>
            <a:lvl1pPr algn="ctr">
              <a:defRPr sz="1650" b="0">
                <a:solidFill>
                  <a:srgbClr val="238552"/>
                </a:solidFill>
                <a:latin typeface="Futura"/>
                <a:ea typeface="Futura"/>
                <a:cs typeface="Futura"/>
              </a:defRPr>
            </a:lvl1pPr>
            <a:lvl2pPr algn="ctr">
              <a:defRPr sz="1650" b="0">
                <a:solidFill>
                  <a:srgbClr val="238552"/>
                </a:solidFill>
                <a:latin typeface="Futura"/>
                <a:ea typeface="Futura"/>
                <a:cs typeface="Futura"/>
              </a:defRPr>
            </a:lvl2pPr>
            <a:lvl3pPr algn="ctr">
              <a:defRPr sz="1650" b="0">
                <a:solidFill>
                  <a:srgbClr val="238552"/>
                </a:solidFill>
                <a:latin typeface="Futura"/>
                <a:ea typeface="Futura"/>
                <a:cs typeface="Futura"/>
              </a:defRPr>
            </a:lvl3pPr>
            <a:lvl4pPr algn="ctr">
              <a:defRPr sz="1650" b="0">
                <a:solidFill>
                  <a:srgbClr val="238552"/>
                </a:solidFill>
                <a:latin typeface="Futura"/>
                <a:ea typeface="Futura"/>
                <a:cs typeface="Futura"/>
              </a:defRPr>
            </a:lvl4pPr>
            <a:lvl5pPr algn="ctr">
              <a:defRPr sz="1650" b="0">
                <a:solidFill>
                  <a:srgbClr val="238552"/>
                </a:solidFill>
                <a:latin typeface="Futura"/>
                <a:ea typeface="Futura"/>
                <a:cs typeface="Futura"/>
              </a:defRPr>
            </a:lvl5pPr>
            <a:lvl6pPr algn="ctr">
              <a:defRPr sz="1650" b="0">
                <a:solidFill>
                  <a:srgbClr val="238552"/>
                </a:solidFill>
                <a:latin typeface="Futura"/>
                <a:ea typeface="Futura"/>
                <a:cs typeface="Futura"/>
              </a:defRPr>
            </a:lvl6pPr>
            <a:lvl7pPr algn="ctr">
              <a:defRPr sz="1650" b="0">
                <a:solidFill>
                  <a:srgbClr val="238552"/>
                </a:solidFill>
                <a:latin typeface="Futura"/>
                <a:ea typeface="Futura"/>
                <a:cs typeface="Futura"/>
              </a:defRPr>
            </a:lvl7pPr>
            <a:lvl8pPr algn="ctr">
              <a:defRPr sz="1650" b="0">
                <a:solidFill>
                  <a:srgbClr val="238552"/>
                </a:solidFill>
                <a:latin typeface="Futura"/>
                <a:ea typeface="Futura"/>
                <a:cs typeface="Futura"/>
              </a:defRPr>
            </a:lvl8pPr>
            <a:lvl9pPr algn="ctr">
              <a:defRPr sz="1650" b="0">
                <a:solidFill>
                  <a:srgbClr val="238552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ctr">
              <a:defRPr sz="1650" b="0">
                <a:solidFill>
                  <a:srgbClr val="238552"/>
                </a:solidFill>
                <a:latin typeface="Futura"/>
                <a:ea typeface="Futura"/>
                <a:cs typeface="Futura"/>
              </a:defRPr>
            </a:pPr>
            <a:r>
              <a:rPr sz="1650" b="0">
                <a:solidFill>
                  <a:srgbClr val="238552"/>
                </a:solidFill>
                <a:latin typeface="Futura"/>
                <a:ea typeface="Futura"/>
                <a:cs typeface="Futura"/>
              </a:rPr>
              <a:t>EGFP</a:t>
            </a:r>
          </a:p>
        </p:txBody>
      </p:sp>
      <p:sp>
        <p:nvSpPr>
          <p:cNvPr id="126" name="object-107">
            <a:extLst>
              <a:ext uri="{FF2B5EF4-FFF2-40B4-BE49-F238E27FC236}">
                <a16:creationId xmlns:a16="http://schemas.microsoft.com/office/drawing/2014/main" id="{BCBA8277-E27A-4ED5-A8BF-FC319E5D533E}"/>
              </a:ext>
            </a:extLst>
          </p:cNvPr>
          <p:cNvSpPr>
            <a:spLocks noGrp="1"/>
          </p:cNvSpPr>
          <p:nvPr/>
        </p:nvSpPr>
        <p:spPr>
          <a:xfrm>
            <a:off x="5791200" y="4695825"/>
            <a:ext cx="914400" cy="342900"/>
          </a:xfrm>
          <a:prstGeom prst="roundRect">
            <a:avLst>
              <a:gd name="adj" fmla="val 22222"/>
            </a:avLst>
          </a:prstGeom>
          <a:solidFill>
            <a:srgbClr val="F8D3A9"/>
          </a:solidFill>
          <a:ln w="21908">
            <a:solidFill>
              <a:srgbClr val="B9571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7" name="object-108">
            <a:extLst>
              <a:ext uri="{FF2B5EF4-FFF2-40B4-BE49-F238E27FC236}">
                <a16:creationId xmlns:a16="http://schemas.microsoft.com/office/drawing/2014/main" id="{B7A8A2BC-2482-4934-B45A-BFD4C89E3275}"/>
              </a:ext>
            </a:extLst>
          </p:cNvPr>
          <p:cNvSpPr>
            <a:spLocks noGrp="1"/>
          </p:cNvSpPr>
          <p:nvPr/>
        </p:nvSpPr>
        <p:spPr>
          <a:xfrm>
            <a:off x="5791200" y="4695825"/>
            <a:ext cx="914400" cy="342900"/>
          </a:xfrm>
          <a:prstGeom prst="rect">
            <a:avLst/>
          </a:prstGeom>
          <a:noFill/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25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defPPr>
            <a:lvl1pPr algn="ctr">
              <a:defRPr sz="1725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1pPr>
            <a:lvl2pPr algn="ctr">
              <a:defRPr sz="1725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2pPr>
            <a:lvl3pPr algn="ctr">
              <a:defRPr sz="1725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3pPr>
            <a:lvl4pPr algn="ctr">
              <a:defRPr sz="1725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4pPr>
            <a:lvl5pPr algn="ctr">
              <a:defRPr sz="1725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5pPr>
            <a:lvl6pPr algn="ctr">
              <a:defRPr sz="1725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6pPr>
            <a:lvl7pPr algn="ctr">
              <a:defRPr sz="1725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7pPr>
            <a:lvl8pPr algn="ctr">
              <a:defRPr sz="1725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8pPr>
            <a:lvl9pPr algn="ctr">
              <a:defRPr sz="1725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ctr">
              <a:defRPr sz="1725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pPr>
            <a:r>
              <a:rPr sz="1725" b="0">
                <a:solidFill>
                  <a:srgbClr val="B95712"/>
                </a:solidFill>
                <a:latin typeface="Futura"/>
                <a:ea typeface="Futura"/>
                <a:cs typeface="Futura"/>
              </a:rPr>
              <a:t>CGA</a:t>
            </a:r>
          </a:p>
        </p:txBody>
      </p:sp>
      <p:sp>
        <p:nvSpPr>
          <p:cNvPr id="128" name="object-109">
            <a:extLst>
              <a:ext uri="{FF2B5EF4-FFF2-40B4-BE49-F238E27FC236}">
                <a16:creationId xmlns:a16="http://schemas.microsoft.com/office/drawing/2014/main" id="{1E94EA39-658C-48CE-A246-7267AB795DCC}"/>
              </a:ext>
            </a:extLst>
          </p:cNvPr>
          <p:cNvSpPr>
            <a:spLocks noGrp="1"/>
          </p:cNvSpPr>
          <p:nvPr/>
        </p:nvSpPr>
        <p:spPr>
          <a:xfrm>
            <a:off x="6819900" y="4695825"/>
            <a:ext cx="1028700" cy="342900"/>
          </a:xfrm>
          <a:prstGeom prst="roundRect">
            <a:avLst>
              <a:gd name="adj" fmla="val 22222"/>
            </a:avLst>
          </a:prstGeom>
          <a:solidFill>
            <a:srgbClr val="DEE5EC"/>
          </a:solidFill>
          <a:ln w="21908">
            <a:solidFill>
              <a:srgbClr val="64778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9" name="object-110">
            <a:extLst>
              <a:ext uri="{FF2B5EF4-FFF2-40B4-BE49-F238E27FC236}">
                <a16:creationId xmlns:a16="http://schemas.microsoft.com/office/drawing/2014/main" id="{C4483716-60D1-4F38-ABA8-FF6BF3A42F41}"/>
              </a:ext>
            </a:extLst>
          </p:cNvPr>
          <p:cNvSpPr>
            <a:spLocks noGrp="1"/>
          </p:cNvSpPr>
          <p:nvPr/>
        </p:nvSpPr>
        <p:spPr>
          <a:xfrm>
            <a:off x="6819900" y="4695825"/>
            <a:ext cx="1028700" cy="342900"/>
          </a:xfrm>
          <a:prstGeom prst="rect">
            <a:avLst/>
          </a:prstGeom>
          <a:noFill/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0">
                <a:solidFill>
                  <a:srgbClr val="64778A"/>
                </a:solidFill>
                <a:latin typeface="Futura"/>
                <a:ea typeface="Futura"/>
                <a:cs typeface="Futura"/>
              </a:defRPr>
            </a:defPPr>
            <a:lvl1pPr algn="ctr">
              <a:defRPr sz="1275" b="0">
                <a:solidFill>
                  <a:srgbClr val="64778A"/>
                </a:solidFill>
                <a:latin typeface="Futura"/>
                <a:ea typeface="Futura"/>
                <a:cs typeface="Futura"/>
              </a:defRPr>
            </a:lvl1pPr>
            <a:lvl2pPr algn="ctr">
              <a:defRPr sz="1275" b="0">
                <a:solidFill>
                  <a:srgbClr val="64778A"/>
                </a:solidFill>
                <a:latin typeface="Futura"/>
                <a:ea typeface="Futura"/>
                <a:cs typeface="Futura"/>
              </a:defRPr>
            </a:lvl2pPr>
            <a:lvl3pPr algn="ctr">
              <a:defRPr sz="1275" b="0">
                <a:solidFill>
                  <a:srgbClr val="64778A"/>
                </a:solidFill>
                <a:latin typeface="Futura"/>
                <a:ea typeface="Futura"/>
                <a:cs typeface="Futura"/>
              </a:defRPr>
            </a:lvl3pPr>
            <a:lvl4pPr algn="ctr">
              <a:defRPr sz="1275" b="0">
                <a:solidFill>
                  <a:srgbClr val="64778A"/>
                </a:solidFill>
                <a:latin typeface="Futura"/>
                <a:ea typeface="Futura"/>
                <a:cs typeface="Futura"/>
              </a:defRPr>
            </a:lvl4pPr>
            <a:lvl5pPr algn="ctr">
              <a:defRPr sz="1275" b="0">
                <a:solidFill>
                  <a:srgbClr val="64778A"/>
                </a:solidFill>
                <a:latin typeface="Futura"/>
                <a:ea typeface="Futura"/>
                <a:cs typeface="Futura"/>
              </a:defRPr>
            </a:lvl5pPr>
            <a:lvl6pPr algn="ctr">
              <a:defRPr sz="1275" b="0">
                <a:solidFill>
                  <a:srgbClr val="64778A"/>
                </a:solidFill>
                <a:latin typeface="Futura"/>
                <a:ea typeface="Futura"/>
                <a:cs typeface="Futura"/>
              </a:defRPr>
            </a:lvl6pPr>
            <a:lvl7pPr algn="ctr">
              <a:defRPr sz="1275" b="0">
                <a:solidFill>
                  <a:srgbClr val="64778A"/>
                </a:solidFill>
                <a:latin typeface="Futura"/>
                <a:ea typeface="Futura"/>
                <a:cs typeface="Futura"/>
              </a:defRPr>
            </a:lvl7pPr>
            <a:lvl8pPr algn="ctr">
              <a:defRPr sz="1275" b="0">
                <a:solidFill>
                  <a:srgbClr val="64778A"/>
                </a:solidFill>
                <a:latin typeface="Futura"/>
                <a:ea typeface="Futura"/>
                <a:cs typeface="Futura"/>
              </a:defRPr>
            </a:lvl8pPr>
            <a:lvl9pPr algn="ctr">
              <a:defRPr sz="1275" b="0">
                <a:solidFill>
                  <a:srgbClr val="64778A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ctr">
              <a:defRPr sz="1275" b="0">
                <a:solidFill>
                  <a:srgbClr val="64778A"/>
                </a:solidFill>
                <a:latin typeface="Futura"/>
                <a:ea typeface="Futura"/>
                <a:cs typeface="Futura"/>
              </a:defRPr>
            </a:pPr>
            <a:r>
              <a:rPr sz="1275" b="0">
                <a:solidFill>
                  <a:srgbClr val="64778A"/>
                </a:solidFill>
                <a:latin typeface="Futura"/>
                <a:ea typeface="Futura"/>
                <a:cs typeface="Futura"/>
              </a:rPr>
              <a:t>ecDHFR-DD</a:t>
            </a:r>
          </a:p>
        </p:txBody>
      </p:sp>
      <p:cxnSp>
        <p:nvCxnSpPr>
          <p:cNvPr id="130" name="line-111">
            <a:extLst>
              <a:ext uri="{FF2B5EF4-FFF2-40B4-BE49-F238E27FC236}">
                <a16:creationId xmlns:a16="http://schemas.microsoft.com/office/drawing/2014/main" id="{58A7C873-D071-44F5-A3FD-F2C62A9BA8FC}"/>
              </a:ext>
            </a:extLst>
          </p:cNvPr>
          <p:cNvCxnSpPr/>
          <p:nvPr/>
        </p:nvCxnSpPr>
        <p:spPr>
          <a:xfrm>
            <a:off x="6248400" y="5086350"/>
            <a:ext cx="0" cy="171450"/>
          </a:xfrm>
          <a:prstGeom prst="straightConnector1">
            <a:avLst/>
          </a:prstGeom>
          <a:ln w="20955">
            <a:solidFill>
              <a:srgbClr val="B95712"/>
            </a:solidFill>
            <a:prstDash val="dash"/>
            <a:tailEnd type="none" w="med" len="med"/>
          </a:ln>
        </p:spPr>
      </p:cxnSp>
      <p:sp>
        <p:nvSpPr>
          <p:cNvPr id="131" name="object-112">
            <a:extLst>
              <a:ext uri="{FF2B5EF4-FFF2-40B4-BE49-F238E27FC236}">
                <a16:creationId xmlns:a16="http://schemas.microsoft.com/office/drawing/2014/main" id="{201355ED-593B-4D04-A7DA-402AA3BFC3B8}"/>
              </a:ext>
            </a:extLst>
          </p:cNvPr>
          <p:cNvSpPr>
            <a:spLocks noGrp="1"/>
          </p:cNvSpPr>
          <p:nvPr/>
        </p:nvSpPr>
        <p:spPr>
          <a:xfrm>
            <a:off x="5886450" y="5324475"/>
            <a:ext cx="2476500" cy="49530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7145">
            <a:solidFill>
              <a:srgbClr val="E6B98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object-113">
            <a:extLst>
              <a:ext uri="{FF2B5EF4-FFF2-40B4-BE49-F238E27FC236}">
                <a16:creationId xmlns:a16="http://schemas.microsoft.com/office/drawing/2014/main" id="{CF11284C-0F67-4EF5-B7CA-951E2EA5F894}"/>
              </a:ext>
            </a:extLst>
          </p:cNvPr>
          <p:cNvSpPr>
            <a:spLocks noGrp="1"/>
          </p:cNvSpPr>
          <p:nvPr/>
        </p:nvSpPr>
        <p:spPr>
          <a:xfrm>
            <a:off x="6153150" y="5410200"/>
            <a:ext cx="571500" cy="323850"/>
          </a:xfrm>
          <a:prstGeom prst="rect">
            <a:avLst/>
          </a:prstGeom>
          <a:noFill/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defPPr>
            <a:lvl1pPr algn="ctr">
              <a:defRPr sz="1800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1pPr>
            <a:lvl2pPr algn="ctr">
              <a:defRPr sz="1800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2pPr>
            <a:lvl3pPr algn="ctr">
              <a:defRPr sz="1800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3pPr>
            <a:lvl4pPr algn="ctr">
              <a:defRPr sz="1800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4pPr>
            <a:lvl5pPr algn="ctr">
              <a:defRPr sz="1800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5pPr>
            <a:lvl6pPr algn="ctr">
              <a:defRPr sz="1800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6pPr>
            <a:lvl7pPr algn="ctr">
              <a:defRPr sz="1800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7pPr>
            <a:lvl8pPr algn="ctr">
              <a:defRPr sz="1800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8pPr>
            <a:lvl9pPr algn="ctr">
              <a:defRPr sz="1800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ctr">
              <a:defRPr sz="1800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pPr>
            <a:r>
              <a:rPr sz="1800" b="0">
                <a:solidFill>
                  <a:srgbClr val="B95712"/>
                </a:solidFill>
                <a:latin typeface="Futura"/>
                <a:ea typeface="Futura"/>
                <a:cs typeface="Futura"/>
              </a:rPr>
              <a:t>CGA</a:t>
            </a:r>
          </a:p>
        </p:txBody>
      </p:sp>
      <p:cxnSp>
        <p:nvCxnSpPr>
          <p:cNvPr id="133" name="line-114">
            <a:extLst>
              <a:ext uri="{FF2B5EF4-FFF2-40B4-BE49-F238E27FC236}">
                <a16:creationId xmlns:a16="http://schemas.microsoft.com/office/drawing/2014/main" id="{386B6691-1C38-42C5-8A62-A28E9F22B618}"/>
              </a:ext>
            </a:extLst>
          </p:cNvPr>
          <p:cNvCxnSpPr/>
          <p:nvPr/>
        </p:nvCxnSpPr>
        <p:spPr>
          <a:xfrm>
            <a:off x="6838950" y="5572125"/>
            <a:ext cx="400050" cy="0"/>
          </a:xfrm>
          <a:prstGeom prst="straightConnector1">
            <a:avLst/>
          </a:prstGeom>
          <a:ln w="22860">
            <a:solidFill>
              <a:srgbClr val="B95712"/>
            </a:solidFill>
            <a:prstDash val="solid"/>
            <a:tailEnd type="triangle" w="med" len="med"/>
          </a:ln>
        </p:spPr>
      </p:cxnSp>
      <p:sp>
        <p:nvSpPr>
          <p:cNvPr id="134" name="object-115">
            <a:extLst>
              <a:ext uri="{FF2B5EF4-FFF2-40B4-BE49-F238E27FC236}">
                <a16:creationId xmlns:a16="http://schemas.microsoft.com/office/drawing/2014/main" id="{1E286607-6CF2-4993-BD69-5F25D1397C5F}"/>
              </a:ext>
            </a:extLst>
          </p:cNvPr>
          <p:cNvSpPr>
            <a:spLocks noGrp="1"/>
          </p:cNvSpPr>
          <p:nvPr/>
        </p:nvSpPr>
        <p:spPr>
          <a:xfrm>
            <a:off x="7372350" y="5410200"/>
            <a:ext cx="571500" cy="323850"/>
          </a:xfrm>
          <a:prstGeom prst="rect">
            <a:avLst/>
          </a:prstGeom>
          <a:noFill/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defPPr>
            <a:lvl1pPr algn="ctr">
              <a:defRPr sz="1800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1pPr>
            <a:lvl2pPr algn="ctr">
              <a:defRPr sz="1800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2pPr>
            <a:lvl3pPr algn="ctr">
              <a:defRPr sz="1800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3pPr>
            <a:lvl4pPr algn="ctr">
              <a:defRPr sz="1800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4pPr>
            <a:lvl5pPr algn="ctr">
              <a:defRPr sz="1800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5pPr>
            <a:lvl6pPr algn="ctr">
              <a:defRPr sz="1800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6pPr>
            <a:lvl7pPr algn="ctr">
              <a:defRPr sz="1800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7pPr>
            <a:lvl8pPr algn="ctr">
              <a:defRPr sz="1800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8pPr>
            <a:lvl9pPr algn="ctr">
              <a:defRPr sz="1800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ctr">
              <a:defRPr sz="1800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pPr>
            <a:r>
              <a:rPr sz="1800" b="0">
                <a:solidFill>
                  <a:srgbClr val="B95712"/>
                </a:solidFill>
                <a:latin typeface="Futura"/>
                <a:ea typeface="Futura"/>
                <a:cs typeface="Futura"/>
              </a:rPr>
              <a:t>UGA</a:t>
            </a:r>
          </a:p>
        </p:txBody>
      </p:sp>
      <p:cxnSp>
        <p:nvCxnSpPr>
          <p:cNvPr id="135" name="line-116">
            <a:extLst>
              <a:ext uri="{FF2B5EF4-FFF2-40B4-BE49-F238E27FC236}">
                <a16:creationId xmlns:a16="http://schemas.microsoft.com/office/drawing/2014/main" id="{1941CA47-CCB3-42F2-8222-39313C698062}"/>
              </a:ext>
            </a:extLst>
          </p:cNvPr>
          <p:cNvCxnSpPr/>
          <p:nvPr/>
        </p:nvCxnSpPr>
        <p:spPr>
          <a:xfrm>
            <a:off x="7124700" y="5848350"/>
            <a:ext cx="0" cy="152400"/>
          </a:xfrm>
          <a:prstGeom prst="straightConnector1">
            <a:avLst/>
          </a:prstGeom>
          <a:ln w="24765">
            <a:solidFill>
              <a:srgbClr val="B95712"/>
            </a:solidFill>
            <a:prstDash val="solid"/>
            <a:tailEnd type="triangle" w="med" len="med"/>
          </a:ln>
        </p:spPr>
      </p:cxnSp>
      <p:sp>
        <p:nvSpPr>
          <p:cNvPr id="136" name="SAP application window">
            <a:extLst>
              <a:ext uri="{FF2B5EF4-FFF2-40B4-BE49-F238E27FC236}">
                <a16:creationId xmlns:a16="http://schemas.microsoft.com/office/drawing/2014/main" id="{4ABD7B73-2F4B-4195-8EC2-311F6F393519}"/>
              </a:ext>
            </a:extLst>
          </p:cNvPr>
          <p:cNvSpPr>
            <a:spLocks noGrp="1"/>
          </p:cNvSpPr>
          <p:nvPr/>
        </p:nvSpPr>
        <p:spPr>
          <a:xfrm>
            <a:off x="5448300" y="6057900"/>
            <a:ext cx="3352800" cy="1066800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23813">
            <a:solidFill>
              <a:srgbClr val="B9571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7" name="object-117">
            <a:extLst>
              <a:ext uri="{FF2B5EF4-FFF2-40B4-BE49-F238E27FC236}">
                <a16:creationId xmlns:a16="http://schemas.microsoft.com/office/drawing/2014/main" id="{24A274A5-9532-42B0-9058-275620E35693}"/>
              </a:ext>
            </a:extLst>
          </p:cNvPr>
          <p:cNvSpPr>
            <a:spLocks noGrp="1"/>
          </p:cNvSpPr>
          <p:nvPr/>
        </p:nvSpPr>
        <p:spPr>
          <a:xfrm>
            <a:off x="5467350" y="6076950"/>
            <a:ext cx="3314700" cy="333375"/>
          </a:xfrm>
          <a:prstGeom prst="rect">
            <a:avLst/>
          </a:prstGeom>
          <a:solidFill>
            <a:srgbClr val="F5DDC5"/>
          </a:solidFill>
          <a:ln w="1714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object-118">
            <a:extLst>
              <a:ext uri="{FF2B5EF4-FFF2-40B4-BE49-F238E27FC236}">
                <a16:creationId xmlns:a16="http://schemas.microsoft.com/office/drawing/2014/main" id="{743EC5E2-1827-4456-ADF5-5300C7EDDB65}"/>
              </a:ext>
            </a:extLst>
          </p:cNvPr>
          <p:cNvSpPr>
            <a:spLocks noGrp="1"/>
          </p:cNvSpPr>
          <p:nvPr/>
        </p:nvSpPr>
        <p:spPr>
          <a:xfrm>
            <a:off x="5581650" y="6191250"/>
            <a:ext cx="57150" cy="57150"/>
          </a:xfrm>
          <a:prstGeom prst="ellipse">
            <a:avLst/>
          </a:prstGeom>
          <a:solidFill>
            <a:srgbClr val="B95712"/>
          </a:solidFill>
          <a:ln w="1714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9" name="object-119">
            <a:extLst>
              <a:ext uri="{FF2B5EF4-FFF2-40B4-BE49-F238E27FC236}">
                <a16:creationId xmlns:a16="http://schemas.microsoft.com/office/drawing/2014/main" id="{C838F005-4EA7-4854-84E1-914A18F2C7DB}"/>
              </a:ext>
            </a:extLst>
          </p:cNvPr>
          <p:cNvSpPr>
            <a:spLocks noGrp="1"/>
          </p:cNvSpPr>
          <p:nvPr/>
        </p:nvSpPr>
        <p:spPr>
          <a:xfrm>
            <a:off x="5715000" y="6191250"/>
            <a:ext cx="57150" cy="57150"/>
          </a:xfrm>
          <a:prstGeom prst="ellipse">
            <a:avLst/>
          </a:prstGeom>
          <a:solidFill>
            <a:srgbClr val="C08C5D"/>
          </a:solidFill>
          <a:ln w="1714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0" name="object-120">
            <a:extLst>
              <a:ext uri="{FF2B5EF4-FFF2-40B4-BE49-F238E27FC236}">
                <a16:creationId xmlns:a16="http://schemas.microsoft.com/office/drawing/2014/main" id="{C1EE614E-8034-4A0E-8CF0-3CEFAB2424B2}"/>
              </a:ext>
            </a:extLst>
          </p:cNvPr>
          <p:cNvSpPr>
            <a:spLocks noGrp="1"/>
          </p:cNvSpPr>
          <p:nvPr/>
        </p:nvSpPr>
        <p:spPr>
          <a:xfrm>
            <a:off x="5848350" y="6191250"/>
            <a:ext cx="57150" cy="57150"/>
          </a:xfrm>
          <a:prstGeom prst="ellipse">
            <a:avLst/>
          </a:prstGeom>
          <a:solidFill>
            <a:srgbClr val="C08C5D"/>
          </a:solidFill>
          <a:ln w="1714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1" name="object-121">
            <a:extLst>
              <a:ext uri="{FF2B5EF4-FFF2-40B4-BE49-F238E27FC236}">
                <a16:creationId xmlns:a16="http://schemas.microsoft.com/office/drawing/2014/main" id="{49BFF26C-AC06-48A1-AAC1-A8FC871EB812}"/>
              </a:ext>
            </a:extLst>
          </p:cNvPr>
          <p:cNvSpPr>
            <a:spLocks noGrp="1"/>
          </p:cNvSpPr>
          <p:nvPr/>
        </p:nvSpPr>
        <p:spPr>
          <a:xfrm>
            <a:off x="5981700" y="6086475"/>
            <a:ext cx="2324100" cy="304800"/>
          </a:xfrm>
          <a:prstGeom prst="rect">
            <a:avLst/>
          </a:prstGeom>
          <a:noFill/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25" b="1">
                <a:solidFill>
                  <a:srgbClr val="B95712"/>
                </a:solidFill>
                <a:latin typeface="Futura"/>
                <a:ea typeface="Futura"/>
                <a:cs typeface="Futura"/>
              </a:defRPr>
            </a:defPPr>
            <a:lvl1pPr algn="ctr">
              <a:defRPr sz="1725" b="1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1pPr>
            <a:lvl2pPr algn="ctr">
              <a:defRPr sz="1725" b="1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2pPr>
            <a:lvl3pPr algn="ctr">
              <a:defRPr sz="1725" b="1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3pPr>
            <a:lvl4pPr algn="ctr">
              <a:defRPr sz="1725" b="1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4pPr>
            <a:lvl5pPr algn="ctr">
              <a:defRPr sz="1725" b="1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5pPr>
            <a:lvl6pPr algn="ctr">
              <a:defRPr sz="1725" b="1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6pPr>
            <a:lvl7pPr algn="ctr">
              <a:defRPr sz="1725" b="1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7pPr>
            <a:lvl8pPr algn="ctr">
              <a:defRPr sz="1725" b="1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8pPr>
            <a:lvl9pPr algn="ctr">
              <a:defRPr sz="1725" b="1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ctr">
              <a:defRPr sz="1725" b="1">
                <a:solidFill>
                  <a:srgbClr val="B95712"/>
                </a:solidFill>
                <a:latin typeface="Futura"/>
                <a:ea typeface="Futura"/>
                <a:cs typeface="Futura"/>
              </a:defRPr>
            </a:pPr>
            <a:r>
              <a:rPr sz="1725" b="1">
                <a:solidFill>
                  <a:srgbClr val="B95712"/>
                </a:solidFill>
                <a:latin typeface="Futura"/>
                <a:ea typeface="Futura"/>
                <a:cs typeface="Futura"/>
              </a:rPr>
              <a:t>SAP</a:t>
            </a:r>
          </a:p>
        </p:txBody>
      </p:sp>
      <p:cxnSp>
        <p:nvCxnSpPr>
          <p:cNvPr id="142" name="line-122">
            <a:extLst>
              <a:ext uri="{FF2B5EF4-FFF2-40B4-BE49-F238E27FC236}">
                <a16:creationId xmlns:a16="http://schemas.microsoft.com/office/drawing/2014/main" id="{839F53E6-A229-4BAA-9252-4FC7DD9FB50B}"/>
              </a:ext>
            </a:extLst>
          </p:cNvPr>
          <p:cNvCxnSpPr/>
          <p:nvPr/>
        </p:nvCxnSpPr>
        <p:spPr>
          <a:xfrm>
            <a:off x="6858000" y="6448425"/>
            <a:ext cx="0" cy="561975"/>
          </a:xfrm>
          <a:prstGeom prst="straightConnector1">
            <a:avLst/>
          </a:prstGeom>
          <a:ln w="20955">
            <a:solidFill>
              <a:srgbClr val="E2C4A7"/>
            </a:solidFill>
            <a:prstDash val="solid"/>
            <a:tailEnd type="none" w="med" len="med"/>
          </a:ln>
        </p:spPr>
      </p:cxnSp>
      <p:cxnSp>
        <p:nvCxnSpPr>
          <p:cNvPr id="143" name="line-123">
            <a:extLst>
              <a:ext uri="{FF2B5EF4-FFF2-40B4-BE49-F238E27FC236}">
                <a16:creationId xmlns:a16="http://schemas.microsoft.com/office/drawing/2014/main" id="{E56E0B7B-2520-4CBC-87E0-C33F1A87ECFC}"/>
              </a:ext>
            </a:extLst>
          </p:cNvPr>
          <p:cNvCxnSpPr/>
          <p:nvPr/>
        </p:nvCxnSpPr>
        <p:spPr>
          <a:xfrm>
            <a:off x="5657850" y="6753225"/>
            <a:ext cx="1066800" cy="0"/>
          </a:xfrm>
          <a:prstGeom prst="straightConnector1">
            <a:avLst/>
          </a:prstGeom>
          <a:ln w="22860">
            <a:solidFill>
              <a:srgbClr val="35566A"/>
            </a:solidFill>
            <a:prstDash val="solid"/>
            <a:tailEnd type="none" w="med" len="med"/>
          </a:ln>
        </p:spPr>
      </p:cxnSp>
      <p:sp>
        <p:nvSpPr>
          <p:cNvPr id="144" name="object-124">
            <a:extLst>
              <a:ext uri="{FF2B5EF4-FFF2-40B4-BE49-F238E27FC236}">
                <a16:creationId xmlns:a16="http://schemas.microsoft.com/office/drawing/2014/main" id="{81803777-F3A7-4E08-BBDA-52E25F23771D}"/>
              </a:ext>
            </a:extLst>
          </p:cNvPr>
          <p:cNvSpPr>
            <a:spLocks noGrp="1"/>
          </p:cNvSpPr>
          <p:nvPr/>
        </p:nvSpPr>
        <p:spPr>
          <a:xfrm>
            <a:off x="5676900" y="6638925"/>
            <a:ext cx="114300" cy="228600"/>
          </a:xfrm>
          <a:prstGeom prst="roundRect">
            <a:avLst>
              <a:gd name="adj" fmla="val 44444"/>
            </a:avLst>
          </a:prstGeom>
          <a:solidFill>
            <a:srgbClr val="DB7C8D"/>
          </a:solidFill>
          <a:ln w="1714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5" name="object-125">
            <a:extLst>
              <a:ext uri="{FF2B5EF4-FFF2-40B4-BE49-F238E27FC236}">
                <a16:creationId xmlns:a16="http://schemas.microsoft.com/office/drawing/2014/main" id="{A1E447B9-D7B2-4248-981E-F80059C777D6}"/>
              </a:ext>
            </a:extLst>
          </p:cNvPr>
          <p:cNvSpPr>
            <a:spLocks noGrp="1"/>
          </p:cNvSpPr>
          <p:nvPr/>
        </p:nvSpPr>
        <p:spPr>
          <a:xfrm>
            <a:off x="5829300" y="6638925"/>
            <a:ext cx="114300" cy="228600"/>
          </a:xfrm>
          <a:prstGeom prst="roundRect">
            <a:avLst>
              <a:gd name="adj" fmla="val 44444"/>
            </a:avLst>
          </a:prstGeom>
          <a:solidFill>
            <a:srgbClr val="DB7C8D"/>
          </a:solidFill>
          <a:ln w="1714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6" name="object-126">
            <a:extLst>
              <a:ext uri="{FF2B5EF4-FFF2-40B4-BE49-F238E27FC236}">
                <a16:creationId xmlns:a16="http://schemas.microsoft.com/office/drawing/2014/main" id="{87D26190-37DD-449D-A92E-F31382F88428}"/>
              </a:ext>
            </a:extLst>
          </p:cNvPr>
          <p:cNvSpPr>
            <a:spLocks noGrp="1"/>
          </p:cNvSpPr>
          <p:nvPr/>
        </p:nvSpPr>
        <p:spPr>
          <a:xfrm>
            <a:off x="5981700" y="6638925"/>
            <a:ext cx="114300" cy="228600"/>
          </a:xfrm>
          <a:prstGeom prst="roundRect">
            <a:avLst>
              <a:gd name="adj" fmla="val 44444"/>
            </a:avLst>
          </a:prstGeom>
          <a:solidFill>
            <a:srgbClr val="58AF79"/>
          </a:solidFill>
          <a:ln w="1714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7" name="object-127">
            <a:extLst>
              <a:ext uri="{FF2B5EF4-FFF2-40B4-BE49-F238E27FC236}">
                <a16:creationId xmlns:a16="http://schemas.microsoft.com/office/drawing/2014/main" id="{2951758D-921A-4BE4-983C-CDEB49FC7437}"/>
              </a:ext>
            </a:extLst>
          </p:cNvPr>
          <p:cNvSpPr>
            <a:spLocks noGrp="1"/>
          </p:cNvSpPr>
          <p:nvPr/>
        </p:nvSpPr>
        <p:spPr>
          <a:xfrm>
            <a:off x="6134100" y="6638925"/>
            <a:ext cx="114300" cy="228600"/>
          </a:xfrm>
          <a:prstGeom prst="roundRect">
            <a:avLst>
              <a:gd name="adj" fmla="val 44444"/>
            </a:avLst>
          </a:prstGeom>
          <a:solidFill>
            <a:srgbClr val="58AF79"/>
          </a:solidFill>
          <a:ln w="1714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8" name="object-128">
            <a:extLst>
              <a:ext uri="{FF2B5EF4-FFF2-40B4-BE49-F238E27FC236}">
                <a16:creationId xmlns:a16="http://schemas.microsoft.com/office/drawing/2014/main" id="{B346E58F-05DB-4F47-8956-B1A9D4A4E19E}"/>
              </a:ext>
            </a:extLst>
          </p:cNvPr>
          <p:cNvSpPr>
            <a:spLocks noGrp="1"/>
          </p:cNvSpPr>
          <p:nvPr/>
        </p:nvSpPr>
        <p:spPr>
          <a:xfrm>
            <a:off x="6286500" y="6638925"/>
            <a:ext cx="114300" cy="228600"/>
          </a:xfrm>
          <a:prstGeom prst="roundRect">
            <a:avLst>
              <a:gd name="adj" fmla="val 44444"/>
            </a:avLst>
          </a:prstGeom>
          <a:solidFill>
            <a:srgbClr val="58AF79"/>
          </a:solidFill>
          <a:ln w="1714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" name="object-129">
            <a:extLst>
              <a:ext uri="{FF2B5EF4-FFF2-40B4-BE49-F238E27FC236}">
                <a16:creationId xmlns:a16="http://schemas.microsoft.com/office/drawing/2014/main" id="{3E4F2F13-13F3-454E-8800-19051111B7E2}"/>
              </a:ext>
            </a:extLst>
          </p:cNvPr>
          <p:cNvSpPr>
            <a:spLocks noGrp="1"/>
          </p:cNvSpPr>
          <p:nvPr/>
        </p:nvSpPr>
        <p:spPr>
          <a:xfrm>
            <a:off x="6438900" y="6638925"/>
            <a:ext cx="114300" cy="228600"/>
          </a:xfrm>
          <a:prstGeom prst="roundRect">
            <a:avLst>
              <a:gd name="adj" fmla="val 44444"/>
            </a:avLst>
          </a:prstGeom>
          <a:solidFill>
            <a:srgbClr val="E5A25F"/>
          </a:solidFill>
          <a:ln w="1714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0" name="object-130">
            <a:extLst>
              <a:ext uri="{FF2B5EF4-FFF2-40B4-BE49-F238E27FC236}">
                <a16:creationId xmlns:a16="http://schemas.microsoft.com/office/drawing/2014/main" id="{59E36351-30B1-4D9C-80D0-8DADB0BDEC04}"/>
              </a:ext>
            </a:extLst>
          </p:cNvPr>
          <p:cNvSpPr>
            <a:spLocks noGrp="1"/>
          </p:cNvSpPr>
          <p:nvPr/>
        </p:nvSpPr>
        <p:spPr>
          <a:xfrm>
            <a:off x="6591300" y="6638925"/>
            <a:ext cx="114300" cy="228600"/>
          </a:xfrm>
          <a:prstGeom prst="roundRect">
            <a:avLst>
              <a:gd name="adj" fmla="val 44444"/>
            </a:avLst>
          </a:prstGeom>
          <a:solidFill>
            <a:srgbClr val="E5A25F"/>
          </a:solidFill>
          <a:ln w="1714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1" name="object-131">
            <a:extLst>
              <a:ext uri="{FF2B5EF4-FFF2-40B4-BE49-F238E27FC236}">
                <a16:creationId xmlns:a16="http://schemas.microsoft.com/office/drawing/2014/main" id="{03DA6429-412D-4AC7-B39E-9E0DB8215104}"/>
              </a:ext>
            </a:extLst>
          </p:cNvPr>
          <p:cNvSpPr>
            <a:spLocks noGrp="1"/>
          </p:cNvSpPr>
          <p:nvPr/>
        </p:nvSpPr>
        <p:spPr>
          <a:xfrm>
            <a:off x="6991350" y="6572250"/>
            <a:ext cx="466725" cy="371475"/>
          </a:xfrm>
          <a:prstGeom prst="roundRect">
            <a:avLst>
              <a:gd name="adj" fmla="val 20513"/>
            </a:avLst>
          </a:prstGeom>
          <a:solidFill>
            <a:srgbClr val="EAF0F5"/>
          </a:solidFill>
          <a:ln w="17145">
            <a:solidFill>
              <a:srgbClr val="6D849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2" name="object-132">
            <a:extLst>
              <a:ext uri="{FF2B5EF4-FFF2-40B4-BE49-F238E27FC236}">
                <a16:creationId xmlns:a16="http://schemas.microsoft.com/office/drawing/2014/main" id="{35B7F667-24E3-4BD6-A947-8CDECBCA0FBC}"/>
              </a:ext>
            </a:extLst>
          </p:cNvPr>
          <p:cNvSpPr>
            <a:spLocks noGrp="1"/>
          </p:cNvSpPr>
          <p:nvPr/>
        </p:nvSpPr>
        <p:spPr>
          <a:xfrm>
            <a:off x="6991350" y="6600825"/>
            <a:ext cx="466725" cy="285750"/>
          </a:xfrm>
          <a:prstGeom prst="rect">
            <a:avLst/>
          </a:prstGeom>
          <a:noFill/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>
                <a:solidFill>
                  <a:srgbClr val="496274"/>
                </a:solidFill>
                <a:latin typeface="Futura"/>
                <a:ea typeface="Futura"/>
                <a:cs typeface="Futura"/>
              </a:defRPr>
            </a:defPPr>
            <a:lvl1pPr algn="ctr">
              <a:defRPr sz="1350" b="0">
                <a:solidFill>
                  <a:srgbClr val="496274"/>
                </a:solidFill>
                <a:latin typeface="Futura"/>
                <a:ea typeface="Futura"/>
                <a:cs typeface="Futura"/>
              </a:defRPr>
            </a:lvl1pPr>
            <a:lvl2pPr algn="ctr">
              <a:defRPr sz="1350" b="0">
                <a:solidFill>
                  <a:srgbClr val="496274"/>
                </a:solidFill>
                <a:latin typeface="Futura"/>
                <a:ea typeface="Futura"/>
                <a:cs typeface="Futura"/>
              </a:defRPr>
            </a:lvl2pPr>
            <a:lvl3pPr algn="ctr">
              <a:defRPr sz="1350" b="0">
                <a:solidFill>
                  <a:srgbClr val="496274"/>
                </a:solidFill>
                <a:latin typeface="Futura"/>
                <a:ea typeface="Futura"/>
                <a:cs typeface="Futura"/>
              </a:defRPr>
            </a:lvl3pPr>
            <a:lvl4pPr algn="ctr">
              <a:defRPr sz="1350" b="0">
                <a:solidFill>
                  <a:srgbClr val="496274"/>
                </a:solidFill>
                <a:latin typeface="Futura"/>
                <a:ea typeface="Futura"/>
                <a:cs typeface="Futura"/>
              </a:defRPr>
            </a:lvl4pPr>
            <a:lvl5pPr algn="ctr">
              <a:defRPr sz="1350" b="0">
                <a:solidFill>
                  <a:srgbClr val="496274"/>
                </a:solidFill>
                <a:latin typeface="Futura"/>
                <a:ea typeface="Futura"/>
                <a:cs typeface="Futura"/>
              </a:defRPr>
            </a:lvl5pPr>
            <a:lvl6pPr algn="ctr">
              <a:defRPr sz="1350" b="0">
                <a:solidFill>
                  <a:srgbClr val="496274"/>
                </a:solidFill>
                <a:latin typeface="Futura"/>
                <a:ea typeface="Futura"/>
                <a:cs typeface="Futura"/>
              </a:defRPr>
            </a:lvl6pPr>
            <a:lvl7pPr algn="ctr">
              <a:defRPr sz="1350" b="0">
                <a:solidFill>
                  <a:srgbClr val="496274"/>
                </a:solidFill>
                <a:latin typeface="Futura"/>
                <a:ea typeface="Futura"/>
                <a:cs typeface="Futura"/>
              </a:defRPr>
            </a:lvl7pPr>
            <a:lvl8pPr algn="ctr">
              <a:defRPr sz="1350" b="0">
                <a:solidFill>
                  <a:srgbClr val="496274"/>
                </a:solidFill>
                <a:latin typeface="Futura"/>
                <a:ea typeface="Futura"/>
                <a:cs typeface="Futura"/>
              </a:defRPr>
            </a:lvl8pPr>
            <a:lvl9pPr algn="ctr">
              <a:defRPr sz="1350" b="0">
                <a:solidFill>
                  <a:srgbClr val="496274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ctr">
              <a:defRPr sz="1350" b="0">
                <a:solidFill>
                  <a:srgbClr val="496274"/>
                </a:solidFill>
                <a:latin typeface="Futura"/>
                <a:ea typeface="Futura"/>
                <a:cs typeface="Futura"/>
              </a:defRPr>
            </a:pPr>
            <a:r>
              <a:rPr sz="1350" b="0">
                <a:solidFill>
                  <a:srgbClr val="496274"/>
                </a:solidFill>
                <a:latin typeface="Futura"/>
                <a:ea typeface="Futura"/>
                <a:cs typeface="Futura"/>
              </a:rPr>
              <a:t>FCS</a:t>
            </a:r>
          </a:p>
        </p:txBody>
      </p:sp>
      <p:cxnSp>
        <p:nvCxnSpPr>
          <p:cNvPr id="153" name="line-133">
            <a:extLst>
              <a:ext uri="{FF2B5EF4-FFF2-40B4-BE49-F238E27FC236}">
                <a16:creationId xmlns:a16="http://schemas.microsoft.com/office/drawing/2014/main" id="{791F3F2D-2438-4FFE-BC82-4FB5D1B398C3}"/>
              </a:ext>
            </a:extLst>
          </p:cNvPr>
          <p:cNvCxnSpPr/>
          <p:nvPr/>
        </p:nvCxnSpPr>
        <p:spPr>
          <a:xfrm>
            <a:off x="7543800" y="6762750"/>
            <a:ext cx="200025" cy="0"/>
          </a:xfrm>
          <a:prstGeom prst="straightConnector1">
            <a:avLst/>
          </a:prstGeom>
          <a:ln w="21908">
            <a:solidFill>
              <a:srgbClr val="B95712"/>
            </a:solidFill>
            <a:prstDash val="solid"/>
            <a:tailEnd type="triangle" w="med" len="med"/>
          </a:ln>
        </p:spPr>
      </p:cxnSp>
      <p:sp>
        <p:nvSpPr>
          <p:cNvPr id="154" name="object-134">
            <a:extLst>
              <a:ext uri="{FF2B5EF4-FFF2-40B4-BE49-F238E27FC236}">
                <a16:creationId xmlns:a16="http://schemas.microsoft.com/office/drawing/2014/main" id="{9C49A07B-9025-47A5-9CD7-F365254C0ECB}"/>
              </a:ext>
            </a:extLst>
          </p:cNvPr>
          <p:cNvSpPr>
            <a:spLocks noGrp="1"/>
          </p:cNvSpPr>
          <p:nvPr/>
        </p:nvSpPr>
        <p:spPr>
          <a:xfrm>
            <a:off x="7820025" y="6600825"/>
            <a:ext cx="904875" cy="304800"/>
          </a:xfrm>
          <a:prstGeom prst="rect">
            <a:avLst/>
          </a:prstGeom>
          <a:noFill/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defPPr>
            <a:lvl1pPr algn="ctr">
              <a:defRPr sz="1425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1pPr>
            <a:lvl2pPr algn="ctr">
              <a:defRPr sz="1425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2pPr>
            <a:lvl3pPr algn="ctr">
              <a:defRPr sz="1425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3pPr>
            <a:lvl4pPr algn="ctr">
              <a:defRPr sz="1425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4pPr>
            <a:lvl5pPr algn="ctr">
              <a:defRPr sz="1425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5pPr>
            <a:lvl6pPr algn="ctr">
              <a:defRPr sz="1425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6pPr>
            <a:lvl7pPr algn="ctr">
              <a:defRPr sz="1425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7pPr>
            <a:lvl8pPr algn="ctr">
              <a:defRPr sz="1425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8pPr>
            <a:lvl9pPr algn="ctr">
              <a:defRPr sz="1425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ctr">
              <a:defRPr sz="1425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pPr>
            <a:r>
              <a:rPr sz="1425" b="0">
                <a:solidFill>
                  <a:srgbClr val="B95712"/>
                </a:solidFill>
                <a:latin typeface="Futura"/>
                <a:ea typeface="Futura"/>
                <a:cs typeface="Futura"/>
              </a:rPr>
              <a:t>RAS / RES</a:t>
            </a:r>
          </a:p>
        </p:txBody>
      </p:sp>
      <p:cxnSp>
        <p:nvCxnSpPr>
          <p:cNvPr id="158" name="line-138">
            <a:extLst>
              <a:ext uri="{FF2B5EF4-FFF2-40B4-BE49-F238E27FC236}">
                <a16:creationId xmlns:a16="http://schemas.microsoft.com/office/drawing/2014/main" id="{2CA1DFC7-D2C8-4B10-A16C-DCAE2579E29F}"/>
              </a:ext>
            </a:extLst>
          </p:cNvPr>
          <p:cNvCxnSpPr/>
          <p:nvPr/>
        </p:nvCxnSpPr>
        <p:spPr>
          <a:xfrm flipV="1">
            <a:off x="2686050" y="7334250"/>
            <a:ext cx="0" cy="266700"/>
          </a:xfrm>
          <a:prstGeom prst="straightConnector1">
            <a:avLst/>
          </a:prstGeom>
          <a:ln w="24765">
            <a:solidFill>
              <a:srgbClr val="7845A9"/>
            </a:solidFill>
            <a:prstDash val="dash"/>
            <a:tailEnd type="triangle" w="med" len="med"/>
          </a:ln>
        </p:spPr>
      </p:cxnSp>
      <p:sp>
        <p:nvSpPr>
          <p:cNvPr id="159" name="object-139">
            <a:extLst>
              <a:ext uri="{FF2B5EF4-FFF2-40B4-BE49-F238E27FC236}">
                <a16:creationId xmlns:a16="http://schemas.microsoft.com/office/drawing/2014/main" id="{1CF18220-710E-43F8-81BE-70E606CA90DB}"/>
              </a:ext>
            </a:extLst>
          </p:cNvPr>
          <p:cNvSpPr>
            <a:spLocks noGrp="1"/>
          </p:cNvSpPr>
          <p:nvPr/>
        </p:nvSpPr>
        <p:spPr>
          <a:xfrm>
            <a:off x="495300" y="7791450"/>
            <a:ext cx="1409700" cy="438150"/>
          </a:xfrm>
          <a:prstGeom prst="roundRect">
            <a:avLst>
              <a:gd name="adj" fmla="val 22000"/>
            </a:avLst>
          </a:prstGeom>
          <a:solidFill>
            <a:srgbClr val="7845A9"/>
          </a:solidFill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defPPr>
            <a:lvl1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lvl1pPr>
            <a:lvl2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lvl2pPr>
            <a:lvl3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lvl3pPr>
            <a:lvl4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lvl4pPr>
            <a:lvl5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lvl5pPr>
            <a:lvl6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lvl6pPr>
            <a:lvl7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lvl7pPr>
            <a:lvl8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lvl8pPr>
            <a:lvl9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ctr">
              <a:def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defRPr>
            </a:pPr>
            <a:r>
              <a:rPr sz="1875" b="1" u="none">
                <a:solidFill>
                  <a:srgbClr val="FFFFFF"/>
                </a:solidFill>
                <a:latin typeface="Futura"/>
                <a:ea typeface="Futura"/>
                <a:cs typeface="Futura"/>
              </a:rPr>
              <a:t>CONTROL</a:t>
            </a:r>
          </a:p>
        </p:txBody>
      </p:sp>
      <p:sp>
        <p:nvSpPr>
          <p:cNvPr id="160" name="object-140">
            <a:extLst>
              <a:ext uri="{FF2B5EF4-FFF2-40B4-BE49-F238E27FC236}">
                <a16:creationId xmlns:a16="http://schemas.microsoft.com/office/drawing/2014/main" id="{84CA45A1-042F-47D2-BB1F-9DFEB93C506C}"/>
              </a:ext>
            </a:extLst>
          </p:cNvPr>
          <p:cNvSpPr>
            <a:spLocks noGrp="1"/>
          </p:cNvSpPr>
          <p:nvPr/>
        </p:nvSpPr>
        <p:spPr>
          <a:xfrm>
            <a:off x="2038350" y="7791450"/>
            <a:ext cx="1200150" cy="438150"/>
          </a:xfrm>
          <a:prstGeom prst="roundRect">
            <a:avLst>
              <a:gd name="adj" fmla="val 22000"/>
            </a:avLst>
          </a:prstGeom>
          <a:solidFill>
            <a:srgbClr val="E4D9F0"/>
          </a:solidFill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1" u="none">
                <a:solidFill>
                  <a:srgbClr val="7845A9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1875" b="1" u="none">
                <a:solidFill>
                  <a:srgbClr val="7845A9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1875" b="1" u="none">
                <a:solidFill>
                  <a:srgbClr val="7845A9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1875" b="1" u="none">
                <a:solidFill>
                  <a:srgbClr val="7845A9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1875" b="1" u="none">
                <a:solidFill>
                  <a:srgbClr val="7845A9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1875" b="1" u="none">
                <a:solidFill>
                  <a:srgbClr val="7845A9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1875" b="1" u="none">
                <a:solidFill>
                  <a:srgbClr val="7845A9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1875" b="1" u="none">
                <a:solidFill>
                  <a:srgbClr val="7845A9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1875" b="1" u="none">
                <a:solidFill>
                  <a:srgbClr val="7845A9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1875" b="1" u="none">
                <a:solidFill>
                  <a:srgbClr val="7845A9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ctr">
              <a:defRPr sz="1875" b="1" u="none">
                <a:solidFill>
                  <a:srgbClr val="7845A9"/>
                </a:solidFill>
                <a:latin typeface="Georgia"/>
                <a:ea typeface="Georgia"/>
                <a:cs typeface="Georgia"/>
              </a:defRPr>
            </a:pPr>
            <a:r>
              <a:rPr sz="1875" b="1" dirty="0" u="none">
                <a:solidFill>
                  <a:srgbClr val="7845A9"/>
                </a:solidFill>
                <a:latin typeface="Georgia"/>
                <a:ea typeface="Georgia"/>
                <a:cs typeface="Georgia"/>
              </a:rPr>
              <a:t>G.M.A.C.</a:t>
            </a:r>
          </a:p>
        </p:txBody>
      </p:sp>
      <p:cxnSp>
        <p:nvCxnSpPr>
          <p:cNvPr id="161" name="line-141">
            <a:extLst>
              <a:ext uri="{FF2B5EF4-FFF2-40B4-BE49-F238E27FC236}">
                <a16:creationId xmlns:a16="http://schemas.microsoft.com/office/drawing/2014/main" id="{1A2CF356-4420-4DE8-9EC3-44DEBE26C8EF}"/>
              </a:ext>
            </a:extLst>
          </p:cNvPr>
          <p:cNvCxnSpPr/>
          <p:nvPr/>
        </p:nvCxnSpPr>
        <p:spPr>
          <a:xfrm>
            <a:off x="4648200" y="8439150"/>
            <a:ext cx="0" cy="3960876"/>
          </a:xfrm>
          <a:prstGeom prst="straightConnector1">
            <a:avLst/>
          </a:prstGeom>
          <a:ln w="20955">
            <a:solidFill>
              <a:srgbClr val="D4C2E4"/>
            </a:solidFill>
            <a:prstDash val="solid"/>
            <a:tailEnd type="none" w="med" len="med"/>
          </a:ln>
        </p:spPr>
      </p:cxnSp>
      <p:cxnSp>
        <p:nvCxnSpPr>
          <p:cNvPr id="162" name="line-142">
            <a:extLst>
              <a:ext uri="{FF2B5EF4-FFF2-40B4-BE49-F238E27FC236}">
                <a16:creationId xmlns:a16="http://schemas.microsoft.com/office/drawing/2014/main" id="{00204434-B0D0-4F3B-AF02-134D73A76735}"/>
              </a:ext>
            </a:extLst>
          </p:cNvPr>
          <p:cNvCxnSpPr/>
          <p:nvPr/>
        </p:nvCxnSpPr>
        <p:spPr>
          <a:xfrm>
            <a:off x="827532" y="10288143"/>
            <a:ext cx="7641336" cy="0"/>
          </a:xfrm>
          <a:prstGeom prst="straightConnector1">
            <a:avLst/>
          </a:prstGeom>
          <a:ln w="20955">
            <a:solidFill>
              <a:srgbClr val="D4C2E4"/>
            </a:solidFill>
            <a:prstDash val="solid"/>
            <a:tailEnd type="none" w="med" len="med"/>
          </a:ln>
        </p:spPr>
      </p:cxnSp>
      <p:sp>
        <p:nvSpPr>
          <p:cNvPr id="164" name="object-144">
            <a:extLst>
              <a:ext uri="{FF2B5EF4-FFF2-40B4-BE49-F238E27FC236}">
                <a16:creationId xmlns:a16="http://schemas.microsoft.com/office/drawing/2014/main" id="{4C9D4EF7-F45E-4457-BA04-D4008D03E59D}"/>
              </a:ext>
            </a:extLst>
          </p:cNvPr>
          <p:cNvSpPr>
            <a:spLocks noGrp="1"/>
          </p:cNvSpPr>
          <p:nvPr/>
        </p:nvSpPr>
        <p:spPr>
          <a:xfrm>
            <a:off x="862584" y="8439150"/>
            <a:ext cx="3329940" cy="332994"/>
          </a:xfrm>
          <a:prstGeom prst="rect">
            <a:avLst/>
          </a:prstGeom>
          <a:noFill/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7845A9"/>
                </a:solidFill>
                <a:latin typeface="Futura"/>
                <a:ea typeface="Futura"/>
                <a:cs typeface="Futura"/>
              </a:defRPr>
            </a:defPPr>
            <a:lvl1pPr algn="ctr">
              <a:defRPr sz="2100" b="1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1pPr>
            <a:lvl2pPr algn="ctr">
              <a:defRPr sz="2100" b="1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2pPr>
            <a:lvl3pPr algn="ctr">
              <a:defRPr sz="2100" b="1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3pPr>
            <a:lvl4pPr algn="ctr">
              <a:defRPr sz="2100" b="1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4pPr>
            <a:lvl5pPr algn="ctr">
              <a:defRPr sz="2100" b="1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5pPr>
            <a:lvl6pPr algn="ctr">
              <a:defRPr sz="2100" b="1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6pPr>
            <a:lvl7pPr algn="ctr">
              <a:defRPr sz="2100" b="1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7pPr>
            <a:lvl8pPr algn="ctr">
              <a:defRPr sz="2100" b="1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8pPr>
            <a:lvl9pPr algn="ctr">
              <a:defRPr sz="2100" b="1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ctr">
              <a:defRPr sz="2100" b="1">
                <a:solidFill>
                  <a:srgbClr val="7845A9"/>
                </a:solidFill>
                <a:latin typeface="Futura"/>
                <a:ea typeface="Futura"/>
                <a:cs typeface="Futura"/>
              </a:defRPr>
            </a:pPr>
            <a:r>
              <a:rPr sz="2100" b="1" dirty="0">
                <a:solidFill>
                  <a:srgbClr val="7845A9"/>
                </a:solidFill>
                <a:latin typeface="Futura"/>
                <a:ea typeface="Futura"/>
                <a:cs typeface="Futura"/>
              </a:rPr>
              <a:t>GFA</a:t>
            </a:r>
          </a:p>
        </p:txBody>
      </p:sp>
      <p:sp>
        <p:nvSpPr>
          <p:cNvPr id="165" name="object-145">
            <a:extLst>
              <a:ext uri="{FF2B5EF4-FFF2-40B4-BE49-F238E27FC236}">
                <a16:creationId xmlns:a16="http://schemas.microsoft.com/office/drawing/2014/main" id="{51EF481C-A991-4E53-8CC7-4D16FC771CEA}"/>
              </a:ext>
            </a:extLst>
          </p:cNvPr>
          <p:cNvSpPr>
            <a:spLocks noGrp="1"/>
          </p:cNvSpPr>
          <p:nvPr/>
        </p:nvSpPr>
        <p:spPr>
          <a:xfrm>
            <a:off x="4893564" y="8439150"/>
            <a:ext cx="3329940" cy="332994"/>
          </a:xfrm>
          <a:prstGeom prst="rect">
            <a:avLst/>
          </a:prstGeom>
          <a:noFill/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7845A9"/>
                </a:solidFill>
                <a:latin typeface="Futura"/>
                <a:ea typeface="Futura"/>
                <a:cs typeface="Futura"/>
              </a:defRPr>
            </a:defPPr>
            <a:lvl1pPr algn="ctr">
              <a:defRPr sz="2100" b="1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1pPr>
            <a:lvl2pPr algn="ctr">
              <a:defRPr sz="2100" b="1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2pPr>
            <a:lvl3pPr algn="ctr">
              <a:defRPr sz="2100" b="1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3pPr>
            <a:lvl4pPr algn="ctr">
              <a:defRPr sz="2100" b="1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4pPr>
            <a:lvl5pPr algn="ctr">
              <a:defRPr sz="2100" b="1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5pPr>
            <a:lvl6pPr algn="ctr">
              <a:defRPr sz="2100" b="1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6pPr>
            <a:lvl7pPr algn="ctr">
              <a:defRPr sz="2100" b="1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7pPr>
            <a:lvl8pPr algn="ctr">
              <a:defRPr sz="2100" b="1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8pPr>
            <a:lvl9pPr algn="ctr">
              <a:defRPr sz="2100" b="1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ctr">
              <a:defRPr sz="2100" b="1">
                <a:solidFill>
                  <a:srgbClr val="7845A9"/>
                </a:solidFill>
                <a:latin typeface="Futura"/>
                <a:ea typeface="Futura"/>
                <a:cs typeface="Futura"/>
              </a:defRPr>
            </a:pPr>
            <a:r>
              <a:rPr sz="2100" b="1">
                <a:solidFill>
                  <a:srgbClr val="7845A9"/>
                </a:solidFill>
                <a:latin typeface="Futura"/>
                <a:ea typeface="Futura"/>
                <a:cs typeface="Futura"/>
              </a:rPr>
              <a:t>MRE</a:t>
            </a:r>
          </a:p>
        </p:txBody>
      </p:sp>
      <p:sp>
        <p:nvSpPr>
          <p:cNvPr id="166" name="object-146">
            <a:extLst>
              <a:ext uri="{FF2B5EF4-FFF2-40B4-BE49-F238E27FC236}">
                <a16:creationId xmlns:a16="http://schemas.microsoft.com/office/drawing/2014/main" id="{8281806F-BB71-43FB-9C90-4B283BF824CE}"/>
              </a:ext>
            </a:extLst>
          </p:cNvPr>
          <p:cNvSpPr>
            <a:spLocks noGrp="1"/>
          </p:cNvSpPr>
          <p:nvPr/>
        </p:nvSpPr>
        <p:spPr>
          <a:xfrm>
            <a:off x="862584" y="10507218"/>
            <a:ext cx="3329940" cy="332994"/>
          </a:xfrm>
          <a:prstGeom prst="rect">
            <a:avLst/>
          </a:prstGeom>
          <a:noFill/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7845A9"/>
                </a:solidFill>
                <a:latin typeface="Futura"/>
                <a:ea typeface="Futura"/>
                <a:cs typeface="Futura"/>
              </a:defRPr>
            </a:defPPr>
            <a:lvl1pPr algn="ctr">
              <a:defRPr sz="2100" b="1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1pPr>
            <a:lvl2pPr algn="ctr">
              <a:defRPr sz="2100" b="1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2pPr>
            <a:lvl3pPr algn="ctr">
              <a:defRPr sz="2100" b="1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3pPr>
            <a:lvl4pPr algn="ctr">
              <a:defRPr sz="2100" b="1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4pPr>
            <a:lvl5pPr algn="ctr">
              <a:defRPr sz="2100" b="1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5pPr>
            <a:lvl6pPr algn="ctr">
              <a:defRPr sz="2100" b="1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6pPr>
            <a:lvl7pPr algn="ctr">
              <a:defRPr sz="2100" b="1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7pPr>
            <a:lvl8pPr algn="ctr">
              <a:defRPr sz="2100" b="1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8pPr>
            <a:lvl9pPr algn="ctr">
              <a:defRPr sz="2100" b="1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ctr">
              <a:defRPr sz="2100" b="1">
                <a:solidFill>
                  <a:srgbClr val="7845A9"/>
                </a:solidFill>
                <a:latin typeface="Futura"/>
                <a:ea typeface="Futura"/>
                <a:cs typeface="Futura"/>
              </a:defRPr>
            </a:pPr>
            <a:r>
              <a:rPr sz="2100" b="1">
                <a:solidFill>
                  <a:srgbClr val="7845A9"/>
                </a:solidFill>
                <a:latin typeface="Futura"/>
                <a:ea typeface="Futura"/>
                <a:cs typeface="Futura"/>
              </a:rPr>
              <a:t>ASO</a:t>
            </a:r>
          </a:p>
        </p:txBody>
      </p:sp>
      <p:sp>
        <p:nvSpPr>
          <p:cNvPr id="167" name="object-147">
            <a:extLst>
              <a:ext uri="{FF2B5EF4-FFF2-40B4-BE49-F238E27FC236}">
                <a16:creationId xmlns:a16="http://schemas.microsoft.com/office/drawing/2014/main" id="{EA99B183-615F-46F6-920C-D0D6B859EBED}"/>
              </a:ext>
            </a:extLst>
          </p:cNvPr>
          <p:cNvSpPr>
            <a:spLocks noGrp="1"/>
          </p:cNvSpPr>
          <p:nvPr/>
        </p:nvSpPr>
        <p:spPr>
          <a:xfrm>
            <a:off x="4893564" y="10507218"/>
            <a:ext cx="3329940" cy="332994"/>
          </a:xfrm>
          <a:prstGeom prst="rect">
            <a:avLst/>
          </a:prstGeom>
          <a:noFill/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7845A9"/>
                </a:solidFill>
                <a:latin typeface="Futura"/>
                <a:ea typeface="Futura"/>
                <a:cs typeface="Futura"/>
              </a:defRPr>
            </a:defPPr>
            <a:lvl1pPr algn="ctr">
              <a:defRPr sz="2100" b="1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1pPr>
            <a:lvl2pPr algn="ctr">
              <a:defRPr sz="2100" b="1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2pPr>
            <a:lvl3pPr algn="ctr">
              <a:defRPr sz="2100" b="1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3pPr>
            <a:lvl4pPr algn="ctr">
              <a:defRPr sz="2100" b="1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4pPr>
            <a:lvl5pPr algn="ctr">
              <a:defRPr sz="2100" b="1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5pPr>
            <a:lvl6pPr algn="ctr">
              <a:defRPr sz="2100" b="1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6pPr>
            <a:lvl7pPr algn="ctr">
              <a:defRPr sz="2100" b="1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7pPr>
            <a:lvl8pPr algn="ctr">
              <a:defRPr sz="2100" b="1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8pPr>
            <a:lvl9pPr algn="ctr">
              <a:defRPr sz="2100" b="1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ctr">
              <a:defRPr sz="2100" b="1">
                <a:solidFill>
                  <a:srgbClr val="7845A9"/>
                </a:solidFill>
                <a:latin typeface="Futura"/>
                <a:ea typeface="Futura"/>
                <a:cs typeface="Futura"/>
              </a:defRPr>
            </a:pPr>
            <a:r>
              <a:rPr sz="2100" b="1">
                <a:solidFill>
                  <a:srgbClr val="7845A9"/>
                </a:solidFill>
                <a:latin typeface="Futura"/>
                <a:ea typeface="Futura"/>
                <a:cs typeface="Futura"/>
              </a:rPr>
              <a:t>Cre–loxP</a:t>
            </a:r>
          </a:p>
        </p:txBody>
      </p:sp>
      <p:cxnSp>
        <p:nvCxnSpPr>
          <p:cNvPr id="168" name="line-148">
            <a:extLst>
              <a:ext uri="{FF2B5EF4-FFF2-40B4-BE49-F238E27FC236}">
                <a16:creationId xmlns:a16="http://schemas.microsoft.com/office/drawing/2014/main" id="{C581806F-EDB7-4091-B112-C169C01B62C5}"/>
              </a:ext>
            </a:extLst>
          </p:cNvPr>
          <p:cNvCxnSpPr/>
          <p:nvPr/>
        </p:nvCxnSpPr>
        <p:spPr>
          <a:xfrm>
            <a:off x="1029081" y="9503854"/>
            <a:ext cx="3014472" cy="0"/>
          </a:xfrm>
          <a:prstGeom prst="straightConnector1">
            <a:avLst/>
          </a:prstGeom>
          <a:ln w="28575">
            <a:solidFill>
              <a:srgbClr val="35566A"/>
            </a:solidFill>
            <a:prstDash val="solid"/>
            <a:tailEnd type="none" w="med" len="med"/>
          </a:ln>
        </p:spPr>
      </p:cxnSp>
      <p:sp>
        <p:nvSpPr>
          <p:cNvPr id="170" name="object-150">
            <a:extLst>
              <a:ext uri="{FF2B5EF4-FFF2-40B4-BE49-F238E27FC236}">
                <a16:creationId xmlns:a16="http://schemas.microsoft.com/office/drawing/2014/main" id="{4CB56688-CB72-4B7F-B020-3F85DA5053F7}"/>
              </a:ext>
            </a:extLst>
          </p:cNvPr>
          <p:cNvSpPr>
            <a:spLocks noGrp="1"/>
          </p:cNvSpPr>
          <p:nvPr/>
        </p:nvSpPr>
        <p:spPr>
          <a:xfrm>
            <a:off x="1151763" y="9346119"/>
            <a:ext cx="1244346" cy="306705"/>
          </a:xfrm>
          <a:prstGeom prst="roundRect">
            <a:avLst>
              <a:gd name="adj" fmla="val 22857"/>
            </a:avLst>
          </a:prstGeom>
          <a:solidFill>
            <a:srgbClr val="DDC9F0"/>
          </a:solidFill>
          <a:ln w="19050">
            <a:solidFill>
              <a:srgbClr val="7845A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1" name="object-151">
            <a:extLst>
              <a:ext uri="{FF2B5EF4-FFF2-40B4-BE49-F238E27FC236}">
                <a16:creationId xmlns:a16="http://schemas.microsoft.com/office/drawing/2014/main" id="{7BEE0E5A-F560-457C-B939-D046F5207E29}"/>
              </a:ext>
            </a:extLst>
          </p:cNvPr>
          <p:cNvSpPr>
            <a:spLocks noGrp="1"/>
          </p:cNvSpPr>
          <p:nvPr/>
        </p:nvSpPr>
        <p:spPr>
          <a:xfrm>
            <a:off x="1151763" y="9346119"/>
            <a:ext cx="1244346" cy="306705"/>
          </a:xfrm>
          <a:prstGeom prst="rect">
            <a:avLst/>
          </a:prstGeom>
          <a:noFill/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>
                <a:solidFill>
                  <a:srgbClr val="5D338B"/>
                </a:solidFill>
                <a:latin typeface="Futura"/>
                <a:ea typeface="Futura"/>
                <a:cs typeface="Futura"/>
              </a:defRPr>
            </a:defPPr>
            <a:lvl1pPr algn="ctr">
              <a:defRPr sz="1650" b="0">
                <a:solidFill>
                  <a:srgbClr val="5D338B"/>
                </a:solidFill>
                <a:latin typeface="Futura"/>
                <a:ea typeface="Futura"/>
                <a:cs typeface="Futura"/>
              </a:defRPr>
            </a:lvl1pPr>
            <a:lvl2pPr algn="ctr">
              <a:defRPr sz="1650" b="0">
                <a:solidFill>
                  <a:srgbClr val="5D338B"/>
                </a:solidFill>
                <a:latin typeface="Futura"/>
                <a:ea typeface="Futura"/>
                <a:cs typeface="Futura"/>
              </a:defRPr>
            </a:lvl2pPr>
            <a:lvl3pPr algn="ctr">
              <a:defRPr sz="1650" b="0">
                <a:solidFill>
                  <a:srgbClr val="5D338B"/>
                </a:solidFill>
                <a:latin typeface="Futura"/>
                <a:ea typeface="Futura"/>
                <a:cs typeface="Futura"/>
              </a:defRPr>
            </a:lvl3pPr>
            <a:lvl4pPr algn="ctr">
              <a:defRPr sz="1650" b="0">
                <a:solidFill>
                  <a:srgbClr val="5D338B"/>
                </a:solidFill>
                <a:latin typeface="Futura"/>
                <a:ea typeface="Futura"/>
                <a:cs typeface="Futura"/>
              </a:defRPr>
            </a:lvl4pPr>
            <a:lvl5pPr algn="ctr">
              <a:defRPr sz="1650" b="0">
                <a:solidFill>
                  <a:srgbClr val="5D338B"/>
                </a:solidFill>
                <a:latin typeface="Futura"/>
                <a:ea typeface="Futura"/>
                <a:cs typeface="Futura"/>
              </a:defRPr>
            </a:lvl5pPr>
            <a:lvl6pPr algn="ctr">
              <a:defRPr sz="1650" b="0">
                <a:solidFill>
                  <a:srgbClr val="5D338B"/>
                </a:solidFill>
                <a:latin typeface="Futura"/>
                <a:ea typeface="Futura"/>
                <a:cs typeface="Futura"/>
              </a:defRPr>
            </a:lvl6pPr>
            <a:lvl7pPr algn="ctr">
              <a:defRPr sz="1650" b="0">
                <a:solidFill>
                  <a:srgbClr val="5D338B"/>
                </a:solidFill>
                <a:latin typeface="Futura"/>
                <a:ea typeface="Futura"/>
                <a:cs typeface="Futura"/>
              </a:defRPr>
            </a:lvl7pPr>
            <a:lvl8pPr algn="ctr">
              <a:defRPr sz="1650" b="0">
                <a:solidFill>
                  <a:srgbClr val="5D338B"/>
                </a:solidFill>
                <a:latin typeface="Futura"/>
                <a:ea typeface="Futura"/>
                <a:cs typeface="Futura"/>
              </a:defRPr>
            </a:lvl8pPr>
            <a:lvl9pPr algn="ctr">
              <a:defRPr sz="1650" b="0">
                <a:solidFill>
                  <a:srgbClr val="5D338B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ctr">
              <a:defRPr sz="1650" b="0">
                <a:solidFill>
                  <a:srgbClr val="5D338B"/>
                </a:solidFill>
                <a:latin typeface="Futura"/>
                <a:ea typeface="Futura"/>
                <a:cs typeface="Futura"/>
              </a:defRPr>
            </a:pPr>
            <a:r>
              <a:rPr sz="1650" b="0">
                <a:solidFill>
                  <a:srgbClr val="5D338B"/>
                </a:solidFill>
                <a:latin typeface="Futura"/>
                <a:ea typeface="Futura"/>
                <a:cs typeface="Futura"/>
              </a:rPr>
              <a:t>gfaABC1D</a:t>
            </a:r>
          </a:p>
        </p:txBody>
      </p:sp>
      <p:sp>
        <p:nvSpPr>
          <p:cNvPr id="172" name="object-152">
            <a:extLst>
              <a:ext uri="{FF2B5EF4-FFF2-40B4-BE49-F238E27FC236}">
                <a16:creationId xmlns:a16="http://schemas.microsoft.com/office/drawing/2014/main" id="{CE0E4D17-BADB-439A-B822-BDF4E0506BBF}"/>
              </a:ext>
            </a:extLst>
          </p:cNvPr>
          <p:cNvSpPr>
            <a:spLocks noGrp="1"/>
          </p:cNvSpPr>
          <p:nvPr/>
        </p:nvSpPr>
        <p:spPr>
          <a:xfrm>
            <a:off x="2816733" y="9363646"/>
            <a:ext cx="963930" cy="280416"/>
          </a:xfrm>
          <a:prstGeom prst="roundRect">
            <a:avLst>
              <a:gd name="adj" fmla="val 22857"/>
            </a:avLst>
          </a:prstGeom>
          <a:solidFill>
            <a:srgbClr val="D5E9F3"/>
          </a:solidFill>
          <a:ln w="19050">
            <a:solidFill>
              <a:srgbClr val="087DA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3" name="object-153">
            <a:extLst>
              <a:ext uri="{FF2B5EF4-FFF2-40B4-BE49-F238E27FC236}">
                <a16:creationId xmlns:a16="http://schemas.microsoft.com/office/drawing/2014/main" id="{59418B45-E50C-4462-9983-C9295CFFA32C}"/>
              </a:ext>
            </a:extLst>
          </p:cNvPr>
          <p:cNvSpPr>
            <a:spLocks noGrp="1"/>
          </p:cNvSpPr>
          <p:nvPr/>
        </p:nvSpPr>
        <p:spPr>
          <a:xfrm>
            <a:off x="2816733" y="9363646"/>
            <a:ext cx="963930" cy="280416"/>
          </a:xfrm>
          <a:prstGeom prst="rect">
            <a:avLst/>
          </a:prstGeom>
          <a:noFill/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defPPr>
            <a:lvl1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1pPr>
            <a:lvl2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2pPr>
            <a:lvl3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3pPr>
            <a:lvl4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4pPr>
            <a:lvl5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5pPr>
            <a:lvl6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6pPr>
            <a:lvl7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7pPr>
            <a:lvl8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8pPr>
            <a:lvl9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pPr>
            <a:r>
              <a: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rPr>
              <a:t>ORCA</a:t>
            </a:r>
          </a:p>
        </p:txBody>
      </p:sp>
      <p:cxnSp>
        <p:nvCxnSpPr>
          <p:cNvPr id="174" name="line-154">
            <a:extLst>
              <a:ext uri="{FF2B5EF4-FFF2-40B4-BE49-F238E27FC236}">
                <a16:creationId xmlns:a16="http://schemas.microsoft.com/office/drawing/2014/main" id="{9C39377C-32B7-49B4-8B4B-29A13E4C3AAA}"/>
              </a:ext>
            </a:extLst>
          </p:cNvPr>
          <p:cNvCxnSpPr/>
          <p:nvPr/>
        </p:nvCxnSpPr>
        <p:spPr>
          <a:xfrm flipV="1">
            <a:off x="2334768" y="9188385"/>
            <a:ext cx="0" cy="122682"/>
          </a:xfrm>
          <a:prstGeom prst="straightConnector1">
            <a:avLst/>
          </a:prstGeom>
          <a:ln w="23813">
            <a:solidFill>
              <a:srgbClr val="7845A9"/>
            </a:solidFill>
            <a:prstDash val="solid"/>
            <a:tailEnd type="none" w="med" len="med"/>
          </a:ln>
        </p:spPr>
      </p:cxnSp>
      <p:cxnSp>
        <p:nvCxnSpPr>
          <p:cNvPr id="175" name="line-155">
            <a:extLst>
              <a:ext uri="{FF2B5EF4-FFF2-40B4-BE49-F238E27FC236}">
                <a16:creationId xmlns:a16="http://schemas.microsoft.com/office/drawing/2014/main" id="{9DA64D8C-DDA5-49AC-BFA7-A385A3E82980}"/>
              </a:ext>
            </a:extLst>
          </p:cNvPr>
          <p:cNvCxnSpPr/>
          <p:nvPr/>
        </p:nvCxnSpPr>
        <p:spPr>
          <a:xfrm>
            <a:off x="2334768" y="9188385"/>
            <a:ext cx="429387" cy="0"/>
          </a:xfrm>
          <a:prstGeom prst="straightConnector1">
            <a:avLst/>
          </a:prstGeom>
          <a:ln w="23813">
            <a:solidFill>
              <a:srgbClr val="7845A9"/>
            </a:solidFill>
            <a:prstDash val="solid"/>
            <a:tailEnd type="triangle" w="med" len="med"/>
          </a:ln>
        </p:spPr>
      </p:cxnSp>
      <p:sp>
        <p:nvSpPr>
          <p:cNvPr id="180" name="object-160">
            <a:extLst>
              <a:ext uri="{FF2B5EF4-FFF2-40B4-BE49-F238E27FC236}">
                <a16:creationId xmlns:a16="http://schemas.microsoft.com/office/drawing/2014/main" id="{37A0D26A-A2DF-40D8-BADC-9F24A85DF15F}"/>
              </a:ext>
            </a:extLst>
          </p:cNvPr>
          <p:cNvSpPr>
            <a:spLocks noGrp="1"/>
          </p:cNvSpPr>
          <p:nvPr/>
        </p:nvSpPr>
        <p:spPr>
          <a:xfrm>
            <a:off x="6567297" y="8877300"/>
            <a:ext cx="1253109" cy="236601"/>
          </a:xfrm>
          <a:prstGeom prst="rect">
            <a:avLst/>
          </a:prstGeom>
          <a:noFill/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defPPr>
            <a:lvl1pPr algn="ctr">
              <a:defRPr sz="1500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1pPr>
            <a:lvl2pPr algn="ctr">
              <a:defRPr sz="1500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2pPr>
            <a:lvl3pPr algn="ctr">
              <a:defRPr sz="1500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3pPr>
            <a:lvl4pPr algn="ctr">
              <a:defRPr sz="1500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4pPr>
            <a:lvl5pPr algn="ctr">
              <a:defRPr sz="1500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5pPr>
            <a:lvl6pPr algn="ctr">
              <a:defRPr sz="1500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6pPr>
            <a:lvl7pPr algn="ctr">
              <a:defRPr sz="1500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7pPr>
            <a:lvl8pPr algn="ctr">
              <a:defRPr sz="1500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8pPr>
            <a:lvl9pPr algn="ctr">
              <a:defRPr sz="1500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ctr">
              <a:defRPr sz="1500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pPr>
            <a:r>
              <a:rPr sz="1500" b="0">
                <a:solidFill>
                  <a:srgbClr val="7845A9"/>
                </a:solidFill>
                <a:latin typeface="Futura"/>
                <a:ea typeface="Futura"/>
                <a:cs typeface="Futura"/>
              </a:rPr>
              <a:t>miRNA</a:t>
            </a:r>
          </a:p>
        </p:txBody>
      </p:sp>
      <p:cxnSp>
        <p:nvCxnSpPr>
          <p:cNvPr id="181" name="line-161">
            <a:extLst>
              <a:ext uri="{FF2B5EF4-FFF2-40B4-BE49-F238E27FC236}">
                <a16:creationId xmlns:a16="http://schemas.microsoft.com/office/drawing/2014/main" id="{E59E1F1C-15DF-49CC-98A3-5AFA3BFAAD5F}"/>
              </a:ext>
            </a:extLst>
          </p:cNvPr>
          <p:cNvCxnSpPr/>
          <p:nvPr/>
        </p:nvCxnSpPr>
        <p:spPr>
          <a:xfrm>
            <a:off x="6838950" y="9227820"/>
            <a:ext cx="771144" cy="0"/>
          </a:xfrm>
          <a:prstGeom prst="straightConnector1">
            <a:avLst/>
          </a:prstGeom>
          <a:ln w="38100">
            <a:solidFill>
              <a:srgbClr val="7845A9"/>
            </a:solidFill>
            <a:prstDash val="solid"/>
            <a:tailEnd type="none" w="med" len="med"/>
          </a:ln>
        </p:spPr>
      </p:cxnSp>
      <p:cxnSp>
        <p:nvCxnSpPr>
          <p:cNvPr id="182" name="line-162">
            <a:extLst>
              <a:ext uri="{FF2B5EF4-FFF2-40B4-BE49-F238E27FC236}">
                <a16:creationId xmlns:a16="http://schemas.microsoft.com/office/drawing/2014/main" id="{C88225F3-9072-48F3-A17B-AC2673BD35E0}"/>
              </a:ext>
            </a:extLst>
          </p:cNvPr>
          <p:cNvCxnSpPr/>
          <p:nvPr/>
        </p:nvCxnSpPr>
        <p:spPr>
          <a:xfrm>
            <a:off x="6874002" y="9245346"/>
            <a:ext cx="0" cy="122682"/>
          </a:xfrm>
          <a:prstGeom prst="straightConnector1">
            <a:avLst/>
          </a:prstGeom>
          <a:ln w="20955">
            <a:solidFill>
              <a:srgbClr val="9869BE"/>
            </a:solidFill>
            <a:prstDash val="solid"/>
            <a:tailEnd type="none" w="med" len="med"/>
          </a:ln>
        </p:spPr>
      </p:cxnSp>
      <p:cxnSp>
        <p:nvCxnSpPr>
          <p:cNvPr id="183" name="line-163">
            <a:extLst>
              <a:ext uri="{FF2B5EF4-FFF2-40B4-BE49-F238E27FC236}">
                <a16:creationId xmlns:a16="http://schemas.microsoft.com/office/drawing/2014/main" id="{3D9C46A4-10DC-457A-935F-81299E53A98A}"/>
              </a:ext>
            </a:extLst>
          </p:cNvPr>
          <p:cNvCxnSpPr/>
          <p:nvPr/>
        </p:nvCxnSpPr>
        <p:spPr>
          <a:xfrm>
            <a:off x="6970395" y="9245346"/>
            <a:ext cx="0" cy="122682"/>
          </a:xfrm>
          <a:prstGeom prst="straightConnector1">
            <a:avLst/>
          </a:prstGeom>
          <a:ln w="20955">
            <a:solidFill>
              <a:srgbClr val="9869BE"/>
            </a:solidFill>
            <a:prstDash val="solid"/>
            <a:tailEnd type="none" w="med" len="med"/>
          </a:ln>
        </p:spPr>
      </p:cxnSp>
      <p:cxnSp>
        <p:nvCxnSpPr>
          <p:cNvPr id="184" name="line-164">
            <a:extLst>
              <a:ext uri="{FF2B5EF4-FFF2-40B4-BE49-F238E27FC236}">
                <a16:creationId xmlns:a16="http://schemas.microsoft.com/office/drawing/2014/main" id="{E3F67611-2382-40C4-A227-8267E86B2B5F}"/>
              </a:ext>
            </a:extLst>
          </p:cNvPr>
          <p:cNvCxnSpPr/>
          <p:nvPr/>
        </p:nvCxnSpPr>
        <p:spPr>
          <a:xfrm>
            <a:off x="7066788" y="9245346"/>
            <a:ext cx="0" cy="122682"/>
          </a:xfrm>
          <a:prstGeom prst="straightConnector1">
            <a:avLst/>
          </a:prstGeom>
          <a:ln w="20955">
            <a:solidFill>
              <a:srgbClr val="9869BE"/>
            </a:solidFill>
            <a:prstDash val="solid"/>
            <a:tailEnd type="none" w="med" len="med"/>
          </a:ln>
        </p:spPr>
      </p:cxnSp>
      <p:cxnSp>
        <p:nvCxnSpPr>
          <p:cNvPr id="185" name="line-165">
            <a:extLst>
              <a:ext uri="{FF2B5EF4-FFF2-40B4-BE49-F238E27FC236}">
                <a16:creationId xmlns:a16="http://schemas.microsoft.com/office/drawing/2014/main" id="{287CF73F-1A20-4C23-9398-B0C57311934C}"/>
              </a:ext>
            </a:extLst>
          </p:cNvPr>
          <p:cNvCxnSpPr/>
          <p:nvPr/>
        </p:nvCxnSpPr>
        <p:spPr>
          <a:xfrm>
            <a:off x="7163181" y="9245346"/>
            <a:ext cx="0" cy="122682"/>
          </a:xfrm>
          <a:prstGeom prst="straightConnector1">
            <a:avLst/>
          </a:prstGeom>
          <a:ln w="20955">
            <a:solidFill>
              <a:srgbClr val="9869BE"/>
            </a:solidFill>
            <a:prstDash val="solid"/>
            <a:tailEnd type="none" w="med" len="med"/>
          </a:ln>
        </p:spPr>
      </p:cxnSp>
      <p:cxnSp>
        <p:nvCxnSpPr>
          <p:cNvPr id="186" name="line-166">
            <a:extLst>
              <a:ext uri="{FF2B5EF4-FFF2-40B4-BE49-F238E27FC236}">
                <a16:creationId xmlns:a16="http://schemas.microsoft.com/office/drawing/2014/main" id="{2D9ADFB1-4B54-4C8B-A235-3781AF58E681}"/>
              </a:ext>
            </a:extLst>
          </p:cNvPr>
          <p:cNvCxnSpPr/>
          <p:nvPr/>
        </p:nvCxnSpPr>
        <p:spPr>
          <a:xfrm>
            <a:off x="7259574" y="9245346"/>
            <a:ext cx="0" cy="122682"/>
          </a:xfrm>
          <a:prstGeom prst="straightConnector1">
            <a:avLst/>
          </a:prstGeom>
          <a:ln w="20955">
            <a:solidFill>
              <a:srgbClr val="9869BE"/>
            </a:solidFill>
            <a:prstDash val="solid"/>
            <a:tailEnd type="none" w="med" len="med"/>
          </a:ln>
        </p:spPr>
      </p:cxnSp>
      <p:cxnSp>
        <p:nvCxnSpPr>
          <p:cNvPr id="187" name="line-167">
            <a:extLst>
              <a:ext uri="{FF2B5EF4-FFF2-40B4-BE49-F238E27FC236}">
                <a16:creationId xmlns:a16="http://schemas.microsoft.com/office/drawing/2014/main" id="{C312A0CC-5620-4547-8613-C54439086B3E}"/>
              </a:ext>
            </a:extLst>
          </p:cNvPr>
          <p:cNvCxnSpPr/>
          <p:nvPr/>
        </p:nvCxnSpPr>
        <p:spPr>
          <a:xfrm>
            <a:off x="7355967" y="9245346"/>
            <a:ext cx="0" cy="122682"/>
          </a:xfrm>
          <a:prstGeom prst="straightConnector1">
            <a:avLst/>
          </a:prstGeom>
          <a:ln w="20955">
            <a:solidFill>
              <a:srgbClr val="9869BE"/>
            </a:solidFill>
            <a:prstDash val="solid"/>
            <a:tailEnd type="none" w="med" len="med"/>
          </a:ln>
        </p:spPr>
      </p:cxnSp>
      <p:cxnSp>
        <p:nvCxnSpPr>
          <p:cNvPr id="188" name="line-168">
            <a:extLst>
              <a:ext uri="{FF2B5EF4-FFF2-40B4-BE49-F238E27FC236}">
                <a16:creationId xmlns:a16="http://schemas.microsoft.com/office/drawing/2014/main" id="{111C6DAC-A839-46C6-ABE4-23B225ACD7B8}"/>
              </a:ext>
            </a:extLst>
          </p:cNvPr>
          <p:cNvCxnSpPr/>
          <p:nvPr/>
        </p:nvCxnSpPr>
        <p:spPr>
          <a:xfrm>
            <a:off x="7452360" y="9245346"/>
            <a:ext cx="0" cy="122682"/>
          </a:xfrm>
          <a:prstGeom prst="straightConnector1">
            <a:avLst/>
          </a:prstGeom>
          <a:ln w="20955">
            <a:solidFill>
              <a:srgbClr val="9869BE"/>
            </a:solidFill>
            <a:prstDash val="solid"/>
            <a:tailEnd type="none" w="med" len="med"/>
          </a:ln>
        </p:spPr>
      </p:cxnSp>
      <p:cxnSp>
        <p:nvCxnSpPr>
          <p:cNvPr id="189" name="line-169">
            <a:extLst>
              <a:ext uri="{FF2B5EF4-FFF2-40B4-BE49-F238E27FC236}">
                <a16:creationId xmlns:a16="http://schemas.microsoft.com/office/drawing/2014/main" id="{650AF0FA-0B72-4305-93B6-386D4E95D850}"/>
              </a:ext>
            </a:extLst>
          </p:cNvPr>
          <p:cNvCxnSpPr/>
          <p:nvPr/>
        </p:nvCxnSpPr>
        <p:spPr>
          <a:xfrm>
            <a:off x="7548753" y="9245346"/>
            <a:ext cx="0" cy="122682"/>
          </a:xfrm>
          <a:prstGeom prst="straightConnector1">
            <a:avLst/>
          </a:prstGeom>
          <a:ln w="20955">
            <a:solidFill>
              <a:srgbClr val="9869BE"/>
            </a:solidFill>
            <a:prstDash val="solid"/>
            <a:tailEnd type="none" w="med" len="med"/>
          </a:ln>
        </p:spPr>
      </p:cxnSp>
      <p:cxnSp>
        <p:nvCxnSpPr>
          <p:cNvPr id="190" name="line-170">
            <a:extLst>
              <a:ext uri="{FF2B5EF4-FFF2-40B4-BE49-F238E27FC236}">
                <a16:creationId xmlns:a16="http://schemas.microsoft.com/office/drawing/2014/main" id="{94E02F9D-6670-4811-A4F1-7CEFBDDABFAD}"/>
              </a:ext>
            </a:extLst>
          </p:cNvPr>
          <p:cNvCxnSpPr/>
          <p:nvPr/>
        </p:nvCxnSpPr>
        <p:spPr>
          <a:xfrm>
            <a:off x="5025009" y="9552051"/>
            <a:ext cx="3084576" cy="0"/>
          </a:xfrm>
          <a:prstGeom prst="straightConnector1">
            <a:avLst/>
          </a:prstGeom>
          <a:ln w="28575">
            <a:solidFill>
              <a:srgbClr val="35566A"/>
            </a:solidFill>
            <a:prstDash val="solid"/>
            <a:tailEnd type="none" w="med" len="med"/>
          </a:ln>
        </p:spPr>
      </p:cxnSp>
      <p:sp>
        <p:nvSpPr>
          <p:cNvPr id="192" name="object-172">
            <a:extLst>
              <a:ext uri="{FF2B5EF4-FFF2-40B4-BE49-F238E27FC236}">
                <a16:creationId xmlns:a16="http://schemas.microsoft.com/office/drawing/2014/main" id="{EC4DC564-353C-46A5-8A23-53F7555DFA6D}"/>
              </a:ext>
            </a:extLst>
          </p:cNvPr>
          <p:cNvSpPr>
            <a:spLocks noGrp="1"/>
          </p:cNvSpPr>
          <p:nvPr/>
        </p:nvSpPr>
        <p:spPr>
          <a:xfrm>
            <a:off x="5147691" y="9411843"/>
            <a:ext cx="963930" cy="280416"/>
          </a:xfrm>
          <a:prstGeom prst="roundRect">
            <a:avLst>
              <a:gd name="adj" fmla="val 22857"/>
            </a:avLst>
          </a:prstGeom>
          <a:solidFill>
            <a:srgbClr val="D5E9F3"/>
          </a:solidFill>
          <a:ln w="19050">
            <a:solidFill>
              <a:srgbClr val="087DA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3" name="object-173">
            <a:extLst>
              <a:ext uri="{FF2B5EF4-FFF2-40B4-BE49-F238E27FC236}">
                <a16:creationId xmlns:a16="http://schemas.microsoft.com/office/drawing/2014/main" id="{ECBB4225-CA0A-4177-8706-61FB8DEEC9C3}"/>
              </a:ext>
            </a:extLst>
          </p:cNvPr>
          <p:cNvSpPr>
            <a:spLocks noGrp="1"/>
          </p:cNvSpPr>
          <p:nvPr/>
        </p:nvSpPr>
        <p:spPr>
          <a:xfrm>
            <a:off x="5147691" y="9411843"/>
            <a:ext cx="963930" cy="280416"/>
          </a:xfrm>
          <a:prstGeom prst="rect">
            <a:avLst/>
          </a:prstGeom>
          <a:noFill/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defPPr>
            <a:lvl1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1pPr>
            <a:lvl2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2pPr>
            <a:lvl3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3pPr>
            <a:lvl4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4pPr>
            <a:lvl5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5pPr>
            <a:lvl6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6pPr>
            <a:lvl7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7pPr>
            <a:lvl8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8pPr>
            <a:lvl9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pPr>
            <a:r>
              <a: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rPr>
              <a:t>ORCA</a:t>
            </a:r>
          </a:p>
        </p:txBody>
      </p:sp>
      <p:sp>
        <p:nvSpPr>
          <p:cNvPr id="194" name="object-174">
            <a:extLst>
              <a:ext uri="{FF2B5EF4-FFF2-40B4-BE49-F238E27FC236}">
                <a16:creationId xmlns:a16="http://schemas.microsoft.com/office/drawing/2014/main" id="{701C9BC3-2C9F-47EB-A828-9FAF7DBC0D59}"/>
              </a:ext>
            </a:extLst>
          </p:cNvPr>
          <p:cNvSpPr>
            <a:spLocks noGrp="1"/>
          </p:cNvSpPr>
          <p:nvPr/>
        </p:nvSpPr>
        <p:spPr>
          <a:xfrm>
            <a:off x="6313170" y="9455658"/>
            <a:ext cx="420624" cy="192786"/>
          </a:xfrm>
          <a:prstGeom prst="roundRect">
            <a:avLst>
              <a:gd name="adj" fmla="val 36364"/>
            </a:avLst>
          </a:prstGeom>
          <a:solidFill>
            <a:srgbClr val="DDC9F0"/>
          </a:solidFill>
          <a:ln w="19050">
            <a:solidFill>
              <a:srgbClr val="7845A9"/>
            </a:solidFill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195" name="line-175">
            <a:extLst>
              <a:ext uri="{FF2B5EF4-FFF2-40B4-BE49-F238E27FC236}">
                <a16:creationId xmlns:a16="http://schemas.microsoft.com/office/drawing/2014/main" id="{C5AE7F35-705D-44C3-A9E7-3DB17B9B67CA}"/>
              </a:ext>
            </a:extLst>
          </p:cNvPr>
          <p:cNvCxnSpPr/>
          <p:nvPr/>
        </p:nvCxnSpPr>
        <p:spPr>
          <a:xfrm>
            <a:off x="6383274" y="9385554"/>
            <a:ext cx="0" cy="78867"/>
          </a:xfrm>
          <a:prstGeom prst="straightConnector1">
            <a:avLst/>
          </a:prstGeom>
          <a:ln w="20955">
            <a:solidFill>
              <a:srgbClr val="7845A9"/>
            </a:solidFill>
            <a:prstDash val="solid"/>
            <a:tailEnd type="none" w="med" len="med"/>
          </a:ln>
        </p:spPr>
      </p:cxnSp>
      <p:cxnSp>
        <p:nvCxnSpPr>
          <p:cNvPr id="196" name="line-176">
            <a:extLst>
              <a:ext uri="{FF2B5EF4-FFF2-40B4-BE49-F238E27FC236}">
                <a16:creationId xmlns:a16="http://schemas.microsoft.com/office/drawing/2014/main" id="{A934E867-E5F6-4F36-9FB1-36DFFDD00B63}"/>
              </a:ext>
            </a:extLst>
          </p:cNvPr>
          <p:cNvCxnSpPr/>
          <p:nvPr/>
        </p:nvCxnSpPr>
        <p:spPr>
          <a:xfrm>
            <a:off x="6470904" y="9385554"/>
            <a:ext cx="0" cy="78867"/>
          </a:xfrm>
          <a:prstGeom prst="straightConnector1">
            <a:avLst/>
          </a:prstGeom>
          <a:ln w="20955">
            <a:solidFill>
              <a:srgbClr val="7845A9"/>
            </a:solidFill>
            <a:prstDash val="solid"/>
            <a:tailEnd type="none" w="med" len="med"/>
          </a:ln>
        </p:spPr>
      </p:cxnSp>
      <p:cxnSp>
        <p:nvCxnSpPr>
          <p:cNvPr id="197" name="line-177">
            <a:extLst>
              <a:ext uri="{FF2B5EF4-FFF2-40B4-BE49-F238E27FC236}">
                <a16:creationId xmlns:a16="http://schemas.microsoft.com/office/drawing/2014/main" id="{B72FB12E-D2FF-49E2-9ACF-A6825FC00A7F}"/>
              </a:ext>
            </a:extLst>
          </p:cNvPr>
          <p:cNvCxnSpPr/>
          <p:nvPr/>
        </p:nvCxnSpPr>
        <p:spPr>
          <a:xfrm>
            <a:off x="6558534" y="9385554"/>
            <a:ext cx="0" cy="78867"/>
          </a:xfrm>
          <a:prstGeom prst="straightConnector1">
            <a:avLst/>
          </a:prstGeom>
          <a:ln w="20955">
            <a:solidFill>
              <a:srgbClr val="7845A9"/>
            </a:solidFill>
            <a:prstDash val="solid"/>
            <a:tailEnd type="none" w="med" len="med"/>
          </a:ln>
        </p:spPr>
      </p:cxnSp>
      <p:cxnSp>
        <p:nvCxnSpPr>
          <p:cNvPr id="198" name="line-178">
            <a:extLst>
              <a:ext uri="{FF2B5EF4-FFF2-40B4-BE49-F238E27FC236}">
                <a16:creationId xmlns:a16="http://schemas.microsoft.com/office/drawing/2014/main" id="{BA309D0C-3B53-453A-BB8B-1A23069C9E6D}"/>
              </a:ext>
            </a:extLst>
          </p:cNvPr>
          <p:cNvCxnSpPr/>
          <p:nvPr/>
        </p:nvCxnSpPr>
        <p:spPr>
          <a:xfrm>
            <a:off x="6646164" y="9385554"/>
            <a:ext cx="0" cy="78867"/>
          </a:xfrm>
          <a:prstGeom prst="straightConnector1">
            <a:avLst/>
          </a:prstGeom>
          <a:ln w="20955">
            <a:solidFill>
              <a:srgbClr val="7845A9"/>
            </a:solidFill>
            <a:prstDash val="solid"/>
            <a:tailEnd type="none" w="med" len="med"/>
          </a:ln>
        </p:spPr>
      </p:cxnSp>
      <p:sp>
        <p:nvSpPr>
          <p:cNvPr id="199" name="object-179">
            <a:extLst>
              <a:ext uri="{FF2B5EF4-FFF2-40B4-BE49-F238E27FC236}">
                <a16:creationId xmlns:a16="http://schemas.microsoft.com/office/drawing/2014/main" id="{AC9D8ED3-8C09-4732-B9B5-B2A451830D6D}"/>
              </a:ext>
            </a:extLst>
          </p:cNvPr>
          <p:cNvSpPr>
            <a:spLocks noGrp="1"/>
          </p:cNvSpPr>
          <p:nvPr/>
        </p:nvSpPr>
        <p:spPr>
          <a:xfrm>
            <a:off x="6865239" y="9455658"/>
            <a:ext cx="420624" cy="192786"/>
          </a:xfrm>
          <a:prstGeom prst="roundRect">
            <a:avLst>
              <a:gd name="adj" fmla="val 36364"/>
            </a:avLst>
          </a:prstGeom>
          <a:solidFill>
            <a:srgbClr val="DDC9F0"/>
          </a:solidFill>
          <a:ln w="19050">
            <a:solidFill>
              <a:srgbClr val="7845A9"/>
            </a:solidFill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200" name="line-180">
            <a:extLst>
              <a:ext uri="{FF2B5EF4-FFF2-40B4-BE49-F238E27FC236}">
                <a16:creationId xmlns:a16="http://schemas.microsoft.com/office/drawing/2014/main" id="{1D8D4541-B357-45CA-8482-68C9CCC0AB7C}"/>
              </a:ext>
            </a:extLst>
          </p:cNvPr>
          <p:cNvCxnSpPr/>
          <p:nvPr/>
        </p:nvCxnSpPr>
        <p:spPr>
          <a:xfrm>
            <a:off x="6935343" y="9385554"/>
            <a:ext cx="0" cy="78867"/>
          </a:xfrm>
          <a:prstGeom prst="straightConnector1">
            <a:avLst/>
          </a:prstGeom>
          <a:ln w="20955">
            <a:solidFill>
              <a:srgbClr val="7845A9"/>
            </a:solidFill>
            <a:prstDash val="solid"/>
            <a:tailEnd type="none" w="med" len="med"/>
          </a:ln>
        </p:spPr>
      </p:cxnSp>
      <p:cxnSp>
        <p:nvCxnSpPr>
          <p:cNvPr id="201" name="line-181">
            <a:extLst>
              <a:ext uri="{FF2B5EF4-FFF2-40B4-BE49-F238E27FC236}">
                <a16:creationId xmlns:a16="http://schemas.microsoft.com/office/drawing/2014/main" id="{81F5FD40-C79D-4240-A60D-84212BFFE8D0}"/>
              </a:ext>
            </a:extLst>
          </p:cNvPr>
          <p:cNvCxnSpPr/>
          <p:nvPr/>
        </p:nvCxnSpPr>
        <p:spPr>
          <a:xfrm>
            <a:off x="7022973" y="9385554"/>
            <a:ext cx="0" cy="78867"/>
          </a:xfrm>
          <a:prstGeom prst="straightConnector1">
            <a:avLst/>
          </a:prstGeom>
          <a:ln w="20955">
            <a:solidFill>
              <a:srgbClr val="7845A9"/>
            </a:solidFill>
            <a:prstDash val="solid"/>
            <a:tailEnd type="none" w="med" len="med"/>
          </a:ln>
        </p:spPr>
      </p:cxnSp>
      <p:cxnSp>
        <p:nvCxnSpPr>
          <p:cNvPr id="202" name="line-182">
            <a:extLst>
              <a:ext uri="{FF2B5EF4-FFF2-40B4-BE49-F238E27FC236}">
                <a16:creationId xmlns:a16="http://schemas.microsoft.com/office/drawing/2014/main" id="{5294DBF3-70F4-4398-886A-DAB3AC9B0D6A}"/>
              </a:ext>
            </a:extLst>
          </p:cNvPr>
          <p:cNvCxnSpPr/>
          <p:nvPr/>
        </p:nvCxnSpPr>
        <p:spPr>
          <a:xfrm>
            <a:off x="7110603" y="9385554"/>
            <a:ext cx="0" cy="78867"/>
          </a:xfrm>
          <a:prstGeom prst="straightConnector1">
            <a:avLst/>
          </a:prstGeom>
          <a:ln w="20955">
            <a:solidFill>
              <a:srgbClr val="7845A9"/>
            </a:solidFill>
            <a:prstDash val="solid"/>
            <a:tailEnd type="none" w="med" len="med"/>
          </a:ln>
        </p:spPr>
      </p:cxnSp>
      <p:cxnSp>
        <p:nvCxnSpPr>
          <p:cNvPr id="203" name="line-183">
            <a:extLst>
              <a:ext uri="{FF2B5EF4-FFF2-40B4-BE49-F238E27FC236}">
                <a16:creationId xmlns:a16="http://schemas.microsoft.com/office/drawing/2014/main" id="{13C949FB-5D96-45B9-A8FA-FE476A81FACE}"/>
              </a:ext>
            </a:extLst>
          </p:cNvPr>
          <p:cNvCxnSpPr/>
          <p:nvPr/>
        </p:nvCxnSpPr>
        <p:spPr>
          <a:xfrm>
            <a:off x="7198233" y="9385554"/>
            <a:ext cx="0" cy="78867"/>
          </a:xfrm>
          <a:prstGeom prst="straightConnector1">
            <a:avLst/>
          </a:prstGeom>
          <a:ln w="20955">
            <a:solidFill>
              <a:srgbClr val="7845A9"/>
            </a:solidFill>
            <a:prstDash val="solid"/>
            <a:tailEnd type="none" w="med" len="med"/>
          </a:ln>
        </p:spPr>
      </p:cxnSp>
      <p:sp>
        <p:nvSpPr>
          <p:cNvPr id="204" name="object-184">
            <a:extLst>
              <a:ext uri="{FF2B5EF4-FFF2-40B4-BE49-F238E27FC236}">
                <a16:creationId xmlns:a16="http://schemas.microsoft.com/office/drawing/2014/main" id="{0B3758BC-EC37-41AF-9E77-FD794C0227FB}"/>
              </a:ext>
            </a:extLst>
          </p:cNvPr>
          <p:cNvSpPr>
            <a:spLocks noGrp="1"/>
          </p:cNvSpPr>
          <p:nvPr/>
        </p:nvSpPr>
        <p:spPr>
          <a:xfrm>
            <a:off x="7417308" y="9455658"/>
            <a:ext cx="420624" cy="192786"/>
          </a:xfrm>
          <a:prstGeom prst="roundRect">
            <a:avLst>
              <a:gd name="adj" fmla="val 36364"/>
            </a:avLst>
          </a:prstGeom>
          <a:solidFill>
            <a:srgbClr val="DDC9F0"/>
          </a:solidFill>
          <a:ln w="19050">
            <a:solidFill>
              <a:srgbClr val="7845A9"/>
            </a:solidFill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205" name="line-185">
            <a:extLst>
              <a:ext uri="{FF2B5EF4-FFF2-40B4-BE49-F238E27FC236}">
                <a16:creationId xmlns:a16="http://schemas.microsoft.com/office/drawing/2014/main" id="{0B1B244D-ADCE-436D-8B28-922DA01156D7}"/>
              </a:ext>
            </a:extLst>
          </p:cNvPr>
          <p:cNvCxnSpPr/>
          <p:nvPr/>
        </p:nvCxnSpPr>
        <p:spPr>
          <a:xfrm>
            <a:off x="7487412" y="9385554"/>
            <a:ext cx="0" cy="78867"/>
          </a:xfrm>
          <a:prstGeom prst="straightConnector1">
            <a:avLst/>
          </a:prstGeom>
          <a:ln w="20955">
            <a:solidFill>
              <a:srgbClr val="7845A9"/>
            </a:solidFill>
            <a:prstDash val="solid"/>
            <a:tailEnd type="none" w="med" len="med"/>
          </a:ln>
        </p:spPr>
      </p:cxnSp>
      <p:cxnSp>
        <p:nvCxnSpPr>
          <p:cNvPr id="206" name="line-186">
            <a:extLst>
              <a:ext uri="{FF2B5EF4-FFF2-40B4-BE49-F238E27FC236}">
                <a16:creationId xmlns:a16="http://schemas.microsoft.com/office/drawing/2014/main" id="{65EB8035-FB14-4477-9126-D066EE1B3A1B}"/>
              </a:ext>
            </a:extLst>
          </p:cNvPr>
          <p:cNvCxnSpPr/>
          <p:nvPr/>
        </p:nvCxnSpPr>
        <p:spPr>
          <a:xfrm>
            <a:off x="7575042" y="9385554"/>
            <a:ext cx="0" cy="78867"/>
          </a:xfrm>
          <a:prstGeom prst="straightConnector1">
            <a:avLst/>
          </a:prstGeom>
          <a:ln w="20955">
            <a:solidFill>
              <a:srgbClr val="7845A9"/>
            </a:solidFill>
            <a:prstDash val="solid"/>
            <a:tailEnd type="none" w="med" len="med"/>
          </a:ln>
        </p:spPr>
      </p:cxnSp>
      <p:cxnSp>
        <p:nvCxnSpPr>
          <p:cNvPr id="207" name="line-187">
            <a:extLst>
              <a:ext uri="{FF2B5EF4-FFF2-40B4-BE49-F238E27FC236}">
                <a16:creationId xmlns:a16="http://schemas.microsoft.com/office/drawing/2014/main" id="{F1F9A0EC-5656-41D1-8E81-14A02CA8E0C6}"/>
              </a:ext>
            </a:extLst>
          </p:cNvPr>
          <p:cNvCxnSpPr/>
          <p:nvPr/>
        </p:nvCxnSpPr>
        <p:spPr>
          <a:xfrm>
            <a:off x="7662672" y="9385554"/>
            <a:ext cx="0" cy="78867"/>
          </a:xfrm>
          <a:prstGeom prst="straightConnector1">
            <a:avLst/>
          </a:prstGeom>
          <a:ln w="20955">
            <a:solidFill>
              <a:srgbClr val="7845A9"/>
            </a:solidFill>
            <a:prstDash val="solid"/>
            <a:tailEnd type="none" w="med" len="med"/>
          </a:ln>
        </p:spPr>
      </p:cxnSp>
      <p:cxnSp>
        <p:nvCxnSpPr>
          <p:cNvPr id="208" name="line-188">
            <a:extLst>
              <a:ext uri="{FF2B5EF4-FFF2-40B4-BE49-F238E27FC236}">
                <a16:creationId xmlns:a16="http://schemas.microsoft.com/office/drawing/2014/main" id="{014F0266-6C01-4277-BCF8-66B63108DE55}"/>
              </a:ext>
            </a:extLst>
          </p:cNvPr>
          <p:cNvCxnSpPr/>
          <p:nvPr/>
        </p:nvCxnSpPr>
        <p:spPr>
          <a:xfrm>
            <a:off x="7750302" y="9385554"/>
            <a:ext cx="0" cy="78867"/>
          </a:xfrm>
          <a:prstGeom prst="straightConnector1">
            <a:avLst/>
          </a:prstGeom>
          <a:ln w="20955">
            <a:solidFill>
              <a:srgbClr val="7845A9"/>
            </a:solidFill>
            <a:prstDash val="solid"/>
            <a:tailEnd type="none" w="med" len="med"/>
          </a:ln>
        </p:spPr>
      </p:cxnSp>
      <p:sp>
        <p:nvSpPr>
          <p:cNvPr id="209" name="object-189">
            <a:extLst>
              <a:ext uri="{FF2B5EF4-FFF2-40B4-BE49-F238E27FC236}">
                <a16:creationId xmlns:a16="http://schemas.microsoft.com/office/drawing/2014/main" id="{1DD1BB28-DEDC-449E-99B1-2E9A48CBC39D}"/>
              </a:ext>
            </a:extLst>
          </p:cNvPr>
          <p:cNvSpPr>
            <a:spLocks noGrp="1"/>
          </p:cNvSpPr>
          <p:nvPr/>
        </p:nvSpPr>
        <p:spPr>
          <a:xfrm>
            <a:off x="6313170" y="9771126"/>
            <a:ext cx="1524762" cy="236601"/>
          </a:xfrm>
          <a:prstGeom prst="rect">
            <a:avLst/>
          </a:prstGeom>
          <a:noFill/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defPPr>
            <a:lvl1pPr algn="ctr">
              <a:defRPr sz="1500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1pPr>
            <a:lvl2pPr algn="ctr">
              <a:defRPr sz="1500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2pPr>
            <a:lvl3pPr algn="ctr">
              <a:defRPr sz="1500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3pPr>
            <a:lvl4pPr algn="ctr">
              <a:defRPr sz="1500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4pPr>
            <a:lvl5pPr algn="ctr">
              <a:defRPr sz="1500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5pPr>
            <a:lvl6pPr algn="ctr">
              <a:defRPr sz="1500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6pPr>
            <a:lvl7pPr algn="ctr">
              <a:defRPr sz="1500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7pPr>
            <a:lvl8pPr algn="ctr">
              <a:defRPr sz="1500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8pPr>
            <a:lvl9pPr algn="ctr">
              <a:defRPr sz="1500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ctr">
              <a:defRPr sz="1500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pPr>
            <a:r>
              <a:rPr sz="1500" b="0" u="none">
                <a:solidFill>
                  <a:srgbClr val="35566A"/>
                </a:solidFill>
                <a:latin typeface="Futura"/>
                <a:ea typeface="Futura"/>
                <a:cs typeface="Futura"/>
              </a:rPr>
              <a:t>3′ UTR</a:t>
            </a:r>
          </a:p>
        </p:txBody>
      </p:sp>
      <p:sp>
        <p:nvSpPr>
          <p:cNvPr id="210" name="object-190">
            <a:extLst>
              <a:ext uri="{FF2B5EF4-FFF2-40B4-BE49-F238E27FC236}">
                <a16:creationId xmlns:a16="http://schemas.microsoft.com/office/drawing/2014/main" id="{B940B8D5-ADC2-4CA0-AE6E-F6973849CD18}"/>
              </a:ext>
            </a:extLst>
          </p:cNvPr>
          <p:cNvSpPr>
            <a:spLocks noGrp="1"/>
          </p:cNvSpPr>
          <p:nvPr/>
        </p:nvSpPr>
        <p:spPr>
          <a:xfrm>
            <a:off x="1020318" y="10936605"/>
            <a:ext cx="1577340" cy="236601"/>
          </a:xfrm>
          <a:prstGeom prst="rect">
            <a:avLst/>
          </a:prstGeom>
          <a:noFill/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defPPr>
            <a:lvl1pPr algn="ctr">
              <a:defRPr sz="1500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1pPr>
            <a:lvl2pPr algn="ctr">
              <a:defRPr sz="1500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2pPr>
            <a:lvl3pPr algn="ctr">
              <a:defRPr sz="1500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3pPr>
            <a:lvl4pPr algn="ctr">
              <a:defRPr sz="1500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4pPr>
            <a:lvl5pPr algn="ctr">
              <a:defRPr sz="1500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5pPr>
            <a:lvl6pPr algn="ctr">
              <a:defRPr sz="1500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6pPr>
            <a:lvl7pPr algn="ctr">
              <a:defRPr sz="1500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7pPr>
            <a:lvl8pPr algn="ctr">
              <a:defRPr sz="1500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8pPr>
            <a:lvl9pPr algn="ctr">
              <a:defRPr sz="1500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ctr">
              <a:defRPr sz="1500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pPr>
            <a:r>
              <a:rPr sz="1500" b="0">
                <a:solidFill>
                  <a:srgbClr val="7845A9"/>
                </a:solidFill>
                <a:latin typeface="Futura"/>
                <a:ea typeface="Futura"/>
                <a:cs typeface="Futura"/>
              </a:rPr>
              <a:t>Gapmer ASO</a:t>
            </a:r>
          </a:p>
        </p:txBody>
      </p:sp>
      <p:sp>
        <p:nvSpPr>
          <p:cNvPr id="211" name="object-191">
            <a:extLst>
              <a:ext uri="{FF2B5EF4-FFF2-40B4-BE49-F238E27FC236}">
                <a16:creationId xmlns:a16="http://schemas.microsoft.com/office/drawing/2014/main" id="{2016D28B-3117-4BB8-8A2F-834C6314C4F2}"/>
              </a:ext>
            </a:extLst>
          </p:cNvPr>
          <p:cNvSpPr>
            <a:spLocks noGrp="1"/>
          </p:cNvSpPr>
          <p:nvPr/>
        </p:nvSpPr>
        <p:spPr>
          <a:xfrm>
            <a:off x="1143000" y="11304651"/>
            <a:ext cx="105156" cy="87630"/>
          </a:xfrm>
          <a:prstGeom prst="rect">
            <a:avLst/>
          </a:prstGeom>
          <a:solidFill>
            <a:srgbClr val="7845A9"/>
          </a:solidFill>
          <a:ln w="1714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2" name="object-192">
            <a:extLst>
              <a:ext uri="{FF2B5EF4-FFF2-40B4-BE49-F238E27FC236}">
                <a16:creationId xmlns:a16="http://schemas.microsoft.com/office/drawing/2014/main" id="{8B9929CF-8EAA-4771-9363-6B5A9131FCFC}"/>
              </a:ext>
            </a:extLst>
          </p:cNvPr>
          <p:cNvSpPr>
            <a:spLocks noGrp="1"/>
          </p:cNvSpPr>
          <p:nvPr/>
        </p:nvSpPr>
        <p:spPr>
          <a:xfrm>
            <a:off x="1265682" y="11304651"/>
            <a:ext cx="105156" cy="87630"/>
          </a:xfrm>
          <a:prstGeom prst="rect">
            <a:avLst/>
          </a:prstGeom>
          <a:solidFill>
            <a:srgbClr val="7845A9"/>
          </a:solidFill>
          <a:ln w="1714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3" name="object-193">
            <a:extLst>
              <a:ext uri="{FF2B5EF4-FFF2-40B4-BE49-F238E27FC236}">
                <a16:creationId xmlns:a16="http://schemas.microsoft.com/office/drawing/2014/main" id="{83DFC55D-D4DB-431F-AA68-1311F16ED2DB}"/>
              </a:ext>
            </a:extLst>
          </p:cNvPr>
          <p:cNvSpPr>
            <a:spLocks noGrp="1"/>
          </p:cNvSpPr>
          <p:nvPr/>
        </p:nvSpPr>
        <p:spPr>
          <a:xfrm>
            <a:off x="1388364" y="11304651"/>
            <a:ext cx="105156" cy="87630"/>
          </a:xfrm>
          <a:prstGeom prst="rect">
            <a:avLst/>
          </a:prstGeom>
          <a:solidFill>
            <a:srgbClr val="7845A9"/>
          </a:solidFill>
          <a:ln w="1714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4" name="object-194">
            <a:extLst>
              <a:ext uri="{FF2B5EF4-FFF2-40B4-BE49-F238E27FC236}">
                <a16:creationId xmlns:a16="http://schemas.microsoft.com/office/drawing/2014/main" id="{0DE63457-0372-4593-99D0-16798F1B7393}"/>
              </a:ext>
            </a:extLst>
          </p:cNvPr>
          <p:cNvSpPr>
            <a:spLocks noGrp="1"/>
          </p:cNvSpPr>
          <p:nvPr/>
        </p:nvSpPr>
        <p:spPr>
          <a:xfrm>
            <a:off x="1511046" y="11304651"/>
            <a:ext cx="105156" cy="87630"/>
          </a:xfrm>
          <a:prstGeom prst="rect">
            <a:avLst/>
          </a:prstGeom>
          <a:solidFill>
            <a:srgbClr val="C599E4"/>
          </a:solidFill>
          <a:ln w="1714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" name="object-195">
            <a:extLst>
              <a:ext uri="{FF2B5EF4-FFF2-40B4-BE49-F238E27FC236}">
                <a16:creationId xmlns:a16="http://schemas.microsoft.com/office/drawing/2014/main" id="{7E3A4963-B791-450F-8924-727FEE4E8BFC}"/>
              </a:ext>
            </a:extLst>
          </p:cNvPr>
          <p:cNvSpPr>
            <a:spLocks noGrp="1"/>
          </p:cNvSpPr>
          <p:nvPr/>
        </p:nvSpPr>
        <p:spPr>
          <a:xfrm>
            <a:off x="1633728" y="11304651"/>
            <a:ext cx="105156" cy="87630"/>
          </a:xfrm>
          <a:prstGeom prst="rect">
            <a:avLst/>
          </a:prstGeom>
          <a:solidFill>
            <a:srgbClr val="C599E4"/>
          </a:solidFill>
          <a:ln w="1714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6" name="object-196">
            <a:extLst>
              <a:ext uri="{FF2B5EF4-FFF2-40B4-BE49-F238E27FC236}">
                <a16:creationId xmlns:a16="http://schemas.microsoft.com/office/drawing/2014/main" id="{1C2864D4-8919-43ED-B2B2-1F053DDE5727}"/>
              </a:ext>
            </a:extLst>
          </p:cNvPr>
          <p:cNvSpPr>
            <a:spLocks noGrp="1"/>
          </p:cNvSpPr>
          <p:nvPr/>
        </p:nvSpPr>
        <p:spPr>
          <a:xfrm>
            <a:off x="1756410" y="11304651"/>
            <a:ext cx="105156" cy="87630"/>
          </a:xfrm>
          <a:prstGeom prst="rect">
            <a:avLst/>
          </a:prstGeom>
          <a:solidFill>
            <a:srgbClr val="C599E4"/>
          </a:solidFill>
          <a:ln w="1714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7" name="object-197">
            <a:extLst>
              <a:ext uri="{FF2B5EF4-FFF2-40B4-BE49-F238E27FC236}">
                <a16:creationId xmlns:a16="http://schemas.microsoft.com/office/drawing/2014/main" id="{86BE5EA2-C3A4-4587-B635-F6A015BFD32D}"/>
              </a:ext>
            </a:extLst>
          </p:cNvPr>
          <p:cNvSpPr>
            <a:spLocks noGrp="1"/>
          </p:cNvSpPr>
          <p:nvPr/>
        </p:nvSpPr>
        <p:spPr>
          <a:xfrm>
            <a:off x="1879092" y="11304651"/>
            <a:ext cx="105156" cy="87630"/>
          </a:xfrm>
          <a:prstGeom prst="rect">
            <a:avLst/>
          </a:prstGeom>
          <a:solidFill>
            <a:srgbClr val="C599E4"/>
          </a:solidFill>
          <a:ln w="1714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8" name="object-198">
            <a:extLst>
              <a:ext uri="{FF2B5EF4-FFF2-40B4-BE49-F238E27FC236}">
                <a16:creationId xmlns:a16="http://schemas.microsoft.com/office/drawing/2014/main" id="{9134E572-4A7F-4C8B-A19A-23D448B69259}"/>
              </a:ext>
            </a:extLst>
          </p:cNvPr>
          <p:cNvSpPr>
            <a:spLocks noGrp="1"/>
          </p:cNvSpPr>
          <p:nvPr/>
        </p:nvSpPr>
        <p:spPr>
          <a:xfrm>
            <a:off x="2001774" y="11304651"/>
            <a:ext cx="105156" cy="87630"/>
          </a:xfrm>
          <a:prstGeom prst="rect">
            <a:avLst/>
          </a:prstGeom>
          <a:solidFill>
            <a:srgbClr val="7845A9"/>
          </a:solidFill>
          <a:ln w="1714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9" name="object-199">
            <a:extLst>
              <a:ext uri="{FF2B5EF4-FFF2-40B4-BE49-F238E27FC236}">
                <a16:creationId xmlns:a16="http://schemas.microsoft.com/office/drawing/2014/main" id="{EE1C1BF2-667C-437D-B192-58BEC96F28ED}"/>
              </a:ext>
            </a:extLst>
          </p:cNvPr>
          <p:cNvSpPr>
            <a:spLocks noGrp="1"/>
          </p:cNvSpPr>
          <p:nvPr/>
        </p:nvSpPr>
        <p:spPr>
          <a:xfrm>
            <a:off x="2124456" y="11304651"/>
            <a:ext cx="105156" cy="87630"/>
          </a:xfrm>
          <a:prstGeom prst="rect">
            <a:avLst/>
          </a:prstGeom>
          <a:solidFill>
            <a:srgbClr val="7845A9"/>
          </a:solidFill>
          <a:ln w="1714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0" name="object-200">
            <a:extLst>
              <a:ext uri="{FF2B5EF4-FFF2-40B4-BE49-F238E27FC236}">
                <a16:creationId xmlns:a16="http://schemas.microsoft.com/office/drawing/2014/main" id="{3A50F6A8-9057-466F-BFA5-8BDCC2FAABA4}"/>
              </a:ext>
            </a:extLst>
          </p:cNvPr>
          <p:cNvSpPr>
            <a:spLocks noGrp="1"/>
          </p:cNvSpPr>
          <p:nvPr/>
        </p:nvSpPr>
        <p:spPr>
          <a:xfrm>
            <a:off x="2247138" y="11304651"/>
            <a:ext cx="105156" cy="87630"/>
          </a:xfrm>
          <a:prstGeom prst="rect">
            <a:avLst/>
          </a:prstGeom>
          <a:solidFill>
            <a:srgbClr val="7845A9"/>
          </a:solidFill>
          <a:ln w="17145">
            <a:noFill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221" name="line-201">
            <a:extLst>
              <a:ext uri="{FF2B5EF4-FFF2-40B4-BE49-F238E27FC236}">
                <a16:creationId xmlns:a16="http://schemas.microsoft.com/office/drawing/2014/main" id="{5BFAF948-3CBE-4D78-80E0-DBC56163887A}"/>
              </a:ext>
            </a:extLst>
          </p:cNvPr>
          <p:cNvCxnSpPr/>
          <p:nvPr/>
        </p:nvCxnSpPr>
        <p:spPr>
          <a:xfrm>
            <a:off x="967740" y="11620119"/>
            <a:ext cx="3119628" cy="0"/>
          </a:xfrm>
          <a:prstGeom prst="straightConnector1">
            <a:avLst/>
          </a:prstGeom>
          <a:ln w="28575">
            <a:solidFill>
              <a:srgbClr val="35566A"/>
            </a:solidFill>
            <a:prstDash val="solid"/>
            <a:tailEnd type="none" w="med" len="med"/>
          </a:ln>
        </p:spPr>
      </p:cxnSp>
      <p:sp>
        <p:nvSpPr>
          <p:cNvPr id="223" name="object-203">
            <a:extLst>
              <a:ext uri="{FF2B5EF4-FFF2-40B4-BE49-F238E27FC236}">
                <a16:creationId xmlns:a16="http://schemas.microsoft.com/office/drawing/2014/main" id="{858D7FEB-8F1D-4198-8DA0-87072398ED88}"/>
              </a:ext>
            </a:extLst>
          </p:cNvPr>
          <p:cNvSpPr>
            <a:spLocks noGrp="1"/>
          </p:cNvSpPr>
          <p:nvPr/>
        </p:nvSpPr>
        <p:spPr>
          <a:xfrm>
            <a:off x="1072896" y="11514963"/>
            <a:ext cx="1296924" cy="210312"/>
          </a:xfrm>
          <a:prstGeom prst="roundRect">
            <a:avLst>
              <a:gd name="adj" fmla="val 33333"/>
            </a:avLst>
          </a:prstGeom>
          <a:solidFill>
            <a:srgbClr val="E9D8F5"/>
          </a:solidFill>
          <a:ln w="17145">
            <a:solidFill>
              <a:srgbClr val="7845A9"/>
            </a:solidFill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224" name="line-204">
            <a:extLst>
              <a:ext uri="{FF2B5EF4-FFF2-40B4-BE49-F238E27FC236}">
                <a16:creationId xmlns:a16="http://schemas.microsoft.com/office/drawing/2014/main" id="{92F22011-0FB3-4770-815C-949A2F35F6B0}"/>
              </a:ext>
            </a:extLst>
          </p:cNvPr>
          <p:cNvCxnSpPr/>
          <p:nvPr/>
        </p:nvCxnSpPr>
        <p:spPr>
          <a:xfrm>
            <a:off x="1195578" y="11401044"/>
            <a:ext cx="0" cy="192786"/>
          </a:xfrm>
          <a:prstGeom prst="straightConnector1">
            <a:avLst/>
          </a:prstGeom>
          <a:ln w="20955">
            <a:solidFill>
              <a:srgbClr val="9869BE"/>
            </a:solidFill>
            <a:prstDash val="solid"/>
            <a:tailEnd type="none" w="med" len="med"/>
          </a:ln>
        </p:spPr>
      </p:cxnSp>
      <p:cxnSp>
        <p:nvCxnSpPr>
          <p:cNvPr id="225" name="line-205">
            <a:extLst>
              <a:ext uri="{FF2B5EF4-FFF2-40B4-BE49-F238E27FC236}">
                <a16:creationId xmlns:a16="http://schemas.microsoft.com/office/drawing/2014/main" id="{16CF1DF7-CD47-444A-8699-AE5AFBC68ABB}"/>
              </a:ext>
            </a:extLst>
          </p:cNvPr>
          <p:cNvCxnSpPr/>
          <p:nvPr/>
        </p:nvCxnSpPr>
        <p:spPr>
          <a:xfrm>
            <a:off x="1318260" y="11401044"/>
            <a:ext cx="0" cy="192786"/>
          </a:xfrm>
          <a:prstGeom prst="straightConnector1">
            <a:avLst/>
          </a:prstGeom>
          <a:ln w="20955">
            <a:solidFill>
              <a:srgbClr val="9869BE"/>
            </a:solidFill>
            <a:prstDash val="solid"/>
            <a:tailEnd type="none" w="med" len="med"/>
          </a:ln>
        </p:spPr>
      </p:cxnSp>
      <p:cxnSp>
        <p:nvCxnSpPr>
          <p:cNvPr id="226" name="line-206">
            <a:extLst>
              <a:ext uri="{FF2B5EF4-FFF2-40B4-BE49-F238E27FC236}">
                <a16:creationId xmlns:a16="http://schemas.microsoft.com/office/drawing/2014/main" id="{417970AE-9340-476F-9A63-5F64FB11D3CE}"/>
              </a:ext>
            </a:extLst>
          </p:cNvPr>
          <p:cNvCxnSpPr/>
          <p:nvPr/>
        </p:nvCxnSpPr>
        <p:spPr>
          <a:xfrm>
            <a:off x="1440942" y="11401044"/>
            <a:ext cx="0" cy="192786"/>
          </a:xfrm>
          <a:prstGeom prst="straightConnector1">
            <a:avLst/>
          </a:prstGeom>
          <a:ln w="20955">
            <a:solidFill>
              <a:srgbClr val="9869BE"/>
            </a:solidFill>
            <a:prstDash val="solid"/>
            <a:tailEnd type="none" w="med" len="med"/>
          </a:ln>
        </p:spPr>
      </p:cxnSp>
      <p:cxnSp>
        <p:nvCxnSpPr>
          <p:cNvPr id="227" name="line-207">
            <a:extLst>
              <a:ext uri="{FF2B5EF4-FFF2-40B4-BE49-F238E27FC236}">
                <a16:creationId xmlns:a16="http://schemas.microsoft.com/office/drawing/2014/main" id="{277F6F72-FA04-4685-BBC2-B67E3B0ECFB5}"/>
              </a:ext>
            </a:extLst>
          </p:cNvPr>
          <p:cNvCxnSpPr/>
          <p:nvPr/>
        </p:nvCxnSpPr>
        <p:spPr>
          <a:xfrm>
            <a:off x="1563624" y="11401044"/>
            <a:ext cx="0" cy="192786"/>
          </a:xfrm>
          <a:prstGeom prst="straightConnector1">
            <a:avLst/>
          </a:prstGeom>
          <a:ln w="20955">
            <a:solidFill>
              <a:srgbClr val="9869BE"/>
            </a:solidFill>
            <a:prstDash val="solid"/>
            <a:tailEnd type="none" w="med" len="med"/>
          </a:ln>
        </p:spPr>
      </p:cxnSp>
      <p:cxnSp>
        <p:nvCxnSpPr>
          <p:cNvPr id="228" name="line-208">
            <a:extLst>
              <a:ext uri="{FF2B5EF4-FFF2-40B4-BE49-F238E27FC236}">
                <a16:creationId xmlns:a16="http://schemas.microsoft.com/office/drawing/2014/main" id="{D3D141BF-A8A3-4850-8734-4DC7739AD254}"/>
              </a:ext>
            </a:extLst>
          </p:cNvPr>
          <p:cNvCxnSpPr/>
          <p:nvPr/>
        </p:nvCxnSpPr>
        <p:spPr>
          <a:xfrm>
            <a:off x="1686306" y="11401044"/>
            <a:ext cx="0" cy="192786"/>
          </a:xfrm>
          <a:prstGeom prst="straightConnector1">
            <a:avLst/>
          </a:prstGeom>
          <a:ln w="20955">
            <a:solidFill>
              <a:srgbClr val="9869BE"/>
            </a:solidFill>
            <a:prstDash val="solid"/>
            <a:tailEnd type="none" w="med" len="med"/>
          </a:ln>
        </p:spPr>
      </p:cxnSp>
      <p:cxnSp>
        <p:nvCxnSpPr>
          <p:cNvPr id="229" name="line-209">
            <a:extLst>
              <a:ext uri="{FF2B5EF4-FFF2-40B4-BE49-F238E27FC236}">
                <a16:creationId xmlns:a16="http://schemas.microsoft.com/office/drawing/2014/main" id="{669306D6-1A8F-4D9F-BFCD-0D3B79FCCCB6}"/>
              </a:ext>
            </a:extLst>
          </p:cNvPr>
          <p:cNvCxnSpPr/>
          <p:nvPr/>
        </p:nvCxnSpPr>
        <p:spPr>
          <a:xfrm>
            <a:off x="1808988" y="11401044"/>
            <a:ext cx="0" cy="192786"/>
          </a:xfrm>
          <a:prstGeom prst="straightConnector1">
            <a:avLst/>
          </a:prstGeom>
          <a:ln w="20955">
            <a:solidFill>
              <a:srgbClr val="9869BE"/>
            </a:solidFill>
            <a:prstDash val="solid"/>
            <a:tailEnd type="none" w="med" len="med"/>
          </a:ln>
        </p:spPr>
      </p:cxnSp>
      <p:cxnSp>
        <p:nvCxnSpPr>
          <p:cNvPr id="230" name="line-210">
            <a:extLst>
              <a:ext uri="{FF2B5EF4-FFF2-40B4-BE49-F238E27FC236}">
                <a16:creationId xmlns:a16="http://schemas.microsoft.com/office/drawing/2014/main" id="{5DAC1218-C091-4C02-BCD4-EF76ACD13D93}"/>
              </a:ext>
            </a:extLst>
          </p:cNvPr>
          <p:cNvCxnSpPr/>
          <p:nvPr/>
        </p:nvCxnSpPr>
        <p:spPr>
          <a:xfrm>
            <a:off x="1931670" y="11401044"/>
            <a:ext cx="0" cy="192786"/>
          </a:xfrm>
          <a:prstGeom prst="straightConnector1">
            <a:avLst/>
          </a:prstGeom>
          <a:ln w="20955">
            <a:solidFill>
              <a:srgbClr val="9869BE"/>
            </a:solidFill>
            <a:prstDash val="solid"/>
            <a:tailEnd type="none" w="med" len="med"/>
          </a:ln>
        </p:spPr>
      </p:cxnSp>
      <p:cxnSp>
        <p:nvCxnSpPr>
          <p:cNvPr id="231" name="line-211">
            <a:extLst>
              <a:ext uri="{FF2B5EF4-FFF2-40B4-BE49-F238E27FC236}">
                <a16:creationId xmlns:a16="http://schemas.microsoft.com/office/drawing/2014/main" id="{282B695B-AE9D-4807-8427-09DA4F34E561}"/>
              </a:ext>
            </a:extLst>
          </p:cNvPr>
          <p:cNvCxnSpPr/>
          <p:nvPr/>
        </p:nvCxnSpPr>
        <p:spPr>
          <a:xfrm>
            <a:off x="2054352" y="11401044"/>
            <a:ext cx="0" cy="192786"/>
          </a:xfrm>
          <a:prstGeom prst="straightConnector1">
            <a:avLst/>
          </a:prstGeom>
          <a:ln w="20955">
            <a:solidFill>
              <a:srgbClr val="9869BE"/>
            </a:solidFill>
            <a:prstDash val="solid"/>
            <a:tailEnd type="none" w="med" len="med"/>
          </a:ln>
        </p:spPr>
      </p:cxnSp>
      <p:cxnSp>
        <p:nvCxnSpPr>
          <p:cNvPr id="232" name="line-212">
            <a:extLst>
              <a:ext uri="{FF2B5EF4-FFF2-40B4-BE49-F238E27FC236}">
                <a16:creationId xmlns:a16="http://schemas.microsoft.com/office/drawing/2014/main" id="{CDA01A62-F52A-49C8-8448-C49FE7A4FCF0}"/>
              </a:ext>
            </a:extLst>
          </p:cNvPr>
          <p:cNvCxnSpPr/>
          <p:nvPr/>
        </p:nvCxnSpPr>
        <p:spPr>
          <a:xfrm>
            <a:off x="2177034" y="11401044"/>
            <a:ext cx="0" cy="192786"/>
          </a:xfrm>
          <a:prstGeom prst="straightConnector1">
            <a:avLst/>
          </a:prstGeom>
          <a:ln w="20955">
            <a:solidFill>
              <a:srgbClr val="9869BE"/>
            </a:solidFill>
            <a:prstDash val="solid"/>
            <a:tailEnd type="none" w="med" len="med"/>
          </a:ln>
        </p:spPr>
      </p:cxnSp>
      <p:cxnSp>
        <p:nvCxnSpPr>
          <p:cNvPr id="233" name="line-213">
            <a:extLst>
              <a:ext uri="{FF2B5EF4-FFF2-40B4-BE49-F238E27FC236}">
                <a16:creationId xmlns:a16="http://schemas.microsoft.com/office/drawing/2014/main" id="{C5AD6824-7FF2-47E9-BD76-51F0C1FB68A6}"/>
              </a:ext>
            </a:extLst>
          </p:cNvPr>
          <p:cNvCxnSpPr/>
          <p:nvPr/>
        </p:nvCxnSpPr>
        <p:spPr>
          <a:xfrm>
            <a:off x="2299716" y="11401044"/>
            <a:ext cx="0" cy="192786"/>
          </a:xfrm>
          <a:prstGeom prst="straightConnector1">
            <a:avLst/>
          </a:prstGeom>
          <a:ln w="20955">
            <a:solidFill>
              <a:srgbClr val="9869BE"/>
            </a:solidFill>
            <a:prstDash val="solid"/>
            <a:tailEnd type="none" w="med" len="med"/>
          </a:ln>
        </p:spPr>
      </p:cxnSp>
      <p:sp>
        <p:nvSpPr>
          <p:cNvPr id="234" name="object-214">
            <a:extLst>
              <a:ext uri="{FF2B5EF4-FFF2-40B4-BE49-F238E27FC236}">
                <a16:creationId xmlns:a16="http://schemas.microsoft.com/office/drawing/2014/main" id="{B54AB139-AD48-4C34-888D-BB00BEA23A3F}"/>
              </a:ext>
            </a:extLst>
          </p:cNvPr>
          <p:cNvSpPr>
            <a:spLocks noGrp="1"/>
          </p:cNvSpPr>
          <p:nvPr/>
        </p:nvSpPr>
        <p:spPr>
          <a:xfrm>
            <a:off x="1107948" y="11839194"/>
            <a:ext cx="1261872" cy="236601"/>
          </a:xfrm>
          <a:prstGeom prst="rect">
            <a:avLst/>
          </a:prstGeom>
          <a:noFill/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u="none">
                <a:solidFill>
                  <a:srgbClr val="7845A9"/>
                </a:solidFill>
                <a:latin typeface="Futura"/>
                <a:ea typeface="Futura"/>
                <a:cs typeface="Futura"/>
              </a:defRPr>
            </a:defPPr>
            <a:lvl1pPr algn="ctr">
              <a:defRPr sz="1500" b="0" u="none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1pPr>
            <a:lvl2pPr algn="ctr">
              <a:defRPr sz="1500" b="0" u="none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2pPr>
            <a:lvl3pPr algn="ctr">
              <a:defRPr sz="1500" b="0" u="none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3pPr>
            <a:lvl4pPr algn="ctr">
              <a:defRPr sz="1500" b="0" u="none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4pPr>
            <a:lvl5pPr algn="ctr">
              <a:defRPr sz="1500" b="0" u="none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5pPr>
            <a:lvl6pPr algn="ctr">
              <a:defRPr sz="1500" b="0" u="none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6pPr>
            <a:lvl7pPr algn="ctr">
              <a:defRPr sz="1500" b="0" u="none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7pPr>
            <a:lvl8pPr algn="ctr">
              <a:defRPr sz="1500" b="0" u="none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8pPr>
            <a:lvl9pPr algn="ctr">
              <a:defRPr sz="1500" b="0" u="none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ctr">
              <a:defRPr sz="1500" b="0" u="none">
                <a:solidFill>
                  <a:srgbClr val="7845A9"/>
                </a:solidFill>
                <a:latin typeface="Futura"/>
                <a:ea typeface="Futura"/>
                <a:cs typeface="Futura"/>
              </a:defRPr>
            </a:pPr>
            <a:r>
              <a:rPr sz="1500" b="0" u="none">
                <a:solidFill>
                  <a:srgbClr val="7845A9"/>
                </a:solidFill>
                <a:latin typeface="Futura"/>
                <a:ea typeface="Futura"/>
                <a:cs typeface="Futura"/>
              </a:rPr>
              <a:t>RNA tag</a:t>
            </a:r>
          </a:p>
        </p:txBody>
      </p:sp>
      <p:sp>
        <p:nvSpPr>
          <p:cNvPr id="235" name="object-215">
            <a:extLst>
              <a:ext uri="{FF2B5EF4-FFF2-40B4-BE49-F238E27FC236}">
                <a16:creationId xmlns:a16="http://schemas.microsoft.com/office/drawing/2014/main" id="{A637093C-88F9-42BE-9EDE-0491CFA117C0}"/>
              </a:ext>
            </a:extLst>
          </p:cNvPr>
          <p:cNvSpPr>
            <a:spLocks noGrp="1"/>
          </p:cNvSpPr>
          <p:nvPr/>
        </p:nvSpPr>
        <p:spPr>
          <a:xfrm>
            <a:off x="2772918" y="11839194"/>
            <a:ext cx="1174242" cy="236601"/>
          </a:xfrm>
          <a:prstGeom prst="rect">
            <a:avLst/>
          </a:prstGeom>
          <a:noFill/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defPPr>
            <a:lvl1pPr algn="ctr">
              <a:defRPr sz="1500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1pPr>
            <a:lvl2pPr algn="ctr">
              <a:defRPr sz="1500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2pPr>
            <a:lvl3pPr algn="ctr">
              <a:defRPr sz="1500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3pPr>
            <a:lvl4pPr algn="ctr">
              <a:defRPr sz="1500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4pPr>
            <a:lvl5pPr algn="ctr">
              <a:defRPr sz="1500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5pPr>
            <a:lvl6pPr algn="ctr">
              <a:defRPr sz="1500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6pPr>
            <a:lvl7pPr algn="ctr">
              <a:defRPr sz="1500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7pPr>
            <a:lvl8pPr algn="ctr">
              <a:defRPr sz="1500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8pPr>
            <a:lvl9pPr algn="ctr">
              <a:defRPr sz="1500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ctr">
              <a:defRPr sz="1500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pPr>
            <a:r>
              <a:rPr sz="1500" b="0" u="none">
                <a:solidFill>
                  <a:srgbClr val="35566A"/>
                </a:solidFill>
                <a:latin typeface="Futura"/>
                <a:ea typeface="Futura"/>
                <a:cs typeface="Futura"/>
              </a:rPr>
              <a:t>mRNA</a:t>
            </a:r>
          </a:p>
        </p:txBody>
      </p:sp>
      <p:sp>
        <p:nvSpPr>
          <p:cNvPr id="236" name="object-216">
            <a:extLst>
              <a:ext uri="{FF2B5EF4-FFF2-40B4-BE49-F238E27FC236}">
                <a16:creationId xmlns:a16="http://schemas.microsoft.com/office/drawing/2014/main" id="{C53BE14B-5940-4262-8CCB-2CF2578C1A9D}"/>
              </a:ext>
            </a:extLst>
          </p:cNvPr>
          <p:cNvSpPr>
            <a:spLocks noGrp="1"/>
          </p:cNvSpPr>
          <p:nvPr/>
        </p:nvSpPr>
        <p:spPr>
          <a:xfrm>
            <a:off x="2729103" y="11120628"/>
            <a:ext cx="1270635" cy="350520"/>
          </a:xfrm>
          <a:prstGeom prst="ellipse">
            <a:avLst/>
          </a:prstGeom>
          <a:solidFill>
            <a:srgbClr val="C9AFDF"/>
          </a:solidFill>
          <a:ln w="19050">
            <a:solidFill>
              <a:srgbClr val="7845A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7" name="object-217">
            <a:extLst>
              <a:ext uri="{FF2B5EF4-FFF2-40B4-BE49-F238E27FC236}">
                <a16:creationId xmlns:a16="http://schemas.microsoft.com/office/drawing/2014/main" id="{46D980F0-F360-4EB7-A16F-DA52331DED5E}"/>
              </a:ext>
            </a:extLst>
          </p:cNvPr>
          <p:cNvSpPr>
            <a:spLocks noGrp="1"/>
          </p:cNvSpPr>
          <p:nvPr/>
        </p:nvSpPr>
        <p:spPr>
          <a:xfrm>
            <a:off x="2729103" y="11146917"/>
            <a:ext cx="1270635" cy="280416"/>
          </a:xfrm>
          <a:prstGeom prst="rect">
            <a:avLst/>
          </a:prstGeom>
          <a:noFill/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>
                <a:solidFill>
                  <a:srgbClr val="5D338B"/>
                </a:solidFill>
                <a:latin typeface="Futura"/>
                <a:ea typeface="Futura"/>
                <a:cs typeface="Futura"/>
              </a:defRPr>
            </a:defPPr>
            <a:lvl1pPr algn="ctr">
              <a:defRPr sz="1575" b="0">
                <a:solidFill>
                  <a:srgbClr val="5D338B"/>
                </a:solidFill>
                <a:latin typeface="Futura"/>
                <a:ea typeface="Futura"/>
                <a:cs typeface="Futura"/>
              </a:defRPr>
            </a:lvl1pPr>
            <a:lvl2pPr algn="ctr">
              <a:defRPr sz="1575" b="0">
                <a:solidFill>
                  <a:srgbClr val="5D338B"/>
                </a:solidFill>
                <a:latin typeface="Futura"/>
                <a:ea typeface="Futura"/>
                <a:cs typeface="Futura"/>
              </a:defRPr>
            </a:lvl2pPr>
            <a:lvl3pPr algn="ctr">
              <a:defRPr sz="1575" b="0">
                <a:solidFill>
                  <a:srgbClr val="5D338B"/>
                </a:solidFill>
                <a:latin typeface="Futura"/>
                <a:ea typeface="Futura"/>
                <a:cs typeface="Futura"/>
              </a:defRPr>
            </a:lvl3pPr>
            <a:lvl4pPr algn="ctr">
              <a:defRPr sz="1575" b="0">
                <a:solidFill>
                  <a:srgbClr val="5D338B"/>
                </a:solidFill>
                <a:latin typeface="Futura"/>
                <a:ea typeface="Futura"/>
                <a:cs typeface="Futura"/>
              </a:defRPr>
            </a:lvl4pPr>
            <a:lvl5pPr algn="ctr">
              <a:defRPr sz="1575" b="0">
                <a:solidFill>
                  <a:srgbClr val="5D338B"/>
                </a:solidFill>
                <a:latin typeface="Futura"/>
                <a:ea typeface="Futura"/>
                <a:cs typeface="Futura"/>
              </a:defRPr>
            </a:lvl5pPr>
            <a:lvl6pPr algn="ctr">
              <a:defRPr sz="1575" b="0">
                <a:solidFill>
                  <a:srgbClr val="5D338B"/>
                </a:solidFill>
                <a:latin typeface="Futura"/>
                <a:ea typeface="Futura"/>
                <a:cs typeface="Futura"/>
              </a:defRPr>
            </a:lvl6pPr>
            <a:lvl7pPr algn="ctr">
              <a:defRPr sz="1575" b="0">
                <a:solidFill>
                  <a:srgbClr val="5D338B"/>
                </a:solidFill>
                <a:latin typeface="Futura"/>
                <a:ea typeface="Futura"/>
                <a:cs typeface="Futura"/>
              </a:defRPr>
            </a:lvl7pPr>
            <a:lvl8pPr algn="ctr">
              <a:defRPr sz="1575" b="0">
                <a:solidFill>
                  <a:srgbClr val="5D338B"/>
                </a:solidFill>
                <a:latin typeface="Futura"/>
                <a:ea typeface="Futura"/>
                <a:cs typeface="Futura"/>
              </a:defRPr>
            </a:lvl8pPr>
            <a:lvl9pPr algn="ctr">
              <a:defRPr sz="1575" b="0">
                <a:solidFill>
                  <a:srgbClr val="5D338B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ctr">
              <a:defRPr sz="1575" b="0">
                <a:solidFill>
                  <a:srgbClr val="5D338B"/>
                </a:solidFill>
                <a:latin typeface="Futura"/>
                <a:ea typeface="Futura"/>
                <a:cs typeface="Futura"/>
              </a:defRPr>
            </a:pPr>
            <a:r>
              <a:rPr sz="1575" b="0">
                <a:solidFill>
                  <a:srgbClr val="5D338B"/>
                </a:solidFill>
                <a:latin typeface="Futura"/>
                <a:ea typeface="Futura"/>
                <a:cs typeface="Futura"/>
              </a:rPr>
              <a:t>RNase H1</a:t>
            </a:r>
          </a:p>
        </p:txBody>
      </p:sp>
      <p:cxnSp>
        <p:nvCxnSpPr>
          <p:cNvPr id="238" name="line-218">
            <a:extLst>
              <a:ext uri="{FF2B5EF4-FFF2-40B4-BE49-F238E27FC236}">
                <a16:creationId xmlns:a16="http://schemas.microsoft.com/office/drawing/2014/main" id="{4171B803-2381-4ACB-8C2F-341DA92CD307}"/>
              </a:ext>
            </a:extLst>
          </p:cNvPr>
          <p:cNvCxnSpPr/>
          <p:nvPr/>
        </p:nvCxnSpPr>
        <p:spPr>
          <a:xfrm flipH="1">
            <a:off x="2597658" y="11427333"/>
            <a:ext cx="201549" cy="70104"/>
          </a:xfrm>
          <a:prstGeom prst="straightConnector1">
            <a:avLst/>
          </a:prstGeom>
          <a:ln w="21908">
            <a:solidFill>
              <a:srgbClr val="7845A9"/>
            </a:solidFill>
            <a:prstDash val="solid"/>
            <a:tailEnd type="none" w="med" len="med"/>
          </a:ln>
        </p:spPr>
      </p:cxnSp>
      <p:cxnSp>
        <p:nvCxnSpPr>
          <p:cNvPr id="239" name="line-219">
            <a:extLst>
              <a:ext uri="{FF2B5EF4-FFF2-40B4-BE49-F238E27FC236}">
                <a16:creationId xmlns:a16="http://schemas.microsoft.com/office/drawing/2014/main" id="{F34E87DA-E07F-4A70-B3DB-88614EFF0BAE}"/>
              </a:ext>
            </a:extLst>
          </p:cNvPr>
          <p:cNvCxnSpPr/>
          <p:nvPr/>
        </p:nvCxnSpPr>
        <p:spPr>
          <a:xfrm flipH="1">
            <a:off x="1756410" y="11497437"/>
            <a:ext cx="841248" cy="122682"/>
          </a:xfrm>
          <a:prstGeom prst="straightConnector1">
            <a:avLst/>
          </a:prstGeom>
          <a:ln w="21908">
            <a:solidFill>
              <a:srgbClr val="7845A9"/>
            </a:solidFill>
            <a:prstDash val="solid"/>
            <a:tailEnd type="triangle" w="med" len="med"/>
          </a:ln>
        </p:spPr>
      </p:cxnSp>
      <p:cxnSp>
        <p:nvCxnSpPr>
          <p:cNvPr id="240" name="line-220">
            <a:extLst>
              <a:ext uri="{FF2B5EF4-FFF2-40B4-BE49-F238E27FC236}">
                <a16:creationId xmlns:a16="http://schemas.microsoft.com/office/drawing/2014/main" id="{A76D8C1C-55E6-4A1B-B43D-3CF0118D12A1}"/>
              </a:ext>
            </a:extLst>
          </p:cNvPr>
          <p:cNvCxnSpPr/>
          <p:nvPr/>
        </p:nvCxnSpPr>
        <p:spPr>
          <a:xfrm>
            <a:off x="1703832" y="11576304"/>
            <a:ext cx="70104" cy="122682"/>
          </a:xfrm>
          <a:prstGeom prst="straightConnector1">
            <a:avLst/>
          </a:prstGeom>
          <a:ln w="57150">
            <a:solidFill>
              <a:srgbClr val="FFFFFF"/>
            </a:solidFill>
            <a:prstDash val="solid"/>
            <a:tailEnd type="none" w="med" len="med"/>
          </a:ln>
        </p:spPr>
      </p:cxnSp>
      <p:cxnSp>
        <p:nvCxnSpPr>
          <p:cNvPr id="241" name="line-221">
            <a:extLst>
              <a:ext uri="{FF2B5EF4-FFF2-40B4-BE49-F238E27FC236}">
                <a16:creationId xmlns:a16="http://schemas.microsoft.com/office/drawing/2014/main" id="{BFA4EE48-8B48-42C2-8336-6CEEEF953802}"/>
              </a:ext>
            </a:extLst>
          </p:cNvPr>
          <p:cNvCxnSpPr/>
          <p:nvPr/>
        </p:nvCxnSpPr>
        <p:spPr>
          <a:xfrm>
            <a:off x="1677543" y="11576304"/>
            <a:ext cx="52578" cy="35052"/>
          </a:xfrm>
          <a:prstGeom prst="straightConnector1">
            <a:avLst/>
          </a:prstGeom>
          <a:ln w="20955">
            <a:solidFill>
              <a:srgbClr val="7845A9"/>
            </a:solidFill>
            <a:prstDash val="solid"/>
            <a:tailEnd type="none" w="med" len="med"/>
          </a:ln>
        </p:spPr>
      </p:cxnSp>
      <p:cxnSp>
        <p:nvCxnSpPr>
          <p:cNvPr id="242" name="line-222">
            <a:extLst>
              <a:ext uri="{FF2B5EF4-FFF2-40B4-BE49-F238E27FC236}">
                <a16:creationId xmlns:a16="http://schemas.microsoft.com/office/drawing/2014/main" id="{23A5CD67-86C3-4697-AD71-F2356E63A301}"/>
              </a:ext>
            </a:extLst>
          </p:cNvPr>
          <p:cNvCxnSpPr/>
          <p:nvPr/>
        </p:nvCxnSpPr>
        <p:spPr>
          <a:xfrm>
            <a:off x="1765173" y="11655171"/>
            <a:ext cx="52578" cy="43815"/>
          </a:xfrm>
          <a:prstGeom prst="straightConnector1">
            <a:avLst/>
          </a:prstGeom>
          <a:ln w="20955">
            <a:solidFill>
              <a:srgbClr val="7845A9"/>
            </a:solidFill>
            <a:prstDash val="solid"/>
            <a:tailEnd type="none" w="med" len="med"/>
          </a:ln>
        </p:spPr>
      </p:cxnSp>
      <p:cxnSp>
        <p:nvCxnSpPr>
          <p:cNvPr id="243" name="line-223">
            <a:extLst>
              <a:ext uri="{FF2B5EF4-FFF2-40B4-BE49-F238E27FC236}">
                <a16:creationId xmlns:a16="http://schemas.microsoft.com/office/drawing/2014/main" id="{C17E362D-5F8B-47DA-945E-5418850CE37A}"/>
              </a:ext>
            </a:extLst>
          </p:cNvPr>
          <p:cNvCxnSpPr/>
          <p:nvPr/>
        </p:nvCxnSpPr>
        <p:spPr>
          <a:xfrm>
            <a:off x="5068824" y="11278362"/>
            <a:ext cx="2988183" cy="0"/>
          </a:xfrm>
          <a:prstGeom prst="straightConnector1">
            <a:avLst/>
          </a:prstGeom>
          <a:ln w="28575">
            <a:solidFill>
              <a:srgbClr val="35566A"/>
            </a:solidFill>
            <a:prstDash val="solid"/>
            <a:tailEnd type="none" w="med" len="med"/>
          </a:ln>
        </p:spPr>
      </p:cxnSp>
      <p:sp>
        <p:nvSpPr>
          <p:cNvPr id="244" name="path-224">
            <a:extLst>
              <a:ext uri="{FF2B5EF4-FFF2-40B4-BE49-F238E27FC236}">
                <a16:creationId xmlns:a16="http://schemas.microsoft.com/office/drawing/2014/main" id="{2BFFD808-FFDC-4C32-AFAD-82250B834B39}"/>
              </a:ext>
            </a:extLst>
          </p:cNvPr>
          <p:cNvSpPr>
            <a:spLocks noGrp="1"/>
          </p:cNvSpPr>
          <p:nvPr/>
        </p:nvSpPr>
        <p:spPr>
          <a:xfrm>
            <a:off x="5261610" y="11173206"/>
            <a:ext cx="201549" cy="210312"/>
          </a:xfrm>
          <a:custGeom>
            <a:avLst/>
            <a:gdLst/>
            <a:ahLst/>
            <a:cxnLst/>
            <a:rect l="0" t="0" r="0" b="0"/>
            <a:pathLst>
              <a:path w="219075" h="228600">
                <a:moveTo>
                  <a:pt x="0" y="0"/>
                </a:moveTo>
                <a:lnTo>
                  <a:pt x="219075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7845A9"/>
          </a:solidFill>
          <a:ln w="20955">
            <a:solidFill>
              <a:srgbClr val="7845A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5" name="path-225">
            <a:extLst>
              <a:ext uri="{FF2B5EF4-FFF2-40B4-BE49-F238E27FC236}">
                <a16:creationId xmlns:a16="http://schemas.microsoft.com/office/drawing/2014/main" id="{D1566BE7-9E1F-4603-9F17-7A4C628E4715}"/>
              </a:ext>
            </a:extLst>
          </p:cNvPr>
          <p:cNvSpPr>
            <a:spLocks noGrp="1"/>
          </p:cNvSpPr>
          <p:nvPr/>
        </p:nvSpPr>
        <p:spPr>
          <a:xfrm>
            <a:off x="7610094" y="11173206"/>
            <a:ext cx="201549" cy="210312"/>
          </a:xfrm>
          <a:custGeom>
            <a:avLst/>
            <a:gdLst/>
            <a:ahLst/>
            <a:cxnLst/>
            <a:rect l="0" t="0" r="0" b="0"/>
            <a:pathLst>
              <a:path w="219075" h="228600">
                <a:moveTo>
                  <a:pt x="0" y="0"/>
                </a:moveTo>
                <a:lnTo>
                  <a:pt x="219075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7845A9"/>
          </a:solidFill>
          <a:ln w="20955">
            <a:solidFill>
              <a:srgbClr val="7845A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6" name="object-226">
            <a:extLst>
              <a:ext uri="{FF2B5EF4-FFF2-40B4-BE49-F238E27FC236}">
                <a16:creationId xmlns:a16="http://schemas.microsoft.com/office/drawing/2014/main" id="{3123ECFD-5790-41C9-B7E3-B547CB5CFE1E}"/>
              </a:ext>
            </a:extLst>
          </p:cNvPr>
          <p:cNvSpPr>
            <a:spLocks noGrp="1"/>
          </p:cNvSpPr>
          <p:nvPr/>
        </p:nvSpPr>
        <p:spPr>
          <a:xfrm>
            <a:off x="5988939" y="11138154"/>
            <a:ext cx="963930" cy="280416"/>
          </a:xfrm>
          <a:prstGeom prst="roundRect">
            <a:avLst>
              <a:gd name="adj" fmla="val 22857"/>
            </a:avLst>
          </a:prstGeom>
          <a:solidFill>
            <a:srgbClr val="D5E9F3"/>
          </a:solidFill>
          <a:ln w="19050">
            <a:solidFill>
              <a:srgbClr val="087DA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7" name="object-227">
            <a:extLst>
              <a:ext uri="{FF2B5EF4-FFF2-40B4-BE49-F238E27FC236}">
                <a16:creationId xmlns:a16="http://schemas.microsoft.com/office/drawing/2014/main" id="{191F3EB9-1F7B-4C47-A08F-13BA857ABC34}"/>
              </a:ext>
            </a:extLst>
          </p:cNvPr>
          <p:cNvSpPr>
            <a:spLocks noGrp="1"/>
          </p:cNvSpPr>
          <p:nvPr/>
        </p:nvSpPr>
        <p:spPr>
          <a:xfrm>
            <a:off x="5988939" y="11138154"/>
            <a:ext cx="963930" cy="280416"/>
          </a:xfrm>
          <a:prstGeom prst="rect">
            <a:avLst/>
          </a:prstGeom>
          <a:noFill/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defPPr>
            <a:lvl1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1pPr>
            <a:lvl2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2pPr>
            <a:lvl3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3pPr>
            <a:lvl4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4pPr>
            <a:lvl5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5pPr>
            <a:lvl6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6pPr>
            <a:lvl7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7pPr>
            <a:lvl8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8pPr>
            <a:lvl9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pPr>
            <a:r>
              <a: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rPr>
              <a:t>ORCA</a:t>
            </a:r>
          </a:p>
        </p:txBody>
      </p:sp>
      <p:sp>
        <p:nvSpPr>
          <p:cNvPr id="248" name="object-228">
            <a:extLst>
              <a:ext uri="{FF2B5EF4-FFF2-40B4-BE49-F238E27FC236}">
                <a16:creationId xmlns:a16="http://schemas.microsoft.com/office/drawing/2014/main" id="{F4916CDA-4F09-429D-BA9F-D942D194D578}"/>
              </a:ext>
            </a:extLst>
          </p:cNvPr>
          <p:cNvSpPr>
            <a:spLocks noGrp="1"/>
          </p:cNvSpPr>
          <p:nvPr/>
        </p:nvSpPr>
        <p:spPr>
          <a:xfrm>
            <a:off x="5051298" y="10884027"/>
            <a:ext cx="665988" cy="227838"/>
          </a:xfrm>
          <a:prstGeom prst="rect">
            <a:avLst/>
          </a:prstGeom>
          <a:noFill/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defPPr>
            <a:lvl1pPr algn="ctr">
              <a:defRPr sz="1425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1pPr>
            <a:lvl2pPr algn="ctr">
              <a:defRPr sz="1425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2pPr>
            <a:lvl3pPr algn="ctr">
              <a:defRPr sz="1425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3pPr>
            <a:lvl4pPr algn="ctr">
              <a:defRPr sz="1425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4pPr>
            <a:lvl5pPr algn="ctr">
              <a:defRPr sz="1425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5pPr>
            <a:lvl6pPr algn="ctr">
              <a:defRPr sz="1425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6pPr>
            <a:lvl7pPr algn="ctr">
              <a:defRPr sz="1425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7pPr>
            <a:lvl8pPr algn="ctr">
              <a:defRPr sz="1425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8pPr>
            <a:lvl9pPr algn="ctr">
              <a:defRPr sz="1425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ctr">
              <a:defRPr sz="1425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pPr>
            <a:r>
              <a:rPr sz="1425" b="0">
                <a:solidFill>
                  <a:srgbClr val="7845A9"/>
                </a:solidFill>
                <a:latin typeface="Futura"/>
                <a:ea typeface="Futura"/>
                <a:cs typeface="Futura"/>
              </a:rPr>
              <a:t>loxP</a:t>
            </a:r>
          </a:p>
        </p:txBody>
      </p:sp>
      <p:sp>
        <p:nvSpPr>
          <p:cNvPr id="249" name="object-229">
            <a:extLst>
              <a:ext uri="{FF2B5EF4-FFF2-40B4-BE49-F238E27FC236}">
                <a16:creationId xmlns:a16="http://schemas.microsoft.com/office/drawing/2014/main" id="{4D86BFB5-810B-4934-A497-570C4951C33B}"/>
              </a:ext>
            </a:extLst>
          </p:cNvPr>
          <p:cNvSpPr>
            <a:spLocks noGrp="1"/>
          </p:cNvSpPr>
          <p:nvPr/>
        </p:nvSpPr>
        <p:spPr>
          <a:xfrm>
            <a:off x="7391019" y="10884027"/>
            <a:ext cx="665988" cy="227838"/>
          </a:xfrm>
          <a:prstGeom prst="rect">
            <a:avLst/>
          </a:prstGeom>
          <a:noFill/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defPPr>
            <a:lvl1pPr algn="ctr">
              <a:defRPr sz="1425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1pPr>
            <a:lvl2pPr algn="ctr">
              <a:defRPr sz="1425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2pPr>
            <a:lvl3pPr algn="ctr">
              <a:defRPr sz="1425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3pPr>
            <a:lvl4pPr algn="ctr">
              <a:defRPr sz="1425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4pPr>
            <a:lvl5pPr algn="ctr">
              <a:defRPr sz="1425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5pPr>
            <a:lvl6pPr algn="ctr">
              <a:defRPr sz="1425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6pPr>
            <a:lvl7pPr algn="ctr">
              <a:defRPr sz="1425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7pPr>
            <a:lvl8pPr algn="ctr">
              <a:defRPr sz="1425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8pPr>
            <a:lvl9pPr algn="ctr">
              <a:defRPr sz="1425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ctr">
              <a:defRPr sz="1425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pPr>
            <a:r>
              <a:rPr sz="1425" b="0">
                <a:solidFill>
                  <a:srgbClr val="7845A9"/>
                </a:solidFill>
                <a:latin typeface="Futura"/>
                <a:ea typeface="Futura"/>
                <a:cs typeface="Futura"/>
              </a:rPr>
              <a:t>loxP</a:t>
            </a:r>
          </a:p>
        </p:txBody>
      </p:sp>
      <p:cxnSp>
        <p:nvCxnSpPr>
          <p:cNvPr id="250" name="line-230">
            <a:extLst>
              <a:ext uri="{FF2B5EF4-FFF2-40B4-BE49-F238E27FC236}">
                <a16:creationId xmlns:a16="http://schemas.microsoft.com/office/drawing/2014/main" id="{A090DBC3-2E98-4AF7-B770-8476F9CEF07C}"/>
              </a:ext>
            </a:extLst>
          </p:cNvPr>
          <p:cNvCxnSpPr/>
          <p:nvPr/>
        </p:nvCxnSpPr>
        <p:spPr>
          <a:xfrm>
            <a:off x="6541008" y="11497437"/>
            <a:ext cx="0" cy="271653"/>
          </a:xfrm>
          <a:prstGeom prst="straightConnector1">
            <a:avLst/>
          </a:prstGeom>
          <a:ln w="22860">
            <a:solidFill>
              <a:srgbClr val="7845A9"/>
            </a:solidFill>
            <a:prstDash val="solid"/>
            <a:tailEnd type="triangle" w="med" len="med"/>
          </a:ln>
        </p:spPr>
      </p:cxnSp>
      <p:sp>
        <p:nvSpPr>
          <p:cNvPr id="251" name="object-231">
            <a:extLst>
              <a:ext uri="{FF2B5EF4-FFF2-40B4-BE49-F238E27FC236}">
                <a16:creationId xmlns:a16="http://schemas.microsoft.com/office/drawing/2014/main" id="{68C74684-C6E7-4AA1-8F29-2E19999A28AC}"/>
              </a:ext>
            </a:extLst>
          </p:cNvPr>
          <p:cNvSpPr>
            <a:spLocks noGrp="1"/>
          </p:cNvSpPr>
          <p:nvPr/>
        </p:nvSpPr>
        <p:spPr>
          <a:xfrm>
            <a:off x="6760083" y="11506200"/>
            <a:ext cx="639699" cy="227838"/>
          </a:xfrm>
          <a:prstGeom prst="rect">
            <a:avLst/>
          </a:prstGeom>
          <a:noFill/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75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defPPr>
            <a:lvl1pPr algn="l">
              <a:defRPr sz="1575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1pPr>
            <a:lvl2pPr algn="l">
              <a:defRPr sz="1575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2pPr>
            <a:lvl3pPr algn="l">
              <a:defRPr sz="1575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3pPr>
            <a:lvl4pPr algn="l">
              <a:defRPr sz="1575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4pPr>
            <a:lvl5pPr algn="l">
              <a:defRPr sz="1575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5pPr>
            <a:lvl6pPr algn="l">
              <a:defRPr sz="1575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6pPr>
            <a:lvl7pPr algn="l">
              <a:defRPr sz="1575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7pPr>
            <a:lvl8pPr algn="l">
              <a:defRPr sz="1575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8pPr>
            <a:lvl9pPr algn="l">
              <a:defRPr sz="1575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l">
              <a:defRPr sz="1575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pPr>
            <a:r>
              <a:rPr sz="1575" b="0">
                <a:solidFill>
                  <a:srgbClr val="7845A9"/>
                </a:solidFill>
                <a:latin typeface="Futura"/>
                <a:ea typeface="Futura"/>
                <a:cs typeface="Futura"/>
              </a:rPr>
              <a:t>Cre</a:t>
            </a:r>
          </a:p>
        </p:txBody>
      </p:sp>
      <p:cxnSp>
        <p:nvCxnSpPr>
          <p:cNvPr id="252" name="line-232">
            <a:extLst>
              <a:ext uri="{FF2B5EF4-FFF2-40B4-BE49-F238E27FC236}">
                <a16:creationId xmlns:a16="http://schemas.microsoft.com/office/drawing/2014/main" id="{143E628B-E29B-4443-A473-6F1E3BFBC558}"/>
              </a:ext>
            </a:extLst>
          </p:cNvPr>
          <p:cNvCxnSpPr/>
          <p:nvPr/>
        </p:nvCxnSpPr>
        <p:spPr>
          <a:xfrm>
            <a:off x="5068824" y="12119610"/>
            <a:ext cx="1165479" cy="0"/>
          </a:xfrm>
          <a:prstGeom prst="straightConnector1">
            <a:avLst/>
          </a:prstGeom>
          <a:ln w="28575">
            <a:solidFill>
              <a:srgbClr val="35566A"/>
            </a:solidFill>
            <a:prstDash val="solid"/>
            <a:tailEnd type="none" w="med" len="med"/>
          </a:ln>
        </p:spPr>
      </p:cxnSp>
      <p:sp>
        <p:nvSpPr>
          <p:cNvPr id="253" name="path-233">
            <a:extLst>
              <a:ext uri="{FF2B5EF4-FFF2-40B4-BE49-F238E27FC236}">
                <a16:creationId xmlns:a16="http://schemas.microsoft.com/office/drawing/2014/main" id="{36330B54-3FE4-4847-B030-C44F6D508D46}"/>
              </a:ext>
            </a:extLst>
          </p:cNvPr>
          <p:cNvSpPr>
            <a:spLocks noGrp="1"/>
          </p:cNvSpPr>
          <p:nvPr/>
        </p:nvSpPr>
        <p:spPr>
          <a:xfrm>
            <a:off x="5506974" y="12014454"/>
            <a:ext cx="201549" cy="210312"/>
          </a:xfrm>
          <a:custGeom>
            <a:avLst/>
            <a:gdLst/>
            <a:ahLst/>
            <a:cxnLst/>
            <a:rect l="0" t="0" r="0" b="0"/>
            <a:pathLst>
              <a:path w="219075" h="228600">
                <a:moveTo>
                  <a:pt x="0" y="0"/>
                </a:moveTo>
                <a:lnTo>
                  <a:pt x="219075" y="114300"/>
                </a:lnTo>
                <a:lnTo>
                  <a:pt x="0" y="228600"/>
                </a:lnTo>
                <a:close/>
              </a:path>
            </a:pathLst>
          </a:custGeom>
          <a:solidFill>
            <a:srgbClr val="7845A9"/>
          </a:solidFill>
          <a:ln w="20955">
            <a:solidFill>
              <a:srgbClr val="7845A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4" name="object-234">
            <a:extLst>
              <a:ext uri="{FF2B5EF4-FFF2-40B4-BE49-F238E27FC236}">
                <a16:creationId xmlns:a16="http://schemas.microsoft.com/office/drawing/2014/main" id="{760CE614-10CF-4CBA-8FEF-B5F82FE7F837}"/>
              </a:ext>
            </a:extLst>
          </p:cNvPr>
          <p:cNvSpPr>
            <a:spLocks noGrp="1"/>
          </p:cNvSpPr>
          <p:nvPr/>
        </p:nvSpPr>
        <p:spPr>
          <a:xfrm>
            <a:off x="6339459" y="11988165"/>
            <a:ext cx="280416" cy="262890"/>
          </a:xfrm>
          <a:prstGeom prst="rect">
            <a:avLst/>
          </a:prstGeom>
          <a:noFill/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0">
                <a:solidFill>
                  <a:srgbClr val="3F5361"/>
                </a:solidFill>
                <a:latin typeface="Futura"/>
                <a:ea typeface="Futura"/>
                <a:cs typeface="Futura"/>
              </a:defRPr>
            </a:defPPr>
            <a:lvl1pPr algn="ctr">
              <a:defRPr sz="1875" b="0">
                <a:solidFill>
                  <a:srgbClr val="3F5361"/>
                </a:solidFill>
                <a:latin typeface="Futura"/>
                <a:ea typeface="Futura"/>
                <a:cs typeface="Futura"/>
              </a:defRPr>
            </a:lvl1pPr>
            <a:lvl2pPr algn="ctr">
              <a:defRPr sz="1875" b="0">
                <a:solidFill>
                  <a:srgbClr val="3F5361"/>
                </a:solidFill>
                <a:latin typeface="Futura"/>
                <a:ea typeface="Futura"/>
                <a:cs typeface="Futura"/>
              </a:defRPr>
            </a:lvl2pPr>
            <a:lvl3pPr algn="ctr">
              <a:defRPr sz="1875" b="0">
                <a:solidFill>
                  <a:srgbClr val="3F5361"/>
                </a:solidFill>
                <a:latin typeface="Futura"/>
                <a:ea typeface="Futura"/>
                <a:cs typeface="Futura"/>
              </a:defRPr>
            </a:lvl3pPr>
            <a:lvl4pPr algn="ctr">
              <a:defRPr sz="1875" b="0">
                <a:solidFill>
                  <a:srgbClr val="3F5361"/>
                </a:solidFill>
                <a:latin typeface="Futura"/>
                <a:ea typeface="Futura"/>
                <a:cs typeface="Futura"/>
              </a:defRPr>
            </a:lvl4pPr>
            <a:lvl5pPr algn="ctr">
              <a:defRPr sz="1875" b="0">
                <a:solidFill>
                  <a:srgbClr val="3F5361"/>
                </a:solidFill>
                <a:latin typeface="Futura"/>
                <a:ea typeface="Futura"/>
                <a:cs typeface="Futura"/>
              </a:defRPr>
            </a:lvl5pPr>
            <a:lvl6pPr algn="ctr">
              <a:defRPr sz="1875" b="0">
                <a:solidFill>
                  <a:srgbClr val="3F5361"/>
                </a:solidFill>
                <a:latin typeface="Futura"/>
                <a:ea typeface="Futura"/>
                <a:cs typeface="Futura"/>
              </a:defRPr>
            </a:lvl6pPr>
            <a:lvl7pPr algn="ctr">
              <a:defRPr sz="1875" b="0">
                <a:solidFill>
                  <a:srgbClr val="3F5361"/>
                </a:solidFill>
                <a:latin typeface="Futura"/>
                <a:ea typeface="Futura"/>
                <a:cs typeface="Futura"/>
              </a:defRPr>
            </a:lvl7pPr>
            <a:lvl8pPr algn="ctr">
              <a:defRPr sz="1875" b="0">
                <a:solidFill>
                  <a:srgbClr val="3F5361"/>
                </a:solidFill>
                <a:latin typeface="Futura"/>
                <a:ea typeface="Futura"/>
                <a:cs typeface="Futura"/>
              </a:defRPr>
            </a:lvl8pPr>
            <a:lvl9pPr algn="ctr">
              <a:defRPr sz="1875" b="0">
                <a:solidFill>
                  <a:srgbClr val="3F5361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ctr">
              <a:defRPr sz="1875" b="0">
                <a:solidFill>
                  <a:srgbClr val="3F5361"/>
                </a:solidFill>
                <a:latin typeface="Futura"/>
                <a:ea typeface="Futura"/>
                <a:cs typeface="Futura"/>
              </a:defRPr>
            </a:pPr>
            <a:r>
              <a:rPr sz="1875" b="0">
                <a:solidFill>
                  <a:srgbClr val="3F5361"/>
                </a:solidFill>
                <a:latin typeface="Futura"/>
                <a:ea typeface="Futura"/>
                <a:cs typeface="Futura"/>
              </a:rPr>
              <a:t>+</a:t>
            </a:r>
          </a:p>
        </p:txBody>
      </p:sp>
      <p:sp>
        <p:nvSpPr>
          <p:cNvPr id="255" name="object-235">
            <a:extLst>
              <a:ext uri="{FF2B5EF4-FFF2-40B4-BE49-F238E27FC236}">
                <a16:creationId xmlns:a16="http://schemas.microsoft.com/office/drawing/2014/main" id="{C8D04945-FF7D-4420-AC60-93E5ED612755}"/>
              </a:ext>
            </a:extLst>
          </p:cNvPr>
          <p:cNvSpPr>
            <a:spLocks noGrp="1"/>
          </p:cNvSpPr>
          <p:nvPr/>
        </p:nvSpPr>
        <p:spPr>
          <a:xfrm>
            <a:off x="6812661" y="11830431"/>
            <a:ext cx="1104138" cy="665988"/>
          </a:xfrm>
          <a:prstGeom prst="ellipse">
            <a:avLst/>
          </a:prstGeom>
          <a:noFill/>
          <a:ln w="23813">
            <a:solidFill>
              <a:srgbClr val="687D8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6" name="path-236">
            <a:extLst>
              <a:ext uri="{FF2B5EF4-FFF2-40B4-BE49-F238E27FC236}">
                <a16:creationId xmlns:a16="http://schemas.microsoft.com/office/drawing/2014/main" id="{F6256D16-0665-4A11-90E9-234946F2940D}"/>
              </a:ext>
            </a:extLst>
          </p:cNvPr>
          <p:cNvSpPr>
            <a:spLocks noGrp="1"/>
          </p:cNvSpPr>
          <p:nvPr/>
        </p:nvSpPr>
        <p:spPr>
          <a:xfrm>
            <a:off x="7259574" y="11769090"/>
            <a:ext cx="175260" cy="131445"/>
          </a:xfrm>
          <a:custGeom>
            <a:avLst/>
            <a:gdLst/>
            <a:ahLst/>
            <a:cxnLst/>
            <a:rect l="0" t="0" r="0" b="0"/>
            <a:pathLst>
              <a:path w="190500" h="142875">
                <a:moveTo>
                  <a:pt x="0" y="0"/>
                </a:moveTo>
                <a:lnTo>
                  <a:pt x="190500" y="71438"/>
                </a:lnTo>
                <a:lnTo>
                  <a:pt x="0" y="142875"/>
                </a:lnTo>
                <a:close/>
              </a:path>
            </a:pathLst>
          </a:custGeom>
          <a:solidFill>
            <a:srgbClr val="7845A9"/>
          </a:solidFill>
          <a:ln w="20955">
            <a:solidFill>
              <a:srgbClr val="7845A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7" name="object-237">
            <a:extLst>
              <a:ext uri="{FF2B5EF4-FFF2-40B4-BE49-F238E27FC236}">
                <a16:creationId xmlns:a16="http://schemas.microsoft.com/office/drawing/2014/main" id="{649C4425-A02E-4AA0-9900-FB7B5B0E4C2C}"/>
              </a:ext>
            </a:extLst>
          </p:cNvPr>
          <p:cNvSpPr>
            <a:spLocks noGrp="1"/>
          </p:cNvSpPr>
          <p:nvPr/>
        </p:nvSpPr>
        <p:spPr>
          <a:xfrm>
            <a:off x="6882765" y="12023217"/>
            <a:ext cx="963930" cy="280416"/>
          </a:xfrm>
          <a:prstGeom prst="roundRect">
            <a:avLst>
              <a:gd name="adj" fmla="val 22857"/>
            </a:avLst>
          </a:prstGeom>
          <a:solidFill>
            <a:srgbClr val="D5E9F3"/>
          </a:solidFill>
          <a:ln w="19050">
            <a:solidFill>
              <a:srgbClr val="087DA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8" name="object-238">
            <a:extLst>
              <a:ext uri="{FF2B5EF4-FFF2-40B4-BE49-F238E27FC236}">
                <a16:creationId xmlns:a16="http://schemas.microsoft.com/office/drawing/2014/main" id="{8DE9D858-FC33-4024-8E32-9348F3E45CE0}"/>
              </a:ext>
            </a:extLst>
          </p:cNvPr>
          <p:cNvSpPr>
            <a:spLocks noGrp="1"/>
          </p:cNvSpPr>
          <p:nvPr/>
        </p:nvSpPr>
        <p:spPr>
          <a:xfrm>
            <a:off x="6882765" y="12023217"/>
            <a:ext cx="963930" cy="280416"/>
          </a:xfrm>
          <a:prstGeom prst="rect">
            <a:avLst/>
          </a:prstGeom>
          <a:noFill/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defPPr>
            <a:lvl1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1pPr>
            <a:lvl2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2pPr>
            <a:lvl3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3pPr>
            <a:lvl4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4pPr>
            <a:lvl5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5pPr>
            <a:lvl6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6pPr>
            <a:lvl7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7pPr>
            <a:lvl8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8pPr>
            <a:lvl9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pPr>
            <a:r>
              <a: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rPr>
              <a:t>ORCA</a:t>
            </a:r>
          </a:p>
        </p:txBody>
      </p:sp>
      <p:sp>
        <p:nvSpPr>
          <p:cNvPr id="269" name="object-52">
            <a:extLst>
              <a:ext uri="{FF2B5EF4-FFF2-40B4-BE49-F238E27FC236}">
                <a16:creationId xmlns:a16="http://schemas.microsoft.com/office/drawing/2014/main" id="{5B0A983D-4EC2-0537-D5EF-B54910C1E7B9}"/>
              </a:ext>
            </a:extLst>
          </p:cNvPr>
          <p:cNvSpPr>
            <a:spLocks noGrp="1"/>
          </p:cNvSpPr>
          <p:nvPr/>
        </p:nvSpPr>
        <p:spPr>
          <a:xfrm>
            <a:off x="6991350" y="2952750"/>
            <a:ext cx="1200150" cy="438150"/>
          </a:xfrm>
          <a:prstGeom prst="roundRect">
            <a:avLst>
              <a:gd name="adj" fmla="val 22000"/>
            </a:avLst>
          </a:prstGeom>
          <a:solidFill>
            <a:srgbClr val="F4DDC6"/>
          </a:solidFill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1" u="none">
                <a:solidFill>
                  <a:srgbClr val="B95712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1875" b="1" u="none">
                <a:solidFill>
                  <a:srgbClr val="B95712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1875" b="1" u="none">
                <a:solidFill>
                  <a:srgbClr val="B95712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1875" b="1" u="none">
                <a:solidFill>
                  <a:srgbClr val="B95712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1875" b="1" u="none">
                <a:solidFill>
                  <a:srgbClr val="B95712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1875" b="1" u="none">
                <a:solidFill>
                  <a:srgbClr val="B95712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1875" b="1" u="none">
                <a:solidFill>
                  <a:srgbClr val="B95712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1875" b="1" u="none">
                <a:solidFill>
                  <a:srgbClr val="B95712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1875" b="1" u="none">
                <a:solidFill>
                  <a:srgbClr val="B95712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1875" b="1" u="none">
                <a:solidFill>
                  <a:srgbClr val="B95712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ctr">
              <a:defRPr sz="1875" b="1" u="none">
                <a:solidFill>
                  <a:srgbClr val="B95712"/>
                </a:solidFill>
                <a:latin typeface="Georgia"/>
                <a:ea typeface="Georgia"/>
                <a:cs typeface="Georgia"/>
              </a:defRPr>
            </a:pPr>
            <a:r>
              <a:rPr lang="en-US" sz="1875" b="1" dirty="0" u="none">
                <a:solidFill>
                  <a:srgbClr val="B95712"/>
                </a:solidFill>
                <a:latin typeface="Georgia"/>
                <a:ea typeface="Georgia"/>
                <a:cs typeface="Georgia"/>
              </a:rPr>
              <a:t>SONAR</a:t>
            </a:r>
            <a:endParaRPr sz="1875" b="1" dirty="0" u="none">
              <a:solidFill>
                <a:srgbClr val="B95712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270" name="object-52">
            <a:extLst>
              <a:ext uri="{FF2B5EF4-FFF2-40B4-BE49-F238E27FC236}">
                <a16:creationId xmlns:a16="http://schemas.microsoft.com/office/drawing/2014/main" id="{E4942D80-D0C2-F42D-ED6D-4233A71DFF78}"/>
              </a:ext>
            </a:extLst>
          </p:cNvPr>
          <p:cNvSpPr>
            <a:spLocks noGrp="1"/>
          </p:cNvSpPr>
          <p:nvPr/>
        </p:nvSpPr>
        <p:spPr>
          <a:xfrm>
            <a:off x="4781550" y="495300"/>
            <a:ext cx="1200150" cy="438150"/>
          </a:xfrm>
          <a:prstGeom prst="roundRect">
            <a:avLst>
              <a:gd name="adj" fmla="val 22000"/>
            </a:avLst>
          </a:prstGeom>
          <a:solidFill>
            <a:srgbClr val="D9EDE5"/>
          </a:solidFill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1" u="none">
                <a:solidFill>
                  <a:srgbClr val="087B61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1875" b="1" u="none">
                <a:solidFill>
                  <a:srgbClr val="087B61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1875" b="1" u="none">
                <a:solidFill>
                  <a:srgbClr val="087B61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1875" b="1" u="none">
                <a:solidFill>
                  <a:srgbClr val="087B61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1875" b="1" u="none">
                <a:solidFill>
                  <a:srgbClr val="087B61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1875" b="1" u="none">
                <a:solidFill>
                  <a:srgbClr val="087B61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1875" b="1" u="none">
                <a:solidFill>
                  <a:srgbClr val="087B61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1875" b="1" u="none">
                <a:solidFill>
                  <a:srgbClr val="087B61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1875" b="1" u="none">
                <a:solidFill>
                  <a:srgbClr val="087B61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1875" b="1" u="none">
                <a:solidFill>
                  <a:srgbClr val="087B61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ctr">
              <a:defRPr sz="1875" b="1" u="none">
                <a:solidFill>
                  <a:srgbClr val="087B61"/>
                </a:solidFill>
                <a:latin typeface="Georgia"/>
                <a:ea typeface="Georgia"/>
                <a:cs typeface="Georgia"/>
              </a:defRPr>
            </a:pPr>
            <a:r>
              <a:rPr lang="en-US" sz="1875" b="1" dirty="0" u="none">
                <a:solidFill>
                  <a:srgbClr val="087B61"/>
                </a:solidFill>
                <a:latin typeface="Georgia"/>
                <a:ea typeface="Georgia"/>
                <a:cs typeface="Georgia"/>
              </a:rPr>
              <a:t>PUFFER</a:t>
            </a:r>
            <a:endParaRPr sz="1875" b="1" dirty="0" u="none">
              <a:solidFill>
                <a:srgbClr val="087B61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271" name="object-52">
            <a:extLst>
              <a:ext uri="{FF2B5EF4-FFF2-40B4-BE49-F238E27FC236}">
                <a16:creationId xmlns:a16="http://schemas.microsoft.com/office/drawing/2014/main" id="{B0624CBD-3718-E770-9AE8-8A4AADF327C1}"/>
              </a:ext>
            </a:extLst>
          </p:cNvPr>
          <p:cNvSpPr>
            <a:spLocks noGrp="1"/>
          </p:cNvSpPr>
          <p:nvPr/>
        </p:nvSpPr>
        <p:spPr>
          <a:xfrm>
            <a:off x="2038350" y="2952750"/>
            <a:ext cx="2571750" cy="438150"/>
          </a:xfrm>
          <a:prstGeom prst="roundRect">
            <a:avLst>
              <a:gd name="adj" fmla="val 22000"/>
            </a:avLst>
          </a:prstGeom>
          <a:solidFill>
            <a:srgbClr val="D7EDF5"/>
          </a:solidFill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1" u="none">
                <a:solidFill>
                  <a:srgbClr val="087DA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1875" b="1" u="none">
                <a:solidFill>
                  <a:srgbClr val="087DA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1875" b="1" u="none">
                <a:solidFill>
                  <a:srgbClr val="087DA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1875" b="1" u="none">
                <a:solidFill>
                  <a:srgbClr val="087DA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1875" b="1" u="none">
                <a:solidFill>
                  <a:srgbClr val="087DA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1875" b="1" u="none">
                <a:solidFill>
                  <a:srgbClr val="087DA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1875" b="1" u="none">
                <a:solidFill>
                  <a:srgbClr val="087DA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1875" b="1" u="none">
                <a:solidFill>
                  <a:srgbClr val="087DA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1875" b="1" u="none">
                <a:solidFill>
                  <a:srgbClr val="087DA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1875" b="1" u="none">
                <a:solidFill>
                  <a:srgbClr val="087DAA"/>
                </a:solidFill>
                <a:latin typeface="Georgia"/>
                <a:ea typeface="Georgia"/>
                <a:cs typeface="Georgia"/>
              </a:defRPr>
            </a:lvl9pPr>
          </a:lstStyle>
          <a:p>
            <a:pPr algn="ctr">
              <a:defRPr sz="1875" b="1" u="none">
                <a:solidFill>
                  <a:srgbClr val="087DAA"/>
                </a:solidFill>
                <a:latin typeface="Georgia"/>
                <a:ea typeface="Georgia"/>
                <a:cs typeface="Georgia"/>
              </a:defRPr>
            </a:pPr>
            <a:r>
              <a:rPr lang="en-US" sz="1875" b="1" dirty="0" u="none">
                <a:solidFill>
                  <a:srgbClr val="087DAA"/>
                </a:solidFill>
                <a:latin typeface="Georgia"/>
                <a:ea typeface="Georgia"/>
                <a:cs typeface="Georgia"/>
              </a:rPr>
              <a:t>Integrated ORCA</a:t>
            </a:r>
            <a:endParaRPr sz="1875" b="1" dirty="0" u="none">
              <a:solidFill>
                <a:srgbClr val="087DAA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300" name="Unified component 300"/>
          <p:cNvSpPr>
            <a:spLocks noGrp="1"/>
          </p:cNvSpPr>
          <p:nvPr/>
        </p:nvSpPr>
        <p:spPr>
          <a:xfrm>
            <a:off x="2878074" y="11479911"/>
            <a:ext cx="963930" cy="280416"/>
          </a:xfrm>
          <a:prstGeom prst="roundRect">
            <a:avLst>
              <a:gd name="adj" fmla="val 22857"/>
            </a:avLst>
          </a:prstGeom>
          <a:solidFill>
            <a:srgbClr val="D5E9F3"/>
          </a:solidFill>
          <a:ln w="19050">
            <a:solidFill>
              <a:srgbClr val="087DA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1" name="Unified component 301"/>
          <p:cNvSpPr>
            <a:spLocks noGrp="1"/>
          </p:cNvSpPr>
          <p:nvPr/>
        </p:nvSpPr>
        <p:spPr>
          <a:xfrm>
            <a:off x="2878074" y="11479911"/>
            <a:ext cx="963930" cy="280416"/>
          </a:xfrm>
          <a:prstGeom prst="rect">
            <a:avLst/>
          </a:prstGeom>
          <a:noFill/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defPPr>
            <a:lvl1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1pPr>
            <a:lvl2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2pPr>
            <a:lvl3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3pPr>
            <a:lvl4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4pPr>
            <a:lvl5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5pPr>
            <a:lvl6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6pPr>
            <a:lvl7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7pPr>
            <a:lvl8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8pPr>
            <a:lvl9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ctr">
              <a:def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pPr>
            <a:r>
              <a:rPr sz="1650" b="0" u="none">
                <a:solidFill>
                  <a:srgbClr val="087DAA"/>
                </a:solidFill>
                <a:latin typeface="Futura"/>
                <a:ea typeface="Futura"/>
                <a:cs typeface="Futura"/>
              </a:rPr>
              <a:t>ORCA</a:t>
            </a:r>
          </a:p>
        </p:txBody>
      </p:sp>
      <p:sp>
        <p:nvSpPr>
          <p:cNvPr id="302" name="Unified component 302"/>
          <p:cNvSpPr>
            <a:spLocks noGrp="1"/>
          </p:cNvSpPr>
          <p:nvPr/>
        </p:nvSpPr>
        <p:spPr>
          <a:xfrm>
            <a:off x="5042535" y="9771126"/>
            <a:ext cx="1174242" cy="236601"/>
          </a:xfrm>
          <a:prstGeom prst="rect">
            <a:avLst/>
          </a:prstGeom>
          <a:noFill/>
          <a:ln w="17145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defPPr>
            <a:lvl1pPr algn="ctr">
              <a:defRPr sz="1500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1pPr>
            <a:lvl2pPr algn="ctr">
              <a:defRPr sz="1500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2pPr>
            <a:lvl3pPr algn="ctr">
              <a:defRPr sz="1500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3pPr>
            <a:lvl4pPr algn="ctr">
              <a:defRPr sz="1500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4pPr>
            <a:lvl5pPr algn="ctr">
              <a:defRPr sz="1500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5pPr>
            <a:lvl6pPr algn="ctr">
              <a:defRPr sz="1500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6pPr>
            <a:lvl7pPr algn="ctr">
              <a:defRPr sz="1500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7pPr>
            <a:lvl8pPr algn="ctr">
              <a:defRPr sz="1500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8pPr>
            <a:lvl9pPr algn="ctr">
              <a:defRPr sz="1500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9pPr>
          </a:lstStyle>
          <a:p>
            <a:pPr algn="ctr">
              <a:defRPr sz="1500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pPr>
            <a:r>
              <a:rPr sz="1500" b="0" u="none">
                <a:solidFill>
                  <a:srgbClr val="35566A"/>
                </a:solidFill>
                <a:latin typeface="Futura"/>
                <a:ea typeface="Futura"/>
                <a:cs typeface="Futura"/>
              </a:rPr>
              <a:t>mRNA</a:t>
            </a:r>
          </a:p>
        </p:txBody>
      </p:sp>
      <p:cxnSp>
        <p:nvCxnSpPr>
          <p:cNvPr id="407" name="Portrait connector 407"/>
          <p:cNvCxnSpPr>
            <a:cxnSpLocks/>
          </p:cNvCxnSpPr>
          <p:nvPr/>
        </p:nvCxnSpPr>
        <p:spPr>
          <a:xfrm>
            <a:off x="1581150" y="2495550"/>
            <a:ext cx="0" cy="266700"/>
          </a:xfrm>
          <a:prstGeom prst="straightConnector1">
            <a:avLst/>
          </a:prstGeom>
          <a:ln w="26670">
            <a:solidFill>
              <a:srgbClr val="285FA8"/>
            </a:solidFill>
            <a:prstDash val="solid"/>
            <a:tailEnd type="triangle" w="med" len="med"/>
          </a:ln>
        </p:spPr>
      </p:cxnSp>
      <p:cxnSp>
        <p:nvCxnSpPr>
          <p:cNvPr id="408" name="Portrait connector 408"/>
          <p:cNvCxnSpPr/>
          <p:nvPr/>
        </p:nvCxnSpPr>
        <p:spPr>
          <a:xfrm>
            <a:off x="6019800" y="2495550"/>
            <a:ext cx="0" cy="133350"/>
          </a:xfrm>
          <a:prstGeom prst="straightConnector1">
            <a:avLst/>
          </a:prstGeom>
          <a:ln w="24765">
            <a:solidFill>
              <a:srgbClr val="087B61"/>
            </a:solidFill>
            <a:prstDash val="dash"/>
            <a:tailEnd type="none" w="med" len="med"/>
          </a:ln>
        </p:spPr>
      </p:cxnSp>
      <p:cxnSp>
        <p:nvCxnSpPr>
          <p:cNvPr id="409" name="Portrait connector 409"/>
          <p:cNvCxnSpPr/>
          <p:nvPr/>
        </p:nvCxnSpPr>
        <p:spPr>
          <a:xfrm flipH="1">
            <a:off x="4171950" y="2628900"/>
            <a:ext cx="1847850" cy="0"/>
          </a:xfrm>
          <a:prstGeom prst="straightConnector1">
            <a:avLst/>
          </a:prstGeom>
          <a:ln w="24765">
            <a:solidFill>
              <a:srgbClr val="087B61"/>
            </a:solidFill>
            <a:prstDash val="dash"/>
            <a:tailEnd type="none" w="med" len="med"/>
          </a:ln>
        </p:spPr>
      </p:cxnSp>
      <p:cxnSp>
        <p:nvCxnSpPr>
          <p:cNvPr id="410" name="Portrait connector 410"/>
          <p:cNvCxnSpPr/>
          <p:nvPr/>
        </p:nvCxnSpPr>
        <p:spPr>
          <a:xfrm>
            <a:off x="4171950" y="2628900"/>
            <a:ext cx="0" cy="133350"/>
          </a:xfrm>
          <a:prstGeom prst="straightConnector1">
            <a:avLst/>
          </a:prstGeom>
          <a:ln w="24765">
            <a:solidFill>
              <a:srgbClr val="087B61"/>
            </a:solidFill>
            <a:prstDash val="dash"/>
            <a:tailEnd type="triangle" w="med" len="med"/>
          </a:ln>
        </p:spPr>
      </p:cxnSp>
      <p:cxnSp>
        <p:nvCxnSpPr>
          <p:cNvPr id="411" name="Portrait connector 411"/>
          <p:cNvCxnSpPr>
            <a:cxnSpLocks/>
          </p:cNvCxnSpPr>
          <p:nvPr/>
        </p:nvCxnSpPr>
        <p:spPr>
          <a:xfrm>
            <a:off x="5067300" y="4343400"/>
            <a:ext cx="190500" cy="0"/>
          </a:xfrm>
          <a:prstGeom prst="straightConnector1">
            <a:avLst/>
          </a:prstGeom>
          <a:ln w="24765">
            <a:solidFill>
              <a:srgbClr val="B95712"/>
            </a:solidFill>
            <a:prstDash val="dash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49295438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</Words>
  <Application>Microsoft Macintosh PowerPoint</Application>
  <DocSecurity>0</DocSecurity>
  <PresentationFormat>自定义</PresentationFormat>
  <Paragraphs>53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Aptos</vt:lpstr>
      <vt:lpstr>Arial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Hansen Zhang</cp:lastModifiedBy>
  <cp:revision>1</cp:revision>
  <dcterms:created xsi:type="dcterms:W3CDTF">2026-10-18T10:11:12Z</dcterms:created>
  <dcterms:modified xsi:type="dcterms:W3CDTF">2026-10-18T10:18:42Z</dcterms:modified>
</cp:coreProperties>
</file>